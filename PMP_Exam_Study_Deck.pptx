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1"/>
  </p:notesMasterIdLst>
  <p:sldIdLst>
    <p:sldId id="256" r:id="rId2"/>
    <p:sldId id="434" r:id="rId3"/>
    <p:sldId id="257" r:id="rId4"/>
    <p:sldId id="259" r:id="rId5"/>
    <p:sldId id="260" r:id="rId6"/>
    <p:sldId id="261" r:id="rId7"/>
    <p:sldId id="263" r:id="rId8"/>
    <p:sldId id="264" r:id="rId9"/>
    <p:sldId id="266" r:id="rId10"/>
    <p:sldId id="375" r:id="rId11"/>
    <p:sldId id="376" r:id="rId12"/>
    <p:sldId id="377" r:id="rId13"/>
    <p:sldId id="305" r:id="rId14"/>
    <p:sldId id="329" r:id="rId15"/>
    <p:sldId id="385" r:id="rId16"/>
    <p:sldId id="307" r:id="rId17"/>
    <p:sldId id="386" r:id="rId18"/>
    <p:sldId id="302" r:id="rId19"/>
    <p:sldId id="303" r:id="rId20"/>
    <p:sldId id="402" r:id="rId21"/>
    <p:sldId id="306" r:id="rId22"/>
    <p:sldId id="277" r:id="rId23"/>
    <p:sldId id="403" r:id="rId24"/>
    <p:sldId id="409" r:id="rId25"/>
    <p:sldId id="354" r:id="rId26"/>
    <p:sldId id="387" r:id="rId27"/>
    <p:sldId id="271" r:id="rId28"/>
    <p:sldId id="378" r:id="rId29"/>
    <p:sldId id="379" r:id="rId30"/>
    <p:sldId id="380" r:id="rId31"/>
    <p:sldId id="381" r:id="rId32"/>
    <p:sldId id="281" r:id="rId33"/>
    <p:sldId id="388" r:id="rId34"/>
    <p:sldId id="389" r:id="rId35"/>
    <p:sldId id="363" r:id="rId36"/>
    <p:sldId id="358" r:id="rId37"/>
    <p:sldId id="364" r:id="rId38"/>
    <p:sldId id="365" r:id="rId39"/>
    <p:sldId id="366" r:id="rId40"/>
    <p:sldId id="368" r:id="rId41"/>
    <p:sldId id="432" r:id="rId42"/>
    <p:sldId id="433" r:id="rId43"/>
    <p:sldId id="279" r:id="rId44"/>
    <p:sldId id="372" r:id="rId45"/>
    <p:sldId id="390" r:id="rId46"/>
    <p:sldId id="284" r:id="rId47"/>
    <p:sldId id="285" r:id="rId48"/>
    <p:sldId id="326" r:id="rId49"/>
    <p:sldId id="327" r:id="rId50"/>
    <p:sldId id="328" r:id="rId51"/>
    <p:sldId id="342" r:id="rId52"/>
    <p:sldId id="404" r:id="rId53"/>
    <p:sldId id="410" r:id="rId54"/>
    <p:sldId id="405" r:id="rId55"/>
    <p:sldId id="406" r:id="rId56"/>
    <p:sldId id="411" r:id="rId57"/>
    <p:sldId id="407" r:id="rId58"/>
    <p:sldId id="427" r:id="rId59"/>
    <p:sldId id="391" r:id="rId60"/>
    <p:sldId id="428" r:id="rId61"/>
    <p:sldId id="293" r:id="rId62"/>
    <p:sldId id="382" r:id="rId63"/>
    <p:sldId id="383" r:id="rId64"/>
    <p:sldId id="384" r:id="rId65"/>
    <p:sldId id="392" r:id="rId66"/>
    <p:sldId id="418" r:id="rId67"/>
    <p:sldId id="419" r:id="rId68"/>
    <p:sldId id="287" r:id="rId69"/>
    <p:sldId id="289" r:id="rId70"/>
    <p:sldId id="291" r:id="rId71"/>
    <p:sldId id="393" r:id="rId72"/>
    <p:sldId id="394" r:id="rId73"/>
    <p:sldId id="395" r:id="rId74"/>
    <p:sldId id="421" r:id="rId75"/>
    <p:sldId id="414" r:id="rId76"/>
    <p:sldId id="300" r:id="rId77"/>
    <p:sldId id="400" r:id="rId78"/>
    <p:sldId id="301" r:id="rId79"/>
    <p:sldId id="416" r:id="rId80"/>
    <p:sldId id="415" r:id="rId81"/>
    <p:sldId id="396" r:id="rId82"/>
    <p:sldId id="423" r:id="rId83"/>
    <p:sldId id="425" r:id="rId84"/>
    <p:sldId id="296" r:id="rId85"/>
    <p:sldId id="420" r:id="rId86"/>
    <p:sldId id="397" r:id="rId87"/>
    <p:sldId id="398" r:id="rId88"/>
    <p:sldId id="330" r:id="rId89"/>
    <p:sldId id="350" r:id="rId90"/>
    <p:sldId id="331" r:id="rId91"/>
    <p:sldId id="332" r:id="rId92"/>
    <p:sldId id="333" r:id="rId93"/>
    <p:sldId id="343" r:id="rId94"/>
    <p:sldId id="334" r:id="rId95"/>
    <p:sldId id="344" r:id="rId96"/>
    <p:sldId id="335" r:id="rId97"/>
    <p:sldId id="351" r:id="rId98"/>
    <p:sldId id="352" r:id="rId99"/>
    <p:sldId id="369" r:id="rId100"/>
    <p:sldId id="336" r:id="rId101"/>
    <p:sldId id="346" r:id="rId102"/>
    <p:sldId id="356" r:id="rId103"/>
    <p:sldId id="337" r:id="rId104"/>
    <p:sldId id="348" r:id="rId105"/>
    <p:sldId id="338" r:id="rId106"/>
    <p:sldId id="370" r:id="rId107"/>
    <p:sldId id="339" r:id="rId108"/>
    <p:sldId id="412" r:id="rId109"/>
    <p:sldId id="340" r:id="rId110"/>
    <p:sldId id="341" r:id="rId111"/>
    <p:sldId id="299" r:id="rId112"/>
    <p:sldId id="360" r:id="rId113"/>
    <p:sldId id="361" r:id="rId114"/>
    <p:sldId id="309" r:id="rId115"/>
    <p:sldId id="310" r:id="rId116"/>
    <p:sldId id="311" r:id="rId117"/>
    <p:sldId id="312" r:id="rId118"/>
    <p:sldId id="313" r:id="rId119"/>
    <p:sldId id="314" r:id="rId120"/>
    <p:sldId id="315" r:id="rId121"/>
    <p:sldId id="317" r:id="rId122"/>
    <p:sldId id="318" r:id="rId123"/>
    <p:sldId id="319" r:id="rId124"/>
    <p:sldId id="320" r:id="rId125"/>
    <p:sldId id="430" r:id="rId126"/>
    <p:sldId id="321" r:id="rId127"/>
    <p:sldId id="323" r:id="rId128"/>
    <p:sldId id="324" r:id="rId129"/>
    <p:sldId id="325" r:id="rId1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F115EBB2-4CFE-44C8-8739-3EFB235063DE}">
          <p14:sldIdLst>
            <p14:sldId id="256"/>
            <p14:sldId id="434"/>
            <p14:sldId id="257"/>
          </p14:sldIdLst>
        </p14:section>
        <p14:section name="How the exam is built" id="{739502E9-BD09-4928-9C54-305CE6B302B5}">
          <p14:sldIdLst>
            <p14:sldId id="259"/>
            <p14:sldId id="260"/>
            <p14:sldId id="261"/>
            <p14:sldId id="263"/>
            <p14:sldId id="264"/>
          </p14:sldIdLst>
        </p14:section>
        <p14:section name="Domain I — People" id="{BF96AB98-0F58-4654-ADAF-E8C613B693EE}">
          <p14:sldIdLst>
            <p14:sldId id="266"/>
            <p14:sldId id="375"/>
            <p14:sldId id="376"/>
            <p14:sldId id="377"/>
            <p14:sldId id="305"/>
            <p14:sldId id="329"/>
            <p14:sldId id="385"/>
            <p14:sldId id="307"/>
            <p14:sldId id="386"/>
            <p14:sldId id="302"/>
            <p14:sldId id="303"/>
            <p14:sldId id="402"/>
            <p14:sldId id="306"/>
            <p14:sldId id="277"/>
            <p14:sldId id="403"/>
            <p14:sldId id="409"/>
            <p14:sldId id="354"/>
            <p14:sldId id="387"/>
          </p14:sldIdLst>
        </p14:section>
        <p14:section name="Domain II — Process" id="{3E43A514-8D98-4DD9-8740-3D8F3DA03AAB}">
          <p14:sldIdLst>
            <p14:sldId id="271"/>
            <p14:sldId id="378"/>
            <p14:sldId id="379"/>
            <p14:sldId id="380"/>
            <p14:sldId id="381"/>
            <p14:sldId id="281"/>
            <p14:sldId id="388"/>
            <p14:sldId id="389"/>
            <p14:sldId id="363"/>
            <p14:sldId id="358"/>
            <p14:sldId id="364"/>
            <p14:sldId id="365"/>
            <p14:sldId id="366"/>
            <p14:sldId id="368"/>
            <p14:sldId id="432"/>
            <p14:sldId id="433"/>
            <p14:sldId id="279"/>
            <p14:sldId id="372"/>
            <p14:sldId id="390"/>
            <p14:sldId id="284"/>
            <p14:sldId id="285"/>
            <p14:sldId id="326"/>
            <p14:sldId id="327"/>
            <p14:sldId id="328"/>
            <p14:sldId id="342"/>
            <p14:sldId id="404"/>
            <p14:sldId id="410"/>
            <p14:sldId id="405"/>
            <p14:sldId id="406"/>
            <p14:sldId id="411"/>
            <p14:sldId id="407"/>
            <p14:sldId id="427"/>
            <p14:sldId id="391"/>
            <p14:sldId id="428"/>
          </p14:sldIdLst>
        </p14:section>
        <p14:section name="Domain III — Business Environment" id="{934F4BC5-FFDC-4489-BDB3-873C98D4B8D9}">
          <p14:sldIdLst>
            <p14:sldId id="293"/>
            <p14:sldId id="382"/>
            <p14:sldId id="383"/>
            <p14:sldId id="384"/>
            <p14:sldId id="392"/>
            <p14:sldId id="418"/>
            <p14:sldId id="419"/>
            <p14:sldId id="287"/>
            <p14:sldId id="289"/>
            <p14:sldId id="291"/>
            <p14:sldId id="393"/>
            <p14:sldId id="394"/>
            <p14:sldId id="395"/>
            <p14:sldId id="421"/>
            <p14:sldId id="414"/>
            <p14:sldId id="300"/>
            <p14:sldId id="400"/>
            <p14:sldId id="301"/>
            <p14:sldId id="416"/>
            <p14:sldId id="415"/>
            <p14:sldId id="396"/>
            <p14:sldId id="423"/>
            <p14:sldId id="425"/>
            <p14:sldId id="296"/>
            <p14:sldId id="420"/>
            <p14:sldId id="397"/>
            <p14:sldId id="398"/>
          </p14:sldIdLst>
        </p14:section>
        <p14:section name="Agile essentials" id="{AABA6AF8-57A7-4454-BBF1-287DD8CE2B24}">
          <p14:sldIdLst>
            <p14:sldId id="330"/>
            <p14:sldId id="350"/>
            <p14:sldId id="331"/>
            <p14:sldId id="332"/>
            <p14:sldId id="333"/>
            <p14:sldId id="343"/>
            <p14:sldId id="334"/>
            <p14:sldId id="344"/>
            <p14:sldId id="335"/>
            <p14:sldId id="351"/>
            <p14:sldId id="352"/>
            <p14:sldId id="369"/>
            <p14:sldId id="336"/>
            <p14:sldId id="346"/>
            <p14:sldId id="356"/>
            <p14:sldId id="337"/>
            <p14:sldId id="348"/>
            <p14:sldId id="338"/>
            <p14:sldId id="370"/>
            <p14:sldId id="339"/>
            <p14:sldId id="412"/>
            <p14:sldId id="340"/>
            <p14:sldId id="341"/>
          </p14:sldIdLst>
        </p14:section>
        <p14:section name="Budget and earned value" id="{E94FB58A-2722-4212-ABF0-8A0B09DC92DF}">
          <p14:sldIdLst>
            <p14:sldId id="299"/>
            <p14:sldId id="360"/>
            <p14:sldId id="361"/>
            <p14:sldId id="309"/>
            <p14:sldId id="310"/>
            <p14:sldId id="311"/>
            <p14:sldId id="312"/>
            <p14:sldId id="313"/>
            <p14:sldId id="314"/>
            <p14:sldId id="315"/>
            <p14:sldId id="317"/>
            <p14:sldId id="318"/>
            <p14:sldId id="319"/>
            <p14:sldId id="320"/>
            <p14:sldId id="430"/>
          </p14:sldIdLst>
        </p14:section>
        <p14:section name="Exam day and retakes" id="{A59FDF9C-79A0-4AF5-88C1-E7BD5DAB63B4}">
          <p14:sldIdLst>
            <p14:sldId id="321"/>
            <p14:sldId id="323"/>
            <p14:sldId id="324"/>
          </p14:sldIdLst>
        </p14:section>
        <p14:section name="Wrap-up" id="{6B7DFF7D-C83B-43D3-9529-5911E15BABB7}">
          <p14:sldIdLst>
            <p14:sldId id="32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67" y="53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notesMaster" Target="notesMasters/notesMaster1.xml"/><Relationship Id="rId132" Type="http://schemas.openxmlformats.org/officeDocument/2006/relationships/presProps" Target="presProps.xml"/><Relationship Id="rId133" Type="http://schemas.openxmlformats.org/officeDocument/2006/relationships/viewProps" Target="viewProps.xml"/><Relationship Id="rId134" Type="http://schemas.openxmlformats.org/officeDocument/2006/relationships/theme" Target="theme/theme1.xml"/><Relationship Id="rId13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Share of questions</c:v>
                </c:pt>
              </c:strCache>
            </c:strRef>
          </c:tx>
          <c:dPt>
            <c:idx val="0"/>
            <c:bubble3D val="0"/>
            <c:spPr>
              <a:solidFill>
                <a:srgbClr val="0F7C80"/>
              </a:solidFill>
              <a:ln w="25400">
                <a:solidFill>
                  <a:srgbClr val="FFFFFF"/>
                </a:solidFill>
              </a:ln>
              <a:effectLst/>
            </c:spPr>
            <c:extLst>
              <c:ext xmlns:c16="http://schemas.microsoft.com/office/drawing/2014/chart" uri="{C3380CC4-5D6E-409C-BE32-E72D297353CC}">
                <c16:uniqueId val="{00000001-4B4A-42AB-B1A6-AED95196BC83}"/>
              </c:ext>
            </c:extLst>
          </c:dPt>
          <c:dPt>
            <c:idx val="1"/>
            <c:bubble3D val="0"/>
            <c:spPr>
              <a:solidFill>
                <a:srgbClr val="34509A"/>
              </a:solidFill>
              <a:ln w="25400">
                <a:solidFill>
                  <a:srgbClr val="FFFFFF"/>
                </a:solidFill>
              </a:ln>
              <a:effectLst/>
            </c:spPr>
            <c:extLst>
              <c:ext xmlns:c16="http://schemas.microsoft.com/office/drawing/2014/chart" uri="{C3380CC4-5D6E-409C-BE32-E72D297353CC}">
                <c16:uniqueId val="{00000002-4B4A-42AB-B1A6-AED95196BC83}"/>
              </c:ext>
            </c:extLst>
          </c:dPt>
          <c:dPt>
            <c:idx val="2"/>
            <c:bubble3D val="0"/>
            <c:spPr>
              <a:solidFill>
                <a:srgbClr val="A84A2E"/>
              </a:solidFill>
              <a:ln w="25400">
                <a:solidFill>
                  <a:srgbClr val="FFFFFF"/>
                </a:solidFill>
              </a:ln>
              <a:effectLst/>
            </c:spPr>
            <c:extLst>
              <c:ext xmlns:c16="http://schemas.microsoft.com/office/drawing/2014/chart" uri="{C3380CC4-5D6E-409C-BE32-E72D297353CC}">
                <c16:uniqueId val="{00000003-4B4A-42AB-B1A6-AED95196BC83}"/>
              </c:ext>
            </c:extLst>
          </c:dPt>
          <c:cat>
            <c:strRef>
              <c:f>Sheet1!$A$2:$A$4</c:f>
              <c:strCache>
                <c:ptCount val="3"/>
                <c:pt idx="0">
                  <c:v>People</c:v>
                </c:pt>
                <c:pt idx="1">
                  <c:v>Process</c:v>
                </c:pt>
                <c:pt idx="2">
                  <c:v>Business Environment</c:v>
                </c:pt>
              </c:strCache>
            </c:strRef>
          </c:cat>
          <c:val>
            <c:numRef>
              <c:f>Sheet1!$B$2:$B$4</c:f>
              <c:numCache>
                <c:formatCode>General</c:formatCode>
                <c:ptCount val="3"/>
                <c:pt idx="0">
                  <c:v>0.33</c:v>
                </c:pt>
                <c:pt idx="1">
                  <c:v>0.41</c:v>
                </c:pt>
                <c:pt idx="2">
                  <c:v>0.26</c:v>
                </c:pt>
              </c:numCache>
            </c:numRef>
          </c:val>
          <c:extLst>
            <c:ext xmlns:c16="http://schemas.microsoft.com/office/drawing/2014/chart" uri="{C3380CC4-5D6E-409C-BE32-E72D297353CC}">
              <c16:uniqueId val="{00000000-4B4A-42AB-B1A6-AED95196BC83}"/>
            </c:ext>
          </c:extLst>
        </c:ser>
        <c:dLbls>
          <c:showLegendKey val="0"/>
          <c:showVal val="0"/>
          <c:showCatName val="0"/>
          <c:showSerName val="0"/>
          <c:showPercent val="0"/>
          <c:showBubbleSize val="0"/>
          <c:showLeaderLines val="1"/>
        </c:dLbls>
        <c:firstSliceAng val="0"/>
        <c:holeSize val="58"/>
      </c:doughnutChart>
      <c:spPr>
        <a:noFill/>
        <a:ln>
          <a:noFill/>
        </a:ln>
        <a:effectLst/>
        <a:extLst>
          <a:ext uri="{909E8E84-426E-40DD-AFC4-6F175D3DCCD1}">
            <a14:hiddenFill xmlns:a14="http://schemas.microsoft.com/office/drawing/2010/main">
              <a:noFill/>
            </a14:hiddenFill>
          </a:ext>
        </a:ex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a:noFill/>
        </a14:hiddenLine>
      </a:ext>
    </a:ex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radarChart>
        <c:radarStyle val="marker"/>
        <c:varyColors val="0"/>
        <c:ser>
          <c:idx val="0"/>
          <c:order val="0"/>
          <c:tx>
            <c:strRef>
              <c:f>Sheet1!$B$1</c:f>
              <c:strCache>
                <c:ptCount val="1"/>
                <c:pt idx="0">
                  <c:v>Example project</c:v>
                </c:pt>
              </c:strCache>
            </c:strRef>
          </c:tx>
          <c:spPr>
            <a:ln w="38100" cap="rnd">
              <a:solidFill>
                <a:srgbClr val="34509A"/>
              </a:solidFill>
              <a:prstDash val="solid"/>
              <a:round/>
            </a:ln>
            <a:effectLst/>
          </c:spPr>
          <c:marker>
            <c:symbol val="none"/>
          </c:marker>
          <c:cat>
            <c:strRef>
              <c:f>Sheet1!$A$2:$A$10</c:f>
              <c:strCache>
                <c:ptCount val="9"/>
                <c:pt idx="0">
                  <c:v>Access</c:v>
                </c:pt>
                <c:pt idx="1">
                  <c:v>Buy-in</c:v>
                </c:pt>
                <c:pt idx="2">
                  <c:v>Trust</c:v>
                </c:pt>
                <c:pt idx="3">
                  <c:v>Decision making</c:v>
                </c:pt>
                <c:pt idx="4">
                  <c:v>Delivery</c:v>
                </c:pt>
                <c:pt idx="5">
                  <c:v>Criticality</c:v>
                </c:pt>
                <c:pt idx="6">
                  <c:v>Changes</c:v>
                </c:pt>
                <c:pt idx="7">
                  <c:v>Team size</c:v>
                </c:pt>
                <c:pt idx="8">
                  <c:v>Experience</c:v>
                </c:pt>
              </c:strCache>
            </c:strRef>
          </c:cat>
          <c:val>
            <c:numRef>
              <c:f>Sheet1!$B$2:$B$10</c:f>
              <c:numCache>
                <c:formatCode>General</c:formatCode>
                <c:ptCount val="9"/>
                <c:pt idx="0">
                  <c:v>3</c:v>
                </c:pt>
                <c:pt idx="1">
                  <c:v>3</c:v>
                </c:pt>
                <c:pt idx="2">
                  <c:v>2</c:v>
                </c:pt>
                <c:pt idx="3">
                  <c:v>3</c:v>
                </c:pt>
                <c:pt idx="4">
                  <c:v>2.5</c:v>
                </c:pt>
                <c:pt idx="5">
                  <c:v>6</c:v>
                </c:pt>
                <c:pt idx="6">
                  <c:v>2</c:v>
                </c:pt>
                <c:pt idx="7">
                  <c:v>4</c:v>
                </c:pt>
                <c:pt idx="8">
                  <c:v>3</c:v>
                </c:pt>
              </c:numCache>
            </c:numRef>
          </c:val>
          <c:extLst>
            <c:ext xmlns:c16="http://schemas.microsoft.com/office/drawing/2014/chart" uri="{C3380CC4-5D6E-409C-BE32-E72D297353CC}">
              <c16:uniqueId val="{00000000-73B4-4E56-A078-EC380520BFC9}"/>
            </c:ext>
          </c:extLst>
        </c:ser>
        <c:ser>
          <c:idx val="1"/>
          <c:order val="1"/>
          <c:tx>
            <c:strRef>
              <c:f>Sheet1!$C$1</c:f>
              <c:strCache>
                <c:ptCount val="1"/>
                <c:pt idx="0">
                  <c:v>Agile boundary</c:v>
                </c:pt>
              </c:strCache>
            </c:strRef>
          </c:tx>
          <c:spPr>
            <a:ln w="19050" cap="rnd">
              <a:solidFill>
                <a:srgbClr val="0F7C80"/>
              </a:solidFill>
              <a:prstDash val="dash"/>
              <a:round/>
            </a:ln>
            <a:effectLst/>
          </c:spPr>
          <c:marker>
            <c:symbol val="none"/>
          </c:marker>
          <c:cat>
            <c:strRef>
              <c:f>Sheet1!$A$2:$A$10</c:f>
              <c:strCache>
                <c:ptCount val="9"/>
                <c:pt idx="0">
                  <c:v>Access</c:v>
                </c:pt>
                <c:pt idx="1">
                  <c:v>Buy-in</c:v>
                </c:pt>
                <c:pt idx="2">
                  <c:v>Trust</c:v>
                </c:pt>
                <c:pt idx="3">
                  <c:v>Decision making</c:v>
                </c:pt>
                <c:pt idx="4">
                  <c:v>Delivery</c:v>
                </c:pt>
                <c:pt idx="5">
                  <c:v>Criticality</c:v>
                </c:pt>
                <c:pt idx="6">
                  <c:v>Changes</c:v>
                </c:pt>
                <c:pt idx="7">
                  <c:v>Team size</c:v>
                </c:pt>
                <c:pt idx="8">
                  <c:v>Experience</c:v>
                </c:pt>
              </c:strCache>
            </c:strRef>
          </c:cat>
          <c:val>
            <c:numRef>
              <c:f>Sheet1!$C$2:$C$10</c:f>
              <c:numCache>
                <c:formatCode>General</c:formatCode>
                <c:ptCount val="9"/>
                <c:pt idx="0">
                  <c:v>3.5</c:v>
                </c:pt>
                <c:pt idx="1">
                  <c:v>3.5</c:v>
                </c:pt>
                <c:pt idx="2">
                  <c:v>3.5</c:v>
                </c:pt>
                <c:pt idx="3">
                  <c:v>3.5</c:v>
                </c:pt>
                <c:pt idx="4">
                  <c:v>3.5</c:v>
                </c:pt>
                <c:pt idx="5">
                  <c:v>3.5</c:v>
                </c:pt>
                <c:pt idx="6">
                  <c:v>3.5</c:v>
                </c:pt>
                <c:pt idx="7">
                  <c:v>3.5</c:v>
                </c:pt>
                <c:pt idx="8">
                  <c:v>3.5</c:v>
                </c:pt>
              </c:numCache>
            </c:numRef>
          </c:val>
          <c:extLst>
            <c:ext xmlns:c16="http://schemas.microsoft.com/office/drawing/2014/chart" uri="{C3380CC4-5D6E-409C-BE32-E72D297353CC}">
              <c16:uniqueId val="{00000001-73B4-4E56-A078-EC380520BFC9}"/>
            </c:ext>
          </c:extLst>
        </c:ser>
        <c:ser>
          <c:idx val="2"/>
          <c:order val="2"/>
          <c:tx>
            <c:strRef>
              <c:f>Sheet1!$D$1</c:f>
              <c:strCache>
                <c:ptCount val="1"/>
                <c:pt idx="0">
                  <c:v>Hybrid boundary</c:v>
                </c:pt>
              </c:strCache>
            </c:strRef>
          </c:tx>
          <c:spPr>
            <a:ln w="19050" cap="rnd">
              <a:solidFill>
                <a:srgbClr val="C76A2C"/>
              </a:solidFill>
              <a:prstDash val="dash"/>
              <a:round/>
            </a:ln>
            <a:effectLst/>
          </c:spPr>
          <c:marker>
            <c:symbol val="none"/>
          </c:marker>
          <c:cat>
            <c:strRef>
              <c:f>Sheet1!$A$2:$A$10</c:f>
              <c:strCache>
                <c:ptCount val="9"/>
                <c:pt idx="0">
                  <c:v>Access</c:v>
                </c:pt>
                <c:pt idx="1">
                  <c:v>Buy-in</c:v>
                </c:pt>
                <c:pt idx="2">
                  <c:v>Trust</c:v>
                </c:pt>
                <c:pt idx="3">
                  <c:v>Decision making</c:v>
                </c:pt>
                <c:pt idx="4">
                  <c:v>Delivery</c:v>
                </c:pt>
                <c:pt idx="5">
                  <c:v>Criticality</c:v>
                </c:pt>
                <c:pt idx="6">
                  <c:v>Changes</c:v>
                </c:pt>
                <c:pt idx="7">
                  <c:v>Team size</c:v>
                </c:pt>
                <c:pt idx="8">
                  <c:v>Experience</c:v>
                </c:pt>
              </c:strCache>
            </c:strRef>
          </c:cat>
          <c:val>
            <c:numRef>
              <c:f>Sheet1!$D$2:$D$10</c:f>
              <c:numCache>
                <c:formatCode>General</c:formatCode>
                <c:ptCount val="9"/>
                <c:pt idx="0">
                  <c:v>7</c:v>
                </c:pt>
                <c:pt idx="1">
                  <c:v>7</c:v>
                </c:pt>
                <c:pt idx="2">
                  <c:v>7</c:v>
                </c:pt>
                <c:pt idx="3">
                  <c:v>7</c:v>
                </c:pt>
                <c:pt idx="4">
                  <c:v>7</c:v>
                </c:pt>
                <c:pt idx="5">
                  <c:v>7</c:v>
                </c:pt>
                <c:pt idx="6">
                  <c:v>7</c:v>
                </c:pt>
                <c:pt idx="7">
                  <c:v>7</c:v>
                </c:pt>
                <c:pt idx="8">
                  <c:v>7</c:v>
                </c:pt>
              </c:numCache>
            </c:numRef>
          </c:val>
          <c:extLst>
            <c:ext xmlns:c16="http://schemas.microsoft.com/office/drawing/2014/chart" uri="{C3380CC4-5D6E-409C-BE32-E72D297353CC}">
              <c16:uniqueId val="{00000002-73B4-4E56-A078-EC380520BFC9}"/>
            </c:ext>
          </c:extLst>
        </c:ser>
        <c:dLbls>
          <c:showLegendKey val="0"/>
          <c:showVal val="0"/>
          <c:showCatName val="0"/>
          <c:showSerName val="0"/>
          <c:showPercent val="0"/>
          <c:showBubbleSize val="0"/>
        </c:dLbls>
        <c:axId val="1358271935"/>
        <c:axId val="145803311"/>
      </c:radarChart>
      <c:catAx>
        <c:axId val="13582719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rgbClr val="14213D"/>
                </a:solidFill>
                <a:latin typeface="+mn-lt"/>
                <a:ea typeface="+mn-ea"/>
                <a:cs typeface="+mn-cs"/>
              </a:defRPr>
            </a:pPr>
            <a:endParaRPr lang="en-US"/>
          </a:p>
        </c:txPr>
        <c:crossAx val="145803311"/>
        <c:crosses val="autoZero"/>
        <c:auto val="1"/>
        <c:lblAlgn val="ctr"/>
        <c:lblOffset val="100"/>
        <c:noMultiLvlLbl val="0"/>
      </c:catAx>
      <c:valAx>
        <c:axId val="145803311"/>
        <c:scaling>
          <c:orientation val="minMax"/>
          <c:max val="1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358271935"/>
        <c:crosses val="autoZero"/>
        <c:crossBetween val="between"/>
        <c:majorUnit val="2"/>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a:extLst>
      <a:ext uri="{91240B29-F687-4F45-9708-019B960494DF}">
        <a14:hiddenLine xmlns:a14="http://schemas.microsoft.com/office/drawing/2010/main">
          <a:noFill/>
        </a14:hiddenLine>
      </a:ext>
    </a:ex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14213D"/>
                </a:solidFill>
                <a:latin typeface="+mn-lt"/>
                <a:ea typeface="+mn-ea"/>
                <a:cs typeface="+mn-cs"/>
              </a:defRPr>
            </a:pPr>
            <a:r>
              <a:rPr lang="en-US" sz="1400" b="1">
                <a:solidFill>
                  <a:srgbClr val="14213D"/>
                </a:solidFill>
              </a:rPr>
              <a:t>Burndown (iteration): work remaining</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14213D"/>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Ideal</c:v>
                </c:pt>
              </c:strCache>
            </c:strRef>
          </c:tx>
          <c:spPr>
            <a:ln w="31750" cap="rnd">
              <a:solidFill>
                <a:srgbClr val="9AA3B2"/>
              </a:solidFill>
              <a:prstDash val="dash"/>
              <a:round/>
            </a:ln>
            <a:effectLst/>
          </c:spPr>
          <c:marker>
            <c:symbol val="none"/>
          </c:marker>
          <c:cat>
            <c:strRef>
              <c:f>Sheet1!$A$2:$A$12</c:f>
              <c:strCache>
                <c:ptCount val="11"/>
                <c:pt idx="0">
                  <c:v>0</c:v>
                </c:pt>
                <c:pt idx="1">
                  <c:v>1</c:v>
                </c:pt>
                <c:pt idx="2">
                  <c:v>2</c:v>
                </c:pt>
                <c:pt idx="3">
                  <c:v>3</c:v>
                </c:pt>
                <c:pt idx="4">
                  <c:v>4</c:v>
                </c:pt>
                <c:pt idx="5">
                  <c:v>5</c:v>
                </c:pt>
                <c:pt idx="6">
                  <c:v>6</c:v>
                </c:pt>
                <c:pt idx="7">
                  <c:v>7</c:v>
                </c:pt>
                <c:pt idx="8">
                  <c:v>8</c:v>
                </c:pt>
                <c:pt idx="9">
                  <c:v>9</c:v>
                </c:pt>
                <c:pt idx="10">
                  <c:v>10</c:v>
                </c:pt>
              </c:strCache>
            </c:strRef>
          </c:cat>
          <c:val>
            <c:numRef>
              <c:f>Sheet1!$B$2:$B$12</c:f>
              <c:numCache>
                <c:formatCode>General</c:formatCode>
                <c:ptCount val="11"/>
                <c:pt idx="0">
                  <c:v>50</c:v>
                </c:pt>
                <c:pt idx="1">
                  <c:v>45</c:v>
                </c:pt>
                <c:pt idx="2">
                  <c:v>40</c:v>
                </c:pt>
                <c:pt idx="3">
                  <c:v>35</c:v>
                </c:pt>
                <c:pt idx="4">
                  <c:v>30</c:v>
                </c:pt>
                <c:pt idx="5">
                  <c:v>25</c:v>
                </c:pt>
                <c:pt idx="6">
                  <c:v>20</c:v>
                </c:pt>
                <c:pt idx="7">
                  <c:v>15</c:v>
                </c:pt>
                <c:pt idx="8">
                  <c:v>10</c:v>
                </c:pt>
                <c:pt idx="9">
                  <c:v>5</c:v>
                </c:pt>
                <c:pt idx="10">
                  <c:v>0</c:v>
                </c:pt>
              </c:numCache>
            </c:numRef>
          </c:val>
          <c:smooth val="0"/>
          <c:extLst>
            <c:ext xmlns:c16="http://schemas.microsoft.com/office/drawing/2014/chart" uri="{C3380CC4-5D6E-409C-BE32-E72D297353CC}">
              <c16:uniqueId val="{00000000-60E5-4CF4-9B39-1F6FFF822E8C}"/>
            </c:ext>
          </c:extLst>
        </c:ser>
        <c:ser>
          <c:idx val="1"/>
          <c:order val="1"/>
          <c:tx>
            <c:strRef>
              <c:f>Sheet1!$C$1</c:f>
              <c:strCache>
                <c:ptCount val="1"/>
                <c:pt idx="0">
                  <c:v>Actual</c:v>
                </c:pt>
              </c:strCache>
            </c:strRef>
          </c:tx>
          <c:spPr>
            <a:ln w="31750" cap="rnd">
              <a:solidFill>
                <a:srgbClr val="6A4C93"/>
              </a:solidFill>
              <a:prstDash val="solid"/>
              <a:round/>
            </a:ln>
            <a:effectLst/>
          </c:spPr>
          <c:marker>
            <c:symbol val="none"/>
          </c:marker>
          <c:cat>
            <c:strRef>
              <c:f>Sheet1!$A$2:$A$12</c:f>
              <c:strCache>
                <c:ptCount val="11"/>
                <c:pt idx="0">
                  <c:v>0</c:v>
                </c:pt>
                <c:pt idx="1">
                  <c:v>1</c:v>
                </c:pt>
                <c:pt idx="2">
                  <c:v>2</c:v>
                </c:pt>
                <c:pt idx="3">
                  <c:v>3</c:v>
                </c:pt>
                <c:pt idx="4">
                  <c:v>4</c:v>
                </c:pt>
                <c:pt idx="5">
                  <c:v>5</c:v>
                </c:pt>
                <c:pt idx="6">
                  <c:v>6</c:v>
                </c:pt>
                <c:pt idx="7">
                  <c:v>7</c:v>
                </c:pt>
                <c:pt idx="8">
                  <c:v>8</c:v>
                </c:pt>
                <c:pt idx="9">
                  <c:v>9</c:v>
                </c:pt>
                <c:pt idx="10">
                  <c:v>10</c:v>
                </c:pt>
              </c:strCache>
            </c:strRef>
          </c:cat>
          <c:val>
            <c:numRef>
              <c:f>Sheet1!$C$2:$C$12</c:f>
              <c:numCache>
                <c:formatCode>General</c:formatCode>
                <c:ptCount val="11"/>
                <c:pt idx="0">
                  <c:v>50</c:v>
                </c:pt>
                <c:pt idx="1">
                  <c:v>48</c:v>
                </c:pt>
                <c:pt idx="2">
                  <c:v>45</c:v>
                </c:pt>
                <c:pt idx="3">
                  <c:v>44</c:v>
                </c:pt>
                <c:pt idx="4">
                  <c:v>40</c:v>
                </c:pt>
                <c:pt idx="5">
                  <c:v>36</c:v>
                </c:pt>
                <c:pt idx="6">
                  <c:v>33</c:v>
                </c:pt>
                <c:pt idx="7">
                  <c:v>28</c:v>
                </c:pt>
                <c:pt idx="8">
                  <c:v>22</c:v>
                </c:pt>
                <c:pt idx="9">
                  <c:v>15</c:v>
                </c:pt>
                <c:pt idx="10">
                  <c:v>8</c:v>
                </c:pt>
              </c:numCache>
            </c:numRef>
          </c:val>
          <c:smooth val="0"/>
          <c:extLst>
            <c:ext xmlns:c16="http://schemas.microsoft.com/office/drawing/2014/chart" uri="{C3380CC4-5D6E-409C-BE32-E72D297353CC}">
              <c16:uniqueId val="{00000001-60E5-4CF4-9B39-1F6FFF822E8C}"/>
            </c:ext>
          </c:extLst>
        </c:ser>
        <c:dLbls>
          <c:showLegendKey val="0"/>
          <c:showVal val="0"/>
          <c:showCatName val="0"/>
          <c:showSerName val="0"/>
          <c:showPercent val="0"/>
          <c:showBubbleSize val="0"/>
        </c:dLbls>
        <c:smooth val="0"/>
        <c:axId val="2121755584"/>
        <c:axId val="2099360880"/>
      </c:lineChart>
      <c:catAx>
        <c:axId val="21217555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rgbClr val="5B6475"/>
                </a:solidFill>
                <a:latin typeface="+mn-lt"/>
                <a:ea typeface="+mn-ea"/>
                <a:cs typeface="+mn-cs"/>
              </a:defRPr>
            </a:pPr>
            <a:endParaRPr lang="en-US"/>
          </a:p>
        </c:txPr>
        <c:crossAx val="2099360880"/>
        <c:crosses val="autoZero"/>
        <c:auto val="1"/>
        <c:lblAlgn val="ctr"/>
        <c:lblOffset val="100"/>
        <c:noMultiLvlLbl val="0"/>
      </c:catAx>
      <c:valAx>
        <c:axId val="2099360880"/>
        <c:scaling>
          <c:orientation val="minMax"/>
        </c:scaling>
        <c:delete val="0"/>
        <c:axPos val="l"/>
        <c:majorGridlines>
          <c:spPr>
            <a:ln w="9525" cap="flat" cmpd="sng" algn="ctr">
              <a:solidFill>
                <a:srgbClr val="E5E8EC"/>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rgbClr val="5B6475"/>
                </a:solidFill>
                <a:latin typeface="+mn-lt"/>
                <a:ea typeface="+mn-ea"/>
                <a:cs typeface="+mn-cs"/>
              </a:defRPr>
            </a:pPr>
            <a:endParaRPr lang="en-US"/>
          </a:p>
        </c:txPr>
        <c:crossAx val="21217555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a:extLst>
      <a:ext uri="{91240B29-F687-4F45-9708-019B960494DF}">
        <a14:hiddenLine xmlns:a14="http://schemas.microsoft.com/office/drawing/2010/main">
          <a:noFill/>
        </a14:hiddenLine>
      </a:ext>
    </a:ex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14213D"/>
                </a:solidFill>
                <a:latin typeface="+mn-lt"/>
                <a:ea typeface="+mn-ea"/>
                <a:cs typeface="+mn-cs"/>
              </a:defRPr>
            </a:pPr>
            <a:r>
              <a:rPr lang="en-US" sz="1400" b="1">
                <a:solidFill>
                  <a:srgbClr val="14213D"/>
                </a:solidFill>
              </a:rPr>
              <a:t>Burnup (release): work done vs. total scope</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14213D"/>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Total scope</c:v>
                </c:pt>
              </c:strCache>
            </c:strRef>
          </c:tx>
          <c:spPr>
            <a:ln w="31750" cap="rnd">
              <a:solidFill>
                <a:srgbClr val="A84A2E"/>
              </a:solidFill>
              <a:prstDash val="dash"/>
              <a:round/>
            </a:ln>
            <a:effectLst/>
          </c:spPr>
          <c:marker>
            <c:symbol val="none"/>
          </c:marker>
          <c:cat>
            <c:strRef>
              <c:f>Sheet1!$A$2:$A$9</c:f>
              <c:strCache>
                <c:ptCount val="8"/>
                <c:pt idx="0">
                  <c:v>It 1</c:v>
                </c:pt>
                <c:pt idx="1">
                  <c:v>It 2</c:v>
                </c:pt>
                <c:pt idx="2">
                  <c:v>It 3</c:v>
                </c:pt>
                <c:pt idx="3">
                  <c:v>It 4</c:v>
                </c:pt>
                <c:pt idx="4">
                  <c:v>It 5</c:v>
                </c:pt>
                <c:pt idx="5">
                  <c:v>It 6</c:v>
                </c:pt>
                <c:pt idx="6">
                  <c:v>It 7</c:v>
                </c:pt>
                <c:pt idx="7">
                  <c:v>It 8</c:v>
                </c:pt>
              </c:strCache>
            </c:strRef>
          </c:cat>
          <c:val>
            <c:numRef>
              <c:f>Sheet1!$B$2:$B$9</c:f>
              <c:numCache>
                <c:formatCode>General</c:formatCode>
                <c:ptCount val="8"/>
                <c:pt idx="0">
                  <c:v>60</c:v>
                </c:pt>
                <c:pt idx="1">
                  <c:v>60</c:v>
                </c:pt>
                <c:pt idx="2">
                  <c:v>65</c:v>
                </c:pt>
                <c:pt idx="3">
                  <c:v>65</c:v>
                </c:pt>
                <c:pt idx="4">
                  <c:v>70</c:v>
                </c:pt>
                <c:pt idx="5">
                  <c:v>70</c:v>
                </c:pt>
                <c:pt idx="6">
                  <c:v>72</c:v>
                </c:pt>
                <c:pt idx="7">
                  <c:v>72</c:v>
                </c:pt>
              </c:numCache>
            </c:numRef>
          </c:val>
          <c:smooth val="0"/>
          <c:extLst>
            <c:ext xmlns:c16="http://schemas.microsoft.com/office/drawing/2014/chart" uri="{C3380CC4-5D6E-409C-BE32-E72D297353CC}">
              <c16:uniqueId val="{00000000-604E-40BC-BF1F-423C3FB6C70D}"/>
            </c:ext>
          </c:extLst>
        </c:ser>
        <c:ser>
          <c:idx val="1"/>
          <c:order val="1"/>
          <c:tx>
            <c:strRef>
              <c:f>Sheet1!$C$1</c:f>
              <c:strCache>
                <c:ptCount val="1"/>
                <c:pt idx="0">
                  <c:v>Completed</c:v>
                </c:pt>
              </c:strCache>
            </c:strRef>
          </c:tx>
          <c:spPr>
            <a:ln w="31750" cap="rnd">
              <a:solidFill>
                <a:srgbClr val="0F7C80"/>
              </a:solidFill>
              <a:prstDash val="solid"/>
              <a:round/>
            </a:ln>
            <a:effectLst/>
          </c:spPr>
          <c:marker>
            <c:symbol val="none"/>
          </c:marker>
          <c:cat>
            <c:strRef>
              <c:f>Sheet1!$A$2:$A$9</c:f>
              <c:strCache>
                <c:ptCount val="8"/>
                <c:pt idx="0">
                  <c:v>It 1</c:v>
                </c:pt>
                <c:pt idx="1">
                  <c:v>It 2</c:v>
                </c:pt>
                <c:pt idx="2">
                  <c:v>It 3</c:v>
                </c:pt>
                <c:pt idx="3">
                  <c:v>It 4</c:v>
                </c:pt>
                <c:pt idx="4">
                  <c:v>It 5</c:v>
                </c:pt>
                <c:pt idx="5">
                  <c:v>It 6</c:v>
                </c:pt>
                <c:pt idx="6">
                  <c:v>It 7</c:v>
                </c:pt>
                <c:pt idx="7">
                  <c:v>It 8</c:v>
                </c:pt>
              </c:strCache>
            </c:strRef>
          </c:cat>
          <c:val>
            <c:numRef>
              <c:f>Sheet1!$C$2:$C$9</c:f>
              <c:numCache>
                <c:formatCode>General</c:formatCode>
                <c:ptCount val="8"/>
                <c:pt idx="0">
                  <c:v>8</c:v>
                </c:pt>
                <c:pt idx="1">
                  <c:v>17</c:v>
                </c:pt>
                <c:pt idx="2">
                  <c:v>25</c:v>
                </c:pt>
                <c:pt idx="3">
                  <c:v>33</c:v>
                </c:pt>
                <c:pt idx="4">
                  <c:v>42</c:v>
                </c:pt>
                <c:pt idx="5">
                  <c:v>50</c:v>
                </c:pt>
                <c:pt idx="6">
                  <c:v>58</c:v>
                </c:pt>
                <c:pt idx="7">
                  <c:v>66</c:v>
                </c:pt>
              </c:numCache>
            </c:numRef>
          </c:val>
          <c:smooth val="0"/>
          <c:extLst>
            <c:ext xmlns:c16="http://schemas.microsoft.com/office/drawing/2014/chart" uri="{C3380CC4-5D6E-409C-BE32-E72D297353CC}">
              <c16:uniqueId val="{00000001-604E-40BC-BF1F-423C3FB6C70D}"/>
            </c:ext>
          </c:extLst>
        </c:ser>
        <c:dLbls>
          <c:showLegendKey val="0"/>
          <c:showVal val="0"/>
          <c:showCatName val="0"/>
          <c:showSerName val="0"/>
          <c:showPercent val="0"/>
          <c:showBubbleSize val="0"/>
        </c:dLbls>
        <c:smooth val="0"/>
        <c:axId val="587484912"/>
        <c:axId val="2099310480"/>
      </c:lineChart>
      <c:catAx>
        <c:axId val="5874849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rgbClr val="5B6475"/>
                </a:solidFill>
                <a:latin typeface="+mn-lt"/>
                <a:ea typeface="+mn-ea"/>
                <a:cs typeface="+mn-cs"/>
              </a:defRPr>
            </a:pPr>
            <a:endParaRPr lang="en-US"/>
          </a:p>
        </c:txPr>
        <c:crossAx val="2099310480"/>
        <c:crosses val="autoZero"/>
        <c:auto val="1"/>
        <c:lblAlgn val="ctr"/>
        <c:lblOffset val="100"/>
        <c:noMultiLvlLbl val="0"/>
      </c:catAx>
      <c:valAx>
        <c:axId val="2099310480"/>
        <c:scaling>
          <c:orientation val="minMax"/>
        </c:scaling>
        <c:delete val="0"/>
        <c:axPos val="l"/>
        <c:majorGridlines>
          <c:spPr>
            <a:ln w="9525" cap="flat" cmpd="sng" algn="ctr">
              <a:solidFill>
                <a:srgbClr val="E5E8EC"/>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rgbClr val="5B6475"/>
                </a:solidFill>
                <a:latin typeface="+mn-lt"/>
                <a:ea typeface="+mn-ea"/>
                <a:cs typeface="+mn-cs"/>
              </a:defRPr>
            </a:pPr>
            <a:endParaRPr lang="en-US"/>
          </a:p>
        </c:txPr>
        <c:crossAx val="5874849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a:extLst>
      <a:ext uri="{91240B29-F687-4F45-9708-019B960494DF}">
        <a14:hiddenLine xmlns:a14="http://schemas.microsoft.com/office/drawing/2010/main">
          <a:noFill/>
        </a14:hiddenLine>
      </a:ext>
    </a:ex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14213D"/>
                </a:solidFill>
                <a:latin typeface="+mn-lt"/>
                <a:ea typeface="+mn-ea"/>
                <a:cs typeface="+mn-cs"/>
              </a:defRPr>
            </a:pPr>
            <a:r>
              <a:rPr lang="en-US" sz="1400" b="1">
                <a:solidFill>
                  <a:srgbClr val="14213D"/>
                </a:solidFill>
              </a:rPr>
              <a:t>Velocity: story points per iteration</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14213D"/>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Completed</c:v>
                </c:pt>
              </c:strCache>
            </c:strRef>
          </c:tx>
          <c:spPr>
            <a:solidFill>
              <a:srgbClr val="6A4C9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It 1</c:v>
                </c:pt>
                <c:pt idx="1">
                  <c:v>It 2</c:v>
                </c:pt>
                <c:pt idx="2">
                  <c:v>It 3</c:v>
                </c:pt>
                <c:pt idx="3">
                  <c:v>It 4</c:v>
                </c:pt>
                <c:pt idx="4">
                  <c:v>It 5</c:v>
                </c:pt>
                <c:pt idx="5">
                  <c:v>It 6</c:v>
                </c:pt>
              </c:strCache>
            </c:strRef>
          </c:cat>
          <c:val>
            <c:numRef>
              <c:f>Sheet1!$B$2:$B$7</c:f>
              <c:numCache>
                <c:formatCode>General</c:formatCode>
                <c:ptCount val="6"/>
                <c:pt idx="0">
                  <c:v>10</c:v>
                </c:pt>
                <c:pt idx="1">
                  <c:v>15</c:v>
                </c:pt>
                <c:pt idx="2">
                  <c:v>30</c:v>
                </c:pt>
                <c:pt idx="3">
                  <c:v>25</c:v>
                </c:pt>
                <c:pt idx="4">
                  <c:v>20</c:v>
                </c:pt>
                <c:pt idx="5">
                  <c:v>30</c:v>
                </c:pt>
              </c:numCache>
            </c:numRef>
          </c:val>
          <c:extLst>
            <c:ext xmlns:c16="http://schemas.microsoft.com/office/drawing/2014/chart" uri="{C3380CC4-5D6E-409C-BE32-E72D297353CC}">
              <c16:uniqueId val="{00000000-8C93-4262-B207-D1AC505888AB}"/>
            </c:ext>
          </c:extLst>
        </c:ser>
        <c:dLbls>
          <c:showLegendKey val="0"/>
          <c:showVal val="0"/>
          <c:showCatName val="0"/>
          <c:showSerName val="0"/>
          <c:showPercent val="0"/>
          <c:showBubbleSize val="0"/>
        </c:dLbls>
        <c:gapWidth val="60"/>
        <c:overlap val="-27"/>
        <c:axId val="17075760"/>
        <c:axId val="1588761488"/>
      </c:barChart>
      <c:lineChart>
        <c:grouping val="standard"/>
        <c:varyColors val="0"/>
        <c:ser>
          <c:idx val="1"/>
          <c:order val="1"/>
          <c:tx>
            <c:strRef>
              <c:f>Sheet1!$C$1</c:f>
              <c:strCache>
                <c:ptCount val="1"/>
                <c:pt idx="0">
                  <c:v>Average (21.67)</c:v>
                </c:pt>
              </c:strCache>
            </c:strRef>
          </c:tx>
          <c:spPr>
            <a:ln w="25400" cap="rnd">
              <a:solidFill>
                <a:srgbClr val="A84A2E"/>
              </a:solidFill>
              <a:prstDash val="dash"/>
              <a:round/>
            </a:ln>
            <a:effectLst/>
          </c:spPr>
          <c:marker>
            <c:symbol val="none"/>
          </c:marker>
          <c:cat>
            <c:strRef>
              <c:f>Sheet1!$A$2:$A$7</c:f>
              <c:strCache>
                <c:ptCount val="6"/>
                <c:pt idx="0">
                  <c:v>It 1</c:v>
                </c:pt>
                <c:pt idx="1">
                  <c:v>It 2</c:v>
                </c:pt>
                <c:pt idx="2">
                  <c:v>It 3</c:v>
                </c:pt>
                <c:pt idx="3">
                  <c:v>It 4</c:v>
                </c:pt>
                <c:pt idx="4">
                  <c:v>It 5</c:v>
                </c:pt>
                <c:pt idx="5">
                  <c:v>It 6</c:v>
                </c:pt>
              </c:strCache>
            </c:strRef>
          </c:cat>
          <c:val>
            <c:numRef>
              <c:f>Sheet1!$C$2:$C$7</c:f>
              <c:numCache>
                <c:formatCode>General</c:formatCode>
                <c:ptCount val="6"/>
                <c:pt idx="0">
                  <c:v>21.67</c:v>
                </c:pt>
                <c:pt idx="1">
                  <c:v>21.67</c:v>
                </c:pt>
                <c:pt idx="2">
                  <c:v>21.67</c:v>
                </c:pt>
                <c:pt idx="3">
                  <c:v>21.67</c:v>
                </c:pt>
                <c:pt idx="4">
                  <c:v>21.67</c:v>
                </c:pt>
                <c:pt idx="5">
                  <c:v>21.67</c:v>
                </c:pt>
              </c:numCache>
            </c:numRef>
          </c:val>
          <c:smooth val="0"/>
          <c:extLst>
            <c:ext xmlns:c16="http://schemas.microsoft.com/office/drawing/2014/chart" uri="{C3380CC4-5D6E-409C-BE32-E72D297353CC}">
              <c16:uniqueId val="{00000001-8C93-4262-B207-D1AC505888AB}"/>
            </c:ext>
          </c:extLst>
        </c:ser>
        <c:dLbls>
          <c:showLegendKey val="0"/>
          <c:showVal val="0"/>
          <c:showCatName val="0"/>
          <c:showSerName val="0"/>
          <c:showPercent val="0"/>
          <c:showBubbleSize val="0"/>
        </c:dLbls>
        <c:marker val="1"/>
        <c:smooth val="0"/>
        <c:axId val="17075760"/>
        <c:axId val="1588761488"/>
      </c:lineChart>
      <c:catAx>
        <c:axId val="17075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rgbClr val="5B6475"/>
                </a:solidFill>
                <a:latin typeface="+mn-lt"/>
                <a:ea typeface="+mn-ea"/>
                <a:cs typeface="+mn-cs"/>
              </a:defRPr>
            </a:pPr>
            <a:endParaRPr lang="en-US"/>
          </a:p>
        </c:txPr>
        <c:crossAx val="1588761488"/>
        <c:crosses val="autoZero"/>
        <c:auto val="1"/>
        <c:lblAlgn val="ctr"/>
        <c:lblOffset val="100"/>
        <c:noMultiLvlLbl val="0"/>
      </c:catAx>
      <c:valAx>
        <c:axId val="1588761488"/>
        <c:scaling>
          <c:orientation val="minMax"/>
        </c:scaling>
        <c:delete val="0"/>
        <c:axPos val="l"/>
        <c:majorGridlines>
          <c:spPr>
            <a:ln w="9525" cap="flat" cmpd="sng" algn="ctr">
              <a:solidFill>
                <a:srgbClr val="E5E8EC"/>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rgbClr val="5B6475"/>
                </a:solidFill>
                <a:latin typeface="+mn-lt"/>
                <a:ea typeface="+mn-ea"/>
                <a:cs typeface="+mn-cs"/>
              </a:defRPr>
            </a:pPr>
            <a:endParaRPr lang="en-US"/>
          </a:p>
        </c:txPr>
        <c:crossAx val="170757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a:extLst>
      <a:ext uri="{91240B29-F687-4F45-9708-019B960494DF}">
        <a14:hiddenLine xmlns:a14="http://schemas.microsoft.com/office/drawing/2010/main">
          <a:noFill/>
        </a14:hiddenLine>
      </a:ext>
    </a:ex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14213D"/>
                </a:solidFill>
                <a:latin typeface="+mn-lt"/>
                <a:ea typeface="+mn-ea"/>
                <a:cs typeface="+mn-cs"/>
              </a:defRPr>
            </a:pPr>
            <a:r>
              <a:rPr lang="en-US" sz="1400" b="1">
                <a:solidFill>
                  <a:srgbClr val="14213D"/>
                </a:solidFill>
              </a:rPr>
              <a:t>Cumulative flow: work items by state</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14213D"/>
              </a:solidFill>
              <a:latin typeface="+mn-lt"/>
              <a:ea typeface="+mn-ea"/>
              <a:cs typeface="+mn-cs"/>
            </a:defRPr>
          </a:pPr>
          <a:endParaRPr lang="en-US"/>
        </a:p>
      </c:txPr>
    </c:title>
    <c:autoTitleDeleted val="0"/>
    <c:plotArea>
      <c:layout/>
      <c:areaChart>
        <c:grouping val="stacked"/>
        <c:varyColors val="0"/>
        <c:ser>
          <c:idx val="0"/>
          <c:order val="0"/>
          <c:tx>
            <c:strRef>
              <c:f>Sheet1!$B$1</c:f>
              <c:strCache>
                <c:ptCount val="1"/>
                <c:pt idx="0">
                  <c:v>Done</c:v>
                </c:pt>
              </c:strCache>
            </c:strRef>
          </c:tx>
          <c:spPr>
            <a:solidFill>
              <a:srgbClr val="6A4C93"/>
            </a:solidFill>
            <a:ln>
              <a:noFill/>
            </a:ln>
            <a:effectLst/>
          </c:spPr>
          <c:cat>
            <c:strRef>
              <c:f>Sheet1!$A$2:$A$11</c:f>
              <c:strCache>
                <c:ptCount val="10"/>
                <c:pt idx="0">
                  <c:v>D1</c:v>
                </c:pt>
                <c:pt idx="1">
                  <c:v>D2</c:v>
                </c:pt>
                <c:pt idx="2">
                  <c:v>D3</c:v>
                </c:pt>
                <c:pt idx="3">
                  <c:v>D4</c:v>
                </c:pt>
                <c:pt idx="4">
                  <c:v>D5</c:v>
                </c:pt>
                <c:pt idx="5">
                  <c:v>D6</c:v>
                </c:pt>
                <c:pt idx="6">
                  <c:v>D7</c:v>
                </c:pt>
                <c:pt idx="7">
                  <c:v>D8</c:v>
                </c:pt>
                <c:pt idx="8">
                  <c:v>D9</c:v>
                </c:pt>
                <c:pt idx="9">
                  <c:v>D10</c:v>
                </c:pt>
              </c:strCache>
            </c:strRef>
          </c:cat>
          <c:val>
            <c:numRef>
              <c:f>Sheet1!$B$2:$B$11</c:f>
              <c:numCache>
                <c:formatCode>General</c:formatCode>
                <c:ptCount val="10"/>
                <c:pt idx="0">
                  <c:v>0</c:v>
                </c:pt>
                <c:pt idx="1">
                  <c:v>2</c:v>
                </c:pt>
                <c:pt idx="2">
                  <c:v>4</c:v>
                </c:pt>
                <c:pt idx="3">
                  <c:v>6</c:v>
                </c:pt>
                <c:pt idx="4">
                  <c:v>8</c:v>
                </c:pt>
                <c:pt idx="5">
                  <c:v>9</c:v>
                </c:pt>
                <c:pt idx="6">
                  <c:v>10</c:v>
                </c:pt>
                <c:pt idx="7">
                  <c:v>11</c:v>
                </c:pt>
                <c:pt idx="8">
                  <c:v>12</c:v>
                </c:pt>
                <c:pt idx="9">
                  <c:v>13</c:v>
                </c:pt>
              </c:numCache>
            </c:numRef>
          </c:val>
          <c:extLst>
            <c:ext xmlns:c16="http://schemas.microsoft.com/office/drawing/2014/chart" uri="{C3380CC4-5D6E-409C-BE32-E72D297353CC}">
              <c16:uniqueId val="{00000000-2D37-4DB4-9028-76C0389C7101}"/>
            </c:ext>
          </c:extLst>
        </c:ser>
        <c:ser>
          <c:idx val="1"/>
          <c:order val="1"/>
          <c:tx>
            <c:strRef>
              <c:f>Sheet1!$C$1</c:f>
              <c:strCache>
                <c:ptCount val="1"/>
                <c:pt idx="0">
                  <c:v>In progress</c:v>
                </c:pt>
              </c:strCache>
            </c:strRef>
          </c:tx>
          <c:spPr>
            <a:solidFill>
              <a:srgbClr val="9B7FC0"/>
            </a:solidFill>
            <a:ln>
              <a:noFill/>
            </a:ln>
            <a:effectLst/>
          </c:spPr>
          <c:cat>
            <c:strRef>
              <c:f>Sheet1!$A$2:$A$11</c:f>
              <c:strCache>
                <c:ptCount val="10"/>
                <c:pt idx="0">
                  <c:v>D1</c:v>
                </c:pt>
                <c:pt idx="1">
                  <c:v>D2</c:v>
                </c:pt>
                <c:pt idx="2">
                  <c:v>D3</c:v>
                </c:pt>
                <c:pt idx="3">
                  <c:v>D4</c:v>
                </c:pt>
                <c:pt idx="4">
                  <c:v>D5</c:v>
                </c:pt>
                <c:pt idx="5">
                  <c:v>D6</c:v>
                </c:pt>
                <c:pt idx="6">
                  <c:v>D7</c:v>
                </c:pt>
                <c:pt idx="7">
                  <c:v>D8</c:v>
                </c:pt>
                <c:pt idx="8">
                  <c:v>D9</c:v>
                </c:pt>
                <c:pt idx="9">
                  <c:v>D10</c:v>
                </c:pt>
              </c:strCache>
            </c:strRef>
          </c:cat>
          <c:val>
            <c:numRef>
              <c:f>Sheet1!$C$2:$C$11</c:f>
              <c:numCache>
                <c:formatCode>General</c:formatCode>
                <c:ptCount val="10"/>
                <c:pt idx="0">
                  <c:v>3</c:v>
                </c:pt>
                <c:pt idx="1">
                  <c:v>4</c:v>
                </c:pt>
                <c:pt idx="2">
                  <c:v>5</c:v>
                </c:pt>
                <c:pt idx="3">
                  <c:v>6</c:v>
                </c:pt>
                <c:pt idx="4">
                  <c:v>8</c:v>
                </c:pt>
                <c:pt idx="5">
                  <c:v>10</c:v>
                </c:pt>
                <c:pt idx="6">
                  <c:v>12</c:v>
                </c:pt>
                <c:pt idx="7">
                  <c:v>14</c:v>
                </c:pt>
                <c:pt idx="8">
                  <c:v>16</c:v>
                </c:pt>
                <c:pt idx="9">
                  <c:v>17</c:v>
                </c:pt>
              </c:numCache>
            </c:numRef>
          </c:val>
          <c:extLst>
            <c:ext xmlns:c16="http://schemas.microsoft.com/office/drawing/2014/chart" uri="{C3380CC4-5D6E-409C-BE32-E72D297353CC}">
              <c16:uniqueId val="{00000001-2D37-4DB4-9028-76C0389C7101}"/>
            </c:ext>
          </c:extLst>
        </c:ser>
        <c:ser>
          <c:idx val="2"/>
          <c:order val="2"/>
          <c:tx>
            <c:strRef>
              <c:f>Sheet1!$D$1</c:f>
              <c:strCache>
                <c:ptCount val="1"/>
                <c:pt idx="0">
                  <c:v>To do</c:v>
                </c:pt>
              </c:strCache>
            </c:strRef>
          </c:tx>
          <c:spPr>
            <a:solidFill>
              <a:srgbClr val="D5CBE6"/>
            </a:solidFill>
            <a:ln w="25400">
              <a:noFill/>
            </a:ln>
            <a:effectLst/>
          </c:spPr>
          <c:cat>
            <c:strRef>
              <c:f>Sheet1!$A$2:$A$11</c:f>
              <c:strCache>
                <c:ptCount val="10"/>
                <c:pt idx="0">
                  <c:v>D1</c:v>
                </c:pt>
                <c:pt idx="1">
                  <c:v>D2</c:v>
                </c:pt>
                <c:pt idx="2">
                  <c:v>D3</c:v>
                </c:pt>
                <c:pt idx="3">
                  <c:v>D4</c:v>
                </c:pt>
                <c:pt idx="4">
                  <c:v>D5</c:v>
                </c:pt>
                <c:pt idx="5">
                  <c:v>D6</c:v>
                </c:pt>
                <c:pt idx="6">
                  <c:v>D7</c:v>
                </c:pt>
                <c:pt idx="7">
                  <c:v>D8</c:v>
                </c:pt>
                <c:pt idx="8">
                  <c:v>D9</c:v>
                </c:pt>
                <c:pt idx="9">
                  <c:v>D10</c:v>
                </c:pt>
              </c:strCache>
            </c:strRef>
          </c:cat>
          <c:val>
            <c:numRef>
              <c:f>Sheet1!$D$2:$D$11</c:f>
              <c:numCache>
                <c:formatCode>General</c:formatCode>
                <c:ptCount val="10"/>
                <c:pt idx="0">
                  <c:v>20</c:v>
                </c:pt>
                <c:pt idx="1">
                  <c:v>19</c:v>
                </c:pt>
                <c:pt idx="2">
                  <c:v>18</c:v>
                </c:pt>
                <c:pt idx="3">
                  <c:v>18</c:v>
                </c:pt>
                <c:pt idx="4">
                  <c:v>17</c:v>
                </c:pt>
                <c:pt idx="5">
                  <c:v>16</c:v>
                </c:pt>
                <c:pt idx="6">
                  <c:v>16</c:v>
                </c:pt>
                <c:pt idx="7">
                  <c:v>15</c:v>
                </c:pt>
                <c:pt idx="8">
                  <c:v>14</c:v>
                </c:pt>
                <c:pt idx="9">
                  <c:v>14</c:v>
                </c:pt>
              </c:numCache>
            </c:numRef>
          </c:val>
          <c:extLst>
            <c:ext xmlns:c16="http://schemas.microsoft.com/office/drawing/2014/chart" uri="{C3380CC4-5D6E-409C-BE32-E72D297353CC}">
              <c16:uniqueId val="{00000002-2D37-4DB4-9028-76C0389C7101}"/>
            </c:ext>
          </c:extLst>
        </c:ser>
        <c:dLbls>
          <c:showLegendKey val="0"/>
          <c:showVal val="0"/>
          <c:showCatName val="0"/>
          <c:showSerName val="0"/>
          <c:showPercent val="0"/>
          <c:showBubbleSize val="0"/>
        </c:dLbls>
        <c:axId val="17087360"/>
        <c:axId val="1588816208"/>
      </c:areaChart>
      <c:catAx>
        <c:axId val="1708736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rgbClr val="5B6475"/>
                </a:solidFill>
                <a:latin typeface="+mn-lt"/>
                <a:ea typeface="+mn-ea"/>
                <a:cs typeface="+mn-cs"/>
              </a:defRPr>
            </a:pPr>
            <a:endParaRPr lang="en-US"/>
          </a:p>
        </c:txPr>
        <c:crossAx val="1588816208"/>
        <c:crosses val="autoZero"/>
        <c:auto val="1"/>
        <c:lblAlgn val="ctr"/>
        <c:lblOffset val="100"/>
        <c:noMultiLvlLbl val="0"/>
      </c:catAx>
      <c:valAx>
        <c:axId val="1588816208"/>
        <c:scaling>
          <c:orientation val="minMax"/>
        </c:scaling>
        <c:delete val="0"/>
        <c:axPos val="l"/>
        <c:majorGridlines>
          <c:spPr>
            <a:ln w="9525" cap="flat" cmpd="sng" algn="ctr">
              <a:solidFill>
                <a:srgbClr val="E5E8EC"/>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rgbClr val="5B6475"/>
                </a:solidFill>
                <a:latin typeface="+mn-lt"/>
                <a:ea typeface="+mn-ea"/>
                <a:cs typeface="+mn-cs"/>
              </a:defRPr>
            </a:pPr>
            <a:endParaRPr lang="en-US"/>
          </a:p>
        </c:txPr>
        <c:crossAx val="17087360"/>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a:extLst>
      <a:ext uri="{91240B29-F687-4F45-9708-019B960494DF}">
        <a14:hiddenLine xmlns:a14="http://schemas.microsoft.com/office/drawing/2010/main">
          <a:noFill/>
        </a14:hiddenLine>
      </a:ext>
    </a:ex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v>Cost baseline</c:v>
          </c:tx>
          <c:spPr>
            <a:ln w="38100" cap="rnd">
              <a:solidFill>
                <a:srgbClr val="34509A"/>
              </a:solidFill>
              <a:prstDash val="solid"/>
              <a:round/>
            </a:ln>
            <a:effectLst/>
          </c:spPr>
          <c:marker>
            <c:symbol val="none"/>
          </c:marker>
          <c:xVal>
            <c:numRef>
              <c:f>Sheet1!$A$2:$A$14</c:f>
              <c:numCache>
                <c:formatCode>General</c:formatCode>
                <c:ptCount val="13"/>
                <c:pt idx="0">
                  <c:v>0</c:v>
                </c:pt>
                <c:pt idx="1">
                  <c:v>1</c:v>
                </c:pt>
                <c:pt idx="2">
                  <c:v>2</c:v>
                </c:pt>
                <c:pt idx="3">
                  <c:v>3</c:v>
                </c:pt>
                <c:pt idx="4">
                  <c:v>4</c:v>
                </c:pt>
                <c:pt idx="5">
                  <c:v>5</c:v>
                </c:pt>
                <c:pt idx="6">
                  <c:v>6</c:v>
                </c:pt>
                <c:pt idx="7">
                  <c:v>7</c:v>
                </c:pt>
                <c:pt idx="8">
                  <c:v>8</c:v>
                </c:pt>
                <c:pt idx="9">
                  <c:v>9</c:v>
                </c:pt>
                <c:pt idx="10">
                  <c:v>10</c:v>
                </c:pt>
                <c:pt idx="11">
                  <c:v>11</c:v>
                </c:pt>
                <c:pt idx="12">
                  <c:v>12</c:v>
                </c:pt>
              </c:numCache>
            </c:numRef>
          </c:xVal>
          <c:yVal>
            <c:numRef>
              <c:f>Sheet1!$B$2:$B$14</c:f>
              <c:numCache>
                <c:formatCode>General</c:formatCode>
                <c:ptCount val="13"/>
                <c:pt idx="0">
                  <c:v>0</c:v>
                </c:pt>
                <c:pt idx="1">
                  <c:v>3</c:v>
                </c:pt>
                <c:pt idx="2">
                  <c:v>8</c:v>
                </c:pt>
                <c:pt idx="3">
                  <c:v>15</c:v>
                </c:pt>
                <c:pt idx="4">
                  <c:v>25</c:v>
                </c:pt>
                <c:pt idx="5">
                  <c:v>37</c:v>
                </c:pt>
                <c:pt idx="6">
                  <c:v>50</c:v>
                </c:pt>
                <c:pt idx="7">
                  <c:v>63</c:v>
                </c:pt>
                <c:pt idx="8">
                  <c:v>74</c:v>
                </c:pt>
                <c:pt idx="9">
                  <c:v>84</c:v>
                </c:pt>
                <c:pt idx="10">
                  <c:v>91</c:v>
                </c:pt>
                <c:pt idx="11">
                  <c:v>96</c:v>
                </c:pt>
                <c:pt idx="12">
                  <c:v>100</c:v>
                </c:pt>
              </c:numCache>
            </c:numRef>
          </c:yVal>
          <c:smooth val="1"/>
          <c:extLst>
            <c:ext xmlns:c16="http://schemas.microsoft.com/office/drawing/2014/chart" uri="{C3380CC4-5D6E-409C-BE32-E72D297353CC}">
              <c16:uniqueId val="{00000001-D06F-4098-8453-B6D3B9A50F8F}"/>
            </c:ext>
          </c:extLst>
        </c:ser>
        <c:ser>
          <c:idx val="1"/>
          <c:order val="1"/>
          <c:tx>
            <c:v>Expenditures</c:v>
          </c:tx>
          <c:spPr>
            <a:ln w="31750" cap="rnd">
              <a:solidFill>
                <a:srgbClr val="0F7C80"/>
              </a:solidFill>
              <a:prstDash val="dash"/>
              <a:round/>
            </a:ln>
            <a:effectLst/>
          </c:spPr>
          <c:marker>
            <c:symbol val="none"/>
          </c:marker>
          <c:xVal>
            <c:numRef>
              <c:f>Sheet1!$C$2:$C$12</c:f>
              <c:numCache>
                <c:formatCode>General</c:formatCode>
                <c:ptCount val="11"/>
                <c:pt idx="0">
                  <c:v>2</c:v>
                </c:pt>
                <c:pt idx="1">
                  <c:v>3</c:v>
                </c:pt>
                <c:pt idx="2">
                  <c:v>4</c:v>
                </c:pt>
                <c:pt idx="3">
                  <c:v>5</c:v>
                </c:pt>
                <c:pt idx="4">
                  <c:v>6</c:v>
                </c:pt>
                <c:pt idx="5">
                  <c:v>7</c:v>
                </c:pt>
                <c:pt idx="6">
                  <c:v>8</c:v>
                </c:pt>
                <c:pt idx="7">
                  <c:v>9</c:v>
                </c:pt>
                <c:pt idx="8">
                  <c:v>10</c:v>
                </c:pt>
                <c:pt idx="9">
                  <c:v>11</c:v>
                </c:pt>
                <c:pt idx="10">
                  <c:v>12</c:v>
                </c:pt>
              </c:numCache>
            </c:numRef>
          </c:xVal>
          <c:yVal>
            <c:numRef>
              <c:f>Sheet1!$D$2:$D$12</c:f>
              <c:numCache>
                <c:formatCode>General</c:formatCode>
                <c:ptCount val="11"/>
                <c:pt idx="0">
                  <c:v>0</c:v>
                </c:pt>
                <c:pt idx="1">
                  <c:v>4</c:v>
                </c:pt>
                <c:pt idx="2">
                  <c:v>10</c:v>
                </c:pt>
                <c:pt idx="3">
                  <c:v>18</c:v>
                </c:pt>
                <c:pt idx="4">
                  <c:v>28</c:v>
                </c:pt>
                <c:pt idx="5">
                  <c:v>40</c:v>
                </c:pt>
                <c:pt idx="6">
                  <c:v>53</c:v>
                </c:pt>
                <c:pt idx="7">
                  <c:v>66</c:v>
                </c:pt>
                <c:pt idx="8">
                  <c:v>79</c:v>
                </c:pt>
                <c:pt idx="9">
                  <c:v>91</c:v>
                </c:pt>
                <c:pt idx="10">
                  <c:v>104</c:v>
                </c:pt>
              </c:numCache>
            </c:numRef>
          </c:yVal>
          <c:smooth val="1"/>
          <c:extLst>
            <c:ext xmlns:c16="http://schemas.microsoft.com/office/drawing/2014/chart" uri="{C3380CC4-5D6E-409C-BE32-E72D297353CC}">
              <c16:uniqueId val="{00000002-D06F-4098-8453-B6D3B9A50F8F}"/>
            </c:ext>
          </c:extLst>
        </c:ser>
        <c:ser>
          <c:idx val="2"/>
          <c:order val="2"/>
          <c:tx>
            <c:v>Funding requirements</c:v>
          </c:tx>
          <c:spPr>
            <a:ln w="31750" cap="rnd">
              <a:solidFill>
                <a:srgbClr val="A84A2E"/>
              </a:solidFill>
              <a:prstDash val="dash"/>
              <a:round/>
            </a:ln>
            <a:effectLst/>
          </c:spPr>
          <c:marker>
            <c:symbol val="none"/>
          </c:marker>
          <c:xVal>
            <c:numRef>
              <c:f>Sheet1!$E$2:$E$11</c:f>
              <c:numCache>
                <c:formatCode>General</c:formatCode>
                <c:ptCount val="10"/>
                <c:pt idx="0">
                  <c:v>0</c:v>
                </c:pt>
                <c:pt idx="1">
                  <c:v>4</c:v>
                </c:pt>
                <c:pt idx="2">
                  <c:v>4</c:v>
                </c:pt>
                <c:pt idx="3">
                  <c:v>6</c:v>
                </c:pt>
                <c:pt idx="4">
                  <c:v>6</c:v>
                </c:pt>
                <c:pt idx="5">
                  <c:v>9</c:v>
                </c:pt>
                <c:pt idx="6">
                  <c:v>9</c:v>
                </c:pt>
                <c:pt idx="7">
                  <c:v>11</c:v>
                </c:pt>
                <c:pt idx="8">
                  <c:v>11</c:v>
                </c:pt>
                <c:pt idx="9">
                  <c:v>12</c:v>
                </c:pt>
              </c:numCache>
            </c:numRef>
          </c:xVal>
          <c:yVal>
            <c:numRef>
              <c:f>Sheet1!$F$2:$F$11</c:f>
              <c:numCache>
                <c:formatCode>General</c:formatCode>
                <c:ptCount val="10"/>
                <c:pt idx="0">
                  <c:v>30</c:v>
                </c:pt>
                <c:pt idx="1">
                  <c:v>30</c:v>
                </c:pt>
                <c:pt idx="2">
                  <c:v>45</c:v>
                </c:pt>
                <c:pt idx="3">
                  <c:v>45</c:v>
                </c:pt>
                <c:pt idx="4">
                  <c:v>70</c:v>
                </c:pt>
                <c:pt idx="5">
                  <c:v>70</c:v>
                </c:pt>
                <c:pt idx="6">
                  <c:v>92</c:v>
                </c:pt>
                <c:pt idx="7">
                  <c:v>92</c:v>
                </c:pt>
                <c:pt idx="8">
                  <c:v>110</c:v>
                </c:pt>
                <c:pt idx="9">
                  <c:v>110</c:v>
                </c:pt>
              </c:numCache>
            </c:numRef>
          </c:yVal>
          <c:smooth val="0"/>
          <c:extLst>
            <c:ext xmlns:c16="http://schemas.microsoft.com/office/drawing/2014/chart" uri="{C3380CC4-5D6E-409C-BE32-E72D297353CC}">
              <c16:uniqueId val="{00000003-D06F-4098-8453-B6D3B9A50F8F}"/>
            </c:ext>
          </c:extLst>
        </c:ser>
        <c:ser>
          <c:idx val="3"/>
          <c:order val="3"/>
          <c:tx>
            <c:v>BAC</c:v>
          </c:tx>
          <c:spPr>
            <a:ln w="19050" cap="rnd">
              <a:solidFill>
                <a:srgbClr val="14213D"/>
              </a:solidFill>
              <a:prstDash val="solid"/>
              <a:round/>
            </a:ln>
            <a:effectLst/>
          </c:spPr>
          <c:marker>
            <c:symbol val="none"/>
          </c:marker>
          <c:xVal>
            <c:numRef>
              <c:f>Sheet1!$G$2:$G$3</c:f>
              <c:numCache>
                <c:formatCode>General</c:formatCode>
                <c:ptCount val="2"/>
                <c:pt idx="0">
                  <c:v>0</c:v>
                </c:pt>
                <c:pt idx="1">
                  <c:v>12</c:v>
                </c:pt>
              </c:numCache>
            </c:numRef>
          </c:xVal>
          <c:yVal>
            <c:numRef>
              <c:f>Sheet1!$H$2:$H$3</c:f>
              <c:numCache>
                <c:formatCode>General</c:formatCode>
                <c:ptCount val="2"/>
                <c:pt idx="0">
                  <c:v>100</c:v>
                </c:pt>
                <c:pt idx="1">
                  <c:v>100</c:v>
                </c:pt>
              </c:numCache>
            </c:numRef>
          </c:yVal>
          <c:smooth val="0"/>
          <c:extLst>
            <c:ext xmlns:c16="http://schemas.microsoft.com/office/drawing/2014/chart" uri="{C3380CC4-5D6E-409C-BE32-E72D297353CC}">
              <c16:uniqueId val="{00000004-D06F-4098-8453-B6D3B9A50F8F}"/>
            </c:ext>
          </c:extLst>
        </c:ser>
        <c:ser>
          <c:idx val="4"/>
          <c:order val="4"/>
          <c:tx>
            <c:v>Project budget</c:v>
          </c:tx>
          <c:spPr>
            <a:ln w="25400" cap="rnd">
              <a:solidFill>
                <a:srgbClr val="E3A63B"/>
              </a:solidFill>
              <a:prstDash val="solid"/>
              <a:round/>
            </a:ln>
            <a:effectLst/>
          </c:spPr>
          <c:marker>
            <c:symbol val="none"/>
          </c:marker>
          <c:xVal>
            <c:numRef>
              <c:f>Sheet1!$I$2:$I$3</c:f>
              <c:numCache>
                <c:formatCode>General</c:formatCode>
                <c:ptCount val="2"/>
                <c:pt idx="0">
                  <c:v>0</c:v>
                </c:pt>
                <c:pt idx="1">
                  <c:v>12</c:v>
                </c:pt>
              </c:numCache>
            </c:numRef>
          </c:xVal>
          <c:yVal>
            <c:numRef>
              <c:f>Sheet1!$J$2:$J$3</c:f>
              <c:numCache>
                <c:formatCode>General</c:formatCode>
                <c:ptCount val="2"/>
                <c:pt idx="0">
                  <c:v>110</c:v>
                </c:pt>
                <c:pt idx="1">
                  <c:v>110</c:v>
                </c:pt>
              </c:numCache>
            </c:numRef>
          </c:yVal>
          <c:smooth val="0"/>
          <c:extLst>
            <c:ext xmlns:c16="http://schemas.microsoft.com/office/drawing/2014/chart" uri="{C3380CC4-5D6E-409C-BE32-E72D297353CC}">
              <c16:uniqueId val="{00000005-D06F-4098-8453-B6D3B9A50F8F}"/>
            </c:ext>
          </c:extLst>
        </c:ser>
        <c:dLbls>
          <c:showLegendKey val="0"/>
          <c:showVal val="0"/>
          <c:showCatName val="0"/>
          <c:showSerName val="0"/>
          <c:showPercent val="0"/>
          <c:showBubbleSize val="0"/>
        </c:dLbls>
        <c:axId val="991313280"/>
        <c:axId val="250156432"/>
      </c:scatterChart>
      <c:valAx>
        <c:axId val="991313280"/>
        <c:scaling>
          <c:orientation val="minMax"/>
          <c:max val="12"/>
          <c:min val="0"/>
        </c:scaling>
        <c:delete val="0"/>
        <c:axPos val="b"/>
        <c:title>
          <c:tx>
            <c:rich>
              <a:bodyPr rot="0" spcFirstLastPara="1" vertOverflow="ellipsis" vert="horz" wrap="square" anchor="ctr" anchorCtr="1"/>
              <a:lstStyle/>
              <a:p>
                <a:pPr>
                  <a:defRPr sz="1300" b="0" i="0" u="none" strike="noStrike" kern="1200" baseline="0">
                    <a:solidFill>
                      <a:srgbClr val="5B6475"/>
                    </a:solidFill>
                    <a:latin typeface="+mn-lt"/>
                    <a:ea typeface="+mn-ea"/>
                    <a:cs typeface="+mn-cs"/>
                  </a:defRPr>
                </a:pPr>
                <a:r>
                  <a:rPr lang="en-US" sz="1300">
                    <a:solidFill>
                      <a:srgbClr val="5B6475"/>
                    </a:solidFill>
                  </a:rPr>
                  <a:t>Time</a:t>
                </a:r>
              </a:p>
            </c:rich>
          </c:tx>
          <c:overlay val="0"/>
          <c:spPr>
            <a:noFill/>
            <a:ln>
              <a:noFill/>
            </a:ln>
            <a:effectLst/>
          </c:spPr>
          <c:txPr>
            <a:bodyPr rot="0" spcFirstLastPara="1" vertOverflow="ellipsis" vert="horz" wrap="square" anchor="ctr" anchorCtr="1"/>
            <a:lstStyle/>
            <a:p>
              <a:pPr>
                <a:defRPr sz="1300" b="0" i="0" u="none" strike="noStrike" kern="1200" baseline="0">
                  <a:solidFill>
                    <a:srgbClr val="5B6475"/>
                  </a:solidFill>
                  <a:latin typeface="+mn-lt"/>
                  <a:ea typeface="+mn-ea"/>
                  <a:cs typeface="+mn-cs"/>
                </a:defRPr>
              </a:pPr>
              <a:endParaRPr lang="en-US"/>
            </a:p>
          </c:txPr>
        </c:title>
        <c:numFmt formatCode="General" sourceLinked="1"/>
        <c:majorTickMark val="none"/>
        <c:minorTickMark val="none"/>
        <c:tickLblPos val="none"/>
        <c:spPr>
          <a:noFill/>
          <a:ln w="9525" cap="flat" cmpd="sng" algn="ctr">
            <a:solidFill>
              <a:srgbClr val="5B6475"/>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50156432"/>
        <c:crosses val="autoZero"/>
        <c:crossBetween val="midCat"/>
      </c:valAx>
      <c:valAx>
        <c:axId val="250156432"/>
        <c:scaling>
          <c:orientation val="minMax"/>
          <c:max val="120"/>
          <c:min val="0"/>
        </c:scaling>
        <c:delete val="0"/>
        <c:axPos val="l"/>
        <c:title>
          <c:tx>
            <c:rich>
              <a:bodyPr rot="-5400000" spcFirstLastPara="1" vertOverflow="ellipsis" vert="horz" wrap="square" anchor="ctr" anchorCtr="1"/>
              <a:lstStyle/>
              <a:p>
                <a:pPr>
                  <a:defRPr sz="1300" b="0" i="0" u="none" strike="noStrike" kern="1200" baseline="0">
                    <a:solidFill>
                      <a:srgbClr val="5B6475"/>
                    </a:solidFill>
                    <a:latin typeface="+mn-lt"/>
                    <a:ea typeface="+mn-ea"/>
                    <a:cs typeface="+mn-cs"/>
                  </a:defRPr>
                </a:pPr>
                <a:r>
                  <a:rPr lang="en-US" sz="1300">
                    <a:solidFill>
                      <a:srgbClr val="5B6475"/>
                    </a:solidFill>
                  </a:rPr>
                  <a:t>Cumulative cost</a:t>
                </a:r>
              </a:p>
            </c:rich>
          </c:tx>
          <c:overlay val="0"/>
          <c:spPr>
            <a:noFill/>
            <a:ln>
              <a:noFill/>
            </a:ln>
            <a:effectLst/>
          </c:spPr>
          <c:txPr>
            <a:bodyPr rot="-5400000" spcFirstLastPara="1" vertOverflow="ellipsis" vert="horz" wrap="square" anchor="ctr" anchorCtr="1"/>
            <a:lstStyle/>
            <a:p>
              <a:pPr>
                <a:defRPr sz="1300" b="0" i="0" u="none" strike="noStrike" kern="1200" baseline="0">
                  <a:solidFill>
                    <a:srgbClr val="5B6475"/>
                  </a:solidFill>
                  <a:latin typeface="+mn-lt"/>
                  <a:ea typeface="+mn-ea"/>
                  <a:cs typeface="+mn-cs"/>
                </a:defRPr>
              </a:pPr>
              <a:endParaRPr lang="en-US"/>
            </a:p>
          </c:txPr>
        </c:title>
        <c:numFmt formatCode="General" sourceLinked="1"/>
        <c:majorTickMark val="none"/>
        <c:minorTickMark val="none"/>
        <c:tickLblPos val="none"/>
        <c:spPr>
          <a:noFill/>
          <a:ln w="9525" cap="flat" cmpd="sng" algn="ctr">
            <a:solidFill>
              <a:srgbClr val="5B6475"/>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91313280"/>
        <c:crosses val="autoZero"/>
        <c:crossBetween val="midCat"/>
      </c:valAx>
      <c:spPr>
        <a:noFill/>
        <a:ln>
          <a:noFill/>
        </a:ln>
        <a:effectLst/>
        <a:extLst>
          <a:ext uri="{909E8E84-426E-40DD-AFC4-6F175D3DCCD1}">
            <a14:hiddenFill xmlns:a14="http://schemas.microsoft.com/office/drawing/2010/main">
              <a:noFill/>
            </a14:hiddenFill>
          </a:ext>
        </a:ex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a:noFill/>
        </a14:hiddenLine>
      </a:ext>
    </a:ex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CBF710-2F51-4899-A547-280172337937}" type="datetimeFigureOut">
              <a:rPr lang="en-US" smtClean="0"/>
              <a:t>10/11/2026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520D3F-116D-40FF-8307-CEE6ADECC4E2}" type="slidenum">
              <a:rPr lang="en-US" smtClean="0"/>
              <a:t>‹#›</a:t>
            </a:fld>
            <a:endParaRPr lang="en-US"/>
          </a:p>
        </p:txBody>
      </p:sp>
    </p:spTree>
    <p:extLst>
      <p:ext uri="{BB962C8B-B14F-4D97-AF65-F5344CB8AC3E}">
        <p14:creationId xmlns:p14="http://schemas.microsoft.com/office/powerpoint/2010/main" val="3649720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document: PMI, PMP Examination Content Outline, July 2026 (23 pages, ©2026 PMI). This deck restates its content; task and enabler wording is verbatim.</a:t>
            </a:r>
          </a:p>
        </p:txBody>
      </p:sp>
      <p:sp>
        <p:nvSpPr>
          <p:cNvPr id="4" name="Slide Number Placeholder 3"/>
          <p:cNvSpPr>
            <a:spLocks noGrp="1"/>
          </p:cNvSpPr>
          <p:nvPr>
            <p:ph type="sldNum" sz="quarter" idx="5"/>
          </p:nvPr>
        </p:nvSpPr>
        <p:spPr/>
        <p:txBody>
          <a:bodyPr/>
          <a:lstStyle/>
          <a:p>
            <a:fld id="{0A520D3F-116D-40FF-8307-CEE6ADECC4E2}" type="slidenum">
              <a:rPr lang="en-US" smtClean="0"/>
              <a:t>1</a:t>
            </a:fld>
            <a:endParaRPr lang="en-US"/>
          </a:p>
        </p:txBody>
      </p:sp>
    </p:spTree>
    <p:extLst>
      <p:ext uri="{BB962C8B-B14F-4D97-AF65-F5344CB8AC3E}">
        <p14:creationId xmlns:p14="http://schemas.microsoft.com/office/powerpoint/2010/main" val="25648737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Each card links to the first slide of its section. Section numbers match the PowerPoint sections in the deck.</a:t>
            </a:r>
          </a:p>
        </p:txBody>
      </p:sp>
      <p:sp>
        <p:nvSpPr>
          <p:cNvPr id="4" name="Slide Number Placeholder 3"/>
          <p:cNvSpPr>
            <a:spLocks noGrp="1"/>
          </p:cNvSpPr>
          <p:nvPr>
            <p:ph type="sldNum" sz="quarter" idx="5"/>
          </p:nvPr>
        </p:nvSpPr>
        <p:spPr/>
        <p:txBody>
          <a:bodyPr/>
          <a:lstStyle/>
          <a:p>
            <a:fld id="{0A520D3F-116D-40FF-8307-CEE6ADECC4E2}" type="slidenum">
              <a:rPr lang="en-US" smtClean="0"/>
              <a:t>2</a:t>
            </a:fld>
            <a:endParaRPr lang="en-US"/>
          </a:p>
        </p:txBody>
      </p:sp>
    </p:spTree>
    <p:extLst>
      <p:ext uri="{BB962C8B-B14F-4D97-AF65-F5344CB8AC3E}">
        <p14:creationId xmlns:p14="http://schemas.microsoft.com/office/powerpoint/2010/main" val="2408344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Exam size and timing: p. 17. Domains and weights: p. 5. Predictive vs. agile/hybrid split (about 40/60): p. 5. Tasks: pp. 7-12.</a:t>
            </a:r>
          </a:p>
        </p:txBody>
      </p:sp>
      <p:sp>
        <p:nvSpPr>
          <p:cNvPr id="4" name="Slide Number Placeholder 3"/>
          <p:cNvSpPr>
            <a:spLocks noGrp="1"/>
          </p:cNvSpPr>
          <p:nvPr>
            <p:ph type="sldNum" sz="quarter" idx="5"/>
          </p:nvPr>
        </p:nvSpPr>
        <p:spPr/>
        <p:txBody>
          <a:bodyPr/>
          <a:lstStyle/>
          <a:p>
            <a:fld id="{0A520D3F-116D-40FF-8307-CEE6ADECC4E2}" type="slidenum">
              <a:rPr lang="en-US" smtClean="0"/>
              <a:t>3</a:t>
            </a:fld>
            <a:endParaRPr lang="en-US"/>
          </a:p>
        </p:txBody>
      </p:sp>
    </p:spTree>
    <p:extLst>
      <p:ext uri="{BB962C8B-B14F-4D97-AF65-F5344CB8AC3E}">
        <p14:creationId xmlns:p14="http://schemas.microsoft.com/office/powerpoint/2010/main" val="36260740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Introduction, p. 1.</a:t>
            </a:r>
          </a:p>
        </p:txBody>
      </p:sp>
      <p:sp>
        <p:nvSpPr>
          <p:cNvPr id="4" name="Slide Number Placeholder 3"/>
          <p:cNvSpPr>
            <a:spLocks noGrp="1"/>
          </p:cNvSpPr>
          <p:nvPr>
            <p:ph type="sldNum" sz="quarter" idx="5"/>
          </p:nvPr>
        </p:nvSpPr>
        <p:spPr/>
        <p:txBody>
          <a:bodyPr/>
          <a:lstStyle/>
          <a:p>
            <a:fld id="{0A520D3F-116D-40FF-8307-CEE6ADECC4E2}" type="slidenum">
              <a:rPr lang="en-US" smtClean="0"/>
              <a:t>4</a:t>
            </a:fld>
            <a:endParaRPr lang="en-US"/>
          </a:p>
        </p:txBody>
      </p:sp>
    </p:spTree>
    <p:extLst>
      <p:ext uri="{BB962C8B-B14F-4D97-AF65-F5344CB8AC3E}">
        <p14:creationId xmlns:p14="http://schemas.microsoft.com/office/powerpoint/2010/main" val="13407015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Exam Content Outline table, p. 2; coverage rule, p. 3.</a:t>
            </a:r>
          </a:p>
        </p:txBody>
      </p:sp>
      <p:sp>
        <p:nvSpPr>
          <p:cNvPr id="4" name="Slide Number Placeholder 3"/>
          <p:cNvSpPr>
            <a:spLocks noGrp="1"/>
          </p:cNvSpPr>
          <p:nvPr>
            <p:ph type="sldNum" sz="quarter" idx="5"/>
          </p:nvPr>
        </p:nvSpPr>
        <p:spPr/>
        <p:txBody>
          <a:bodyPr/>
          <a:lstStyle/>
          <a:p>
            <a:fld id="{0A520D3F-116D-40FF-8307-CEE6ADECC4E2}" type="slidenum">
              <a:rPr lang="en-US" smtClean="0"/>
              <a:t>5</a:t>
            </a:fld>
            <a:endParaRPr lang="en-US"/>
          </a:p>
        </p:txBody>
      </p:sp>
    </p:spTree>
    <p:extLst>
      <p:ext uri="{BB962C8B-B14F-4D97-AF65-F5344CB8AC3E}">
        <p14:creationId xmlns:p14="http://schemas.microsoft.com/office/powerpoint/2010/main" val="14567689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pairing of each side with an exam domain is a study aid, not an official PMI mapping. PDUs for renewal are also earned across these three areas.</a:t>
            </a:r>
          </a:p>
        </p:txBody>
      </p:sp>
      <p:sp>
        <p:nvSpPr>
          <p:cNvPr id="4" name="Slide Number Placeholder 3"/>
          <p:cNvSpPr>
            <a:spLocks noGrp="1"/>
          </p:cNvSpPr>
          <p:nvPr>
            <p:ph type="sldNum" sz="quarter" idx="5"/>
          </p:nvPr>
        </p:nvSpPr>
        <p:spPr/>
        <p:txBody>
          <a:bodyPr/>
          <a:lstStyle/>
          <a:p>
            <a:fld id="{0A520D3F-116D-40FF-8307-CEE6ADECC4E2}" type="slidenum">
              <a:rPr lang="en-US" smtClean="0"/>
              <a:t>6</a:t>
            </a:fld>
            <a:endParaRPr lang="en-US"/>
          </a:p>
        </p:txBody>
      </p:sp>
    </p:spTree>
    <p:extLst>
      <p:ext uri="{BB962C8B-B14F-4D97-AF65-F5344CB8AC3E}">
        <p14:creationId xmlns:p14="http://schemas.microsoft.com/office/powerpoint/2010/main" val="32978136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Source: Important note, p. 2.</a:t>
            </a:r>
            <a:endParaRPr lang="en-US"/>
          </a:p>
        </p:txBody>
      </p:sp>
      <p:sp>
        <p:nvSpPr>
          <p:cNvPr id="4" name="Slide Number Placeholder 3"/>
          <p:cNvSpPr>
            <a:spLocks noGrp="1"/>
          </p:cNvSpPr>
          <p:nvPr>
            <p:ph type="sldNum" sz="quarter" idx="5"/>
          </p:nvPr>
        </p:nvSpPr>
        <p:spPr/>
        <p:txBody>
          <a:bodyPr/>
          <a:lstStyle/>
          <a:p>
            <a:fld id="{0A520D3F-116D-40FF-8307-CEE6ADECC4E2}" type="slidenum">
              <a:rPr lang="en-US" smtClean="0"/>
              <a:t>7</a:t>
            </a:fld>
            <a:endParaRPr lang="en-US"/>
          </a:p>
        </p:txBody>
      </p:sp>
    </p:spTree>
    <p:extLst>
      <p:ext uri="{BB962C8B-B14F-4D97-AF65-F5344CB8AC3E}">
        <p14:creationId xmlns:p14="http://schemas.microsoft.com/office/powerpoint/2010/main" val="36669529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Domains, Tasks, and Enablers, p. 6. This is the outline’s own example (People Task 7).</a:t>
            </a:r>
          </a:p>
        </p:txBody>
      </p:sp>
      <p:sp>
        <p:nvSpPr>
          <p:cNvPr id="4" name="Slide Number Placeholder 3"/>
          <p:cNvSpPr>
            <a:spLocks noGrp="1"/>
          </p:cNvSpPr>
          <p:nvPr>
            <p:ph type="sldNum" sz="quarter" idx="5"/>
          </p:nvPr>
        </p:nvSpPr>
        <p:spPr/>
        <p:txBody>
          <a:bodyPr/>
          <a:lstStyle/>
          <a:p>
            <a:fld id="{0A520D3F-116D-40FF-8307-CEE6ADECC4E2}" type="slidenum">
              <a:rPr lang="en-US" smtClean="0"/>
              <a:t>8</a:t>
            </a:fld>
            <a:endParaRPr lang="en-US"/>
          </a:p>
        </p:txBody>
      </p:sp>
    </p:spTree>
    <p:extLst>
      <p:ext uri="{BB962C8B-B14F-4D97-AF65-F5344CB8AC3E}">
        <p14:creationId xmlns:p14="http://schemas.microsoft.com/office/powerpoint/2010/main" val="37484740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Source: Domain I table, pp. 7-8.</a:t>
            </a:r>
            <a:endParaRPr lang="en-US"/>
          </a:p>
        </p:txBody>
      </p:sp>
      <p:sp>
        <p:nvSpPr>
          <p:cNvPr id="4" name="Slide Number Placeholder 3"/>
          <p:cNvSpPr>
            <a:spLocks noGrp="1"/>
          </p:cNvSpPr>
          <p:nvPr>
            <p:ph type="sldNum" sz="quarter" idx="5"/>
          </p:nvPr>
        </p:nvSpPr>
        <p:spPr/>
        <p:txBody>
          <a:bodyPr/>
          <a:lstStyle/>
          <a:p>
            <a:fld id="{0A520D3F-116D-40FF-8307-CEE6ADECC4E2}" type="slidenum">
              <a:rPr lang="en-US" smtClean="0"/>
              <a:t>9</a:t>
            </a:fld>
            <a:endParaRPr lang="en-US"/>
          </a:p>
        </p:txBody>
      </p:sp>
    </p:spTree>
    <p:extLst>
      <p:ext uri="{BB962C8B-B14F-4D97-AF65-F5344CB8AC3E}">
        <p14:creationId xmlns:p14="http://schemas.microsoft.com/office/powerpoint/2010/main" val="42902491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Domain I table, pp. 7-8. Task titles verbatim from the July 2026 outline.</a:t>
            </a:r>
          </a:p>
        </p:txBody>
      </p:sp>
      <p:sp>
        <p:nvSpPr>
          <p:cNvPr id="4" name="Slide Number Placeholder 3"/>
          <p:cNvSpPr>
            <a:spLocks noGrp="1"/>
          </p:cNvSpPr>
          <p:nvPr>
            <p:ph type="sldNum" sz="quarter" idx="5"/>
          </p:nvPr>
        </p:nvSpPr>
        <p:spPr/>
        <p:txBody>
          <a:bodyPr/>
          <a:lstStyle/>
          <a:p>
            <a:fld id="{0A520D3F-116D-40FF-8307-CEE6ADECC4E2}" type="slidenum">
              <a:rPr lang="en-US" smtClean="0"/>
              <a:t>10</a:t>
            </a:fld>
            <a:endParaRPr lang="en-US"/>
          </a:p>
        </p:txBody>
      </p:sp>
    </p:spTree>
    <p:extLst>
      <p:ext uri="{BB962C8B-B14F-4D97-AF65-F5344CB8AC3E}">
        <p14:creationId xmlns:p14="http://schemas.microsoft.com/office/powerpoint/2010/main" val="40848487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Domain I table, pp. 7-8. Task statements and enablers are verbatim from the July 2026 outline.</a:t>
            </a:r>
          </a:p>
        </p:txBody>
      </p:sp>
      <p:sp>
        <p:nvSpPr>
          <p:cNvPr id="4" name="Slide Number Placeholder 3"/>
          <p:cNvSpPr>
            <a:spLocks noGrp="1"/>
          </p:cNvSpPr>
          <p:nvPr>
            <p:ph type="sldNum" sz="quarter" idx="5"/>
          </p:nvPr>
        </p:nvSpPr>
        <p:spPr/>
        <p:txBody>
          <a:bodyPr/>
          <a:lstStyle/>
          <a:p>
            <a:fld id="{0A520D3F-116D-40FF-8307-CEE6ADECC4E2}" type="slidenum">
              <a:rPr lang="en-US" smtClean="0"/>
              <a:t>11</a:t>
            </a:fld>
            <a:endParaRPr lang="en-US"/>
          </a:p>
        </p:txBody>
      </p:sp>
    </p:spTree>
    <p:extLst>
      <p:ext uri="{BB962C8B-B14F-4D97-AF65-F5344CB8AC3E}">
        <p14:creationId xmlns:p14="http://schemas.microsoft.com/office/powerpoint/2010/main" val="39190685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Domain I table, pp. 7-8. Task statements and enablers are verbatim from the July 2026 outline.</a:t>
            </a:r>
          </a:p>
        </p:txBody>
      </p:sp>
      <p:sp>
        <p:nvSpPr>
          <p:cNvPr id="4" name="Slide Number Placeholder 3"/>
          <p:cNvSpPr>
            <a:spLocks noGrp="1"/>
          </p:cNvSpPr>
          <p:nvPr>
            <p:ph type="sldNum" sz="quarter" idx="5"/>
          </p:nvPr>
        </p:nvSpPr>
        <p:spPr/>
        <p:txBody>
          <a:bodyPr/>
          <a:lstStyle/>
          <a:p>
            <a:fld id="{0A520D3F-116D-40FF-8307-CEE6ADECC4E2}" type="slidenum">
              <a:rPr lang="en-US" smtClean="0"/>
              <a:t>12</a:t>
            </a:fld>
            <a:endParaRPr lang="en-US"/>
          </a:p>
        </p:txBody>
      </p:sp>
    </p:spTree>
    <p:extLst>
      <p:ext uri="{BB962C8B-B14F-4D97-AF65-F5344CB8AC3E}">
        <p14:creationId xmlns:p14="http://schemas.microsoft.com/office/powerpoint/2010/main" val="5615440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Development level is task-specific: the same person can be D4 on one task and D1 on another. The style is chosen per task, not per person.</a:t>
            </a:r>
          </a:p>
        </p:txBody>
      </p:sp>
      <p:sp>
        <p:nvSpPr>
          <p:cNvPr id="4" name="Slide Number Placeholder 3"/>
          <p:cNvSpPr>
            <a:spLocks noGrp="1"/>
          </p:cNvSpPr>
          <p:nvPr>
            <p:ph type="sldNum" sz="quarter" idx="5"/>
          </p:nvPr>
        </p:nvSpPr>
        <p:spPr/>
        <p:txBody>
          <a:bodyPr/>
          <a:lstStyle/>
          <a:p>
            <a:fld id="{0A520D3F-116D-40FF-8307-CEE6ADECC4E2}" type="slidenum">
              <a:rPr lang="en-US" smtClean="0"/>
              <a:t>13</a:t>
            </a:fld>
            <a:endParaRPr lang="en-US"/>
          </a:p>
        </p:txBody>
      </p:sp>
    </p:spTree>
    <p:extLst>
      <p:ext uri="{BB962C8B-B14F-4D97-AF65-F5344CB8AC3E}">
        <p14:creationId xmlns:p14="http://schemas.microsoft.com/office/powerpoint/2010/main" val="3946061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7 Habits are from Stephen R. Covey’s book The 7 Habits of Highly Effective People (1989); the project-management applications on this slide are study notes, not Covey’s own text. Exam cue: when a question involves conflict or an unhappy stakeholder, ‘seek first to understand’ usually points to the best first step: listen and gather the facts before acting.</a:t>
            </a:r>
          </a:p>
        </p:txBody>
      </p:sp>
      <p:sp>
        <p:nvSpPr>
          <p:cNvPr id="4" name="Slide Number Placeholder 3"/>
          <p:cNvSpPr>
            <a:spLocks noGrp="1"/>
          </p:cNvSpPr>
          <p:nvPr>
            <p:ph type="sldNum" sz="quarter" idx="5"/>
          </p:nvPr>
        </p:nvSpPr>
        <p:spPr/>
        <p:txBody>
          <a:bodyPr/>
          <a:lstStyle/>
          <a:p>
            <a:fld id="{0A520D3F-116D-40FF-8307-CEE6ADECC4E2}" type="slidenum">
              <a:rPr lang="en-US" smtClean="0"/>
              <a:t>14</a:t>
            </a:fld>
            <a:endParaRPr lang="en-US"/>
          </a:p>
        </p:txBody>
      </p:sp>
    </p:spTree>
    <p:extLst>
      <p:ext uri="{BB962C8B-B14F-4D97-AF65-F5344CB8AC3E}">
        <p14:creationId xmlns:p14="http://schemas.microsoft.com/office/powerpoint/2010/main" val="7088150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Tuckman (1965) described forming, storming, norming, and performing; Tuckman and Jensen (1977) added adjourning. The team charter (PMBOK Guide Sixth Edition, 9.1.3.2) records team values, agreements, and operating guidelines. The July 2026 outline asks the project manager to establish an environment that fosters adherence to common ground rules and to manage and rectify violations (People Task 2).</a:t>
            </a:r>
          </a:p>
        </p:txBody>
      </p:sp>
      <p:sp>
        <p:nvSpPr>
          <p:cNvPr id="4" name="Slide Number Placeholder 3"/>
          <p:cNvSpPr>
            <a:spLocks noGrp="1"/>
          </p:cNvSpPr>
          <p:nvPr>
            <p:ph type="sldNum" sz="quarter" idx="5"/>
          </p:nvPr>
        </p:nvSpPr>
        <p:spPr/>
        <p:txBody>
          <a:bodyPr/>
          <a:lstStyle/>
          <a:p>
            <a:fld id="{0A520D3F-116D-40FF-8307-CEE6ADECC4E2}" type="slidenum">
              <a:rPr lang="en-US" smtClean="0"/>
              <a:t>15</a:t>
            </a:fld>
            <a:endParaRPr lang="en-US"/>
          </a:p>
        </p:txBody>
      </p:sp>
    </p:spTree>
    <p:extLst>
      <p:ext uri="{BB962C8B-B14F-4D97-AF65-F5344CB8AC3E}">
        <p14:creationId xmlns:p14="http://schemas.microsoft.com/office/powerpoint/2010/main" val="1734002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Psychological safety underpins the outline enablers on diversity and inclusion, feedback, and team growth. Agile guidance from PMI also stresses a safe environment for experimentation.</a:t>
            </a:r>
          </a:p>
        </p:txBody>
      </p:sp>
      <p:sp>
        <p:nvSpPr>
          <p:cNvPr id="4" name="Slide Number Placeholder 3"/>
          <p:cNvSpPr>
            <a:spLocks noGrp="1"/>
          </p:cNvSpPr>
          <p:nvPr>
            <p:ph type="sldNum" sz="quarter" idx="5"/>
          </p:nvPr>
        </p:nvSpPr>
        <p:spPr/>
        <p:txBody>
          <a:bodyPr/>
          <a:lstStyle/>
          <a:p>
            <a:fld id="{0A520D3F-116D-40FF-8307-CEE6ADECC4E2}" type="slidenum">
              <a:rPr lang="en-US" smtClean="0"/>
              <a:t>16</a:t>
            </a:fld>
            <a:endParaRPr lang="en-US"/>
          </a:p>
        </p:txBody>
      </p:sp>
    </p:spTree>
    <p:extLst>
      <p:ext uri="{BB962C8B-B14F-4D97-AF65-F5344CB8AC3E}">
        <p14:creationId xmlns:p14="http://schemas.microsoft.com/office/powerpoint/2010/main" val="27556792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RACI chart is a type of responsibility assignment matrix (PMBOK Guide Sixth Edition, 9.1.2.2). Exactly one person is accountable for each activity. Maslow (1943): physiological, safety, belonging, esteem, self-actualization. McGregor (1960): Theory X assumes people dislike work; Theory Y assumes people seek responsibility. The July 2026 outline lists establishing clear roles and responsibilities within the team under People Task 3.</a:t>
            </a:r>
          </a:p>
        </p:txBody>
      </p:sp>
      <p:sp>
        <p:nvSpPr>
          <p:cNvPr id="4" name="Slide Number Placeholder 3"/>
          <p:cNvSpPr>
            <a:spLocks noGrp="1"/>
          </p:cNvSpPr>
          <p:nvPr>
            <p:ph type="sldNum" sz="quarter" idx="5"/>
          </p:nvPr>
        </p:nvSpPr>
        <p:spPr/>
        <p:txBody>
          <a:bodyPr/>
          <a:lstStyle/>
          <a:p>
            <a:fld id="{0A520D3F-116D-40FF-8307-CEE6ADECC4E2}" type="slidenum">
              <a:rPr lang="en-US" smtClean="0"/>
              <a:t>17</a:t>
            </a:fld>
            <a:endParaRPr lang="en-US"/>
          </a:p>
        </p:txBody>
      </p:sp>
    </p:spTree>
    <p:extLst>
      <p:ext uri="{BB962C8B-B14F-4D97-AF65-F5344CB8AC3E}">
        <p14:creationId xmlns:p14="http://schemas.microsoft.com/office/powerpoint/2010/main" val="31453210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Also called the two-factor theory. Hygiene factors are about the job context; motivators are about the job content.</a:t>
            </a:r>
          </a:p>
        </p:txBody>
      </p:sp>
      <p:sp>
        <p:nvSpPr>
          <p:cNvPr id="4" name="Slide Number Placeholder 3"/>
          <p:cNvSpPr>
            <a:spLocks noGrp="1"/>
          </p:cNvSpPr>
          <p:nvPr>
            <p:ph type="sldNum" sz="quarter" idx="5"/>
          </p:nvPr>
        </p:nvSpPr>
        <p:spPr/>
        <p:txBody>
          <a:bodyPr/>
          <a:lstStyle/>
          <a:p>
            <a:fld id="{0A520D3F-116D-40FF-8307-CEE6ADECC4E2}" type="slidenum">
              <a:rPr lang="en-US" smtClean="0"/>
              <a:t>18</a:t>
            </a:fld>
            <a:endParaRPr lang="en-US"/>
          </a:p>
        </p:txBody>
      </p:sp>
    </p:spTree>
    <p:extLst>
      <p:ext uri="{BB962C8B-B14F-4D97-AF65-F5344CB8AC3E}">
        <p14:creationId xmlns:p14="http://schemas.microsoft.com/office/powerpoint/2010/main" val="13755200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Links to the outline enabler: Appraise team member performance against key performance indicators.</a:t>
            </a:r>
          </a:p>
        </p:txBody>
      </p:sp>
      <p:sp>
        <p:nvSpPr>
          <p:cNvPr id="4" name="Slide Number Placeholder 3"/>
          <p:cNvSpPr>
            <a:spLocks noGrp="1"/>
          </p:cNvSpPr>
          <p:nvPr>
            <p:ph type="sldNum" sz="quarter" idx="5"/>
          </p:nvPr>
        </p:nvSpPr>
        <p:spPr/>
        <p:txBody>
          <a:bodyPr/>
          <a:lstStyle/>
          <a:p>
            <a:fld id="{0A520D3F-116D-40FF-8307-CEE6ADECC4E2}" type="slidenum">
              <a:rPr lang="en-US" smtClean="0"/>
              <a:t>19</a:t>
            </a:fld>
            <a:endParaRPr lang="en-US"/>
          </a:p>
        </p:txBody>
      </p:sp>
    </p:spTree>
    <p:extLst>
      <p:ext uri="{BB962C8B-B14F-4D97-AF65-F5344CB8AC3E}">
        <p14:creationId xmlns:p14="http://schemas.microsoft.com/office/powerpoint/2010/main" val="31674979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Team performance assessments are an output of Develop Team (PMBOK Guide Sixth Edition, 9.4.3.1): they compare performance to goals, reclarify roles, give feedback, uncover issues, and set training plans and future goals. Individual and team assessments (9.4.2) use formal and informal methods. In adaptive teams, self-organizing members in a psychologically safe environment assess and regulate their own performance, and the focus is on the team rather than individuals. Team performance assessment indicators (PMBOK Guide Sixth Edition, 9.4.3.1): improvements in skills, improvements in competencies, reduced staff turnover, and increased team cohesiveness.</a:t>
            </a:r>
          </a:p>
        </p:txBody>
      </p:sp>
      <p:sp>
        <p:nvSpPr>
          <p:cNvPr id="4" name="Slide Number Placeholder 3"/>
          <p:cNvSpPr>
            <a:spLocks noGrp="1"/>
          </p:cNvSpPr>
          <p:nvPr>
            <p:ph type="sldNum" sz="quarter" idx="5"/>
          </p:nvPr>
        </p:nvSpPr>
        <p:spPr/>
        <p:txBody>
          <a:bodyPr/>
          <a:lstStyle/>
          <a:p>
            <a:fld id="{0A520D3F-116D-40FF-8307-CEE6ADECC4E2}" type="slidenum">
              <a:rPr lang="en-US" smtClean="0"/>
              <a:t>20</a:t>
            </a:fld>
            <a:endParaRPr lang="en-US"/>
          </a:p>
        </p:txBody>
      </p:sp>
    </p:spTree>
    <p:extLst>
      <p:ext uri="{BB962C8B-B14F-4D97-AF65-F5344CB8AC3E}">
        <p14:creationId xmlns:p14="http://schemas.microsoft.com/office/powerpoint/2010/main" val="42145522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Pairs with the outline enabler "Interpret the source and stage of the conflict." Resolution techniques you may also see: withdraw/avoid, smooth/accommodate, compromise/reconcile, force/direct, collaborate/problem solve.</a:t>
            </a:r>
          </a:p>
        </p:txBody>
      </p:sp>
      <p:sp>
        <p:nvSpPr>
          <p:cNvPr id="4" name="Slide Number Placeholder 3"/>
          <p:cNvSpPr>
            <a:spLocks noGrp="1"/>
          </p:cNvSpPr>
          <p:nvPr>
            <p:ph type="sldNum" sz="quarter" idx="5"/>
          </p:nvPr>
        </p:nvSpPr>
        <p:spPr/>
        <p:txBody>
          <a:bodyPr/>
          <a:lstStyle/>
          <a:p>
            <a:fld id="{0A520D3F-116D-40FF-8307-CEE6ADECC4E2}" type="slidenum">
              <a:rPr lang="en-US" smtClean="0"/>
              <a:t>21</a:t>
            </a:fld>
            <a:endParaRPr lang="en-US"/>
          </a:p>
        </p:txBody>
      </p:sp>
    </p:spTree>
    <p:extLst>
      <p:ext uri="{BB962C8B-B14F-4D97-AF65-F5344CB8AC3E}">
        <p14:creationId xmlns:p14="http://schemas.microsoft.com/office/powerpoint/2010/main" val="34129699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six steps match the PMBOK Guide Seventh Edition stakeholder performance domain. Related tools: power/interest grid, salience model, stakeholder engagement assessment matrix.</a:t>
            </a:r>
          </a:p>
        </p:txBody>
      </p:sp>
      <p:sp>
        <p:nvSpPr>
          <p:cNvPr id="4" name="Slide Number Placeholder 3"/>
          <p:cNvSpPr>
            <a:spLocks noGrp="1"/>
          </p:cNvSpPr>
          <p:nvPr>
            <p:ph type="sldNum" sz="quarter" idx="5"/>
          </p:nvPr>
        </p:nvSpPr>
        <p:spPr/>
        <p:txBody>
          <a:bodyPr/>
          <a:lstStyle/>
          <a:p>
            <a:fld id="{0A520D3F-116D-40FF-8307-CEE6ADECC4E2}" type="slidenum">
              <a:rPr lang="en-US" smtClean="0"/>
              <a:t>22</a:t>
            </a:fld>
            <a:endParaRPr lang="en-US"/>
          </a:p>
        </p:txBody>
      </p:sp>
    </p:spTree>
    <p:extLst>
      <p:ext uri="{BB962C8B-B14F-4D97-AF65-F5344CB8AC3E}">
        <p14:creationId xmlns:p14="http://schemas.microsoft.com/office/powerpoint/2010/main" val="17206724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power/interest grid (PMBOK Guide Sixth Edition, 13.1.2.4, data representation) groups stakeholders by their level of authority (power) and concern (interest): manage closely, keep satisfied, keep informed, monitor. Monitor Stakeholder Engagement (13.4) revisits the analysis. Stakeholder classifications are sensitive, so grids with names are not shared widely.</a:t>
            </a:r>
          </a:p>
        </p:txBody>
      </p:sp>
      <p:sp>
        <p:nvSpPr>
          <p:cNvPr id="4" name="Slide Number Placeholder 3"/>
          <p:cNvSpPr>
            <a:spLocks noGrp="1"/>
          </p:cNvSpPr>
          <p:nvPr>
            <p:ph type="sldNum" sz="quarter" idx="5"/>
          </p:nvPr>
        </p:nvSpPr>
        <p:spPr/>
        <p:txBody>
          <a:bodyPr/>
          <a:lstStyle/>
          <a:p>
            <a:fld id="{0A520D3F-116D-40FF-8307-CEE6ADECC4E2}" type="slidenum">
              <a:rPr lang="en-US" smtClean="0"/>
              <a:t>23</a:t>
            </a:fld>
            <a:endParaRPr lang="en-US"/>
          </a:p>
        </p:txBody>
      </p:sp>
    </p:spTree>
    <p:extLst>
      <p:ext uri="{BB962C8B-B14F-4D97-AF65-F5344CB8AC3E}">
        <p14:creationId xmlns:p14="http://schemas.microsoft.com/office/powerpoint/2010/main" val="41864080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Salience model (Mitchell, Agle, and Wood, 1997; PMBOK Guide Sixth Edition, 13.1.2.4): stakeholders are classified by power (ability to impose their will), legitimacy (appropriate involvement), and urgency (need for immediate attention). Definitive stakeholders have all three. The stakeholder engagement assessment matrix (13.2.2.5) compares current (C) and desired (D) engagement levels: unaware, resistant, neutral, supportive, leading. Other classification models: power/influence, power/impact, and impact/influence grids; the stakeholder cube; and directions of influence (upward, downward, outward, sideward). Roles, not names, are shown because stakeholder analysis is sensitive.</a:t>
            </a:r>
          </a:p>
        </p:txBody>
      </p:sp>
      <p:sp>
        <p:nvSpPr>
          <p:cNvPr id="4" name="Slide Number Placeholder 3"/>
          <p:cNvSpPr>
            <a:spLocks noGrp="1"/>
          </p:cNvSpPr>
          <p:nvPr>
            <p:ph type="sldNum" sz="quarter" idx="5"/>
          </p:nvPr>
        </p:nvSpPr>
        <p:spPr/>
        <p:txBody>
          <a:bodyPr/>
          <a:lstStyle/>
          <a:p>
            <a:fld id="{0A520D3F-116D-40FF-8307-CEE6ADECC4E2}" type="slidenum">
              <a:rPr lang="en-US" smtClean="0"/>
              <a:t>24</a:t>
            </a:fld>
            <a:endParaRPr lang="en-US"/>
          </a:p>
        </p:txBody>
      </p:sp>
    </p:spTree>
    <p:extLst>
      <p:ext uri="{BB962C8B-B14F-4D97-AF65-F5344CB8AC3E}">
        <p14:creationId xmlns:p14="http://schemas.microsoft.com/office/powerpoint/2010/main" val="39476536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Communication channels = n(n − 1) / 2, where n is the number of stakeholders including the project manager. Channels grow much faster than people: doubling the team roughly quadruples the channels. Typical question: if the team grows from 10 to 12, the answer is the increase, 66 − 45 = 21. The three communication methods (interactive, push, pull) come from the same PMBOK section.</a:t>
            </a:r>
          </a:p>
        </p:txBody>
      </p:sp>
      <p:sp>
        <p:nvSpPr>
          <p:cNvPr id="4" name="Slide Number Placeholder 3"/>
          <p:cNvSpPr>
            <a:spLocks noGrp="1"/>
          </p:cNvSpPr>
          <p:nvPr>
            <p:ph type="sldNum" sz="quarter" idx="5"/>
          </p:nvPr>
        </p:nvSpPr>
        <p:spPr/>
        <p:txBody>
          <a:bodyPr/>
          <a:lstStyle/>
          <a:p>
            <a:fld id="{0A520D3F-116D-40FF-8307-CEE6ADECC4E2}" type="slidenum">
              <a:rPr lang="en-US" smtClean="0"/>
              <a:t>25</a:t>
            </a:fld>
            <a:endParaRPr lang="en-US"/>
          </a:p>
        </p:txBody>
      </p:sp>
    </p:spTree>
    <p:extLst>
      <p:ext uri="{BB962C8B-B14F-4D97-AF65-F5344CB8AC3E}">
        <p14:creationId xmlns:p14="http://schemas.microsoft.com/office/powerpoint/2010/main" val="9995038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Explicit knowledge can be codified in words, numbers, and pictures; tacit knowledge is personal and hard to express (PMBOK Guide Sixth Edition, 4.4). The July 2026 outline: People Task 7 (identify knowledge critical to the project, gather knowledge, foster an environment for knowledge transfer) and People Task 6 (identify, align, and monitor internal and external customer expectations and satisfaction). Recipe analogy: the recipe card is explicit knowledge anyone can read; knowing by look and smell when the dish is ready is tacit knowledge, learned by cooking alongside the cook.</a:t>
            </a:r>
          </a:p>
        </p:txBody>
      </p:sp>
      <p:sp>
        <p:nvSpPr>
          <p:cNvPr id="4" name="Slide Number Placeholder 3"/>
          <p:cNvSpPr>
            <a:spLocks noGrp="1"/>
          </p:cNvSpPr>
          <p:nvPr>
            <p:ph type="sldNum" sz="quarter" idx="5"/>
          </p:nvPr>
        </p:nvSpPr>
        <p:spPr/>
        <p:txBody>
          <a:bodyPr/>
          <a:lstStyle/>
          <a:p>
            <a:fld id="{0A520D3F-116D-40FF-8307-CEE6ADECC4E2}" type="slidenum">
              <a:rPr lang="en-US" smtClean="0"/>
              <a:t>26</a:t>
            </a:fld>
            <a:endParaRPr lang="en-US"/>
          </a:p>
        </p:txBody>
      </p:sp>
    </p:spTree>
    <p:extLst>
      <p:ext uri="{BB962C8B-B14F-4D97-AF65-F5344CB8AC3E}">
        <p14:creationId xmlns:p14="http://schemas.microsoft.com/office/powerpoint/2010/main" val="1327298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Source: Domain II table, pp. 9-10.</a:t>
            </a:r>
            <a:endParaRPr lang="en-US"/>
          </a:p>
        </p:txBody>
      </p:sp>
      <p:sp>
        <p:nvSpPr>
          <p:cNvPr id="4" name="Slide Number Placeholder 3"/>
          <p:cNvSpPr>
            <a:spLocks noGrp="1"/>
          </p:cNvSpPr>
          <p:nvPr>
            <p:ph type="sldNum" sz="quarter" idx="5"/>
          </p:nvPr>
        </p:nvSpPr>
        <p:spPr/>
        <p:txBody>
          <a:bodyPr/>
          <a:lstStyle/>
          <a:p>
            <a:fld id="{0A520D3F-116D-40FF-8307-CEE6ADECC4E2}" type="slidenum">
              <a:rPr lang="en-US" smtClean="0"/>
              <a:t>27</a:t>
            </a:fld>
            <a:endParaRPr lang="en-US"/>
          </a:p>
        </p:txBody>
      </p:sp>
    </p:spTree>
    <p:extLst>
      <p:ext uri="{BB962C8B-B14F-4D97-AF65-F5344CB8AC3E}">
        <p14:creationId xmlns:p14="http://schemas.microsoft.com/office/powerpoint/2010/main" val="17888387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Domain II table, pp. 9-10. Task titles verbatim from the July 2026 outline.</a:t>
            </a:r>
          </a:p>
        </p:txBody>
      </p:sp>
      <p:sp>
        <p:nvSpPr>
          <p:cNvPr id="4" name="Slide Number Placeholder 3"/>
          <p:cNvSpPr>
            <a:spLocks noGrp="1"/>
          </p:cNvSpPr>
          <p:nvPr>
            <p:ph type="sldNum" sz="quarter" idx="5"/>
          </p:nvPr>
        </p:nvSpPr>
        <p:spPr/>
        <p:txBody>
          <a:bodyPr/>
          <a:lstStyle/>
          <a:p>
            <a:fld id="{0A520D3F-116D-40FF-8307-CEE6ADECC4E2}" type="slidenum">
              <a:rPr lang="en-US" smtClean="0"/>
              <a:t>28</a:t>
            </a:fld>
            <a:endParaRPr lang="en-US"/>
          </a:p>
        </p:txBody>
      </p:sp>
    </p:spTree>
    <p:extLst>
      <p:ext uri="{BB962C8B-B14F-4D97-AF65-F5344CB8AC3E}">
        <p14:creationId xmlns:p14="http://schemas.microsoft.com/office/powerpoint/2010/main" val="33616875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Domain II table, pp. 9-10. Task statements and enablers are verbatim from the July 2026 outline.</a:t>
            </a:r>
          </a:p>
        </p:txBody>
      </p:sp>
      <p:sp>
        <p:nvSpPr>
          <p:cNvPr id="4" name="Slide Number Placeholder 3"/>
          <p:cNvSpPr>
            <a:spLocks noGrp="1"/>
          </p:cNvSpPr>
          <p:nvPr>
            <p:ph type="sldNum" sz="quarter" idx="5"/>
          </p:nvPr>
        </p:nvSpPr>
        <p:spPr/>
        <p:txBody>
          <a:bodyPr/>
          <a:lstStyle/>
          <a:p>
            <a:fld id="{0A520D3F-116D-40FF-8307-CEE6ADECC4E2}" type="slidenum">
              <a:rPr lang="en-US" smtClean="0"/>
              <a:t>29</a:t>
            </a:fld>
            <a:endParaRPr lang="en-US"/>
          </a:p>
        </p:txBody>
      </p:sp>
    </p:spTree>
    <p:extLst>
      <p:ext uri="{BB962C8B-B14F-4D97-AF65-F5344CB8AC3E}">
        <p14:creationId xmlns:p14="http://schemas.microsoft.com/office/powerpoint/2010/main" val="24620355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Domain II table, pp. 9-10. Task statements and enablers are verbatim from the July 2026 outline.</a:t>
            </a:r>
          </a:p>
        </p:txBody>
      </p:sp>
      <p:sp>
        <p:nvSpPr>
          <p:cNvPr id="4" name="Slide Number Placeholder 3"/>
          <p:cNvSpPr>
            <a:spLocks noGrp="1"/>
          </p:cNvSpPr>
          <p:nvPr>
            <p:ph type="sldNum" sz="quarter" idx="5"/>
          </p:nvPr>
        </p:nvSpPr>
        <p:spPr/>
        <p:txBody>
          <a:bodyPr/>
          <a:lstStyle/>
          <a:p>
            <a:fld id="{0A520D3F-116D-40FF-8307-CEE6ADECC4E2}" type="slidenum">
              <a:rPr lang="en-US" smtClean="0"/>
              <a:t>30</a:t>
            </a:fld>
            <a:endParaRPr lang="en-US"/>
          </a:p>
        </p:txBody>
      </p:sp>
    </p:spTree>
    <p:extLst>
      <p:ext uri="{BB962C8B-B14F-4D97-AF65-F5344CB8AC3E}">
        <p14:creationId xmlns:p14="http://schemas.microsoft.com/office/powerpoint/2010/main" val="21194782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Domain II table, pp. 9-10. Task statements and enablers are verbatim from the July 2026 outline.</a:t>
            </a:r>
          </a:p>
        </p:txBody>
      </p:sp>
      <p:sp>
        <p:nvSpPr>
          <p:cNvPr id="4" name="Slide Number Placeholder 3"/>
          <p:cNvSpPr>
            <a:spLocks noGrp="1"/>
          </p:cNvSpPr>
          <p:nvPr>
            <p:ph type="sldNum" sz="quarter" idx="5"/>
          </p:nvPr>
        </p:nvSpPr>
        <p:spPr/>
        <p:txBody>
          <a:bodyPr/>
          <a:lstStyle/>
          <a:p>
            <a:fld id="{0A520D3F-116D-40FF-8307-CEE6ADECC4E2}" type="slidenum">
              <a:rPr lang="en-US" smtClean="0"/>
              <a:t>31</a:t>
            </a:fld>
            <a:endParaRPr lang="en-US"/>
          </a:p>
        </p:txBody>
      </p:sp>
    </p:spTree>
    <p:extLst>
      <p:ext uri="{BB962C8B-B14F-4D97-AF65-F5344CB8AC3E}">
        <p14:creationId xmlns:p14="http://schemas.microsoft.com/office/powerpoint/2010/main" val="22277257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Exam cue: the sponsor or initiator issues the charter; the project manager may help write it. Without a charter, the project does not formally exist.</a:t>
            </a:r>
          </a:p>
        </p:txBody>
      </p:sp>
      <p:sp>
        <p:nvSpPr>
          <p:cNvPr id="4" name="Slide Number Placeholder 3"/>
          <p:cNvSpPr>
            <a:spLocks noGrp="1"/>
          </p:cNvSpPr>
          <p:nvPr>
            <p:ph type="sldNum" sz="quarter" idx="5"/>
          </p:nvPr>
        </p:nvSpPr>
        <p:spPr/>
        <p:txBody>
          <a:bodyPr/>
          <a:lstStyle/>
          <a:p>
            <a:fld id="{0A520D3F-116D-40FF-8307-CEE6ADECC4E2}" type="slidenum">
              <a:rPr lang="en-US" smtClean="0"/>
              <a:t>32</a:t>
            </a:fld>
            <a:endParaRPr lang="en-US"/>
          </a:p>
        </p:txBody>
      </p:sp>
    </p:spTree>
    <p:extLst>
      <p:ext uri="{BB962C8B-B14F-4D97-AF65-F5344CB8AC3E}">
        <p14:creationId xmlns:p14="http://schemas.microsoft.com/office/powerpoint/2010/main" val="42584163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project management plan integrates the subsidiary management plans and the scope, schedule, and cost baselines (PMBOK Guide Sixth Edition, 4.2). The three baselines together form the performance measurement baseline. The July 2026 outline: create, assess, and maintain an integrated project management plan; recommend a development approach and an execution strategy (Process Task 1).</a:t>
            </a:r>
          </a:p>
        </p:txBody>
      </p:sp>
      <p:sp>
        <p:nvSpPr>
          <p:cNvPr id="4" name="Slide Number Placeholder 3"/>
          <p:cNvSpPr>
            <a:spLocks noGrp="1"/>
          </p:cNvSpPr>
          <p:nvPr>
            <p:ph type="sldNum" sz="quarter" idx="5"/>
          </p:nvPr>
        </p:nvSpPr>
        <p:spPr/>
        <p:txBody>
          <a:bodyPr/>
          <a:lstStyle/>
          <a:p>
            <a:fld id="{0A520D3F-116D-40FF-8307-CEE6ADECC4E2}" type="slidenum">
              <a:rPr lang="en-US" smtClean="0"/>
              <a:t>33</a:t>
            </a:fld>
            <a:endParaRPr lang="en-US"/>
          </a:p>
        </p:txBody>
      </p:sp>
    </p:spTree>
    <p:extLst>
      <p:ext uri="{BB962C8B-B14F-4D97-AF65-F5344CB8AC3E}">
        <p14:creationId xmlns:p14="http://schemas.microsoft.com/office/powerpoint/2010/main" val="21700640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Scope processes (PMBOK Guide Sixth Edition): Collect Requirements (5.2), Define Scope (5.3), Create WBS (5.4), Validate Scope (5.5), Control Scope (5.6). Scope baseline = scope statement + WBS + WBS dictionary. Validate Scope is formal acceptance by the customer; Control Quality checks correctness first. The July 2026 outline: define scope, obtain stakeholder agreement, break down scope (Process Task 2).</a:t>
            </a:r>
          </a:p>
        </p:txBody>
      </p:sp>
      <p:sp>
        <p:nvSpPr>
          <p:cNvPr id="4" name="Slide Number Placeholder 3"/>
          <p:cNvSpPr>
            <a:spLocks noGrp="1"/>
          </p:cNvSpPr>
          <p:nvPr>
            <p:ph type="sldNum" sz="quarter" idx="5"/>
          </p:nvPr>
        </p:nvSpPr>
        <p:spPr/>
        <p:txBody>
          <a:bodyPr/>
          <a:lstStyle/>
          <a:p>
            <a:fld id="{0A520D3F-116D-40FF-8307-CEE6ADECC4E2}" type="slidenum">
              <a:rPr lang="en-US" smtClean="0"/>
              <a:t>34</a:t>
            </a:fld>
            <a:endParaRPr lang="en-US"/>
          </a:p>
        </p:txBody>
      </p:sp>
    </p:spTree>
    <p:extLst>
      <p:ext uri="{BB962C8B-B14F-4D97-AF65-F5344CB8AC3E}">
        <p14:creationId xmlns:p14="http://schemas.microsoft.com/office/powerpoint/2010/main" val="13560161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Sequence Activities identifies and documents relationships among project activities. Its main output is the project schedule network diagram. Milestones are significant points or events with zero duration; the milestone list (an output of Define Activities) marks each one as mandatory (for example, required by contract) or optional (for example, based on historical information).</a:t>
            </a:r>
          </a:p>
        </p:txBody>
      </p:sp>
      <p:sp>
        <p:nvSpPr>
          <p:cNvPr id="4" name="Slide Number Placeholder 3"/>
          <p:cNvSpPr>
            <a:spLocks noGrp="1"/>
          </p:cNvSpPr>
          <p:nvPr>
            <p:ph type="sldNum" sz="quarter" idx="5"/>
          </p:nvPr>
        </p:nvSpPr>
        <p:spPr/>
        <p:txBody>
          <a:bodyPr/>
          <a:lstStyle/>
          <a:p>
            <a:fld id="{0A520D3F-116D-40FF-8307-CEE6ADECC4E2}" type="slidenum">
              <a:rPr lang="en-US" smtClean="0"/>
              <a:t>35</a:t>
            </a:fld>
            <a:endParaRPr lang="en-US"/>
          </a:p>
        </p:txBody>
      </p:sp>
    </p:spTree>
    <p:extLst>
      <p:ext uri="{BB962C8B-B14F-4D97-AF65-F5344CB8AC3E}">
        <p14:creationId xmlns:p14="http://schemas.microsoft.com/office/powerpoint/2010/main" val="340188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precedence diagramming method (PDM) draws activities as nodes (activity-on-node) and links them with four logical relationships: finish-to-start (most common), start-to-start, finish-to-finish, and start-to-finish (rarely used). Leads accelerate a successor (negative lag); lags add a delay. Dependencies can be mandatory, discretionary, external, or internal. These feed the critical path and the schedule network.</a:t>
            </a:r>
          </a:p>
        </p:txBody>
      </p:sp>
      <p:sp>
        <p:nvSpPr>
          <p:cNvPr id="4" name="Slide Number Placeholder 3"/>
          <p:cNvSpPr>
            <a:spLocks noGrp="1"/>
          </p:cNvSpPr>
          <p:nvPr>
            <p:ph type="sldNum" sz="quarter" idx="5"/>
          </p:nvPr>
        </p:nvSpPr>
        <p:spPr/>
        <p:txBody>
          <a:bodyPr/>
          <a:lstStyle/>
          <a:p>
            <a:fld id="{0A520D3F-116D-40FF-8307-CEE6ADECC4E2}" type="slidenum">
              <a:rPr lang="en-US" smtClean="0"/>
              <a:t>36</a:t>
            </a:fld>
            <a:endParaRPr lang="en-US"/>
          </a:p>
        </p:txBody>
      </p:sp>
    </p:spTree>
    <p:extLst>
      <p:ext uri="{BB962C8B-B14F-4D97-AF65-F5344CB8AC3E}">
        <p14:creationId xmlns:p14="http://schemas.microsoft.com/office/powerpoint/2010/main" val="7078265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Critical path method: add the durations along each path; the longest path is the critical path and gives the shortest possible project duration. Example: path 1-2-4-6 is 14 weeks; path 1-3-5-6 is 16 weeks (critical). Activities 2 and 4 have 2 weeks of float. Schedule compression: crashing adds resources (cost); fast tracking overlaps activities (risk). Compressing can create a new critical path. A schedule network can have more than one critical path when two or more paths tie for the longest duration; every one of them has zero float and must be managed.</a:t>
            </a:r>
          </a:p>
        </p:txBody>
      </p:sp>
      <p:sp>
        <p:nvSpPr>
          <p:cNvPr id="4" name="Slide Number Placeholder 3"/>
          <p:cNvSpPr>
            <a:spLocks noGrp="1"/>
          </p:cNvSpPr>
          <p:nvPr>
            <p:ph type="sldNum" sz="quarter" idx="5"/>
          </p:nvPr>
        </p:nvSpPr>
        <p:spPr/>
        <p:txBody>
          <a:bodyPr/>
          <a:lstStyle/>
          <a:p>
            <a:fld id="{0A520D3F-116D-40FF-8307-CEE6ADECC4E2}" type="slidenum">
              <a:rPr lang="en-US" smtClean="0"/>
              <a:t>37</a:t>
            </a:fld>
            <a:endParaRPr lang="en-US"/>
          </a:p>
        </p:txBody>
      </p:sp>
    </p:spTree>
    <p:extLst>
      <p:ext uri="{BB962C8B-B14F-4D97-AF65-F5344CB8AC3E}">
        <p14:creationId xmlns:p14="http://schemas.microsoft.com/office/powerpoint/2010/main" val="35573799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Forward pass (day-1 numbering): ES of the first activity is 1; EF = ES + duration - 1; a successor ES = latest predecessor EF + 1. Backward pass: LF of the last activities = project finish; LS = LF - duration + 1; a predecessor LF = earliest successor LS - 1. Solved example: A 1-3/1-3 TF 0; B 1-4/4-7 TF 3; C 4-5/7-8 TF 3; D 4-7/4-7 TF 0; F 8-10/9-11 TF 1; E 8-11/8-11 TF 0. Critical path A-D-E, 11 days.</a:t>
            </a:r>
          </a:p>
        </p:txBody>
      </p:sp>
      <p:sp>
        <p:nvSpPr>
          <p:cNvPr id="4" name="Slide Number Placeholder 3"/>
          <p:cNvSpPr>
            <a:spLocks noGrp="1"/>
          </p:cNvSpPr>
          <p:nvPr>
            <p:ph type="sldNum" sz="quarter" idx="5"/>
          </p:nvPr>
        </p:nvSpPr>
        <p:spPr/>
        <p:txBody>
          <a:bodyPr/>
          <a:lstStyle/>
          <a:p>
            <a:fld id="{0A520D3F-116D-40FF-8307-CEE6ADECC4E2}" type="slidenum">
              <a:rPr lang="en-US" smtClean="0"/>
              <a:t>38</a:t>
            </a:fld>
            <a:endParaRPr lang="en-US"/>
          </a:p>
        </p:txBody>
      </p:sp>
    </p:spTree>
    <p:extLst>
      <p:ext uri="{BB962C8B-B14F-4D97-AF65-F5344CB8AC3E}">
        <p14:creationId xmlns:p14="http://schemas.microsoft.com/office/powerpoint/2010/main" val="11846913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Total float: delay possible from the early start without delaying the project finish date or violating a schedule constraint (TF = LS - ES = LF - EF). Free float: delay possible without delaying the early start of any successor or violating a schedule constraint. Activity C: TF 3, FF 2. Zero total float marks the critical path; negative float means the schedule cannot meet its finish without action.</a:t>
            </a:r>
          </a:p>
        </p:txBody>
      </p:sp>
      <p:sp>
        <p:nvSpPr>
          <p:cNvPr id="4" name="Slide Number Placeholder 3"/>
          <p:cNvSpPr>
            <a:spLocks noGrp="1"/>
          </p:cNvSpPr>
          <p:nvPr>
            <p:ph type="sldNum" sz="quarter" idx="5"/>
          </p:nvPr>
        </p:nvSpPr>
        <p:spPr/>
        <p:txBody>
          <a:bodyPr/>
          <a:lstStyle/>
          <a:p>
            <a:fld id="{0A520D3F-116D-40FF-8307-CEE6ADECC4E2}" type="slidenum">
              <a:rPr lang="en-US" smtClean="0"/>
              <a:t>39</a:t>
            </a:fld>
            <a:endParaRPr lang="en-US"/>
          </a:p>
        </p:txBody>
      </p:sp>
    </p:spTree>
    <p:extLst>
      <p:ext uri="{BB962C8B-B14F-4D97-AF65-F5344CB8AC3E}">
        <p14:creationId xmlns:p14="http://schemas.microsoft.com/office/powerpoint/2010/main" val="48284039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Resource optimization adjusts the schedule model to resource supply and demand. Resource leveling adjusts start and finish dates based on resource constraints, often changing the critical path (usually lengthening it). Resource smoothing adjusts activities within their free and total float so the critical path and finish date are unchanged; it may not optimize all resources. Histogram values are illustrative.</a:t>
            </a:r>
          </a:p>
        </p:txBody>
      </p:sp>
      <p:sp>
        <p:nvSpPr>
          <p:cNvPr id="4" name="Slide Number Placeholder 3"/>
          <p:cNvSpPr>
            <a:spLocks noGrp="1"/>
          </p:cNvSpPr>
          <p:nvPr>
            <p:ph type="sldNum" sz="quarter" idx="5"/>
          </p:nvPr>
        </p:nvSpPr>
        <p:spPr/>
        <p:txBody>
          <a:bodyPr/>
          <a:lstStyle/>
          <a:p>
            <a:fld id="{0A520D3F-116D-40FF-8307-CEE6ADECC4E2}" type="slidenum">
              <a:rPr lang="en-US" smtClean="0"/>
              <a:t>40</a:t>
            </a:fld>
            <a:endParaRPr lang="en-US"/>
          </a:p>
        </p:txBody>
      </p:sp>
    </p:spTree>
    <p:extLst>
      <p:ext uri="{BB962C8B-B14F-4D97-AF65-F5344CB8AC3E}">
        <p14:creationId xmlns:p14="http://schemas.microsoft.com/office/powerpoint/2010/main" val="15302023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PMBOK Guide Sixth Edition, 6.5.3.2: the project schedule can be presented in summary form (milestone schedule or milestone chart) or in detail, as bar charts (Gantt charts) or project schedule network diagrams. Bar charts list activities on the vertical axis and dates on the horizontal axis, with bar length showing duration; they are easy to read and are often used in management presentations and for tracking. Milestone charts are similar to bar charts but show only the scheduled start or completion of major deliverables and key external interfaces. Example uses the critical path from the critical path method slide: activities 1, 3, 5, and 6 (16 weeks) are critical; activities 2 and 4 have 2 weeks of float. Milestone names are illustrative.</a:t>
            </a:r>
          </a:p>
        </p:txBody>
      </p:sp>
      <p:sp>
        <p:nvSpPr>
          <p:cNvPr id="4" name="Slide Number Placeholder 3"/>
          <p:cNvSpPr>
            <a:spLocks noGrp="1"/>
          </p:cNvSpPr>
          <p:nvPr>
            <p:ph type="sldNum" sz="quarter" idx="5"/>
          </p:nvPr>
        </p:nvSpPr>
        <p:spPr/>
        <p:txBody>
          <a:bodyPr/>
          <a:lstStyle/>
          <a:p>
            <a:fld id="{0A520D3F-116D-40FF-8307-CEE6ADECC4E2}" type="slidenum">
              <a:rPr lang="en-US" smtClean="0"/>
              <a:t>41</a:t>
            </a:fld>
            <a:endParaRPr lang="en-US"/>
          </a:p>
        </p:txBody>
      </p:sp>
    </p:spTree>
    <p:extLst>
      <p:ext uri="{BB962C8B-B14F-4D97-AF65-F5344CB8AC3E}">
        <p14:creationId xmlns:p14="http://schemas.microsoft.com/office/powerpoint/2010/main" val="34906893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PMBOK Guide Sixth Edition, 6.5.3.1: a schedule baseline is the approved version of a schedule model that can be changed only through formal change control procedures and is used as a basis for comparison to actual results. It is accepted and approved by stakeholders with baseline start and finish dates, and it is a component of the project management plan. Control Schedule (6.6) compares progress with the baseline (schedule variance, SPI, trend analysis) and recommends corrective or preventive action. The scope, schedule, and cost baselines together make up the performance measurement baseline. Example: activity 1 slipped one week; activities 3, 5, and 6 are on the critical path, so the finish moves from week 16 to week 17. Adaptive projects use the product roadmap and release plan, refined each iteration, rather than a fixed schedule baseline.</a:t>
            </a:r>
          </a:p>
        </p:txBody>
      </p:sp>
      <p:sp>
        <p:nvSpPr>
          <p:cNvPr id="4" name="Slide Number Placeholder 3"/>
          <p:cNvSpPr>
            <a:spLocks noGrp="1"/>
          </p:cNvSpPr>
          <p:nvPr>
            <p:ph type="sldNum" sz="quarter" idx="5"/>
          </p:nvPr>
        </p:nvSpPr>
        <p:spPr/>
        <p:txBody>
          <a:bodyPr/>
          <a:lstStyle/>
          <a:p>
            <a:fld id="{0A520D3F-116D-40FF-8307-CEE6ADECC4E2}" type="slidenum">
              <a:rPr lang="en-US" smtClean="0"/>
              <a:t>42</a:t>
            </a:fld>
            <a:endParaRPr lang="en-US"/>
          </a:p>
        </p:txBody>
      </p:sp>
    </p:spTree>
    <p:extLst>
      <p:ext uri="{BB962C8B-B14F-4D97-AF65-F5344CB8AC3E}">
        <p14:creationId xmlns:p14="http://schemas.microsoft.com/office/powerpoint/2010/main" val="302155075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example causes are a subset of the likely root causes. Also called an Ishikawa or cause-and-effect diagram. Related: 5 Whys, Pareto chart, scatter diagram. Lean link: root cause analysis is the ‘prevent’ step of jidoka: after stopping and fixing a defect, find and remove its root cause so it cannot recur. Source: Lean Enterprise Institute (lean.org); Taiichi Ohno, Toyota Production System (1988).</a:t>
            </a:r>
          </a:p>
        </p:txBody>
      </p:sp>
      <p:sp>
        <p:nvSpPr>
          <p:cNvPr id="4" name="Slide Number Placeholder 3"/>
          <p:cNvSpPr>
            <a:spLocks noGrp="1"/>
          </p:cNvSpPr>
          <p:nvPr>
            <p:ph type="sldNum" sz="quarter" idx="5"/>
          </p:nvPr>
        </p:nvSpPr>
        <p:spPr/>
        <p:txBody>
          <a:bodyPr/>
          <a:lstStyle/>
          <a:p>
            <a:fld id="{0A520D3F-116D-40FF-8307-CEE6ADECC4E2}" type="slidenum">
              <a:rPr lang="en-US" smtClean="0"/>
              <a:t>43</a:t>
            </a:fld>
            <a:endParaRPr lang="en-US"/>
          </a:p>
        </p:txBody>
      </p:sp>
    </p:spTree>
    <p:extLst>
      <p:ext uri="{BB962C8B-B14F-4D97-AF65-F5344CB8AC3E}">
        <p14:creationId xmlns:p14="http://schemas.microsoft.com/office/powerpoint/2010/main" val="36264536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Control charts show whether a process is stable over time. Control limits (typically the mean plus or minus 3 standard deviations) come from the process data; specification limits come from requirements or the contract. A process is out of control when a point falls outside a control limit, or under the rule of seven: seven consecutive points on one side of the mean (or trending in one direction). Investigate for an assignable or special cause. The rule of seven is the PMI exam heuristic; statistical run rules such as the Western Electric rules use similar runs of 8 or 9 points.</a:t>
            </a:r>
          </a:p>
        </p:txBody>
      </p:sp>
      <p:sp>
        <p:nvSpPr>
          <p:cNvPr id="4" name="Slide Number Placeholder 3"/>
          <p:cNvSpPr>
            <a:spLocks noGrp="1"/>
          </p:cNvSpPr>
          <p:nvPr>
            <p:ph type="sldNum" sz="quarter" idx="5"/>
          </p:nvPr>
        </p:nvSpPr>
        <p:spPr/>
        <p:txBody>
          <a:bodyPr/>
          <a:lstStyle/>
          <a:p>
            <a:fld id="{0A520D3F-116D-40FF-8307-CEE6ADECC4E2}" type="slidenum">
              <a:rPr lang="en-US" smtClean="0"/>
              <a:t>44</a:t>
            </a:fld>
            <a:endParaRPr lang="en-US"/>
          </a:p>
        </p:txBody>
      </p:sp>
    </p:spTree>
    <p:extLst>
      <p:ext uri="{BB962C8B-B14F-4D97-AF65-F5344CB8AC3E}">
        <p14:creationId xmlns:p14="http://schemas.microsoft.com/office/powerpoint/2010/main" val="38031951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Cost of quality (PMBOK Guide Sixth Edition, 8.1.2.3): cost of conformance (prevention and appraisal) and cost of nonconformance (internal and external failure). Quality is the degree to which characteristics fulfill requirements; grade is a category for products with the same functional use but different technical characteristics. The July 2026 outline: manage cost of quality (CoQ) and sustainability (Process Task 7).</a:t>
            </a:r>
          </a:p>
        </p:txBody>
      </p:sp>
      <p:sp>
        <p:nvSpPr>
          <p:cNvPr id="4" name="Slide Number Placeholder 3"/>
          <p:cNvSpPr>
            <a:spLocks noGrp="1"/>
          </p:cNvSpPr>
          <p:nvPr>
            <p:ph type="sldNum" sz="quarter" idx="5"/>
          </p:nvPr>
        </p:nvSpPr>
        <p:spPr/>
        <p:txBody>
          <a:bodyPr/>
          <a:lstStyle/>
          <a:p>
            <a:fld id="{0A520D3F-116D-40FF-8307-CEE6ADECC4E2}" type="slidenum">
              <a:rPr lang="en-US" smtClean="0"/>
              <a:t>45</a:t>
            </a:fld>
            <a:endParaRPr lang="en-US"/>
          </a:p>
        </p:txBody>
      </p:sp>
    </p:spTree>
    <p:extLst>
      <p:ext uri="{BB962C8B-B14F-4D97-AF65-F5344CB8AC3E}">
        <p14:creationId xmlns:p14="http://schemas.microsoft.com/office/powerpoint/2010/main" val="138719551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descriptions under each step are added as study notes. In the July 2026 outline, negotiation sits under Process Task 5 (participate in agreement negotiations; determine a negotiation strategy).</a:t>
            </a:r>
          </a:p>
        </p:txBody>
      </p:sp>
      <p:sp>
        <p:nvSpPr>
          <p:cNvPr id="4" name="Slide Number Placeholder 3"/>
          <p:cNvSpPr>
            <a:spLocks noGrp="1"/>
          </p:cNvSpPr>
          <p:nvPr>
            <p:ph type="sldNum" sz="quarter" idx="5"/>
          </p:nvPr>
        </p:nvSpPr>
        <p:spPr/>
        <p:txBody>
          <a:bodyPr/>
          <a:lstStyle/>
          <a:p>
            <a:fld id="{0A520D3F-116D-40FF-8307-CEE6ADECC4E2}" type="slidenum">
              <a:rPr lang="en-US" smtClean="0"/>
              <a:t>46</a:t>
            </a:fld>
            <a:endParaRPr lang="en-US"/>
          </a:p>
        </p:txBody>
      </p:sp>
    </p:spTree>
    <p:extLst>
      <p:ext uri="{BB962C8B-B14F-4D97-AF65-F5344CB8AC3E}">
        <p14:creationId xmlns:p14="http://schemas.microsoft.com/office/powerpoint/2010/main" val="17463675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Firm fixed price is the most common. Choose by how well scope is defined: well defined, fixed price; uncertain, cost reimbursable; staff augmentation or quick start, T&amp;M. The buyer's risk is highest with CPFF and lowest with FFP. Under a firm fixed price contract the seller must deliver for the agreed price even if its costs go up, so the seller carries the risk of price increases (FP-EPA exists to share that risk on long contracts).</a:t>
            </a:r>
          </a:p>
        </p:txBody>
      </p:sp>
      <p:sp>
        <p:nvSpPr>
          <p:cNvPr id="4" name="Slide Number Placeholder 3"/>
          <p:cNvSpPr>
            <a:spLocks noGrp="1"/>
          </p:cNvSpPr>
          <p:nvPr>
            <p:ph type="sldNum" sz="quarter" idx="5"/>
          </p:nvPr>
        </p:nvSpPr>
        <p:spPr/>
        <p:txBody>
          <a:bodyPr/>
          <a:lstStyle/>
          <a:p>
            <a:fld id="{0A520D3F-116D-40FF-8307-CEE6ADECC4E2}" type="slidenum">
              <a:rPr lang="en-US" smtClean="0"/>
              <a:t>47</a:t>
            </a:fld>
            <a:endParaRPr lang="en-US"/>
          </a:p>
        </p:txBody>
      </p:sp>
    </p:spTree>
    <p:extLst>
      <p:ext uri="{BB962C8B-B14F-4D97-AF65-F5344CB8AC3E}">
        <p14:creationId xmlns:p14="http://schemas.microsoft.com/office/powerpoint/2010/main" val="257880159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PMBOK Guide Sixth Edition procurement processes: 12.1 Plan Procurement Management, 12.2 Conduct Procurements, 12.3 Control Procurements. The bid documents, statement of work, and source selection criteria are all prepared in planning, before any seller is approached.</a:t>
            </a:r>
          </a:p>
        </p:txBody>
      </p:sp>
      <p:sp>
        <p:nvSpPr>
          <p:cNvPr id="4" name="Slide Number Placeholder 3"/>
          <p:cNvSpPr>
            <a:spLocks noGrp="1"/>
          </p:cNvSpPr>
          <p:nvPr>
            <p:ph type="sldNum" sz="quarter" idx="5"/>
          </p:nvPr>
        </p:nvSpPr>
        <p:spPr/>
        <p:txBody>
          <a:bodyPr/>
          <a:lstStyle/>
          <a:p>
            <a:fld id="{0A520D3F-116D-40FF-8307-CEE6ADECC4E2}" type="slidenum">
              <a:rPr lang="en-US" smtClean="0"/>
              <a:t>48</a:t>
            </a:fld>
            <a:endParaRPr lang="en-US"/>
          </a:p>
        </p:txBody>
      </p:sp>
    </p:spTree>
    <p:extLst>
      <p:ext uri="{BB962C8B-B14F-4D97-AF65-F5344CB8AC3E}">
        <p14:creationId xmlns:p14="http://schemas.microsoft.com/office/powerpoint/2010/main" val="235756951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PMBOK Guide Sixth Edition lists bid documents such as the RFI, IFB, RFP, and RFQ (plus tender notices and invitations for negotiation). Exam cue: if the buyer only needs to learn what the market offers, the answer is an RFI; if price alone decides, an RFQ or IFB; if the approach matters, an RFP.</a:t>
            </a:r>
          </a:p>
        </p:txBody>
      </p:sp>
      <p:sp>
        <p:nvSpPr>
          <p:cNvPr id="4" name="Slide Number Placeholder 3"/>
          <p:cNvSpPr>
            <a:spLocks noGrp="1"/>
          </p:cNvSpPr>
          <p:nvPr>
            <p:ph type="sldNum" sz="quarter" idx="5"/>
          </p:nvPr>
        </p:nvSpPr>
        <p:spPr/>
        <p:txBody>
          <a:bodyPr/>
          <a:lstStyle/>
          <a:p>
            <a:fld id="{0A520D3F-116D-40FF-8307-CEE6ADECC4E2}" type="slidenum">
              <a:rPr lang="en-US" smtClean="0"/>
              <a:t>49</a:t>
            </a:fld>
            <a:endParaRPr lang="en-US"/>
          </a:p>
        </p:txBody>
      </p:sp>
    </p:spTree>
    <p:extLst>
      <p:ext uri="{BB962C8B-B14F-4D97-AF65-F5344CB8AC3E}">
        <p14:creationId xmlns:p14="http://schemas.microsoft.com/office/powerpoint/2010/main" val="271886345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selection methods are listed under source selection analysis in Plan Procurement Management (PMBOK Guide Sixth Edition). Exam cue: a bidder conference exists to keep bidding fair; any question answered for one bidder is shared with all of them. The purpose of a bidder conference is transparency and fairness among prospective sellers.</a:t>
            </a:r>
          </a:p>
        </p:txBody>
      </p:sp>
      <p:sp>
        <p:nvSpPr>
          <p:cNvPr id="4" name="Slide Number Placeholder 3"/>
          <p:cNvSpPr>
            <a:spLocks noGrp="1"/>
          </p:cNvSpPr>
          <p:nvPr>
            <p:ph type="sldNum" sz="quarter" idx="5"/>
          </p:nvPr>
        </p:nvSpPr>
        <p:spPr/>
        <p:txBody>
          <a:bodyPr/>
          <a:lstStyle/>
          <a:p>
            <a:fld id="{0A520D3F-116D-40FF-8307-CEE6ADECC4E2}" type="slidenum">
              <a:rPr lang="en-US" smtClean="0"/>
              <a:t>50</a:t>
            </a:fld>
            <a:endParaRPr lang="en-US"/>
          </a:p>
        </p:txBody>
      </p:sp>
    </p:spTree>
    <p:extLst>
      <p:ext uri="{BB962C8B-B14F-4D97-AF65-F5344CB8AC3E}">
        <p14:creationId xmlns:p14="http://schemas.microsoft.com/office/powerpoint/2010/main" val="149003354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three principles on the left follow the course reference slide on contract change control amendments. Exam cue: the project manager cannot change a contract alone; only the authorized buyer and seller can amend it, through the contract change control system, and preferred dispute resolution is negotiation.</a:t>
            </a:r>
          </a:p>
        </p:txBody>
      </p:sp>
      <p:sp>
        <p:nvSpPr>
          <p:cNvPr id="4" name="Slide Number Placeholder 3"/>
          <p:cNvSpPr>
            <a:spLocks noGrp="1"/>
          </p:cNvSpPr>
          <p:nvPr>
            <p:ph type="sldNum" sz="quarter" idx="5"/>
          </p:nvPr>
        </p:nvSpPr>
        <p:spPr/>
        <p:txBody>
          <a:bodyPr/>
          <a:lstStyle/>
          <a:p>
            <a:fld id="{0A520D3F-116D-40FF-8307-CEE6ADECC4E2}" type="slidenum">
              <a:rPr lang="en-US" smtClean="0"/>
              <a:t>51</a:t>
            </a:fld>
            <a:endParaRPr lang="en-US"/>
          </a:p>
        </p:txBody>
      </p:sp>
    </p:spTree>
    <p:extLst>
      <p:ext uri="{BB962C8B-B14F-4D97-AF65-F5344CB8AC3E}">
        <p14:creationId xmlns:p14="http://schemas.microsoft.com/office/powerpoint/2010/main" val="315255669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Measurement is tailored to the project context and stakeholders (PMBOK Guide Seventh Edition, Measurement Performance Domain). Typical measures: scope (percent complete, change requests), schedule (actual vs. planned dates, SV, SPI), budget (actual cost, CV, CPI, procurement sufficiency), resources (allocation, appraisals including vendors, contract management), quality (technical performance, defects), and risk (risk register). The July 2026 outline: measure, analyze, and update project metrics (Process Task 9).</a:t>
            </a:r>
          </a:p>
        </p:txBody>
      </p:sp>
      <p:sp>
        <p:nvSpPr>
          <p:cNvPr id="4" name="Slide Number Placeholder 3"/>
          <p:cNvSpPr>
            <a:spLocks noGrp="1"/>
          </p:cNvSpPr>
          <p:nvPr>
            <p:ph type="sldNum" sz="quarter" idx="5"/>
          </p:nvPr>
        </p:nvSpPr>
        <p:spPr/>
        <p:txBody>
          <a:bodyPr/>
          <a:lstStyle/>
          <a:p>
            <a:fld id="{0A520D3F-116D-40FF-8307-CEE6ADECC4E2}" type="slidenum">
              <a:rPr lang="en-US" smtClean="0"/>
              <a:t>52</a:t>
            </a:fld>
            <a:endParaRPr lang="en-US"/>
          </a:p>
        </p:txBody>
      </p:sp>
    </p:spTree>
    <p:extLst>
      <p:ext uri="{BB962C8B-B14F-4D97-AF65-F5344CB8AC3E}">
        <p14:creationId xmlns:p14="http://schemas.microsoft.com/office/powerpoint/2010/main" val="96384113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PMBOK Guide Seventh Edition, Measurement Performance Domain: effective measures follow SMART criteria (specific, meaningful, achievable, relevant, timely); key performance indicators are leading (predict changes or trends) or lagging (measure deliverables or events after the fact). Measurement pitfalls: the Hawthorne effect, vanity metrics, demoralization, misusing metrics, confirmation bias, and correlation versus causation. Thresholds and RAG status turn variances into agreed actions. Information radiators (Agile Practice Guide) are visible, physical or electronic displays of status.</a:t>
            </a:r>
          </a:p>
        </p:txBody>
      </p:sp>
      <p:sp>
        <p:nvSpPr>
          <p:cNvPr id="4" name="Slide Number Placeholder 3"/>
          <p:cNvSpPr>
            <a:spLocks noGrp="1"/>
          </p:cNvSpPr>
          <p:nvPr>
            <p:ph type="sldNum" sz="quarter" idx="5"/>
          </p:nvPr>
        </p:nvSpPr>
        <p:spPr/>
        <p:txBody>
          <a:bodyPr/>
          <a:lstStyle/>
          <a:p>
            <a:fld id="{0A520D3F-116D-40FF-8307-CEE6ADECC4E2}" type="slidenum">
              <a:rPr lang="en-US" smtClean="0"/>
              <a:t>53</a:t>
            </a:fld>
            <a:endParaRPr lang="en-US"/>
          </a:p>
        </p:txBody>
      </p:sp>
    </p:spTree>
    <p:extLst>
      <p:ext uri="{BB962C8B-B14F-4D97-AF65-F5344CB8AC3E}">
        <p14:creationId xmlns:p14="http://schemas.microsoft.com/office/powerpoint/2010/main" val="234120519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PMBOK Guide Sixth Edition: work performance data (raw observations) becomes work performance information when analyzed in context, and is compiled into work performance reports (physical or electronic) to generate decisions, actions, or awareness (Monitor and Control Project Work, 4.5). Report types: milestone schedules, quality reports, EVM reports, variance analysis reports, work performance reports, and dashboards.</a:t>
            </a:r>
          </a:p>
        </p:txBody>
      </p:sp>
      <p:sp>
        <p:nvSpPr>
          <p:cNvPr id="4" name="Slide Number Placeholder 3"/>
          <p:cNvSpPr>
            <a:spLocks noGrp="1"/>
          </p:cNvSpPr>
          <p:nvPr>
            <p:ph type="sldNum" sz="quarter" idx="5"/>
          </p:nvPr>
        </p:nvSpPr>
        <p:spPr/>
        <p:txBody>
          <a:bodyPr/>
          <a:lstStyle/>
          <a:p>
            <a:fld id="{0A520D3F-116D-40FF-8307-CEE6ADECC4E2}" type="slidenum">
              <a:rPr lang="en-US" smtClean="0"/>
              <a:t>54</a:t>
            </a:fld>
            <a:endParaRPr lang="en-US"/>
          </a:p>
        </p:txBody>
      </p:sp>
    </p:spTree>
    <p:extLst>
      <p:ext uri="{BB962C8B-B14F-4D97-AF65-F5344CB8AC3E}">
        <p14:creationId xmlns:p14="http://schemas.microsoft.com/office/powerpoint/2010/main" val="139976173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PMBOK Guide Sixth Edition, Table 4-1 lists 33 project documents (including the project schedule and project scope statement; the project charter is a separate input), separate from the project management plan components. Documents shown here, grouped for study: activity list and attributes, milestone list, duration estimates, network diagram, schedule data and forecasts, project calendars; project charter, assumption log, change log, issue log, lessons learned register, project communications; basis of estimates, cost estimates and forecasts; requirements documentation, requirements traceability matrix, quality metrics, quality report, quality control measurements, test and evaluation documents; resource requirements, resource breakdown structure, resource calendars, team charter, physical resource assignments, project team assignments; risk register, risk report, stakeholder register.</a:t>
            </a:r>
          </a:p>
        </p:txBody>
      </p:sp>
      <p:sp>
        <p:nvSpPr>
          <p:cNvPr id="4" name="Slide Number Placeholder 3"/>
          <p:cNvSpPr>
            <a:spLocks noGrp="1"/>
          </p:cNvSpPr>
          <p:nvPr>
            <p:ph type="sldNum" sz="quarter" idx="5"/>
          </p:nvPr>
        </p:nvSpPr>
        <p:spPr/>
        <p:txBody>
          <a:bodyPr/>
          <a:lstStyle/>
          <a:p>
            <a:fld id="{0A520D3F-116D-40FF-8307-CEE6ADECC4E2}" type="slidenum">
              <a:rPr lang="en-US" smtClean="0"/>
              <a:t>55</a:t>
            </a:fld>
            <a:endParaRPr lang="en-US"/>
          </a:p>
        </p:txBody>
      </p:sp>
    </p:spTree>
    <p:extLst>
      <p:ext uri="{BB962C8B-B14F-4D97-AF65-F5344CB8AC3E}">
        <p14:creationId xmlns:p14="http://schemas.microsoft.com/office/powerpoint/2010/main" val="411009637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PMBOK Guide Sixth Edition definitions: the assumption log records assumptions and constraints throughout the project (4.1.3.2); the issue log records and monitors current issues (4.3.3.3); change requests can be corrective action, preventive action, defect repair, or updates (4.3.3.4); the lessons learned register is transferred to the lessons learned repository at the end of a phase or project (4.4.3.1); the change log documents changes requested and their status (4.6.3.3); the risk register captures details of identified individual risks (11.2.3.1); the stakeholder register holds identification, assessment, and classification information (13.1.3.1).</a:t>
            </a:r>
          </a:p>
        </p:txBody>
      </p:sp>
      <p:sp>
        <p:nvSpPr>
          <p:cNvPr id="4" name="Slide Number Placeholder 3"/>
          <p:cNvSpPr>
            <a:spLocks noGrp="1"/>
          </p:cNvSpPr>
          <p:nvPr>
            <p:ph type="sldNum" sz="quarter" idx="5"/>
          </p:nvPr>
        </p:nvSpPr>
        <p:spPr/>
        <p:txBody>
          <a:bodyPr/>
          <a:lstStyle/>
          <a:p>
            <a:fld id="{0A520D3F-116D-40FF-8307-CEE6ADECC4E2}" type="slidenum">
              <a:rPr lang="en-US" smtClean="0"/>
              <a:t>56</a:t>
            </a:fld>
            <a:endParaRPr lang="en-US"/>
          </a:p>
        </p:txBody>
      </p:sp>
    </p:spTree>
    <p:extLst>
      <p:ext uri="{BB962C8B-B14F-4D97-AF65-F5344CB8AC3E}">
        <p14:creationId xmlns:p14="http://schemas.microsoft.com/office/powerpoint/2010/main" val="213970396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July 2026 outline (Process Task 9) asks the project manager to identify and tailor needed artifacts, help ensure artifacts are created, reviewed, updated, documented, and accessible, and continually assess the effectiveness of artifact management. Version control is a subset of configuration management (PMBOK Guide Sixth Edition, 4.6): each update gets a version number, a date and time stamp, and the name of the person who changed it. Configuration control focuses on the specification of deliverables and processes; change control identifies, documents, and approves or rejects changes to project documents, deliverables, or baselines (PMBOK Guide Sixth Edition, 4.6). Configuration management activities: configuration identification, configuration status accounting, and configuration verification and audit.</a:t>
            </a:r>
          </a:p>
        </p:txBody>
      </p:sp>
      <p:sp>
        <p:nvSpPr>
          <p:cNvPr id="4" name="Slide Number Placeholder 3"/>
          <p:cNvSpPr>
            <a:spLocks noGrp="1"/>
          </p:cNvSpPr>
          <p:nvPr>
            <p:ph type="sldNum" sz="quarter" idx="5"/>
          </p:nvPr>
        </p:nvSpPr>
        <p:spPr/>
        <p:txBody>
          <a:bodyPr/>
          <a:lstStyle/>
          <a:p>
            <a:fld id="{0A520D3F-116D-40FF-8307-CEE6ADECC4E2}" type="slidenum">
              <a:rPr lang="en-US" smtClean="0"/>
              <a:t>57</a:t>
            </a:fld>
            <a:endParaRPr lang="en-US"/>
          </a:p>
        </p:txBody>
      </p:sp>
    </p:spTree>
    <p:extLst>
      <p:ext uri="{BB962C8B-B14F-4D97-AF65-F5344CB8AC3E}">
        <p14:creationId xmlns:p14="http://schemas.microsoft.com/office/powerpoint/2010/main" val="30623454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PMBOK Guide Sixth Edition, 4.7: Close Project or Phase is the process of finalizing all activities for the project, phase, or contract. Key benefits: project or phase information is archived, planned work is completed, and organizational team resources are released to pursue new endeavors. Inputs include the project charter, project management plan, project documents (assumption log, basis of estimates, change log, issue log, lessons learned register, milestone list, project communications, quality control measurements, quality reports, requirements documentation, risk register, risk report), accepted deliverables, business documents (business case, benefits management plan), agreements, procurement documentation, and OPAs. Tools: expert judgment, data analysis (document, regression, trend, and variance analysis), and meetings. Outputs: project documents updates (lessons learned register), final product, service, or result transition, final report, and OPA updates. The final report (4.7.3.3) summarizes the project or phase, scope, quality, cost, and schedule objectives and results, validation of the final product, how the result achieved the business needs and expected benefits (or the extent to which it is expected to), and risks or issues encountered. PMBOK Guide Seventh Edition (Delivery Performance Domain): some benefits are realized after the project closes, so measurement is handed to the business. The July 2026 outline, Process Task 10: obtain stakeholder approval of completion, determine closure criteria, validate readiness for transition, and conclude closing activities.</a:t>
            </a:r>
          </a:p>
        </p:txBody>
      </p:sp>
      <p:sp>
        <p:nvSpPr>
          <p:cNvPr id="4" name="Slide Number Placeholder 3"/>
          <p:cNvSpPr>
            <a:spLocks noGrp="1"/>
          </p:cNvSpPr>
          <p:nvPr>
            <p:ph type="sldNum" sz="quarter" idx="5"/>
          </p:nvPr>
        </p:nvSpPr>
        <p:spPr/>
        <p:txBody>
          <a:bodyPr/>
          <a:lstStyle/>
          <a:p>
            <a:fld id="{0A520D3F-116D-40FF-8307-CEE6ADECC4E2}" type="slidenum">
              <a:rPr lang="en-US" smtClean="0"/>
              <a:t>58</a:t>
            </a:fld>
            <a:endParaRPr lang="en-US"/>
          </a:p>
        </p:txBody>
      </p:sp>
    </p:spTree>
    <p:extLst>
      <p:ext uri="{BB962C8B-B14F-4D97-AF65-F5344CB8AC3E}">
        <p14:creationId xmlns:p14="http://schemas.microsoft.com/office/powerpoint/2010/main" val="5146676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Project or Phase (PMBOK Guide Sixth Edition, 4.7) finalizes all activities: formal acceptance, transition of the product, closing procurements, final reports, lessons learned, archiving, and releasing resources. The July 2026 outline (Process Task 10): obtain stakeholder approval of completion, determine closure criteria, validate readiness for transition, and conclude closing activities.</a:t>
            </a:r>
          </a:p>
        </p:txBody>
      </p:sp>
      <p:sp>
        <p:nvSpPr>
          <p:cNvPr id="4" name="Slide Number Placeholder 3"/>
          <p:cNvSpPr>
            <a:spLocks noGrp="1"/>
          </p:cNvSpPr>
          <p:nvPr>
            <p:ph type="sldNum" sz="quarter" idx="5"/>
          </p:nvPr>
        </p:nvSpPr>
        <p:spPr/>
        <p:txBody>
          <a:bodyPr/>
          <a:lstStyle/>
          <a:p>
            <a:fld id="{0A520D3F-116D-40FF-8307-CEE6ADECC4E2}" type="slidenum">
              <a:rPr lang="en-US" smtClean="0"/>
              <a:t>59</a:t>
            </a:fld>
            <a:endParaRPr lang="en-US"/>
          </a:p>
        </p:txBody>
      </p:sp>
    </p:spTree>
    <p:extLst>
      <p:ext uri="{BB962C8B-B14F-4D97-AF65-F5344CB8AC3E}">
        <p14:creationId xmlns:p14="http://schemas.microsoft.com/office/powerpoint/2010/main" val="40624218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Order of closing (PMBOK Guide Sixth Edition): deliverables are formally accepted in Validate Scope (5.5); procurements are closed in Control Procurements (12.3) after confirming all work is accepted, settling claims, completing procurement audits, and the buyer providing the seller with formal written notice that the contract has been completed; then Close Project or Phase (4.7) completes the lessons learned, final report, transition, archiving, OPA updates, and release of resources. Team members are appraised and recognized (9.4, 9.5) and released back to their functional managers or to new work, with resource calendars updated. Adaptive projects close with a final retrospective, acceptance of the last increment by the product owner, and handoff of the product and remaining backlog; benefits realization is often measured after the project by the business owner (PMBOK Guide Seventh Edition). If a project is terminated early, closing still documents why, what was completed, the costs, and lessons learned.</a:t>
            </a:r>
          </a:p>
        </p:txBody>
      </p:sp>
      <p:sp>
        <p:nvSpPr>
          <p:cNvPr id="4" name="Slide Number Placeholder 3"/>
          <p:cNvSpPr>
            <a:spLocks noGrp="1"/>
          </p:cNvSpPr>
          <p:nvPr>
            <p:ph type="sldNum" sz="quarter" idx="5"/>
          </p:nvPr>
        </p:nvSpPr>
        <p:spPr/>
        <p:txBody>
          <a:bodyPr/>
          <a:lstStyle/>
          <a:p>
            <a:fld id="{0A520D3F-116D-40FF-8307-CEE6ADECC4E2}" type="slidenum">
              <a:rPr lang="en-US" smtClean="0"/>
              <a:t>60</a:t>
            </a:fld>
            <a:endParaRPr lang="en-US"/>
          </a:p>
        </p:txBody>
      </p:sp>
    </p:spTree>
    <p:extLst>
      <p:ext uri="{BB962C8B-B14F-4D97-AF65-F5344CB8AC3E}">
        <p14:creationId xmlns:p14="http://schemas.microsoft.com/office/powerpoint/2010/main" val="277188626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Source: Domain III table, pp. 11-12.</a:t>
            </a:r>
            <a:endParaRPr lang="en-US"/>
          </a:p>
        </p:txBody>
      </p:sp>
      <p:sp>
        <p:nvSpPr>
          <p:cNvPr id="4" name="Slide Number Placeholder 3"/>
          <p:cNvSpPr>
            <a:spLocks noGrp="1"/>
          </p:cNvSpPr>
          <p:nvPr>
            <p:ph type="sldNum" sz="quarter" idx="5"/>
          </p:nvPr>
        </p:nvSpPr>
        <p:spPr/>
        <p:txBody>
          <a:bodyPr/>
          <a:lstStyle/>
          <a:p>
            <a:fld id="{0A520D3F-116D-40FF-8307-CEE6ADECC4E2}" type="slidenum">
              <a:rPr lang="en-US" smtClean="0"/>
              <a:t>61</a:t>
            </a:fld>
            <a:endParaRPr lang="en-US"/>
          </a:p>
        </p:txBody>
      </p:sp>
    </p:spTree>
    <p:extLst>
      <p:ext uri="{BB962C8B-B14F-4D97-AF65-F5344CB8AC3E}">
        <p14:creationId xmlns:p14="http://schemas.microsoft.com/office/powerpoint/2010/main" val="148585538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Domain III table, pp. 11-12. Task titles verbatim from the July 2026 outline.</a:t>
            </a:r>
          </a:p>
        </p:txBody>
      </p:sp>
      <p:sp>
        <p:nvSpPr>
          <p:cNvPr id="4" name="Slide Number Placeholder 3"/>
          <p:cNvSpPr>
            <a:spLocks noGrp="1"/>
          </p:cNvSpPr>
          <p:nvPr>
            <p:ph type="sldNum" sz="quarter" idx="5"/>
          </p:nvPr>
        </p:nvSpPr>
        <p:spPr/>
        <p:txBody>
          <a:bodyPr/>
          <a:lstStyle/>
          <a:p>
            <a:fld id="{0A520D3F-116D-40FF-8307-CEE6ADECC4E2}" type="slidenum">
              <a:rPr lang="en-US" smtClean="0"/>
              <a:t>62</a:t>
            </a:fld>
            <a:endParaRPr lang="en-US"/>
          </a:p>
        </p:txBody>
      </p:sp>
    </p:spTree>
    <p:extLst>
      <p:ext uri="{BB962C8B-B14F-4D97-AF65-F5344CB8AC3E}">
        <p14:creationId xmlns:p14="http://schemas.microsoft.com/office/powerpoint/2010/main" val="148495197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Domain III table, pp. 11-12. Task statements and enablers are verbatim from the July 2026 outline.</a:t>
            </a:r>
          </a:p>
        </p:txBody>
      </p:sp>
      <p:sp>
        <p:nvSpPr>
          <p:cNvPr id="4" name="Slide Number Placeholder 3"/>
          <p:cNvSpPr>
            <a:spLocks noGrp="1"/>
          </p:cNvSpPr>
          <p:nvPr>
            <p:ph type="sldNum" sz="quarter" idx="5"/>
          </p:nvPr>
        </p:nvSpPr>
        <p:spPr/>
        <p:txBody>
          <a:bodyPr/>
          <a:lstStyle/>
          <a:p>
            <a:fld id="{0A520D3F-116D-40FF-8307-CEE6ADECC4E2}" type="slidenum">
              <a:rPr lang="en-US" smtClean="0"/>
              <a:t>63</a:t>
            </a:fld>
            <a:endParaRPr lang="en-US"/>
          </a:p>
        </p:txBody>
      </p:sp>
    </p:spTree>
    <p:extLst>
      <p:ext uri="{BB962C8B-B14F-4D97-AF65-F5344CB8AC3E}">
        <p14:creationId xmlns:p14="http://schemas.microsoft.com/office/powerpoint/2010/main" val="80306374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Domain III table, pp. 11-12. Task statements and enablers are verbatim from the July 2026 outline.</a:t>
            </a:r>
          </a:p>
        </p:txBody>
      </p:sp>
      <p:sp>
        <p:nvSpPr>
          <p:cNvPr id="4" name="Slide Number Placeholder 3"/>
          <p:cNvSpPr>
            <a:spLocks noGrp="1"/>
          </p:cNvSpPr>
          <p:nvPr>
            <p:ph type="sldNum" sz="quarter" idx="5"/>
          </p:nvPr>
        </p:nvSpPr>
        <p:spPr/>
        <p:txBody>
          <a:bodyPr/>
          <a:lstStyle/>
          <a:p>
            <a:fld id="{0A520D3F-116D-40FF-8307-CEE6ADECC4E2}" type="slidenum">
              <a:rPr lang="en-US" smtClean="0"/>
              <a:t>64</a:t>
            </a:fld>
            <a:endParaRPr lang="en-US"/>
          </a:p>
        </p:txBody>
      </p:sp>
    </p:spTree>
    <p:extLst>
      <p:ext uri="{BB962C8B-B14F-4D97-AF65-F5344CB8AC3E}">
        <p14:creationId xmlns:p14="http://schemas.microsoft.com/office/powerpoint/2010/main" val="332483024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OPAs are plans, processes, policies, procedures, and knowledge bases specific to and used by the performing organization; EEFs are conditions, not under the control of the project team, that influence, constrain, or direct the project (PMBOK Guide Sixth Edition, 2.2-2.3). The July 2026 outline: establish governance through OPAs (Business Environment Task 1); utilize lessons learned and update OPAs (Task 6).</a:t>
            </a:r>
          </a:p>
        </p:txBody>
      </p:sp>
      <p:sp>
        <p:nvSpPr>
          <p:cNvPr id="4" name="Slide Number Placeholder 3"/>
          <p:cNvSpPr>
            <a:spLocks noGrp="1"/>
          </p:cNvSpPr>
          <p:nvPr>
            <p:ph type="sldNum" sz="quarter" idx="5"/>
          </p:nvPr>
        </p:nvSpPr>
        <p:spPr/>
        <p:txBody>
          <a:bodyPr/>
          <a:lstStyle/>
          <a:p>
            <a:fld id="{0A520D3F-116D-40FF-8307-CEE6ADECC4E2}" type="slidenum">
              <a:rPr lang="en-US" smtClean="0"/>
              <a:t>65</a:t>
            </a:fld>
            <a:endParaRPr lang="en-US"/>
          </a:p>
        </p:txBody>
      </p:sp>
    </p:spTree>
    <p:extLst>
      <p:ext uri="{BB962C8B-B14F-4D97-AF65-F5344CB8AC3E}">
        <p14:creationId xmlns:p14="http://schemas.microsoft.com/office/powerpoint/2010/main" val="268111108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PMBOK Guide Sixth Edition, 2.4.4: the organizational structure is an enterprise environmental factor that affects the availability of resources and how projects are conducted. Table 2-1 compares structure types: organic or simple, functional (centralized), multi-divisional, matrix (strong, weak, balanced), project-oriented (composite, hybrid), virtual, hybrid, and PMO. Project manager authority, role, resource availability, and budget control rise from functional through weak, balanced, and strong matrix to project-oriented. Earlier PMBOK editions called the weak-matrix PM role an expediter (no authority, a staff assistant who communicates) or a coordinator (some authority, reports to a higher manager). The Agile Practice Guide (Section 6) notes that agile approaches work best with dedicated cross-functional teams and that siloed structures create friction. In a functional organization, work is grouped by department (engineering, manufacturing, finance), so it runs in silos: staff report to their functional manager, communication flows up and down the department rather than across it, and cross-department projects depend on coordination between managers. Project-oriented (projectized) organizations tie employees to projects; when a project ends, people may have no home to return to, which can cause job insecurity. Matrix organizations are a hybrid of functional and projectized structures: staff keep a functional manager and home department while working for a project manager.</a:t>
            </a:r>
          </a:p>
        </p:txBody>
      </p:sp>
      <p:sp>
        <p:nvSpPr>
          <p:cNvPr id="4" name="Slide Number Placeholder 3"/>
          <p:cNvSpPr>
            <a:spLocks noGrp="1"/>
          </p:cNvSpPr>
          <p:nvPr>
            <p:ph type="sldNum" sz="quarter" idx="5"/>
          </p:nvPr>
        </p:nvSpPr>
        <p:spPr/>
        <p:txBody>
          <a:bodyPr/>
          <a:lstStyle/>
          <a:p>
            <a:fld id="{0A520D3F-116D-40FF-8307-CEE6ADECC4E2}" type="slidenum">
              <a:rPr lang="en-US" smtClean="0"/>
              <a:t>66</a:t>
            </a:fld>
            <a:endParaRPr lang="en-US"/>
          </a:p>
        </p:txBody>
      </p:sp>
    </p:spTree>
    <p:extLst>
      <p:ext uri="{BB962C8B-B14F-4D97-AF65-F5344CB8AC3E}">
        <p14:creationId xmlns:p14="http://schemas.microsoft.com/office/powerpoint/2010/main" val="155886660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Summary table adapted from PMI course material, which follows PMBOK Guide Fifth Edition, Table 2-1 (Influence of Organizational Structures on Projects): functional, weak matrix, balanced matrix, strong matrix, projectized. The Sixth Edition keeps the same pattern and adds organic or simple, multi-divisional, virtual, hybrid, and PMO-based structures (listed on the previous slide under Other forms). Two editions differ on the balanced matrix: the Fifth Edition lists the PM role as full-time, the Sixth Edition as part-time and embedded in the functions; both list PM administrative staff as part-time. Weak matrix PMs were called expediters (no decision authority; a staff assistant who communicates) or coordinators (some authority; report to a higher-level manager). Larson and Gray describe the balanced matrix split: the project manager decides what and when; functional managers decide who and how. Functional organizations work in departmental silos; projectized organizations tie staff to projects, which can cause job insecurity when projects end; matrix organizations are a hybrid of the two.</a:t>
            </a:r>
          </a:p>
        </p:txBody>
      </p:sp>
      <p:sp>
        <p:nvSpPr>
          <p:cNvPr id="4" name="Slide Number Placeholder 3"/>
          <p:cNvSpPr>
            <a:spLocks noGrp="1"/>
          </p:cNvSpPr>
          <p:nvPr>
            <p:ph type="sldNum" sz="quarter" idx="5"/>
          </p:nvPr>
        </p:nvSpPr>
        <p:spPr/>
        <p:txBody>
          <a:bodyPr/>
          <a:lstStyle/>
          <a:p>
            <a:fld id="{0A520D3F-116D-40FF-8307-CEE6ADECC4E2}" type="slidenum">
              <a:rPr lang="en-US" smtClean="0"/>
              <a:t>67</a:t>
            </a:fld>
            <a:endParaRPr lang="en-US"/>
          </a:p>
        </p:txBody>
      </p:sp>
    </p:spTree>
    <p:extLst>
      <p:ext uri="{BB962C8B-B14F-4D97-AF65-F5344CB8AC3E}">
        <p14:creationId xmlns:p14="http://schemas.microsoft.com/office/powerpoint/2010/main" val="316589468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Exam cue: a phase gate is where the sponsor or governance body decides go, go with changes, or kill; in agile, the equivalent checkpoint is the iteration review.</a:t>
            </a:r>
          </a:p>
        </p:txBody>
      </p:sp>
      <p:sp>
        <p:nvSpPr>
          <p:cNvPr id="4" name="Slide Number Placeholder 3"/>
          <p:cNvSpPr>
            <a:spLocks noGrp="1"/>
          </p:cNvSpPr>
          <p:nvPr>
            <p:ph type="sldNum" sz="quarter" idx="5"/>
          </p:nvPr>
        </p:nvSpPr>
        <p:spPr/>
        <p:txBody>
          <a:bodyPr/>
          <a:lstStyle/>
          <a:p>
            <a:fld id="{0A520D3F-116D-40FF-8307-CEE6ADECC4E2}" type="slidenum">
              <a:rPr lang="en-US" smtClean="0"/>
              <a:t>68</a:t>
            </a:fld>
            <a:endParaRPr lang="en-US"/>
          </a:p>
        </p:txBody>
      </p:sp>
    </p:spTree>
    <p:extLst>
      <p:ext uri="{BB962C8B-B14F-4D97-AF65-F5344CB8AC3E}">
        <p14:creationId xmlns:p14="http://schemas.microsoft.com/office/powerpoint/2010/main" val="115521799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Matches the outline enabler for Business Environment Task 1: Outline governance escalation paths and thresholds. Exam cue: if the issue is within your tolerance, the answer is usually to work with the team rather than escalate.</a:t>
            </a:r>
          </a:p>
        </p:txBody>
      </p:sp>
      <p:sp>
        <p:nvSpPr>
          <p:cNvPr id="4" name="Slide Number Placeholder 3"/>
          <p:cNvSpPr>
            <a:spLocks noGrp="1"/>
          </p:cNvSpPr>
          <p:nvPr>
            <p:ph type="sldNum" sz="quarter" idx="5"/>
          </p:nvPr>
        </p:nvSpPr>
        <p:spPr/>
        <p:txBody>
          <a:bodyPr/>
          <a:lstStyle/>
          <a:p>
            <a:fld id="{0A520D3F-116D-40FF-8307-CEE6ADECC4E2}" type="slidenum">
              <a:rPr lang="en-US" smtClean="0"/>
              <a:t>69</a:t>
            </a:fld>
            <a:endParaRPr lang="en-US"/>
          </a:p>
        </p:txBody>
      </p:sp>
    </p:spTree>
    <p:extLst>
      <p:ext uri="{BB962C8B-B14F-4D97-AF65-F5344CB8AC3E}">
        <p14:creationId xmlns:p14="http://schemas.microsoft.com/office/powerpoint/2010/main" val="106460014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three PMO types (supportive, controlling, directive) come from the PMBOK Guide.</a:t>
            </a:r>
          </a:p>
        </p:txBody>
      </p:sp>
      <p:sp>
        <p:nvSpPr>
          <p:cNvPr id="4" name="Slide Number Placeholder 3"/>
          <p:cNvSpPr>
            <a:spLocks noGrp="1"/>
          </p:cNvSpPr>
          <p:nvPr>
            <p:ph type="sldNum" sz="quarter" idx="5"/>
          </p:nvPr>
        </p:nvSpPr>
        <p:spPr/>
        <p:txBody>
          <a:bodyPr/>
          <a:lstStyle/>
          <a:p>
            <a:fld id="{0A520D3F-116D-40FF-8307-CEE6ADECC4E2}" type="slidenum">
              <a:rPr lang="en-US" smtClean="0"/>
              <a:t>70</a:t>
            </a:fld>
            <a:endParaRPr lang="en-US"/>
          </a:p>
        </p:txBody>
      </p:sp>
    </p:spTree>
    <p:extLst>
      <p:ext uri="{BB962C8B-B14F-4D97-AF65-F5344CB8AC3E}">
        <p14:creationId xmlns:p14="http://schemas.microsoft.com/office/powerpoint/2010/main" val="349334839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PMI Code of Ethics and Professional Conduct rests on four values: responsibility, respect, fairness, and honesty. Each has aspirational standards and mandatory standards. The July 2026 outline names ethics as part of governance (Business Environment Task 1: describe and establish the structure, rules, procedures, reporting, ethics, and policies).</a:t>
            </a:r>
          </a:p>
        </p:txBody>
      </p:sp>
      <p:sp>
        <p:nvSpPr>
          <p:cNvPr id="4" name="Slide Number Placeholder 3"/>
          <p:cNvSpPr>
            <a:spLocks noGrp="1"/>
          </p:cNvSpPr>
          <p:nvPr>
            <p:ph type="sldNum" sz="quarter" idx="5"/>
          </p:nvPr>
        </p:nvSpPr>
        <p:spPr/>
        <p:txBody>
          <a:bodyPr/>
          <a:lstStyle/>
          <a:p>
            <a:fld id="{0A520D3F-116D-40FF-8307-CEE6ADECC4E2}" type="slidenum">
              <a:rPr lang="en-US" smtClean="0"/>
              <a:t>71</a:t>
            </a:fld>
            <a:endParaRPr lang="en-US"/>
          </a:p>
        </p:txBody>
      </p:sp>
    </p:spTree>
    <p:extLst>
      <p:ext uri="{BB962C8B-B14F-4D97-AF65-F5344CB8AC3E}">
        <p14:creationId xmlns:p14="http://schemas.microsoft.com/office/powerpoint/2010/main" val="385400805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seven steps follow the enablers of Business Environment Task 2 in the July 2026 outline: confirm compliance requirements (e.g., security, health and safety, sustainability, regulatory), classify compliance categories, determine potential threats, use methods to support compliance, analyze the consequences of noncompliance, determine the approach and actions, and measure the extent of compliance.</a:t>
            </a:r>
          </a:p>
        </p:txBody>
      </p:sp>
      <p:sp>
        <p:nvSpPr>
          <p:cNvPr id="4" name="Slide Number Placeholder 3"/>
          <p:cNvSpPr>
            <a:spLocks noGrp="1"/>
          </p:cNvSpPr>
          <p:nvPr>
            <p:ph type="sldNum" sz="quarter" idx="5"/>
          </p:nvPr>
        </p:nvSpPr>
        <p:spPr/>
        <p:txBody>
          <a:bodyPr/>
          <a:lstStyle/>
          <a:p>
            <a:fld id="{0A520D3F-116D-40FF-8307-CEE6ADECC4E2}" type="slidenum">
              <a:rPr lang="en-US" smtClean="0"/>
              <a:t>72</a:t>
            </a:fld>
            <a:endParaRPr lang="en-US"/>
          </a:p>
        </p:txBody>
      </p:sp>
    </p:spTree>
    <p:extLst>
      <p:ext uri="{BB962C8B-B14F-4D97-AF65-F5344CB8AC3E}">
        <p14:creationId xmlns:p14="http://schemas.microsoft.com/office/powerpoint/2010/main" val="303960506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Perform Integrated Change Control (PMBOK Guide Sixth Edition, 4.6) reviews all change requests, approves or rejects them, and manages changes to deliverables, project documents, and the project management plan. A change control board is a formally chartered group responsible for reviewing, evaluating, approving, deferring, or rejecting changes. The July 2026 outline (Business Environment Task 3): execute the change control process, communicate status, implement approved changes, and update documentation. Predictive change management relies on a formal process: change requests, a CCB, and updates to artifacts. Adaptive change management relies on the feedback and development cycle: the product owner runs the backlog, the whole team refines it, demos clarify requirements, and changes wait for the next sprint. Hybrid projects can use any of these. Change requests can be corrective action, preventive action, defect repair, or updates (PMBOK Guide Sixth Edition, 4.3.3.4); see the slide on logs and registers.</a:t>
            </a:r>
          </a:p>
        </p:txBody>
      </p:sp>
      <p:sp>
        <p:nvSpPr>
          <p:cNvPr id="4" name="Slide Number Placeholder 3"/>
          <p:cNvSpPr>
            <a:spLocks noGrp="1"/>
          </p:cNvSpPr>
          <p:nvPr>
            <p:ph type="sldNum" sz="quarter" idx="5"/>
          </p:nvPr>
        </p:nvSpPr>
        <p:spPr/>
        <p:txBody>
          <a:bodyPr/>
          <a:lstStyle/>
          <a:p>
            <a:fld id="{0A520D3F-116D-40FF-8307-CEE6ADECC4E2}" type="slidenum">
              <a:rPr lang="en-US" smtClean="0"/>
              <a:t>73</a:t>
            </a:fld>
            <a:endParaRPr lang="en-US"/>
          </a:p>
        </p:txBody>
      </p:sp>
    </p:spTree>
    <p:extLst>
      <p:ext uri="{BB962C8B-B14F-4D97-AF65-F5344CB8AC3E}">
        <p14:creationId xmlns:p14="http://schemas.microsoft.com/office/powerpoint/2010/main" val="118496631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formal change control system includes forms, tracking methods, processes, and approval levels. Flow: submit a change request, log it, screen it (rejected requests get a notice), confirm whether a deliverable or baseline is affected, prepare an impact statement, route it for approval by impact (minor: project manager; moderate: project manager and stakeholders; major: project manager, sponsor, and stakeholders or the CCB), then, if authorized, build and communicate the change, execute it, and rebalance the project by updating the plan, baselines, and documents. PMBOK Guide Sixth Edition 4.6: the change management plan defines who can approve which changes; the CCB handles changes beyond the project manager’s authority.</a:t>
            </a:r>
          </a:p>
        </p:txBody>
      </p:sp>
      <p:sp>
        <p:nvSpPr>
          <p:cNvPr id="4" name="Slide Number Placeholder 3"/>
          <p:cNvSpPr>
            <a:spLocks noGrp="1"/>
          </p:cNvSpPr>
          <p:nvPr>
            <p:ph type="sldNum" sz="quarter" idx="5"/>
          </p:nvPr>
        </p:nvSpPr>
        <p:spPr/>
        <p:txBody>
          <a:bodyPr/>
          <a:lstStyle/>
          <a:p>
            <a:fld id="{0A520D3F-116D-40FF-8307-CEE6ADECC4E2}" type="slidenum">
              <a:rPr lang="en-US" smtClean="0"/>
              <a:t>74</a:t>
            </a:fld>
            <a:endParaRPr lang="en-US"/>
          </a:p>
        </p:txBody>
      </p:sp>
    </p:spTree>
    <p:extLst>
      <p:ext uri="{BB962C8B-B14F-4D97-AF65-F5344CB8AC3E}">
        <p14:creationId xmlns:p14="http://schemas.microsoft.com/office/powerpoint/2010/main" val="337812976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PMBOK Guide Sixth Edition, 4.3.3.4: change requests may include corrective action (an intentional activity that realigns the performance of the project work with the project management plan), preventive action (an intentional activity that ensures the future performance of the project work is aligned with the plan), defect repair (an intentional activity to modify a nonconforming product or product component), and updates (changes to formally controlled project documents, plans, and so on, to reflect modified or additional ideas or content). Change requests are reviewed in Perform Integrated Change Control (4.6). Examples are illustrative.</a:t>
            </a:r>
          </a:p>
        </p:txBody>
      </p:sp>
      <p:sp>
        <p:nvSpPr>
          <p:cNvPr id="4" name="Slide Number Placeholder 3"/>
          <p:cNvSpPr>
            <a:spLocks noGrp="1"/>
          </p:cNvSpPr>
          <p:nvPr>
            <p:ph type="sldNum" sz="quarter" idx="5"/>
          </p:nvPr>
        </p:nvSpPr>
        <p:spPr/>
        <p:txBody>
          <a:bodyPr/>
          <a:lstStyle/>
          <a:p>
            <a:fld id="{0A520D3F-116D-40FF-8307-CEE6ADECC4E2}" type="slidenum">
              <a:rPr lang="en-US" smtClean="0"/>
              <a:t>75</a:t>
            </a:fld>
            <a:endParaRPr lang="en-US"/>
          </a:p>
        </p:txBody>
      </p:sp>
    </p:spTree>
    <p:extLst>
      <p:ext uri="{BB962C8B-B14F-4D97-AF65-F5344CB8AC3E}">
        <p14:creationId xmlns:p14="http://schemas.microsoft.com/office/powerpoint/2010/main" val="216095212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seven risk management processes are from the PMBOK Guide, Sixth Edition. The Seventh Edition (2021) replaced processes with principles and performance domains, but the PMP exam and most prep material still use this sequence. Processes 1-5 are planning, 6 is executing, 7 is monitoring and controlling.</a:t>
            </a:r>
          </a:p>
        </p:txBody>
      </p:sp>
      <p:sp>
        <p:nvSpPr>
          <p:cNvPr id="4" name="Slide Number Placeholder 3"/>
          <p:cNvSpPr>
            <a:spLocks noGrp="1"/>
          </p:cNvSpPr>
          <p:nvPr>
            <p:ph type="sldNum" sz="quarter" idx="5"/>
          </p:nvPr>
        </p:nvSpPr>
        <p:spPr/>
        <p:txBody>
          <a:bodyPr/>
          <a:lstStyle/>
          <a:p>
            <a:fld id="{0A520D3F-116D-40FF-8307-CEE6ADECC4E2}" type="slidenum">
              <a:rPr lang="en-US" smtClean="0"/>
              <a:t>76</a:t>
            </a:fld>
            <a:endParaRPr lang="en-US"/>
          </a:p>
        </p:txBody>
      </p:sp>
    </p:spTree>
    <p:extLst>
      <p:ext uri="{BB962C8B-B14F-4D97-AF65-F5344CB8AC3E}">
        <p14:creationId xmlns:p14="http://schemas.microsoft.com/office/powerpoint/2010/main" val="296965689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Risk attitude (Hillson and Murray-Webster): risk averse (uncomfortable with uncertainty, seeks security; the classic ‘play it safe’ stakeholder), risk tolerant, risk neutral, and risk seeking. PMBOK Guide Sixth Edition glossary: risk appetite is the degree of uncertainty an organization or individual is willing to accept in anticipation of a reward; risk threshold is the level of risk exposure above which risks are addressed and below which risks may be accepted. Both are recorded in the risk management plan (11.1).</a:t>
            </a:r>
          </a:p>
        </p:txBody>
      </p:sp>
      <p:sp>
        <p:nvSpPr>
          <p:cNvPr id="4" name="Slide Number Placeholder 3"/>
          <p:cNvSpPr>
            <a:spLocks noGrp="1"/>
          </p:cNvSpPr>
          <p:nvPr>
            <p:ph type="sldNum" sz="quarter" idx="5"/>
          </p:nvPr>
        </p:nvSpPr>
        <p:spPr/>
        <p:txBody>
          <a:bodyPr/>
          <a:lstStyle/>
          <a:p>
            <a:fld id="{0A520D3F-116D-40FF-8307-CEE6ADECC4E2}" type="slidenum">
              <a:rPr lang="en-US" smtClean="0"/>
              <a:t>77</a:t>
            </a:fld>
            <a:endParaRPr lang="en-US"/>
          </a:p>
        </p:txBody>
      </p:sp>
    </p:spTree>
    <p:extLst>
      <p:ext uri="{BB962C8B-B14F-4D97-AF65-F5344CB8AC3E}">
        <p14:creationId xmlns:p14="http://schemas.microsoft.com/office/powerpoint/2010/main" val="2962630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Exam cue: if a question mentions anonymous experts, multiple rounds, or a facilitator consolidating opinions to reach consensus, the answer is the Delphi technique.</a:t>
            </a:r>
          </a:p>
        </p:txBody>
      </p:sp>
      <p:sp>
        <p:nvSpPr>
          <p:cNvPr id="4" name="Slide Number Placeholder 3"/>
          <p:cNvSpPr>
            <a:spLocks noGrp="1"/>
          </p:cNvSpPr>
          <p:nvPr>
            <p:ph type="sldNum" sz="quarter" idx="5"/>
          </p:nvPr>
        </p:nvSpPr>
        <p:spPr/>
        <p:txBody>
          <a:bodyPr/>
          <a:lstStyle/>
          <a:p>
            <a:fld id="{0A520D3F-116D-40FF-8307-CEE6ADECC4E2}" type="slidenum">
              <a:rPr lang="en-US" smtClean="0"/>
              <a:t>78</a:t>
            </a:fld>
            <a:endParaRPr lang="en-US"/>
          </a:p>
        </p:txBody>
      </p:sp>
    </p:spTree>
    <p:extLst>
      <p:ext uri="{BB962C8B-B14F-4D97-AF65-F5344CB8AC3E}">
        <p14:creationId xmlns:p14="http://schemas.microsoft.com/office/powerpoint/2010/main" val="39312449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PMBOK Guide Sixth Edition: a risk is an uncertain event or condition that, if it occurs, has a positive or negative effect on objectives; an issue is a current condition or situation that may affect objectives. The issue log (4.3.3.3) records issue type, who raised it and when, description, priority, owner, target resolution date, status, and final solution. A workaround is a response to a threat that has occurred, for which a prior response had not been planned or was not effective. When an identified risk occurs, implement its contingency plan; if none exists or it fails, use a workaround. The example issue log uses roles instead of names; dates and items are illustrative.</a:t>
            </a:r>
          </a:p>
        </p:txBody>
      </p:sp>
      <p:sp>
        <p:nvSpPr>
          <p:cNvPr id="4" name="Slide Number Placeholder 3"/>
          <p:cNvSpPr>
            <a:spLocks noGrp="1"/>
          </p:cNvSpPr>
          <p:nvPr>
            <p:ph type="sldNum" sz="quarter" idx="5"/>
          </p:nvPr>
        </p:nvSpPr>
        <p:spPr/>
        <p:txBody>
          <a:bodyPr/>
          <a:lstStyle/>
          <a:p>
            <a:fld id="{0A520D3F-116D-40FF-8307-CEE6ADECC4E2}" type="slidenum">
              <a:rPr lang="en-US" smtClean="0"/>
              <a:t>79</a:t>
            </a:fld>
            <a:endParaRPr lang="en-US"/>
          </a:p>
        </p:txBody>
      </p:sp>
    </p:spTree>
    <p:extLst>
      <p:ext uri="{BB962C8B-B14F-4D97-AF65-F5344CB8AC3E}">
        <p14:creationId xmlns:p14="http://schemas.microsoft.com/office/powerpoint/2010/main" val="283862893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July 2026 outline (Business Environment Task 4, Remove impediments and manage issues): evaluate the impact of impediments; prioritize and highlight impediments; determine and apply an intervention strategy to remove or minimize impediments; reassess continually so impediments, obstacles, and blockers for the team are addressed; recognize when a risk becomes an issue; collaborate with stakeholders to resolve issues. Severity levels: impediments slow progress, obstacles cause substantial delays, blockers stop progress. Sources of detection: daily standups, retrospectives, bottlenecks on the board or CFD, dependencies, and historical trends. The Agile Practice Guide describes the servant leader as removing organizational impediments; standups surface impediments, which are resolved outside the meeting.</a:t>
            </a:r>
          </a:p>
        </p:txBody>
      </p:sp>
      <p:sp>
        <p:nvSpPr>
          <p:cNvPr id="4" name="Slide Number Placeholder 3"/>
          <p:cNvSpPr>
            <a:spLocks noGrp="1"/>
          </p:cNvSpPr>
          <p:nvPr>
            <p:ph type="sldNum" sz="quarter" idx="5"/>
          </p:nvPr>
        </p:nvSpPr>
        <p:spPr/>
        <p:txBody>
          <a:bodyPr/>
          <a:lstStyle/>
          <a:p>
            <a:fld id="{0A520D3F-116D-40FF-8307-CEE6ADECC4E2}" type="slidenum">
              <a:rPr lang="en-US" smtClean="0"/>
              <a:t>80</a:t>
            </a:fld>
            <a:endParaRPr lang="en-US"/>
          </a:p>
        </p:txBody>
      </p:sp>
    </p:spTree>
    <p:extLst>
      <p:ext uri="{BB962C8B-B14F-4D97-AF65-F5344CB8AC3E}">
        <p14:creationId xmlns:p14="http://schemas.microsoft.com/office/powerpoint/2010/main" val="292301051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Three widely used change models: Lewin (unfreeze, change, refreeze), Kotter (eight steps), and ADKAR (awareness, desire, knowledge, ability, reinforcement). PMI covers organizational change in Managing Change in Organizations: A Practice Guide (2013). The July 2026 outline (Business Environment Task 7): assess organizational culture and evaluate the impact of organizational change on the project. The Kotter card summarizes the three phases; the full eight steps (Leading Change, 1996) are on the Kotter slide.</a:t>
            </a:r>
          </a:p>
        </p:txBody>
      </p:sp>
      <p:sp>
        <p:nvSpPr>
          <p:cNvPr id="4" name="Slide Number Placeholder 3"/>
          <p:cNvSpPr>
            <a:spLocks noGrp="1"/>
          </p:cNvSpPr>
          <p:nvPr>
            <p:ph type="sldNum" sz="quarter" idx="5"/>
          </p:nvPr>
        </p:nvSpPr>
        <p:spPr/>
        <p:txBody>
          <a:bodyPr/>
          <a:lstStyle/>
          <a:p>
            <a:fld id="{0A520D3F-116D-40FF-8307-CEE6ADECC4E2}" type="slidenum">
              <a:rPr lang="en-US" smtClean="0"/>
              <a:t>81</a:t>
            </a:fld>
            <a:endParaRPr lang="en-US"/>
          </a:p>
        </p:txBody>
      </p:sp>
    </p:spTree>
    <p:extLst>
      <p:ext uri="{BB962C8B-B14F-4D97-AF65-F5344CB8AC3E}">
        <p14:creationId xmlns:p14="http://schemas.microsoft.com/office/powerpoint/2010/main" val="408010609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ADKAR (Jeff Hiatt, Prosci, 2006) describes the five outcomes an individual must reach for a change to succeed: Awareness of the need for change, Desire to participate and support the change, Knowledge of how to change, Ability to implement the required skills and behaviors, and Reinforcement to sustain the change. The elements are sequential: Awareness and Desire come mainly from sponsor communication and manager coaching; Knowledge and Ability from training, practice, and coaching; Reinforcement from recognition, rewards, and measurement. A barrier point is the first element that scores low (Prosci uses a 1 to 5 scale, with 3 or below a barrier); address it before working on later elements. PMBOK Guide Seventh Edition, Section 4.2.4, lists ADKAR among change models alongside Managing Change in Organizations, Kotter’s process for leading change, the Virginia Satir change model, and Bridges’ transition model. The July 2026 outline (Business Environment Task 7): assess organizational culture; evaluate the impact of organizational change on the project and determine required actions.</a:t>
            </a:r>
          </a:p>
        </p:txBody>
      </p:sp>
      <p:sp>
        <p:nvSpPr>
          <p:cNvPr id="4" name="Slide Number Placeholder 3"/>
          <p:cNvSpPr>
            <a:spLocks noGrp="1"/>
          </p:cNvSpPr>
          <p:nvPr>
            <p:ph type="sldNum" sz="quarter" idx="5"/>
          </p:nvPr>
        </p:nvSpPr>
        <p:spPr/>
        <p:txBody>
          <a:bodyPr/>
          <a:lstStyle/>
          <a:p>
            <a:fld id="{0A520D3F-116D-40FF-8307-CEE6ADECC4E2}" type="slidenum">
              <a:rPr lang="en-US" smtClean="0"/>
              <a:t>82</a:t>
            </a:fld>
            <a:endParaRPr lang="en-US"/>
          </a:p>
        </p:txBody>
      </p:sp>
    </p:spTree>
    <p:extLst>
      <p:ext uri="{BB962C8B-B14F-4D97-AF65-F5344CB8AC3E}">
        <p14:creationId xmlns:p14="http://schemas.microsoft.com/office/powerpoint/2010/main" val="280449408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John Kotter’s 8-step process for leading change (Leading Change, Harvard Business School Press, 1996), grouped into three phases. Creating the climate for change: 1 create a sense of urgency, 2 form a powerful guiding coalition, 3 create a vision for change. Engaging and enabling the organization: 4 communicate the vision, 5 empower broad-based action by removing obstacles, 6 generate short-term (quick) wins. Implementing and sustaining the change: 7 build on the change (consolidate gains and produce more change), 8 make it stick by anchoring new approaches in the culture. Kotter’s 2014 update (Accelerate) renames some steps, for example enlist a volunteer army, enable action by removing barriers, sustain acceleration, and institute change; the summary card on the organizational change slide uses those names. PMBOK Guide Seventh Edition, Section 4.2.4, lists Kotter’s process for leading change among change models. Kotter works at the organization level; ADKAR (previous slide) works at the individual level.</a:t>
            </a:r>
          </a:p>
        </p:txBody>
      </p:sp>
      <p:sp>
        <p:nvSpPr>
          <p:cNvPr id="4" name="Slide Number Placeholder 3"/>
          <p:cNvSpPr>
            <a:spLocks noGrp="1"/>
          </p:cNvSpPr>
          <p:nvPr>
            <p:ph type="sldNum" sz="quarter" idx="5"/>
          </p:nvPr>
        </p:nvSpPr>
        <p:spPr/>
        <p:txBody>
          <a:bodyPr/>
          <a:lstStyle/>
          <a:p>
            <a:fld id="{0A520D3F-116D-40FF-8307-CEE6ADECC4E2}" type="slidenum">
              <a:rPr lang="en-US" smtClean="0"/>
              <a:t>83</a:t>
            </a:fld>
            <a:endParaRPr lang="en-US"/>
          </a:p>
        </p:txBody>
      </p:sp>
    </p:spTree>
    <p:extLst>
      <p:ext uri="{BB962C8B-B14F-4D97-AF65-F5344CB8AC3E}">
        <p14:creationId xmlns:p14="http://schemas.microsoft.com/office/powerpoint/2010/main" val="272020909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Exam cue: portfolio management selects and prioritizes projects so they serve organizational strategy.</a:t>
            </a:r>
          </a:p>
        </p:txBody>
      </p:sp>
      <p:sp>
        <p:nvSpPr>
          <p:cNvPr id="4" name="Slide Number Placeholder 3"/>
          <p:cNvSpPr>
            <a:spLocks noGrp="1"/>
          </p:cNvSpPr>
          <p:nvPr>
            <p:ph type="sldNum" sz="quarter" idx="5"/>
          </p:nvPr>
        </p:nvSpPr>
        <p:spPr/>
        <p:txBody>
          <a:bodyPr/>
          <a:lstStyle/>
          <a:p>
            <a:fld id="{0A520D3F-116D-40FF-8307-CEE6ADECC4E2}" type="slidenum">
              <a:rPr lang="en-US" smtClean="0"/>
              <a:t>84</a:t>
            </a:fld>
            <a:endParaRPr lang="en-US"/>
          </a:p>
        </p:txBody>
      </p:sp>
    </p:spTree>
    <p:extLst>
      <p:ext uri="{BB962C8B-B14F-4D97-AF65-F5344CB8AC3E}">
        <p14:creationId xmlns:p14="http://schemas.microsoft.com/office/powerpoint/2010/main" val="381861753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PESTLE (political, economic, social, technological, legal, environmental) extends Aguilar’s 1967 environmental scanning model. It supports the July 2026 outline Business Environment Task 8: survey changes to the external business environment (for example regulations, technology, geopolitical, market); assess and prioritize the impact on project scope or backlog; continually review the external environment. External EEFs in the PMBOK Guide Sixth Edition (2.2.2) include marketplace conditions, social and cultural influences, legal restrictions, commercial databases, academic research, government or industry standards, financial considerations, and physical environmental elements. Examples are illustrative.</a:t>
            </a:r>
          </a:p>
        </p:txBody>
      </p:sp>
      <p:sp>
        <p:nvSpPr>
          <p:cNvPr id="4" name="Slide Number Placeholder 3"/>
          <p:cNvSpPr>
            <a:spLocks noGrp="1"/>
          </p:cNvSpPr>
          <p:nvPr>
            <p:ph type="sldNum" sz="quarter" idx="5"/>
          </p:nvPr>
        </p:nvSpPr>
        <p:spPr/>
        <p:txBody>
          <a:bodyPr/>
          <a:lstStyle/>
          <a:p>
            <a:fld id="{0A520D3F-116D-40FF-8307-CEE6ADECC4E2}" type="slidenum">
              <a:rPr lang="en-US" smtClean="0"/>
              <a:t>85</a:t>
            </a:fld>
            <a:endParaRPr lang="en-US"/>
          </a:p>
        </p:txBody>
      </p:sp>
    </p:spTree>
    <p:extLst>
      <p:ext uri="{BB962C8B-B14F-4D97-AF65-F5344CB8AC3E}">
        <p14:creationId xmlns:p14="http://schemas.microsoft.com/office/powerpoint/2010/main" val="26319127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July 2026 outline introduction names artificial intelligence and sustainability as trends that were validated through the job task analysis. The NIST AI Risk Management Framework (2023) describes trustworthy AI characteristics such as validity, safety, security, accountability, transparency, privacy, and fairness. On the exam, expect AI to appear inside ordinary scenarios: the project manager stays accountable, verifies output, and follows governance.</a:t>
            </a:r>
          </a:p>
        </p:txBody>
      </p:sp>
      <p:sp>
        <p:nvSpPr>
          <p:cNvPr id="4" name="Slide Number Placeholder 3"/>
          <p:cNvSpPr>
            <a:spLocks noGrp="1"/>
          </p:cNvSpPr>
          <p:nvPr>
            <p:ph type="sldNum" sz="quarter" idx="5"/>
          </p:nvPr>
        </p:nvSpPr>
        <p:spPr/>
        <p:txBody>
          <a:bodyPr/>
          <a:lstStyle/>
          <a:p>
            <a:fld id="{0A520D3F-116D-40FF-8307-CEE6ADECC4E2}" type="slidenum">
              <a:rPr lang="en-US" smtClean="0"/>
              <a:t>86</a:t>
            </a:fld>
            <a:endParaRPr lang="en-US"/>
          </a:p>
        </p:txBody>
      </p:sp>
    </p:spTree>
    <p:extLst>
      <p:ext uri="{BB962C8B-B14F-4D97-AF65-F5344CB8AC3E}">
        <p14:creationId xmlns:p14="http://schemas.microsoft.com/office/powerpoint/2010/main" val="74712751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July 2026 outline mentions sustainability in Process Task 1 (critical information requirements, e.g., sustainability), Process Task 7 (manage cost of quality and sustainability), Business Environment Task 2 (compliance requirements, e.g., sustainability), and Business Environment Task 5 (managing sustainability risks). The triple bottom line (people, planet, profit) was coined by John Elkington in 1994.</a:t>
            </a:r>
          </a:p>
        </p:txBody>
      </p:sp>
      <p:sp>
        <p:nvSpPr>
          <p:cNvPr id="4" name="Slide Number Placeholder 3"/>
          <p:cNvSpPr>
            <a:spLocks noGrp="1"/>
          </p:cNvSpPr>
          <p:nvPr>
            <p:ph type="sldNum" sz="quarter" idx="5"/>
          </p:nvPr>
        </p:nvSpPr>
        <p:spPr/>
        <p:txBody>
          <a:bodyPr/>
          <a:lstStyle/>
          <a:p>
            <a:fld id="{0A520D3F-116D-40FF-8307-CEE6ADECC4E2}" type="slidenum">
              <a:rPr lang="en-US" smtClean="0"/>
              <a:t>87</a:t>
            </a:fld>
            <a:endParaRPr lang="en-US"/>
          </a:p>
        </p:txBody>
      </p:sp>
    </p:spTree>
    <p:extLst>
      <p:ext uri="{BB962C8B-B14F-4D97-AF65-F5344CB8AC3E}">
        <p14:creationId xmlns:p14="http://schemas.microsoft.com/office/powerpoint/2010/main" val="251747398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Agile Practice Guide was developed by PMI with Agile Alliance (2017). The July 2026 PMP exam content outline says about 60% of the exam covers adaptive/agile and hybrid approaches, spread across all three domains.</a:t>
            </a:r>
          </a:p>
        </p:txBody>
      </p:sp>
      <p:sp>
        <p:nvSpPr>
          <p:cNvPr id="4" name="Slide Number Placeholder 3"/>
          <p:cNvSpPr>
            <a:spLocks noGrp="1"/>
          </p:cNvSpPr>
          <p:nvPr>
            <p:ph type="sldNum" sz="quarter" idx="5"/>
          </p:nvPr>
        </p:nvSpPr>
        <p:spPr/>
        <p:txBody>
          <a:bodyPr/>
          <a:lstStyle/>
          <a:p>
            <a:fld id="{0A520D3F-116D-40FF-8307-CEE6ADECC4E2}" type="slidenum">
              <a:rPr lang="en-US" smtClean="0"/>
              <a:t>88</a:t>
            </a:fld>
            <a:endParaRPr lang="en-US"/>
          </a:p>
        </p:txBody>
      </p:sp>
    </p:spTree>
    <p:extLst>
      <p:ext uri="{BB962C8B-B14F-4D97-AF65-F5344CB8AC3E}">
        <p14:creationId xmlns:p14="http://schemas.microsoft.com/office/powerpoint/2010/main" val="319426941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nested model (mindset, values, principles, practices) is credited to Ahmed Sidky and is cited in the Agile Practice Guide. The point for the exam: practices are the visible outer layer, but they only work when they come from the mindset, values, and principles inside them.</a:t>
            </a:r>
          </a:p>
        </p:txBody>
      </p:sp>
      <p:sp>
        <p:nvSpPr>
          <p:cNvPr id="4" name="Slide Number Placeholder 3"/>
          <p:cNvSpPr>
            <a:spLocks noGrp="1"/>
          </p:cNvSpPr>
          <p:nvPr>
            <p:ph type="sldNum" sz="quarter" idx="5"/>
          </p:nvPr>
        </p:nvSpPr>
        <p:spPr/>
        <p:txBody>
          <a:bodyPr/>
          <a:lstStyle/>
          <a:p>
            <a:fld id="{0A520D3F-116D-40FF-8307-CEE6ADECC4E2}" type="slidenum">
              <a:rPr lang="en-US" smtClean="0"/>
              <a:t>89</a:t>
            </a:fld>
            <a:endParaRPr lang="en-US"/>
          </a:p>
        </p:txBody>
      </p:sp>
    </p:spTree>
    <p:extLst>
      <p:ext uri="{BB962C8B-B14F-4D97-AF65-F5344CB8AC3E}">
        <p14:creationId xmlns:p14="http://schemas.microsoft.com/office/powerpoint/2010/main" val="371840694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Preamble: ‘We are uncovering better ways of developing software by doing it and helping others do it. Through this work we have come to value:’ The Agile Manifesto was written in 2001 by 17 software practitioners. The Agile Practice Guide maps it in Annex A2. Exam cue: the values do not reject the right-hand items; they say the left-hand items matter more.</a:t>
            </a:r>
          </a:p>
        </p:txBody>
      </p:sp>
      <p:sp>
        <p:nvSpPr>
          <p:cNvPr id="4" name="Slide Number Placeholder 3"/>
          <p:cNvSpPr>
            <a:spLocks noGrp="1"/>
          </p:cNvSpPr>
          <p:nvPr>
            <p:ph type="sldNum" sz="quarter" idx="5"/>
          </p:nvPr>
        </p:nvSpPr>
        <p:spPr/>
        <p:txBody>
          <a:bodyPr/>
          <a:lstStyle/>
          <a:p>
            <a:fld id="{0A520D3F-116D-40FF-8307-CEE6ADECC4E2}" type="slidenum">
              <a:rPr lang="en-US" smtClean="0"/>
              <a:t>90</a:t>
            </a:fld>
            <a:endParaRPr lang="en-US"/>
          </a:p>
        </p:txBody>
      </p:sp>
    </p:spTree>
    <p:extLst>
      <p:ext uri="{BB962C8B-B14F-4D97-AF65-F5344CB8AC3E}">
        <p14:creationId xmlns:p14="http://schemas.microsoft.com/office/powerpoint/2010/main" val="282462836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Principles are paraphrased for study; the original text refers to working software. Exam cue: principle 12 is the basis for retrospectives; principle 7 is why agile teams measure progress by working increments rather than percent complete. Principle 1 begins ‘Our highest priority is to satisfy the customer’: an agile team’s top priority is delivering value to the customer. Principle 10 is applied through prioritization: build the highest-value items and drop the rest.</a:t>
            </a:r>
          </a:p>
        </p:txBody>
      </p:sp>
      <p:sp>
        <p:nvSpPr>
          <p:cNvPr id="4" name="Slide Number Placeholder 3"/>
          <p:cNvSpPr>
            <a:spLocks noGrp="1"/>
          </p:cNvSpPr>
          <p:nvPr>
            <p:ph type="sldNum" sz="quarter" idx="5"/>
          </p:nvPr>
        </p:nvSpPr>
        <p:spPr/>
        <p:txBody>
          <a:bodyPr/>
          <a:lstStyle/>
          <a:p>
            <a:fld id="{0A520D3F-116D-40FF-8307-CEE6ADECC4E2}" type="slidenum">
              <a:rPr lang="en-US" smtClean="0"/>
              <a:t>91</a:t>
            </a:fld>
            <a:endParaRPr lang="en-US"/>
          </a:p>
        </p:txBody>
      </p:sp>
    </p:spTree>
    <p:extLst>
      <p:ext uri="{BB962C8B-B14F-4D97-AF65-F5344CB8AC3E}">
        <p14:creationId xmlns:p14="http://schemas.microsoft.com/office/powerpoint/2010/main" val="28754497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characteristics table follows the Agile Practice Guide comparison of the four life cycles. Predictive is sometimes called waterfall.</a:t>
            </a:r>
          </a:p>
        </p:txBody>
      </p:sp>
      <p:sp>
        <p:nvSpPr>
          <p:cNvPr id="4" name="Slide Number Placeholder 3"/>
          <p:cNvSpPr>
            <a:spLocks noGrp="1"/>
          </p:cNvSpPr>
          <p:nvPr>
            <p:ph type="sldNum" sz="quarter" idx="5"/>
          </p:nvPr>
        </p:nvSpPr>
        <p:spPr/>
        <p:txBody>
          <a:bodyPr/>
          <a:lstStyle/>
          <a:p>
            <a:fld id="{0A520D3F-116D-40FF-8307-CEE6ADECC4E2}" type="slidenum">
              <a:rPr lang="en-US" smtClean="0"/>
              <a:t>92</a:t>
            </a:fld>
            <a:endParaRPr lang="en-US"/>
          </a:p>
        </p:txBody>
      </p:sp>
    </p:spTree>
    <p:extLst>
      <p:ext uri="{BB962C8B-B14F-4D97-AF65-F5344CB8AC3E}">
        <p14:creationId xmlns:p14="http://schemas.microsoft.com/office/powerpoint/2010/main" val="77187316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continuum chart follows the Agile Practice Guide figure that places the four life cycles by degree of change and frequency of delivery. Exam cue: iterative is high change but a single delivery; incremental is frequent delivery of a largely known solution; agile is both. The predictive phases shown are illustrative.</a:t>
            </a:r>
          </a:p>
        </p:txBody>
      </p:sp>
      <p:sp>
        <p:nvSpPr>
          <p:cNvPr id="4" name="Slide Number Placeholder 3"/>
          <p:cNvSpPr>
            <a:spLocks noGrp="1"/>
          </p:cNvSpPr>
          <p:nvPr>
            <p:ph type="sldNum" sz="quarter" idx="5"/>
          </p:nvPr>
        </p:nvSpPr>
        <p:spPr/>
        <p:txBody>
          <a:bodyPr/>
          <a:lstStyle/>
          <a:p>
            <a:fld id="{0A520D3F-116D-40FF-8307-CEE6ADECC4E2}" type="slidenum">
              <a:rPr lang="en-US" smtClean="0"/>
              <a:t>93</a:t>
            </a:fld>
            <a:endParaRPr lang="en-US"/>
          </a:p>
        </p:txBody>
      </p:sp>
    </p:spTree>
    <p:extLst>
      <p:ext uri="{BB962C8B-B14F-4D97-AF65-F5344CB8AC3E}">
        <p14:creationId xmlns:p14="http://schemas.microsoft.com/office/powerpoint/2010/main" val="303810560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Agile Practice Guide uses an uncertainty and complexity model inspired by the Stacey Complexity Model, and offers agile suitability filter tools (Appendix X3) that score culture, team, and project factors. The zone sizes on this slide are illustrative.</a:t>
            </a:r>
          </a:p>
        </p:txBody>
      </p:sp>
      <p:sp>
        <p:nvSpPr>
          <p:cNvPr id="4" name="Slide Number Placeholder 3"/>
          <p:cNvSpPr>
            <a:spLocks noGrp="1"/>
          </p:cNvSpPr>
          <p:nvPr>
            <p:ph type="sldNum" sz="quarter" idx="5"/>
          </p:nvPr>
        </p:nvSpPr>
        <p:spPr/>
        <p:txBody>
          <a:bodyPr/>
          <a:lstStyle/>
          <a:p>
            <a:fld id="{0A520D3F-116D-40FF-8307-CEE6ADECC4E2}" type="slidenum">
              <a:rPr lang="en-US" smtClean="0"/>
              <a:t>94</a:t>
            </a:fld>
            <a:endParaRPr lang="en-US"/>
          </a:p>
        </p:txBody>
      </p:sp>
    </p:spTree>
    <p:extLst>
      <p:ext uri="{BB962C8B-B14F-4D97-AF65-F5344CB8AC3E}">
        <p14:creationId xmlns:p14="http://schemas.microsoft.com/office/powerpoint/2010/main" val="195811563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radar plots nine factors in three groups (culture, team, project). In the example, everything sits near the center except criticality, which points to a mostly agile approach with extra rigor (a hybrid element) for the critical parts. Example scores and zone boundaries are illustrative.</a:t>
            </a:r>
          </a:p>
        </p:txBody>
      </p:sp>
      <p:sp>
        <p:nvSpPr>
          <p:cNvPr id="4" name="Slide Number Placeholder 3"/>
          <p:cNvSpPr>
            <a:spLocks noGrp="1"/>
          </p:cNvSpPr>
          <p:nvPr>
            <p:ph type="sldNum" sz="quarter" idx="5"/>
          </p:nvPr>
        </p:nvSpPr>
        <p:spPr/>
        <p:txBody>
          <a:bodyPr/>
          <a:lstStyle/>
          <a:p>
            <a:fld id="{0A520D3F-116D-40FF-8307-CEE6ADECC4E2}" type="slidenum">
              <a:rPr lang="en-US" smtClean="0"/>
              <a:t>95</a:t>
            </a:fld>
            <a:endParaRPr lang="en-US"/>
          </a:p>
        </p:txBody>
      </p:sp>
    </p:spTree>
    <p:extLst>
      <p:ext uri="{BB962C8B-B14F-4D97-AF65-F5344CB8AC3E}">
        <p14:creationId xmlns:p14="http://schemas.microsoft.com/office/powerpoint/2010/main" val="259414590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Exam cue: in agile questions the project manager usually acts as a servant leader: remove the blocker, coach, and let the team self-organize rather than assign tasks.</a:t>
            </a:r>
          </a:p>
        </p:txBody>
      </p:sp>
      <p:sp>
        <p:nvSpPr>
          <p:cNvPr id="4" name="Slide Number Placeholder 3"/>
          <p:cNvSpPr>
            <a:spLocks noGrp="1"/>
          </p:cNvSpPr>
          <p:nvPr>
            <p:ph type="sldNum" sz="quarter" idx="5"/>
          </p:nvPr>
        </p:nvSpPr>
        <p:spPr/>
        <p:txBody>
          <a:bodyPr/>
          <a:lstStyle/>
          <a:p>
            <a:fld id="{0A520D3F-116D-40FF-8307-CEE6ADECC4E2}" type="slidenum">
              <a:rPr lang="en-US" smtClean="0"/>
              <a:t>96</a:t>
            </a:fld>
            <a:endParaRPr lang="en-US"/>
          </a:p>
        </p:txBody>
      </p:sp>
    </p:spTree>
    <p:extLst>
      <p:ext uri="{BB962C8B-B14F-4D97-AF65-F5344CB8AC3E}">
        <p14:creationId xmlns:p14="http://schemas.microsoft.com/office/powerpoint/2010/main" val="125843546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Flow: an initial vision feeds the product backlog; each iteration turns user stories (often a minimum viable product) into something delivered to the customer; feedback is incorporated in the next iteration; a validated idea that meets the definition of done becomes the delivered product, a weak idea is dropped, and a failed assumption leads to a pivot back to the backlog. MVP and pivot are Lean Startup terms (Eric Ries).</a:t>
            </a:r>
          </a:p>
        </p:txBody>
      </p:sp>
      <p:sp>
        <p:nvSpPr>
          <p:cNvPr id="4" name="Slide Number Placeholder 3"/>
          <p:cNvSpPr>
            <a:spLocks noGrp="1"/>
          </p:cNvSpPr>
          <p:nvPr>
            <p:ph type="sldNum" sz="quarter" idx="5"/>
          </p:nvPr>
        </p:nvSpPr>
        <p:spPr/>
        <p:txBody>
          <a:bodyPr/>
          <a:lstStyle/>
          <a:p>
            <a:fld id="{0A520D3F-116D-40FF-8307-CEE6ADECC4E2}" type="slidenum">
              <a:rPr lang="en-US" smtClean="0"/>
              <a:t>97</a:t>
            </a:fld>
            <a:endParaRPr lang="en-US"/>
          </a:p>
        </p:txBody>
      </p:sp>
    </p:spTree>
    <p:extLst>
      <p:ext uri="{BB962C8B-B14F-4D97-AF65-F5344CB8AC3E}">
        <p14:creationId xmlns:p14="http://schemas.microsoft.com/office/powerpoint/2010/main" val="302467230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Iteration-based agile repeats the same cycle every iteration. The general terms on this slide map one-to-one to Scrum terms, so a question that says "iteration" and one that says "sprint" usually test the same idea.</a:t>
            </a:r>
          </a:p>
        </p:txBody>
      </p:sp>
      <p:sp>
        <p:nvSpPr>
          <p:cNvPr id="4" name="Slide Number Placeholder 3"/>
          <p:cNvSpPr>
            <a:spLocks noGrp="1"/>
          </p:cNvSpPr>
          <p:nvPr>
            <p:ph type="sldNum" sz="quarter" idx="5"/>
          </p:nvPr>
        </p:nvSpPr>
        <p:spPr/>
        <p:txBody>
          <a:bodyPr/>
          <a:lstStyle/>
          <a:p>
            <a:fld id="{0A520D3F-116D-40FF-8307-CEE6ADECC4E2}" type="slidenum">
              <a:rPr lang="en-US" smtClean="0"/>
              <a:t>98</a:t>
            </a:fld>
            <a:endParaRPr lang="en-US"/>
          </a:p>
        </p:txBody>
      </p:sp>
    </p:spTree>
    <p:extLst>
      <p:ext uri="{BB962C8B-B14F-4D97-AF65-F5344CB8AC3E}">
        <p14:creationId xmlns:p14="http://schemas.microsoft.com/office/powerpoint/2010/main" val="261229494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Story mapping arranges user stories in two dimensions: left to right is the sequence of the user journey (backbone of business activities, then the narrative line of user steps); top to bottom is priority (details). Horizontal slices define iterations and releases; the first slice is the MVP. Used in adaptive release planning to sequence features and prioritize the release backlog.</a:t>
            </a:r>
          </a:p>
        </p:txBody>
      </p:sp>
      <p:sp>
        <p:nvSpPr>
          <p:cNvPr id="4" name="Slide Number Placeholder 3"/>
          <p:cNvSpPr>
            <a:spLocks noGrp="1"/>
          </p:cNvSpPr>
          <p:nvPr>
            <p:ph type="sldNum" sz="quarter" idx="5"/>
          </p:nvPr>
        </p:nvSpPr>
        <p:spPr/>
        <p:txBody>
          <a:bodyPr/>
          <a:lstStyle/>
          <a:p>
            <a:fld id="{0A520D3F-116D-40FF-8307-CEE6ADECC4E2}" type="slidenum">
              <a:rPr lang="en-US" smtClean="0"/>
              <a:t>99</a:t>
            </a:fld>
            <a:endParaRPr lang="en-US"/>
          </a:p>
        </p:txBody>
      </p:sp>
    </p:spTree>
    <p:extLst>
      <p:ext uri="{BB962C8B-B14F-4D97-AF65-F5344CB8AC3E}">
        <p14:creationId xmlns:p14="http://schemas.microsoft.com/office/powerpoint/2010/main" val="252788476"/>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Role names follow the 2020 Scrum Guide. The Agile Practice Guide calls the scrum master role a team facilitator. Exam cue: the product owner decides backlog order; the developers decide how much to pull into a sprint. The Scrum Guide (2020) counts five events; the sprint is the container for the other four. Timeboxes shown are maximums for a one-month sprint; shorter sprints use shorter events. Artifacts and commitments are defined in detail two slides later.</a:t>
            </a:r>
          </a:p>
        </p:txBody>
      </p:sp>
      <p:sp>
        <p:nvSpPr>
          <p:cNvPr id="4" name="Slide Number Placeholder 3"/>
          <p:cNvSpPr>
            <a:spLocks noGrp="1"/>
          </p:cNvSpPr>
          <p:nvPr>
            <p:ph type="sldNum" sz="quarter" idx="5"/>
          </p:nvPr>
        </p:nvSpPr>
        <p:spPr/>
        <p:txBody>
          <a:bodyPr/>
          <a:lstStyle/>
          <a:p>
            <a:fld id="{0A520D3F-116D-40FF-8307-CEE6ADECC4E2}" type="slidenum">
              <a:rPr lang="en-US" smtClean="0"/>
              <a:t>100</a:t>
            </a:fld>
            <a:endParaRPr lang="en-US"/>
          </a:p>
        </p:txBody>
      </p:sp>
    </p:spTree>
    <p:extLst>
      <p:ext uri="{BB962C8B-B14F-4D97-AF65-F5344CB8AC3E}">
        <p14:creationId xmlns:p14="http://schemas.microsoft.com/office/powerpoint/2010/main" val="3879086078"/>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Scrum Guide (2020) describes Scrum as founded on empiricism and lean thinking, with three pillars (transparency, inspection, adaptation) and five values (commitment, focus, openness, respect, courage). Value descriptions are paraphrased. The pillars depend on trust, which the values build. Lean link: inspection and adaptation echo jidoka (surface and fix problems immediately) and kaizen (continuous improvement); Scrum is founded on empiricism and lean thinking. Sources: Schwaber and Sutherland, The Scrum Guide (2020); Lean Enterprise Institute (lean.org); Taiichi Ohno, Toyota Production System (1988).</a:t>
            </a:r>
          </a:p>
        </p:txBody>
      </p:sp>
      <p:sp>
        <p:nvSpPr>
          <p:cNvPr id="4" name="Slide Number Placeholder 3"/>
          <p:cNvSpPr>
            <a:spLocks noGrp="1"/>
          </p:cNvSpPr>
          <p:nvPr>
            <p:ph type="sldNum" sz="quarter" idx="5"/>
          </p:nvPr>
        </p:nvSpPr>
        <p:spPr/>
        <p:txBody>
          <a:bodyPr/>
          <a:lstStyle/>
          <a:p>
            <a:fld id="{0A520D3F-116D-40FF-8307-CEE6ADECC4E2}" type="slidenum">
              <a:rPr lang="en-US" smtClean="0"/>
              <a:t>101</a:t>
            </a:fld>
            <a:endParaRPr lang="en-US"/>
          </a:p>
        </p:txBody>
      </p:sp>
    </p:spTree>
    <p:extLst>
      <p:ext uri="{BB962C8B-B14F-4D97-AF65-F5344CB8AC3E}">
        <p14:creationId xmlns:p14="http://schemas.microsoft.com/office/powerpoint/2010/main" val="64486557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Scrum Guide (2020) defines three artifacts, each with a commitment: product backlog and product goal; sprint backlog and sprint goal; increment and definition of done. Commitments add transparency and focus against which progress is measured. The Scrum Guide does not use the term ‘objects’; some courses use it for the commitments or for Scrum’s building blocks (accountabilities, events, artifacts). PMI separately uses ‘project artifacts’ for project documents (Process Task 9, Evaluate project status: identify and tailor needed artifacts).</a:t>
            </a:r>
          </a:p>
        </p:txBody>
      </p:sp>
      <p:sp>
        <p:nvSpPr>
          <p:cNvPr id="4" name="Slide Number Placeholder 3"/>
          <p:cNvSpPr>
            <a:spLocks noGrp="1"/>
          </p:cNvSpPr>
          <p:nvPr>
            <p:ph type="sldNum" sz="quarter" idx="5"/>
          </p:nvPr>
        </p:nvSpPr>
        <p:spPr/>
        <p:txBody>
          <a:bodyPr/>
          <a:lstStyle/>
          <a:p>
            <a:fld id="{0A520D3F-116D-40FF-8307-CEE6ADECC4E2}" type="slidenum">
              <a:rPr lang="en-US" smtClean="0"/>
              <a:t>102</a:t>
            </a:fld>
            <a:endParaRPr lang="en-US"/>
          </a:p>
        </p:txBody>
      </p:sp>
    </p:spTree>
    <p:extLst>
      <p:ext uri="{BB962C8B-B14F-4D97-AF65-F5344CB8AC3E}">
        <p14:creationId xmlns:p14="http://schemas.microsoft.com/office/powerpoint/2010/main" val="129676923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Agile Practice Guide treats lean, the Kanban Method, and agile as overlapping mindsets. Little’s Law (John Little, 1961): average lead or cycle time equals average WIP divided by average throughput. Lean terms: building quality in is jidoka; collaborative, continuous improvement is kaizen (see the next slide). Sources: Lean Enterprise Institute (lean.org); Taiichi Ohno, Toyota Production System (1988); Masaaki Imai, Kaizen (1986).</a:t>
            </a:r>
          </a:p>
        </p:txBody>
      </p:sp>
      <p:sp>
        <p:nvSpPr>
          <p:cNvPr id="4" name="Slide Number Placeholder 3"/>
          <p:cNvSpPr>
            <a:spLocks noGrp="1"/>
          </p:cNvSpPr>
          <p:nvPr>
            <p:ph type="sldNum" sz="quarter" idx="5"/>
          </p:nvPr>
        </p:nvSpPr>
        <p:spPr/>
        <p:txBody>
          <a:bodyPr/>
          <a:lstStyle/>
          <a:p>
            <a:fld id="{0A520D3F-116D-40FF-8307-CEE6ADECC4E2}" type="slidenum">
              <a:rPr lang="en-US" smtClean="0"/>
              <a:t>103</a:t>
            </a:fld>
            <a:endParaRPr lang="en-US"/>
          </a:p>
        </p:txBody>
      </p:sp>
    </p:spTree>
    <p:extLst>
      <p:ext uri="{BB962C8B-B14F-4D97-AF65-F5344CB8AC3E}">
        <p14:creationId xmlns:p14="http://schemas.microsoft.com/office/powerpoint/2010/main" val="1730648358"/>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Jidoka (often translated as autonomation, or automation with a human touch) and just-in-time are the two pillars of the Toyota Production System described by Taiichi Ohno. Andon is the signal used to stop the line and call for help. Kaizen (Masaaki Imai, 1986) means continuous, incremental improvement involving everyone. PMI links: PMBOK Guide Sixth Edition Chapter 8 (prevention over inspection; continuous improvement through PDCA) and the Seventh Edition principle ‘Build quality into processes and deliverables.’ PMI materials teach the concepts; the Japanese terms come from lean.</a:t>
            </a:r>
          </a:p>
        </p:txBody>
      </p:sp>
      <p:sp>
        <p:nvSpPr>
          <p:cNvPr id="4" name="Slide Number Placeholder 3"/>
          <p:cNvSpPr>
            <a:spLocks noGrp="1"/>
          </p:cNvSpPr>
          <p:nvPr>
            <p:ph type="sldNum" sz="quarter" idx="5"/>
          </p:nvPr>
        </p:nvSpPr>
        <p:spPr/>
        <p:txBody>
          <a:bodyPr/>
          <a:lstStyle/>
          <a:p>
            <a:fld id="{0A520D3F-116D-40FF-8307-CEE6ADECC4E2}" type="slidenum">
              <a:rPr lang="en-US" smtClean="0"/>
              <a:t>104</a:t>
            </a:fld>
            <a:endParaRPr lang="en-US"/>
          </a:p>
        </p:txBody>
      </p:sp>
    </p:spTree>
    <p:extLst>
      <p:ext uri="{BB962C8B-B14F-4D97-AF65-F5344CB8AC3E}">
        <p14:creationId xmlns:p14="http://schemas.microsoft.com/office/powerpoint/2010/main" val="23499197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Exam cue: estimates in agile are relative and made by the people doing the work; velocity from past iterations turns story points into a forecast. Retrospectives are the team-level form of kaizen, continuous incremental improvement. Source: Masaaki Imai, Kaizen (1986).</a:t>
            </a:r>
          </a:p>
        </p:txBody>
      </p:sp>
      <p:sp>
        <p:nvSpPr>
          <p:cNvPr id="4" name="Slide Number Placeholder 3"/>
          <p:cNvSpPr>
            <a:spLocks noGrp="1"/>
          </p:cNvSpPr>
          <p:nvPr>
            <p:ph type="sldNum" sz="quarter" idx="5"/>
          </p:nvPr>
        </p:nvSpPr>
        <p:spPr/>
        <p:txBody>
          <a:bodyPr/>
          <a:lstStyle/>
          <a:p>
            <a:fld id="{0A520D3F-116D-40FF-8307-CEE6ADECC4E2}" type="slidenum">
              <a:rPr lang="en-US" smtClean="0"/>
              <a:t>105</a:t>
            </a:fld>
            <a:endParaRPr lang="en-US"/>
          </a:p>
        </p:txBody>
      </p:sp>
    </p:spTree>
    <p:extLst>
      <p:ext uri="{BB962C8B-B14F-4D97-AF65-F5344CB8AC3E}">
        <p14:creationId xmlns:p14="http://schemas.microsoft.com/office/powerpoint/2010/main" val="2317263020"/>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Fibonacci sequence: 0, 1, 1, 2, 3, 5, 8, 13, where each number is the sum of the two before it. Teams use it (or a modified 1, 2, 3, 5, 8, 13, 20, 40, 100 scale) for story points because the widening gaps reflect growing uncertainty. Planning poker: private choice, simultaneous reveal, outliers explain, re-vote. Velocity (points per iteration) turns the remaining backlog into a forecast: 120 / 20 = 6 sprints.</a:t>
            </a:r>
          </a:p>
        </p:txBody>
      </p:sp>
      <p:sp>
        <p:nvSpPr>
          <p:cNvPr id="4" name="Slide Number Placeholder 3"/>
          <p:cNvSpPr>
            <a:spLocks noGrp="1"/>
          </p:cNvSpPr>
          <p:nvPr>
            <p:ph type="sldNum" sz="quarter" idx="5"/>
          </p:nvPr>
        </p:nvSpPr>
        <p:spPr/>
        <p:txBody>
          <a:bodyPr/>
          <a:lstStyle/>
          <a:p>
            <a:fld id="{0A520D3F-116D-40FF-8307-CEE6ADECC4E2}" type="slidenum">
              <a:rPr lang="en-US" smtClean="0"/>
              <a:t>106</a:t>
            </a:fld>
            <a:endParaRPr lang="en-US"/>
          </a:p>
        </p:txBody>
      </p:sp>
    </p:spTree>
    <p:extLst>
      <p:ext uri="{BB962C8B-B14F-4D97-AF65-F5344CB8AC3E}">
        <p14:creationId xmlns:p14="http://schemas.microsoft.com/office/powerpoint/2010/main" val="94859763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Chart values are illustrative. A burnup shows scope changes (the top line rises), which a burndown hides. The Agile Practice Guide also describes adapting earned value to agile using story points. Burndown (iteration): tracks the work still to be completed. Burnup (release): tracks work completed toward the release goal, and shows scope changes. Velocity chart: average of recent iterations, e.g., (10 + 15 + 30 + 25 + 20 + 30) / 6 = 21.67 points. A cumulative flow diagram shows where impediments occur.</a:t>
            </a:r>
          </a:p>
        </p:txBody>
      </p:sp>
      <p:sp>
        <p:nvSpPr>
          <p:cNvPr id="4" name="Slide Number Placeholder 3"/>
          <p:cNvSpPr>
            <a:spLocks noGrp="1"/>
          </p:cNvSpPr>
          <p:nvPr>
            <p:ph type="sldNum" sz="quarter" idx="5"/>
          </p:nvPr>
        </p:nvSpPr>
        <p:spPr/>
        <p:txBody>
          <a:bodyPr/>
          <a:lstStyle/>
          <a:p>
            <a:fld id="{0A520D3F-116D-40FF-8307-CEE6ADECC4E2}" type="slidenum">
              <a:rPr lang="en-US" smtClean="0"/>
              <a:t>107</a:t>
            </a:fld>
            <a:endParaRPr lang="en-US"/>
          </a:p>
        </p:txBody>
      </p:sp>
    </p:spTree>
    <p:extLst>
      <p:ext uri="{BB962C8B-B14F-4D97-AF65-F5344CB8AC3E}">
        <p14:creationId xmlns:p14="http://schemas.microsoft.com/office/powerpoint/2010/main" val="2860938317"/>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Velocity chart: completed points per iteration with the average, (10 + 15 + 30 + 25 + 20 + 30) / 6 = 21.67. Use a recent average for forecasting; velocity is team-specific and not a performance target. Cumulative flow diagram: the in-progress band widens here because work starts faster than it finishes, which signals a bottleneck; the fix is to limit WIP. Little’s Law: average cycle time = average WIP / average throughput. Burndown cues: above the ideal line is behind, a flat line means no completed work or no update, an upward step means added scope. Chart values are illustrative; the velocity values are adapted from PMI course material.</a:t>
            </a:r>
          </a:p>
        </p:txBody>
      </p:sp>
      <p:sp>
        <p:nvSpPr>
          <p:cNvPr id="4" name="Slide Number Placeholder 3"/>
          <p:cNvSpPr>
            <a:spLocks noGrp="1"/>
          </p:cNvSpPr>
          <p:nvPr>
            <p:ph type="sldNum" sz="quarter" idx="5"/>
          </p:nvPr>
        </p:nvSpPr>
        <p:spPr/>
        <p:txBody>
          <a:bodyPr/>
          <a:lstStyle/>
          <a:p>
            <a:fld id="{0A520D3F-116D-40FF-8307-CEE6ADECC4E2}" type="slidenum">
              <a:rPr lang="en-US" smtClean="0"/>
              <a:t>108</a:t>
            </a:fld>
            <a:endParaRPr lang="en-US"/>
          </a:p>
        </p:txBody>
      </p:sp>
    </p:spTree>
    <p:extLst>
      <p:ext uri="{BB962C8B-B14F-4D97-AF65-F5344CB8AC3E}">
        <p14:creationId xmlns:p14="http://schemas.microsoft.com/office/powerpoint/2010/main" val="4004592263"/>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complement the predictive contract types and PMO types slides in the Process deep dive. Exam cue: agile-friendly contracts share risk and allow scope to flex while protecting both parties.</a:t>
            </a:r>
          </a:p>
        </p:txBody>
      </p:sp>
      <p:sp>
        <p:nvSpPr>
          <p:cNvPr id="4" name="Slide Number Placeholder 3"/>
          <p:cNvSpPr>
            <a:spLocks noGrp="1"/>
          </p:cNvSpPr>
          <p:nvPr>
            <p:ph type="sldNum" sz="quarter" idx="5"/>
          </p:nvPr>
        </p:nvSpPr>
        <p:spPr/>
        <p:txBody>
          <a:bodyPr/>
          <a:lstStyle/>
          <a:p>
            <a:fld id="{0A520D3F-116D-40FF-8307-CEE6ADECC4E2}" type="slidenum">
              <a:rPr lang="en-US" smtClean="0"/>
              <a:t>109</a:t>
            </a:fld>
            <a:endParaRPr lang="en-US"/>
          </a:p>
        </p:txBody>
      </p:sp>
    </p:spTree>
    <p:extLst>
      <p:ext uri="{BB962C8B-B14F-4D97-AF65-F5344CB8AC3E}">
        <p14:creationId xmlns:p14="http://schemas.microsoft.com/office/powerpoint/2010/main" val="294331027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Annex A3 of the Agile Practice Guide summarizes these frameworks. Exam cue: DSDM is the framework most associated with MoSCoW (must, should, could, won’t have) prioritization. Lean link: in XP, a failing build stops further integration until it is fixed, a software form of jidoka. Source: Lean Enterprise Institute (lean.org); Taiichi Ohno, Toyota Production System (1988).</a:t>
            </a:r>
          </a:p>
        </p:txBody>
      </p:sp>
      <p:sp>
        <p:nvSpPr>
          <p:cNvPr id="4" name="Slide Number Placeholder 3"/>
          <p:cNvSpPr>
            <a:spLocks noGrp="1"/>
          </p:cNvSpPr>
          <p:nvPr>
            <p:ph type="sldNum" sz="quarter" idx="5"/>
          </p:nvPr>
        </p:nvSpPr>
        <p:spPr/>
        <p:txBody>
          <a:bodyPr/>
          <a:lstStyle/>
          <a:p>
            <a:fld id="{0A520D3F-116D-40FF-8307-CEE6ADECC4E2}" type="slidenum">
              <a:rPr lang="en-US" smtClean="0"/>
              <a:t>110</a:t>
            </a:fld>
            <a:endParaRPr lang="en-US"/>
          </a:p>
        </p:txBody>
      </p:sp>
    </p:spTree>
    <p:extLst>
      <p:ext uri="{BB962C8B-B14F-4D97-AF65-F5344CB8AC3E}">
        <p14:creationId xmlns:p14="http://schemas.microsoft.com/office/powerpoint/2010/main" val="273681884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section keeps the budgeting and earned value formulas together so they can be drilled as a block. The leadership and team frameworks now sit in the People deep dive; risk management and Delphi sit in the Process deep dive.</a:t>
            </a:r>
          </a:p>
        </p:txBody>
      </p:sp>
      <p:sp>
        <p:nvSpPr>
          <p:cNvPr id="4" name="Slide Number Placeholder 3"/>
          <p:cNvSpPr>
            <a:spLocks noGrp="1"/>
          </p:cNvSpPr>
          <p:nvPr>
            <p:ph type="sldNum" sz="quarter" idx="5"/>
          </p:nvPr>
        </p:nvSpPr>
        <p:spPr/>
        <p:txBody>
          <a:bodyPr/>
          <a:lstStyle/>
          <a:p>
            <a:fld id="{0A520D3F-116D-40FF-8307-CEE6ADECC4E2}" type="slidenum">
              <a:rPr lang="en-US" smtClean="0"/>
              <a:t>111</a:t>
            </a:fld>
            <a:endParaRPr lang="en-US"/>
          </a:p>
        </p:txBody>
      </p:sp>
    </p:spTree>
    <p:extLst>
      <p:ext uri="{BB962C8B-B14F-4D97-AF65-F5344CB8AC3E}">
        <p14:creationId xmlns:p14="http://schemas.microsoft.com/office/powerpoint/2010/main" val="2927008077"/>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PMBOK Guide Sixth Edition (7.2 Estimate Costs): a rough order of magnitude estimate is in the range of −25% to +75%; definitive estimates narrow to −5% to +10% as information improves. The budget estimate (−10% to +25%) appears in earlier editions and many prep courses. Techniques (6.4 and 7.2): analogous, parametric, bottom-up, and three-point estimating. Exam cue: the estimating technique that is rough but quick is analogous estimating.</a:t>
            </a:r>
          </a:p>
        </p:txBody>
      </p:sp>
      <p:sp>
        <p:nvSpPr>
          <p:cNvPr id="4" name="Slide Number Placeholder 3"/>
          <p:cNvSpPr>
            <a:spLocks noGrp="1"/>
          </p:cNvSpPr>
          <p:nvPr>
            <p:ph type="sldNum" sz="quarter" idx="5"/>
          </p:nvPr>
        </p:nvSpPr>
        <p:spPr/>
        <p:txBody>
          <a:bodyPr/>
          <a:lstStyle/>
          <a:p>
            <a:fld id="{0A520D3F-116D-40FF-8307-CEE6ADECC4E2}" type="slidenum">
              <a:rPr lang="en-US" smtClean="0"/>
              <a:t>112</a:t>
            </a:fld>
            <a:endParaRPr lang="en-US"/>
          </a:p>
        </p:txBody>
      </p:sp>
    </p:spTree>
    <p:extLst>
      <p:ext uri="{BB962C8B-B14F-4D97-AF65-F5344CB8AC3E}">
        <p14:creationId xmlns:p14="http://schemas.microsoft.com/office/powerpoint/2010/main" val="1686100315"/>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Three-point estimating uses optimistic (O), most likely (M), and pessimistic (P) values. Triangular: (O + M + P) / 3. Beta (PERT): (O + 4M + P) / 6. PERT standard deviation (P − O) / 6 is a common exam extension. Worked example: O 4, M 6, P 14 gives triangular 8 days and PERT 7 days.</a:t>
            </a:r>
          </a:p>
        </p:txBody>
      </p:sp>
      <p:sp>
        <p:nvSpPr>
          <p:cNvPr id="4" name="Slide Number Placeholder 3"/>
          <p:cNvSpPr>
            <a:spLocks noGrp="1"/>
          </p:cNvSpPr>
          <p:nvPr>
            <p:ph type="sldNum" sz="quarter" idx="5"/>
          </p:nvPr>
        </p:nvSpPr>
        <p:spPr/>
        <p:txBody>
          <a:bodyPr/>
          <a:lstStyle/>
          <a:p>
            <a:fld id="{0A520D3F-116D-40FF-8307-CEE6ADECC4E2}" type="slidenum">
              <a:rPr lang="en-US" smtClean="0"/>
              <a:t>113</a:t>
            </a:fld>
            <a:endParaRPr lang="en-US"/>
          </a:p>
        </p:txBody>
      </p:sp>
    </p:spTree>
    <p:extLst>
      <p:ext uri="{BB962C8B-B14F-4D97-AF65-F5344CB8AC3E}">
        <p14:creationId xmlns:p14="http://schemas.microsoft.com/office/powerpoint/2010/main" val="2557466073"/>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the PMBOK Guide the full roll-up is: activity cost estimates, plus activity contingency reserves, give work package estimates; plus contingency reserve gives the cost baseline; plus management reserve gives the project budget.</a:t>
            </a:r>
          </a:p>
        </p:txBody>
      </p:sp>
      <p:sp>
        <p:nvSpPr>
          <p:cNvPr id="4" name="Slide Number Placeholder 3"/>
          <p:cNvSpPr>
            <a:spLocks noGrp="1"/>
          </p:cNvSpPr>
          <p:nvPr>
            <p:ph type="sldNum" sz="quarter" idx="5"/>
          </p:nvPr>
        </p:nvSpPr>
        <p:spPr/>
        <p:txBody>
          <a:bodyPr/>
          <a:lstStyle/>
          <a:p>
            <a:fld id="{0A520D3F-116D-40FF-8307-CEE6ADECC4E2}" type="slidenum">
              <a:rPr lang="en-US" smtClean="0"/>
              <a:t>114</a:t>
            </a:fld>
            <a:endParaRPr lang="en-US"/>
          </a:p>
        </p:txBody>
      </p:sp>
    </p:spTree>
    <p:extLst>
      <p:ext uri="{BB962C8B-B14F-4D97-AF65-F5344CB8AC3E}">
        <p14:creationId xmlns:p14="http://schemas.microsoft.com/office/powerpoint/2010/main" val="3777429329"/>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Agile method: the adaptive (inverted) triangle, where time and cost are fixed and scope flexes, comes from agile practice and is described in PMI and Agile Alliance’s Agile Practice Guide (2017). Exam cue: in agile, when time and budget are fixed, the lever is scope; reprioritize the backlog rather than extend the timebox.</a:t>
            </a:r>
          </a:p>
        </p:txBody>
      </p:sp>
      <p:sp>
        <p:nvSpPr>
          <p:cNvPr id="4" name="Slide Number Placeholder 3"/>
          <p:cNvSpPr>
            <a:spLocks noGrp="1"/>
          </p:cNvSpPr>
          <p:nvPr>
            <p:ph type="sldNum" sz="quarter" idx="5"/>
          </p:nvPr>
        </p:nvSpPr>
        <p:spPr/>
        <p:txBody>
          <a:bodyPr/>
          <a:lstStyle/>
          <a:p>
            <a:fld id="{0A520D3F-116D-40FF-8307-CEE6ADECC4E2}" type="slidenum">
              <a:rPr lang="en-US" smtClean="0"/>
              <a:t>115</a:t>
            </a:fld>
            <a:endParaRPr lang="en-US"/>
          </a:p>
        </p:txBody>
      </p:sp>
    </p:spTree>
    <p:extLst>
      <p:ext uri="{BB962C8B-B14F-4D97-AF65-F5344CB8AC3E}">
        <p14:creationId xmlns:p14="http://schemas.microsoft.com/office/powerpoint/2010/main" val="150241188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Funding limit reconciliation compares planned spending against limits on when funds are available; if they conflict, work may be rescheduled to level the rate of spending. The chart values are illustrative.</a:t>
            </a:r>
          </a:p>
        </p:txBody>
      </p:sp>
      <p:sp>
        <p:nvSpPr>
          <p:cNvPr id="4" name="Slide Number Placeholder 3"/>
          <p:cNvSpPr>
            <a:spLocks noGrp="1"/>
          </p:cNvSpPr>
          <p:nvPr>
            <p:ph type="sldNum" sz="quarter" idx="5"/>
          </p:nvPr>
        </p:nvSpPr>
        <p:spPr/>
        <p:txBody>
          <a:bodyPr/>
          <a:lstStyle/>
          <a:p>
            <a:fld id="{0A520D3F-116D-40FF-8307-CEE6ADECC4E2}" type="slidenum">
              <a:rPr lang="en-US" smtClean="0"/>
              <a:t>116</a:t>
            </a:fld>
            <a:endParaRPr lang="en-US"/>
          </a:p>
        </p:txBody>
      </p:sp>
    </p:spTree>
    <p:extLst>
      <p:ext uri="{BB962C8B-B14F-4D97-AF65-F5344CB8AC3E}">
        <p14:creationId xmlns:p14="http://schemas.microsoft.com/office/powerpoint/2010/main" val="3808966575"/>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Memory aid: every variance and index starts with EV. Variances subtract (EV minus something); indices divide (EV over something). Cost uses AC, schedule uses PV. Both CV and SV positive: under budget and ahead of schedule. Both negative: over budget and behind schedule.</a:t>
            </a:r>
          </a:p>
        </p:txBody>
      </p:sp>
      <p:sp>
        <p:nvSpPr>
          <p:cNvPr id="4" name="Slide Number Placeholder 3"/>
          <p:cNvSpPr>
            <a:spLocks noGrp="1"/>
          </p:cNvSpPr>
          <p:nvPr>
            <p:ph type="sldNum" sz="quarter" idx="5"/>
          </p:nvPr>
        </p:nvSpPr>
        <p:spPr/>
        <p:txBody>
          <a:bodyPr/>
          <a:lstStyle/>
          <a:p>
            <a:fld id="{0A520D3F-116D-40FF-8307-CEE6ADECC4E2}" type="slidenum">
              <a:rPr lang="en-US" smtClean="0"/>
              <a:t>117</a:t>
            </a:fld>
            <a:endParaRPr lang="en-US"/>
          </a:p>
        </p:txBody>
      </p:sp>
    </p:spTree>
    <p:extLst>
      <p:ext uri="{BB962C8B-B14F-4D97-AF65-F5344CB8AC3E}">
        <p14:creationId xmlns:p14="http://schemas.microsoft.com/office/powerpoint/2010/main" val="2623520126"/>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Because SV is in currency, not time, a late project still shows SV = 0 once all work is done; use SPI or the schedule itself to judge lateness near the end.</a:t>
            </a:r>
          </a:p>
        </p:txBody>
      </p:sp>
      <p:sp>
        <p:nvSpPr>
          <p:cNvPr id="4" name="Slide Number Placeholder 3"/>
          <p:cNvSpPr>
            <a:spLocks noGrp="1"/>
          </p:cNvSpPr>
          <p:nvPr>
            <p:ph type="sldNum" sz="quarter" idx="5"/>
          </p:nvPr>
        </p:nvSpPr>
        <p:spPr/>
        <p:txBody>
          <a:bodyPr/>
          <a:lstStyle/>
          <a:p>
            <a:fld id="{0A520D3F-116D-40FF-8307-CEE6ADECC4E2}" type="slidenum">
              <a:rPr lang="en-US" smtClean="0"/>
              <a:t>118</a:t>
            </a:fld>
            <a:endParaRPr lang="en-US"/>
          </a:p>
        </p:txBody>
      </p:sp>
    </p:spTree>
    <p:extLst>
      <p:ext uri="{BB962C8B-B14F-4D97-AF65-F5344CB8AC3E}">
        <p14:creationId xmlns:p14="http://schemas.microsoft.com/office/powerpoint/2010/main" val="243238128"/>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SPI = EV / PV reads the same way for schedule: below 1 is behind, above 1 is ahead.</a:t>
            </a:r>
          </a:p>
        </p:txBody>
      </p:sp>
      <p:sp>
        <p:nvSpPr>
          <p:cNvPr id="4" name="Slide Number Placeholder 3"/>
          <p:cNvSpPr>
            <a:spLocks noGrp="1"/>
          </p:cNvSpPr>
          <p:nvPr>
            <p:ph type="sldNum" sz="quarter" idx="5"/>
          </p:nvPr>
        </p:nvSpPr>
        <p:spPr/>
        <p:txBody>
          <a:bodyPr/>
          <a:lstStyle/>
          <a:p>
            <a:fld id="{0A520D3F-116D-40FF-8307-CEE6ADECC4E2}" type="slidenum">
              <a:rPr lang="en-US" smtClean="0"/>
              <a:t>119</a:t>
            </a:fld>
            <a:endParaRPr lang="en-US"/>
          </a:p>
        </p:txBody>
      </p:sp>
    </p:spTree>
    <p:extLst>
      <p:ext uri="{BB962C8B-B14F-4D97-AF65-F5344CB8AC3E}">
        <p14:creationId xmlns:p14="http://schemas.microsoft.com/office/powerpoint/2010/main" val="2249927349"/>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BAC is the budget as planned; EAC = BAC / CPI is the updated budget based on up-to-date efficiency. When CPI is below 1, EAC is longer than BAC.</a:t>
            </a:r>
          </a:p>
        </p:txBody>
      </p:sp>
      <p:sp>
        <p:nvSpPr>
          <p:cNvPr id="4" name="Slide Number Placeholder 3"/>
          <p:cNvSpPr>
            <a:spLocks noGrp="1"/>
          </p:cNvSpPr>
          <p:nvPr>
            <p:ph type="sldNum" sz="quarter" idx="5"/>
          </p:nvPr>
        </p:nvSpPr>
        <p:spPr/>
        <p:txBody>
          <a:bodyPr/>
          <a:lstStyle/>
          <a:p>
            <a:fld id="{0A520D3F-116D-40FF-8307-CEE6ADECC4E2}" type="slidenum">
              <a:rPr lang="en-US" smtClean="0"/>
              <a:t>120</a:t>
            </a:fld>
            <a:endParaRPr lang="en-US"/>
          </a:p>
        </p:txBody>
      </p:sp>
    </p:spTree>
    <p:extLst>
      <p:ext uri="{BB962C8B-B14F-4D97-AF65-F5344CB8AC3E}">
        <p14:creationId xmlns:p14="http://schemas.microsoft.com/office/powerpoint/2010/main" val="3416029945"/>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EAC = estimate at completion; ETC = estimate to complete; VAC = variance at completion; TCPI = to-complete performance index.</a:t>
            </a:r>
          </a:p>
        </p:txBody>
      </p:sp>
      <p:sp>
        <p:nvSpPr>
          <p:cNvPr id="4" name="Slide Number Placeholder 3"/>
          <p:cNvSpPr>
            <a:spLocks noGrp="1"/>
          </p:cNvSpPr>
          <p:nvPr>
            <p:ph type="sldNum" sz="quarter" idx="5"/>
          </p:nvPr>
        </p:nvSpPr>
        <p:spPr/>
        <p:txBody>
          <a:bodyPr/>
          <a:lstStyle/>
          <a:p>
            <a:fld id="{0A520D3F-116D-40FF-8307-CEE6ADECC4E2}" type="slidenum">
              <a:rPr lang="en-US" smtClean="0"/>
              <a:t>121</a:t>
            </a:fld>
            <a:endParaRPr lang="en-US"/>
          </a:p>
        </p:txBody>
      </p:sp>
    </p:spTree>
    <p:extLst>
      <p:ext uri="{BB962C8B-B14F-4D97-AF65-F5344CB8AC3E}">
        <p14:creationId xmlns:p14="http://schemas.microsoft.com/office/powerpoint/2010/main" val="2082362868"/>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Working: CV = 40,000 - 45,000 = -5,000. SV = 40,000 - 50,000 = -10,000. CPI = 40,000 / 45,000 = 0.889. SPI = 40,000 / 50,000 = 0.80. EAC = 100,000 / 0.889 = 112,500. ETC = 112,500 - 45,000 = 67,500. VAC = 100,000 - 112,500 = -12,500. TCPI = (100,000 - 40,000) / (100,000 - 45,000) = 60,000 / 55,000 = 1.09.</a:t>
            </a:r>
          </a:p>
        </p:txBody>
      </p:sp>
      <p:sp>
        <p:nvSpPr>
          <p:cNvPr id="4" name="Slide Number Placeholder 3"/>
          <p:cNvSpPr>
            <a:spLocks noGrp="1"/>
          </p:cNvSpPr>
          <p:nvPr>
            <p:ph type="sldNum" sz="quarter" idx="5"/>
          </p:nvPr>
        </p:nvSpPr>
        <p:spPr/>
        <p:txBody>
          <a:bodyPr/>
          <a:lstStyle/>
          <a:p>
            <a:fld id="{0A520D3F-116D-40FF-8307-CEE6ADECC4E2}" type="slidenum">
              <a:rPr lang="en-US" smtClean="0"/>
              <a:t>122</a:t>
            </a:fld>
            <a:endParaRPr lang="en-US"/>
          </a:p>
        </p:txBody>
      </p:sp>
    </p:spTree>
    <p:extLst>
      <p:ext uri="{BB962C8B-B14F-4D97-AF65-F5344CB8AC3E}">
        <p14:creationId xmlns:p14="http://schemas.microsoft.com/office/powerpoint/2010/main" val="843009920"/>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Hint: PV counts what should be finished by the status date; EV counts what actually is finished (partial floors at their percent complete); AC is what has been spent. Answers on the next slide.</a:t>
            </a:r>
          </a:p>
        </p:txBody>
      </p:sp>
      <p:sp>
        <p:nvSpPr>
          <p:cNvPr id="4" name="Slide Number Placeholder 3"/>
          <p:cNvSpPr>
            <a:spLocks noGrp="1"/>
          </p:cNvSpPr>
          <p:nvPr>
            <p:ph type="sldNum" sz="quarter" idx="5"/>
          </p:nvPr>
        </p:nvSpPr>
        <p:spPr/>
        <p:txBody>
          <a:bodyPr/>
          <a:lstStyle/>
          <a:p>
            <a:fld id="{0A520D3F-116D-40FF-8307-CEE6ADECC4E2}" type="slidenum">
              <a:rPr lang="en-US" smtClean="0"/>
              <a:t>123</a:t>
            </a:fld>
            <a:endParaRPr lang="en-US"/>
          </a:p>
        </p:txBody>
      </p:sp>
    </p:spTree>
    <p:extLst>
      <p:ext uri="{BB962C8B-B14F-4D97-AF65-F5344CB8AC3E}">
        <p14:creationId xmlns:p14="http://schemas.microsoft.com/office/powerpoint/2010/main" val="225604882"/>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Working: PV = 3 x 1,000 = 3,000. EV = 1,000 + 1,000 + 0.5 x 1,000 = 2,500. AC = 1,000 + 1,200 + 600 = 2,800. CV = 2,500 - 2,800 = -300. SV = 2,500 - 3,000 = -500. CPI = 2,500 / 2,800 = 0.893. SPI = 2,500 / 3,000 = 0.833. EAC = 4,000 / 0.893 = 4,480. ETC = 4,480 - 2,800 = 1,680. VAC = 4,000 - 4,480 = -480. TCPI = (4,000 - 2,500) / (4,000 - 2,800) = 1,500 / 1,200 = 1.25.</a:t>
            </a:r>
          </a:p>
        </p:txBody>
      </p:sp>
      <p:sp>
        <p:nvSpPr>
          <p:cNvPr id="4" name="Slide Number Placeholder 3"/>
          <p:cNvSpPr>
            <a:spLocks noGrp="1"/>
          </p:cNvSpPr>
          <p:nvPr>
            <p:ph type="sldNum" sz="quarter" idx="5"/>
          </p:nvPr>
        </p:nvSpPr>
        <p:spPr/>
        <p:txBody>
          <a:bodyPr/>
          <a:lstStyle/>
          <a:p>
            <a:fld id="{0A520D3F-116D-40FF-8307-CEE6ADECC4E2}" type="slidenum">
              <a:rPr lang="en-US" smtClean="0"/>
              <a:t>124</a:t>
            </a:fld>
            <a:endParaRPr lang="en-US"/>
          </a:p>
        </p:txBody>
      </p:sp>
    </p:spTree>
    <p:extLst>
      <p:ext uri="{BB962C8B-B14F-4D97-AF65-F5344CB8AC3E}">
        <p14:creationId xmlns:p14="http://schemas.microsoft.com/office/powerpoint/2010/main" val="16052719"/>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One-page review of the formulas in this deck, adapted from the PMI course key-formulas list and extended with VAC, TCPI, the triangular estimate, float, and the velocity forecast. Earned value: CV = EV - AC, SV = EV - PV, CPI = EV / AC, SPI = EV / PV. Forecasting: EAC = BAC / CPI (typical), ETC = EAC - AC, VAC = BAC - EAC, TCPI = (BAC - EV) / (BAC - AC). Estimating: PERT = (O + 4M + P) / 6, triangular = (O + M + P) / 3, standard deviation = (P - O) / 6. Schedule: total float = LS - ES = LF - EF; free float = ES of successor - EF - 1 with day-1 numbering (drop the - 1 when numbering starts at day 0). Communication channels = n(n - 1) / 2, where n includes the project manager. Slide numbers in the cue are refreshed when the table of contents is rebuilt.</a:t>
            </a:r>
          </a:p>
        </p:txBody>
      </p:sp>
      <p:sp>
        <p:nvSpPr>
          <p:cNvPr id="4" name="Slide Number Placeholder 3"/>
          <p:cNvSpPr>
            <a:spLocks noGrp="1"/>
          </p:cNvSpPr>
          <p:nvPr>
            <p:ph type="sldNum" sz="quarter" idx="5"/>
          </p:nvPr>
        </p:nvSpPr>
        <p:spPr/>
        <p:txBody>
          <a:bodyPr/>
          <a:lstStyle/>
          <a:p>
            <a:fld id="{0A520D3F-116D-40FF-8307-CEE6ADECC4E2}" type="slidenum">
              <a:rPr lang="en-US" smtClean="0"/>
              <a:t>125</a:t>
            </a:fld>
            <a:endParaRPr lang="en-US"/>
          </a:p>
        </p:txBody>
      </p:sp>
    </p:spTree>
    <p:extLst>
      <p:ext uri="{BB962C8B-B14F-4D97-AF65-F5344CB8AC3E}">
        <p14:creationId xmlns:p14="http://schemas.microsoft.com/office/powerpoint/2010/main" val="3661237020"/>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 the 2023 content outline quotes 5 calendar days for online application review; this roadmap says 5 business days. The 60 PDU renewal requirement is added from PMI certification policy.</a:t>
            </a:r>
          </a:p>
        </p:txBody>
      </p:sp>
      <p:sp>
        <p:nvSpPr>
          <p:cNvPr id="4" name="Slide Number Placeholder 3"/>
          <p:cNvSpPr>
            <a:spLocks noGrp="1"/>
          </p:cNvSpPr>
          <p:nvPr>
            <p:ph type="sldNum" sz="quarter" idx="5"/>
          </p:nvPr>
        </p:nvSpPr>
        <p:spPr/>
        <p:txBody>
          <a:bodyPr/>
          <a:lstStyle/>
          <a:p>
            <a:fld id="{0A520D3F-116D-40FF-8307-CEE6ADECC4E2}" type="slidenum">
              <a:rPr lang="en-US" smtClean="0"/>
              <a:t>126</a:t>
            </a:fld>
            <a:endParaRPr lang="en-US"/>
          </a:p>
        </p:txBody>
      </p:sp>
    </p:spTree>
    <p:extLst>
      <p:ext uri="{BB962C8B-B14F-4D97-AF65-F5344CB8AC3E}">
        <p14:creationId xmlns:p14="http://schemas.microsoft.com/office/powerpoint/2010/main" val="65669120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PMP Examination Information, p. 15. Current item types are listed on the PMP Exam Updates page on pmi.org.</a:t>
            </a:r>
          </a:p>
        </p:txBody>
      </p:sp>
      <p:sp>
        <p:nvSpPr>
          <p:cNvPr id="4" name="Slide Number Placeholder 3"/>
          <p:cNvSpPr>
            <a:spLocks noGrp="1"/>
          </p:cNvSpPr>
          <p:nvPr>
            <p:ph type="sldNum" sz="quarter" idx="5"/>
          </p:nvPr>
        </p:nvSpPr>
        <p:spPr/>
        <p:txBody>
          <a:bodyPr/>
          <a:lstStyle/>
          <a:p>
            <a:fld id="{0A520D3F-116D-40FF-8307-CEE6ADECC4E2}" type="slidenum">
              <a:rPr lang="en-US" smtClean="0"/>
              <a:t>127</a:t>
            </a:fld>
            <a:endParaRPr lang="en-US"/>
          </a:p>
        </p:txBody>
      </p:sp>
    </p:spTree>
    <p:extLst>
      <p:ext uri="{BB962C8B-B14F-4D97-AF65-F5344CB8AC3E}">
        <p14:creationId xmlns:p14="http://schemas.microsoft.com/office/powerpoint/2010/main" val="259028787"/>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Retaking the Exam, p. 15. Retake fees are discounted while your eligibility period is current (p. 14).</a:t>
            </a:r>
          </a:p>
        </p:txBody>
      </p:sp>
      <p:sp>
        <p:nvSpPr>
          <p:cNvPr id="4" name="Slide Number Placeholder 3"/>
          <p:cNvSpPr>
            <a:spLocks noGrp="1"/>
          </p:cNvSpPr>
          <p:nvPr>
            <p:ph type="sldNum" sz="quarter" idx="5"/>
          </p:nvPr>
        </p:nvSpPr>
        <p:spPr/>
        <p:txBody>
          <a:bodyPr/>
          <a:lstStyle/>
          <a:p>
            <a:fld id="{0A520D3F-116D-40FF-8307-CEE6ADECC4E2}" type="slidenum">
              <a:rPr lang="en-US" smtClean="0"/>
              <a:t>128</a:t>
            </a:fld>
            <a:endParaRPr lang="en-US"/>
          </a:p>
        </p:txBody>
      </p:sp>
    </p:spTree>
    <p:extLst>
      <p:ext uri="{BB962C8B-B14F-4D97-AF65-F5344CB8AC3E}">
        <p14:creationId xmlns:p14="http://schemas.microsoft.com/office/powerpoint/2010/main" val="219786625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Summary of the outline. Always confirm current fees, item types, and policies on pmi.org before applying.</a:t>
            </a:r>
          </a:p>
        </p:txBody>
      </p:sp>
      <p:sp>
        <p:nvSpPr>
          <p:cNvPr id="4" name="Slide Number Placeholder 3"/>
          <p:cNvSpPr>
            <a:spLocks noGrp="1"/>
          </p:cNvSpPr>
          <p:nvPr>
            <p:ph type="sldNum" sz="quarter" idx="5"/>
          </p:nvPr>
        </p:nvSpPr>
        <p:spPr/>
        <p:txBody>
          <a:bodyPr/>
          <a:lstStyle/>
          <a:p>
            <a:fld id="{0A520D3F-116D-40FF-8307-CEE6ADECC4E2}" type="slidenum">
              <a:rPr lang="en-US" smtClean="0"/>
              <a:t>129</a:t>
            </a:fld>
            <a:endParaRPr lang="en-US"/>
          </a:p>
        </p:txBody>
      </p:sp>
    </p:spTree>
    <p:extLst>
      <p:ext uri="{BB962C8B-B14F-4D97-AF65-F5344CB8AC3E}">
        <p14:creationId xmlns:p14="http://schemas.microsoft.com/office/powerpoint/2010/main" val="19538654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728C3-347C-BBC9-1D91-017671237C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44511C1-3730-C79D-4229-EA6FD20537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023C4E-34F6-1653-343E-2FC4A0436DD4}"/>
              </a:ext>
            </a:extLst>
          </p:cNvPr>
          <p:cNvSpPr>
            <a:spLocks noGrp="1"/>
          </p:cNvSpPr>
          <p:nvPr>
            <p:ph type="dt" sz="half" idx="10"/>
          </p:nvPr>
        </p:nvSpPr>
        <p:spPr/>
        <p:txBody>
          <a:bodyPr/>
          <a:lstStyle/>
          <a:p>
            <a:fld id="{40DCF933-D997-4239-80B3-1C953BC720A6}" type="datetimeFigureOut">
              <a:rPr lang="en-US" smtClean="0"/>
              <a:t>10/11/2026</a:t>
            </a:fld>
            <a:endParaRPr lang="en-US"/>
          </a:p>
        </p:txBody>
      </p:sp>
      <p:sp>
        <p:nvSpPr>
          <p:cNvPr id="5" name="Footer Placeholder 4">
            <a:extLst>
              <a:ext uri="{FF2B5EF4-FFF2-40B4-BE49-F238E27FC236}">
                <a16:creationId xmlns:a16="http://schemas.microsoft.com/office/drawing/2014/main" id="{E5160D33-3869-3ECD-CDEA-FC3DEBE215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CE80ED-115A-903B-FB8B-A2BAB1703AC5}"/>
              </a:ext>
            </a:extLst>
          </p:cNvPr>
          <p:cNvSpPr>
            <a:spLocks noGrp="1"/>
          </p:cNvSpPr>
          <p:nvPr>
            <p:ph type="sldNum" sz="quarter" idx="12"/>
          </p:nvPr>
        </p:nvSpPr>
        <p:spPr/>
        <p:txBody>
          <a:bodyPr/>
          <a:lstStyle/>
          <a:p>
            <a:fld id="{DFF83052-F998-41A6-8519-06207199BBB3}" type="slidenum">
              <a:rPr lang="en-US" smtClean="0"/>
              <a:t>‹#›</a:t>
            </a:fld>
            <a:endParaRPr lang="en-US"/>
          </a:p>
        </p:txBody>
      </p:sp>
    </p:spTree>
    <p:extLst>
      <p:ext uri="{BB962C8B-B14F-4D97-AF65-F5344CB8AC3E}">
        <p14:creationId xmlns:p14="http://schemas.microsoft.com/office/powerpoint/2010/main" val="2729660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0053F-0527-E743-E0AD-BA102A6173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C9B37E-104F-B261-CCE4-9E4A040420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9A78B4-FDFB-B299-07E2-498CBC38C482}"/>
              </a:ext>
            </a:extLst>
          </p:cNvPr>
          <p:cNvSpPr>
            <a:spLocks noGrp="1"/>
          </p:cNvSpPr>
          <p:nvPr>
            <p:ph type="dt" sz="half" idx="10"/>
          </p:nvPr>
        </p:nvSpPr>
        <p:spPr/>
        <p:txBody>
          <a:bodyPr/>
          <a:lstStyle/>
          <a:p>
            <a:fld id="{40DCF933-D997-4239-80B3-1C953BC720A6}" type="datetimeFigureOut">
              <a:rPr lang="en-US" smtClean="0"/>
              <a:t>10/11/2026</a:t>
            </a:fld>
            <a:endParaRPr lang="en-US"/>
          </a:p>
        </p:txBody>
      </p:sp>
      <p:sp>
        <p:nvSpPr>
          <p:cNvPr id="5" name="Footer Placeholder 4">
            <a:extLst>
              <a:ext uri="{FF2B5EF4-FFF2-40B4-BE49-F238E27FC236}">
                <a16:creationId xmlns:a16="http://schemas.microsoft.com/office/drawing/2014/main" id="{E85C640B-EAA2-FF7A-F110-55A9CB0D13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DFAC32-5A3E-0B0F-5277-1DBD32332F67}"/>
              </a:ext>
            </a:extLst>
          </p:cNvPr>
          <p:cNvSpPr>
            <a:spLocks noGrp="1"/>
          </p:cNvSpPr>
          <p:nvPr>
            <p:ph type="sldNum" sz="quarter" idx="12"/>
          </p:nvPr>
        </p:nvSpPr>
        <p:spPr/>
        <p:txBody>
          <a:bodyPr/>
          <a:lstStyle/>
          <a:p>
            <a:fld id="{DFF83052-F998-41A6-8519-06207199BBB3}" type="slidenum">
              <a:rPr lang="en-US" smtClean="0"/>
              <a:t>‹#›</a:t>
            </a:fld>
            <a:endParaRPr lang="en-US"/>
          </a:p>
        </p:txBody>
      </p:sp>
    </p:spTree>
    <p:extLst>
      <p:ext uri="{BB962C8B-B14F-4D97-AF65-F5344CB8AC3E}">
        <p14:creationId xmlns:p14="http://schemas.microsoft.com/office/powerpoint/2010/main" val="1209608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19456-0DD3-21B7-E299-BEB9C41E5A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DD0E1A-2AFC-23C1-8A42-7FAC4E709D8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FBF7DC-4681-D1AC-62D5-7BED9398C690}"/>
              </a:ext>
            </a:extLst>
          </p:cNvPr>
          <p:cNvSpPr>
            <a:spLocks noGrp="1"/>
          </p:cNvSpPr>
          <p:nvPr>
            <p:ph type="dt" sz="half" idx="10"/>
          </p:nvPr>
        </p:nvSpPr>
        <p:spPr/>
        <p:txBody>
          <a:bodyPr/>
          <a:lstStyle/>
          <a:p>
            <a:fld id="{40DCF933-D997-4239-80B3-1C953BC720A6}" type="datetimeFigureOut">
              <a:rPr lang="en-US" smtClean="0"/>
              <a:t>10/11/2026</a:t>
            </a:fld>
            <a:endParaRPr lang="en-US"/>
          </a:p>
        </p:txBody>
      </p:sp>
      <p:sp>
        <p:nvSpPr>
          <p:cNvPr id="5" name="Footer Placeholder 4">
            <a:extLst>
              <a:ext uri="{FF2B5EF4-FFF2-40B4-BE49-F238E27FC236}">
                <a16:creationId xmlns:a16="http://schemas.microsoft.com/office/drawing/2014/main" id="{CB075941-BE23-4E94-3D3B-D946B82D89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10C883-F14A-9817-7479-F3ABA3A787ED}"/>
              </a:ext>
            </a:extLst>
          </p:cNvPr>
          <p:cNvSpPr>
            <a:spLocks noGrp="1"/>
          </p:cNvSpPr>
          <p:nvPr>
            <p:ph type="sldNum" sz="quarter" idx="12"/>
          </p:nvPr>
        </p:nvSpPr>
        <p:spPr/>
        <p:txBody>
          <a:bodyPr/>
          <a:lstStyle/>
          <a:p>
            <a:fld id="{DFF83052-F998-41A6-8519-06207199BBB3}" type="slidenum">
              <a:rPr lang="en-US" smtClean="0"/>
              <a:t>‹#›</a:t>
            </a:fld>
            <a:endParaRPr lang="en-US"/>
          </a:p>
        </p:txBody>
      </p:sp>
    </p:spTree>
    <p:extLst>
      <p:ext uri="{BB962C8B-B14F-4D97-AF65-F5344CB8AC3E}">
        <p14:creationId xmlns:p14="http://schemas.microsoft.com/office/powerpoint/2010/main" val="32442569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040AF-2D12-9D56-BF86-37440165D1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3B1265-41D6-3B1A-15F1-5B6E74E991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50053D9-50FA-BB3A-61E0-5DCE724872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3A4691B-8F10-9600-6A63-36CEA0C58BD1}"/>
              </a:ext>
            </a:extLst>
          </p:cNvPr>
          <p:cNvSpPr>
            <a:spLocks noGrp="1"/>
          </p:cNvSpPr>
          <p:nvPr>
            <p:ph type="dt" sz="half" idx="10"/>
          </p:nvPr>
        </p:nvSpPr>
        <p:spPr/>
        <p:txBody>
          <a:bodyPr/>
          <a:lstStyle/>
          <a:p>
            <a:fld id="{40DCF933-D997-4239-80B3-1C953BC720A6}" type="datetimeFigureOut">
              <a:rPr lang="en-US" smtClean="0"/>
              <a:t>10/11/2026</a:t>
            </a:fld>
            <a:endParaRPr lang="en-US"/>
          </a:p>
        </p:txBody>
      </p:sp>
      <p:sp>
        <p:nvSpPr>
          <p:cNvPr id="6" name="Footer Placeholder 5">
            <a:extLst>
              <a:ext uri="{FF2B5EF4-FFF2-40B4-BE49-F238E27FC236}">
                <a16:creationId xmlns:a16="http://schemas.microsoft.com/office/drawing/2014/main" id="{62603D50-134C-2110-1566-DF68635F3B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272A93-EC1F-D912-4EAC-92C3B5885BE3}"/>
              </a:ext>
            </a:extLst>
          </p:cNvPr>
          <p:cNvSpPr>
            <a:spLocks noGrp="1"/>
          </p:cNvSpPr>
          <p:nvPr>
            <p:ph type="sldNum" sz="quarter" idx="12"/>
          </p:nvPr>
        </p:nvSpPr>
        <p:spPr/>
        <p:txBody>
          <a:bodyPr/>
          <a:lstStyle/>
          <a:p>
            <a:fld id="{DFF83052-F998-41A6-8519-06207199BBB3}" type="slidenum">
              <a:rPr lang="en-US" smtClean="0"/>
              <a:t>‹#›</a:t>
            </a:fld>
            <a:endParaRPr lang="en-US"/>
          </a:p>
        </p:txBody>
      </p:sp>
    </p:spTree>
    <p:extLst>
      <p:ext uri="{BB962C8B-B14F-4D97-AF65-F5344CB8AC3E}">
        <p14:creationId xmlns:p14="http://schemas.microsoft.com/office/powerpoint/2010/main" val="918648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D6DBB-B366-A52C-0A0F-3D0640A3FB4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AE017A-90A8-9096-CEEC-DD674EDD45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909BE9-B8EA-2D7F-D4B0-E56BFD91CD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884207-F2D8-0C7E-D895-FA35948664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D19AA6-D6B0-F8A9-6CDE-2D623208D7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2A917D6-A155-49F1-B1D4-92C407F70DD0}"/>
              </a:ext>
            </a:extLst>
          </p:cNvPr>
          <p:cNvSpPr>
            <a:spLocks noGrp="1"/>
          </p:cNvSpPr>
          <p:nvPr>
            <p:ph type="dt" sz="half" idx="10"/>
          </p:nvPr>
        </p:nvSpPr>
        <p:spPr/>
        <p:txBody>
          <a:bodyPr/>
          <a:lstStyle/>
          <a:p>
            <a:fld id="{40DCF933-D997-4239-80B3-1C953BC720A6}" type="datetimeFigureOut">
              <a:rPr lang="en-US" smtClean="0"/>
              <a:t>10/11/2026</a:t>
            </a:fld>
            <a:endParaRPr lang="en-US"/>
          </a:p>
        </p:txBody>
      </p:sp>
      <p:sp>
        <p:nvSpPr>
          <p:cNvPr id="8" name="Footer Placeholder 7">
            <a:extLst>
              <a:ext uri="{FF2B5EF4-FFF2-40B4-BE49-F238E27FC236}">
                <a16:creationId xmlns:a16="http://schemas.microsoft.com/office/drawing/2014/main" id="{C93AE9DD-F750-15B8-05E3-D2CF6B3265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81F968-7AF0-D528-88EB-487CCF1E8F27}"/>
              </a:ext>
            </a:extLst>
          </p:cNvPr>
          <p:cNvSpPr>
            <a:spLocks noGrp="1"/>
          </p:cNvSpPr>
          <p:nvPr>
            <p:ph type="sldNum" sz="quarter" idx="12"/>
          </p:nvPr>
        </p:nvSpPr>
        <p:spPr/>
        <p:txBody>
          <a:bodyPr/>
          <a:lstStyle/>
          <a:p>
            <a:fld id="{DFF83052-F998-41A6-8519-06207199BBB3}" type="slidenum">
              <a:rPr lang="en-US" smtClean="0"/>
              <a:t>‹#›</a:t>
            </a:fld>
            <a:endParaRPr lang="en-US"/>
          </a:p>
        </p:txBody>
      </p:sp>
    </p:spTree>
    <p:extLst>
      <p:ext uri="{BB962C8B-B14F-4D97-AF65-F5344CB8AC3E}">
        <p14:creationId xmlns:p14="http://schemas.microsoft.com/office/powerpoint/2010/main" val="2778939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71C8-3213-BDA4-FE90-88AF0F5F2F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A2E2A2E-9241-465E-760B-A3CE83AA5031}"/>
              </a:ext>
            </a:extLst>
          </p:cNvPr>
          <p:cNvSpPr>
            <a:spLocks noGrp="1"/>
          </p:cNvSpPr>
          <p:nvPr>
            <p:ph type="dt" sz="half" idx="10"/>
          </p:nvPr>
        </p:nvSpPr>
        <p:spPr/>
        <p:txBody>
          <a:bodyPr/>
          <a:lstStyle/>
          <a:p>
            <a:fld id="{40DCF933-D997-4239-80B3-1C953BC720A6}" type="datetimeFigureOut">
              <a:rPr lang="en-US" smtClean="0"/>
              <a:t>10/11/2026</a:t>
            </a:fld>
            <a:endParaRPr lang="en-US"/>
          </a:p>
        </p:txBody>
      </p:sp>
      <p:sp>
        <p:nvSpPr>
          <p:cNvPr id="4" name="Footer Placeholder 3">
            <a:extLst>
              <a:ext uri="{FF2B5EF4-FFF2-40B4-BE49-F238E27FC236}">
                <a16:creationId xmlns:a16="http://schemas.microsoft.com/office/drawing/2014/main" id="{B12F2765-A2F3-E939-E2A9-ACCE92D3FDD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4E11058-8AC0-17CC-BC65-DF247FDBC106}"/>
              </a:ext>
            </a:extLst>
          </p:cNvPr>
          <p:cNvSpPr>
            <a:spLocks noGrp="1"/>
          </p:cNvSpPr>
          <p:nvPr>
            <p:ph type="sldNum" sz="quarter" idx="12"/>
          </p:nvPr>
        </p:nvSpPr>
        <p:spPr/>
        <p:txBody>
          <a:bodyPr/>
          <a:lstStyle/>
          <a:p>
            <a:fld id="{DFF83052-F998-41A6-8519-06207199BBB3}" type="slidenum">
              <a:rPr lang="en-US" smtClean="0"/>
              <a:t>‹#›</a:t>
            </a:fld>
            <a:endParaRPr lang="en-US"/>
          </a:p>
        </p:txBody>
      </p:sp>
    </p:spTree>
    <p:extLst>
      <p:ext uri="{BB962C8B-B14F-4D97-AF65-F5344CB8AC3E}">
        <p14:creationId xmlns:p14="http://schemas.microsoft.com/office/powerpoint/2010/main" val="113522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C00146-21E7-8DAE-173A-D61E94F1738B}"/>
              </a:ext>
            </a:extLst>
          </p:cNvPr>
          <p:cNvSpPr>
            <a:spLocks noGrp="1"/>
          </p:cNvSpPr>
          <p:nvPr>
            <p:ph type="dt" sz="half" idx="10"/>
          </p:nvPr>
        </p:nvSpPr>
        <p:spPr/>
        <p:txBody>
          <a:bodyPr/>
          <a:lstStyle/>
          <a:p>
            <a:fld id="{40DCF933-D997-4239-80B3-1C953BC720A6}" type="datetimeFigureOut">
              <a:rPr lang="en-US" smtClean="0"/>
              <a:t>10/11/2026</a:t>
            </a:fld>
            <a:endParaRPr lang="en-US"/>
          </a:p>
        </p:txBody>
      </p:sp>
      <p:sp>
        <p:nvSpPr>
          <p:cNvPr id="3" name="Footer Placeholder 2">
            <a:extLst>
              <a:ext uri="{FF2B5EF4-FFF2-40B4-BE49-F238E27FC236}">
                <a16:creationId xmlns:a16="http://schemas.microsoft.com/office/drawing/2014/main" id="{AE521A73-FC4B-45AF-F726-6AE579476F5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CFA0B60-851D-9276-BAB5-1EE1B025ADF0}"/>
              </a:ext>
            </a:extLst>
          </p:cNvPr>
          <p:cNvSpPr>
            <a:spLocks noGrp="1"/>
          </p:cNvSpPr>
          <p:nvPr>
            <p:ph type="sldNum" sz="quarter" idx="12"/>
          </p:nvPr>
        </p:nvSpPr>
        <p:spPr/>
        <p:txBody>
          <a:bodyPr/>
          <a:lstStyle/>
          <a:p>
            <a:fld id="{DFF83052-F998-41A6-8519-06207199BBB3}" type="slidenum">
              <a:rPr lang="en-US" smtClean="0"/>
              <a:t>‹#›</a:t>
            </a:fld>
            <a:endParaRPr lang="en-US"/>
          </a:p>
        </p:txBody>
      </p:sp>
    </p:spTree>
    <p:extLst>
      <p:ext uri="{BB962C8B-B14F-4D97-AF65-F5344CB8AC3E}">
        <p14:creationId xmlns:p14="http://schemas.microsoft.com/office/powerpoint/2010/main" val="3294176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76A45-51F0-5C0A-0FE8-19B34DD8F0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F543BFE-B2E9-75DE-B35C-D2F845780A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2E5CE6-6850-99AE-53B7-85443B805F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4CD715-C3CD-3F69-9F8C-1F58DBE4BF1C}"/>
              </a:ext>
            </a:extLst>
          </p:cNvPr>
          <p:cNvSpPr>
            <a:spLocks noGrp="1"/>
          </p:cNvSpPr>
          <p:nvPr>
            <p:ph type="dt" sz="half" idx="10"/>
          </p:nvPr>
        </p:nvSpPr>
        <p:spPr/>
        <p:txBody>
          <a:bodyPr/>
          <a:lstStyle/>
          <a:p>
            <a:fld id="{40DCF933-D997-4239-80B3-1C953BC720A6}" type="datetimeFigureOut">
              <a:rPr lang="en-US" smtClean="0"/>
              <a:t>10/11/2026</a:t>
            </a:fld>
            <a:endParaRPr lang="en-US"/>
          </a:p>
        </p:txBody>
      </p:sp>
      <p:sp>
        <p:nvSpPr>
          <p:cNvPr id="6" name="Footer Placeholder 5">
            <a:extLst>
              <a:ext uri="{FF2B5EF4-FFF2-40B4-BE49-F238E27FC236}">
                <a16:creationId xmlns:a16="http://schemas.microsoft.com/office/drawing/2014/main" id="{8881BE8D-E7CB-7B75-8B4F-860C07FC18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00094E-8A32-21A4-16B1-58C107AF1172}"/>
              </a:ext>
            </a:extLst>
          </p:cNvPr>
          <p:cNvSpPr>
            <a:spLocks noGrp="1"/>
          </p:cNvSpPr>
          <p:nvPr>
            <p:ph type="sldNum" sz="quarter" idx="12"/>
          </p:nvPr>
        </p:nvSpPr>
        <p:spPr/>
        <p:txBody>
          <a:bodyPr/>
          <a:lstStyle/>
          <a:p>
            <a:fld id="{DFF83052-F998-41A6-8519-06207199BBB3}" type="slidenum">
              <a:rPr lang="en-US" smtClean="0"/>
              <a:t>‹#›</a:t>
            </a:fld>
            <a:endParaRPr lang="en-US"/>
          </a:p>
        </p:txBody>
      </p:sp>
    </p:spTree>
    <p:extLst>
      <p:ext uri="{BB962C8B-B14F-4D97-AF65-F5344CB8AC3E}">
        <p14:creationId xmlns:p14="http://schemas.microsoft.com/office/powerpoint/2010/main" val="1984114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D8E75-9BA8-94E7-8CA6-853DA29542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CAA75B8-D43D-7544-1DA7-6DB7889C58A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BFDBD90-BA98-D204-3C88-CBE79F4853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D7B4D9-DCC8-A641-E26D-57C25CF870D8}"/>
              </a:ext>
            </a:extLst>
          </p:cNvPr>
          <p:cNvSpPr>
            <a:spLocks noGrp="1"/>
          </p:cNvSpPr>
          <p:nvPr>
            <p:ph type="dt" sz="half" idx="10"/>
          </p:nvPr>
        </p:nvSpPr>
        <p:spPr/>
        <p:txBody>
          <a:bodyPr/>
          <a:lstStyle/>
          <a:p>
            <a:fld id="{40DCF933-D997-4239-80B3-1C953BC720A6}" type="datetimeFigureOut">
              <a:rPr lang="en-US" smtClean="0"/>
              <a:t>10/11/2026</a:t>
            </a:fld>
            <a:endParaRPr lang="en-US"/>
          </a:p>
        </p:txBody>
      </p:sp>
      <p:sp>
        <p:nvSpPr>
          <p:cNvPr id="6" name="Footer Placeholder 5">
            <a:extLst>
              <a:ext uri="{FF2B5EF4-FFF2-40B4-BE49-F238E27FC236}">
                <a16:creationId xmlns:a16="http://schemas.microsoft.com/office/drawing/2014/main" id="{59680FDA-B7CD-0A8B-7DFC-6922007D41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E718FD-B900-5D03-3E52-EE61075A4D3B}"/>
              </a:ext>
            </a:extLst>
          </p:cNvPr>
          <p:cNvSpPr>
            <a:spLocks noGrp="1"/>
          </p:cNvSpPr>
          <p:nvPr>
            <p:ph type="sldNum" sz="quarter" idx="12"/>
          </p:nvPr>
        </p:nvSpPr>
        <p:spPr/>
        <p:txBody>
          <a:bodyPr/>
          <a:lstStyle/>
          <a:p>
            <a:fld id="{DFF83052-F998-41A6-8519-06207199BBB3}" type="slidenum">
              <a:rPr lang="en-US" smtClean="0"/>
              <a:t>‹#›</a:t>
            </a:fld>
            <a:endParaRPr lang="en-US"/>
          </a:p>
        </p:txBody>
      </p:sp>
    </p:spTree>
    <p:extLst>
      <p:ext uri="{BB962C8B-B14F-4D97-AF65-F5344CB8AC3E}">
        <p14:creationId xmlns:p14="http://schemas.microsoft.com/office/powerpoint/2010/main" val="1406943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01F8-BE53-7784-F956-BA8811139B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6DB8719-A4C3-6512-E20B-99F186F1BC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75BFCE-87A4-2164-9952-AE62BFA5D523}"/>
              </a:ext>
            </a:extLst>
          </p:cNvPr>
          <p:cNvSpPr>
            <a:spLocks noGrp="1"/>
          </p:cNvSpPr>
          <p:nvPr>
            <p:ph type="dt" sz="half" idx="10"/>
          </p:nvPr>
        </p:nvSpPr>
        <p:spPr/>
        <p:txBody>
          <a:bodyPr/>
          <a:lstStyle/>
          <a:p>
            <a:fld id="{40DCF933-D997-4239-80B3-1C953BC720A6}" type="datetimeFigureOut">
              <a:rPr lang="en-US" smtClean="0"/>
              <a:t>10/11/2026</a:t>
            </a:fld>
            <a:endParaRPr lang="en-US"/>
          </a:p>
        </p:txBody>
      </p:sp>
      <p:sp>
        <p:nvSpPr>
          <p:cNvPr id="5" name="Footer Placeholder 4">
            <a:extLst>
              <a:ext uri="{FF2B5EF4-FFF2-40B4-BE49-F238E27FC236}">
                <a16:creationId xmlns:a16="http://schemas.microsoft.com/office/drawing/2014/main" id="{6E8ED189-C6C1-B867-7AA3-A7238C24E0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45E719-CA12-79A8-2580-391B8465E668}"/>
              </a:ext>
            </a:extLst>
          </p:cNvPr>
          <p:cNvSpPr>
            <a:spLocks noGrp="1"/>
          </p:cNvSpPr>
          <p:nvPr>
            <p:ph type="sldNum" sz="quarter" idx="12"/>
          </p:nvPr>
        </p:nvSpPr>
        <p:spPr/>
        <p:txBody>
          <a:bodyPr/>
          <a:lstStyle/>
          <a:p>
            <a:fld id="{DFF83052-F998-41A6-8519-06207199BBB3}" type="slidenum">
              <a:rPr lang="en-US" smtClean="0"/>
              <a:t>‹#›</a:t>
            </a:fld>
            <a:endParaRPr lang="en-US"/>
          </a:p>
        </p:txBody>
      </p:sp>
    </p:spTree>
    <p:extLst>
      <p:ext uri="{BB962C8B-B14F-4D97-AF65-F5344CB8AC3E}">
        <p14:creationId xmlns:p14="http://schemas.microsoft.com/office/powerpoint/2010/main" val="2810139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36A893-18C1-7F6D-B267-CAD0451CF9E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B16DA7D-1BCC-8ACF-4C7E-7A4E170805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C5E403-3593-D30E-B9D9-B28DE5F5A4BB}"/>
              </a:ext>
            </a:extLst>
          </p:cNvPr>
          <p:cNvSpPr>
            <a:spLocks noGrp="1"/>
          </p:cNvSpPr>
          <p:nvPr>
            <p:ph type="dt" sz="half" idx="10"/>
          </p:nvPr>
        </p:nvSpPr>
        <p:spPr/>
        <p:txBody>
          <a:bodyPr/>
          <a:lstStyle/>
          <a:p>
            <a:fld id="{40DCF933-D997-4239-80B3-1C953BC720A6}" type="datetimeFigureOut">
              <a:rPr lang="en-US" smtClean="0"/>
              <a:t>10/11/2026</a:t>
            </a:fld>
            <a:endParaRPr lang="en-US"/>
          </a:p>
        </p:txBody>
      </p:sp>
      <p:sp>
        <p:nvSpPr>
          <p:cNvPr id="5" name="Footer Placeholder 4">
            <a:extLst>
              <a:ext uri="{FF2B5EF4-FFF2-40B4-BE49-F238E27FC236}">
                <a16:creationId xmlns:a16="http://schemas.microsoft.com/office/drawing/2014/main" id="{D97D439C-0DD2-8C96-E11F-C1806AF630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6C3012-44A8-F5A7-25F6-EB96B242F167}"/>
              </a:ext>
            </a:extLst>
          </p:cNvPr>
          <p:cNvSpPr>
            <a:spLocks noGrp="1"/>
          </p:cNvSpPr>
          <p:nvPr>
            <p:ph type="sldNum" sz="quarter" idx="12"/>
          </p:nvPr>
        </p:nvSpPr>
        <p:spPr/>
        <p:txBody>
          <a:bodyPr/>
          <a:lstStyle/>
          <a:p>
            <a:fld id="{DFF83052-F998-41A6-8519-06207199BBB3}" type="slidenum">
              <a:rPr lang="en-US" smtClean="0"/>
              <a:t>‹#›</a:t>
            </a:fld>
            <a:endParaRPr lang="en-US"/>
          </a:p>
        </p:txBody>
      </p:sp>
    </p:spTree>
    <p:extLst>
      <p:ext uri="{BB962C8B-B14F-4D97-AF65-F5344CB8AC3E}">
        <p14:creationId xmlns:p14="http://schemas.microsoft.com/office/powerpoint/2010/main" val="43171475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2EB557-5667-BC1D-1F9A-815FEFCE9D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77B7AEB-F32A-55CC-5F74-EAF13214FD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52077A-6EEA-AB64-E796-A040E3C081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DCF933-D997-4239-80B3-1C953BC720A6}" type="datetimeFigureOut">
              <a:rPr lang="en-US" smtClean="0"/>
              <a:t>10/11/2026</a:t>
            </a:fld>
            <a:endParaRPr lang="en-US"/>
          </a:p>
        </p:txBody>
      </p:sp>
      <p:sp>
        <p:nvSpPr>
          <p:cNvPr id="5" name="Footer Placeholder 4">
            <a:extLst>
              <a:ext uri="{FF2B5EF4-FFF2-40B4-BE49-F238E27FC236}">
                <a16:creationId xmlns:a16="http://schemas.microsoft.com/office/drawing/2014/main" id="{1FFE4634-2A6C-6DA1-6B22-C8B4EF9BAF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92753FC-C31F-D7EE-8525-A392DAA1E5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FF83052-F998-41A6-8519-06207199BBB3}" type="slidenum">
              <a:rPr lang="en-US" smtClean="0"/>
              <a:t>‹#›</a:t>
            </a:fld>
            <a:endParaRPr lang="en-US"/>
          </a:p>
        </p:txBody>
      </p:sp>
    </p:spTree>
    <p:extLst>
      <p:ext uri="{BB962C8B-B14F-4D97-AF65-F5344CB8AC3E}">
        <p14:creationId xmlns:p14="http://schemas.microsoft.com/office/powerpoint/2010/main" val="5564482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slide" Target="slide1.xml"/><Relationship Id="rId4" Type="http://schemas.openxmlformats.org/officeDocument/2006/relationships/slide" Target="slide4.xml"/><Relationship Id="rId5" Type="http://schemas.openxmlformats.org/officeDocument/2006/relationships/slide" Target="slide9.xml"/><Relationship Id="rId6" Type="http://schemas.openxmlformats.org/officeDocument/2006/relationships/slide" Target="slide27.xml"/><Relationship Id="rId7" Type="http://schemas.openxmlformats.org/officeDocument/2006/relationships/slide" Target="slide61.xml"/><Relationship Id="rId8" Type="http://schemas.openxmlformats.org/officeDocument/2006/relationships/slide" Target="slide88.xml"/><Relationship Id="rId9" Type="http://schemas.openxmlformats.org/officeDocument/2006/relationships/slide" Target="slide111.xml"/><Relationship Id="rId10" Type="http://schemas.openxmlformats.org/officeDocument/2006/relationships/slide" Target="slide126.xml"/><Relationship Id="rId11" Type="http://schemas.openxmlformats.org/officeDocument/2006/relationships/slide" Target="slide1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 Id="rId3" Type="http://schemas.openxmlformats.org/officeDocument/2006/relationships/chart" Target="../charts/char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 Id="rId3" Type="http://schemas.openxmlformats.org/officeDocument/2006/relationships/chart" Target="../charts/chart3.xml"/><Relationship Id="rId4" Type="http://schemas.openxmlformats.org/officeDocument/2006/relationships/chart" Target="../charts/chart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 Id="rId3" Type="http://schemas.openxmlformats.org/officeDocument/2006/relationships/chart" Target="../charts/chart5.xml"/><Relationship Id="rId4" Type="http://schemas.openxmlformats.org/officeDocument/2006/relationships/chart" Target="../charts/chart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 Id="rId3" Type="http://schemas.openxmlformats.org/officeDocument/2006/relationships/chart" Target="../charts/char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FA429B-8C97-8FC5-4D82-F2C77B0AB50C}"/>
              </a:ext>
            </a:extLst>
          </p:cNvPr>
          <p:cNvSpPr txBox="1"/>
          <p:nvPr/>
        </p:nvSpPr>
        <p:spPr>
          <a:xfrm>
            <a:off x="508000" y="1778000"/>
            <a:ext cx="6858000" cy="1651000"/>
          </a:xfrm>
          <a:prstGeom prst="rect">
            <a:avLst/>
          </a:prstGeom>
          <a:noFill/>
        </p:spPr>
        <p:txBody>
          <a:bodyPr vert="horz" wrap="square" lIns="0" tIns="0" rIns="0" bIns="0" rtlCol="0" anchor="b">
            <a:noAutofit/>
          </a:bodyPr>
          <a:lstStyle/>
          <a:p>
            <a:r>
              <a:rPr lang="en-US" sz="4600" b="1">
                <a:solidFill>
                  <a:srgbClr val="FFFFFF"/>
                </a:solidFill>
                <a:latin typeface="Cambria" panose="02040503050406030204" pitchFamily="18" charset="0"/>
              </a:rPr>
              <a:t>PMP® Exam Content Outline</a:t>
            </a:r>
          </a:p>
        </p:txBody>
      </p:sp>
      <p:sp>
        <p:nvSpPr>
          <p:cNvPr id="3" name="TextBox 2">
            <a:extLst>
              <a:ext uri="{FF2B5EF4-FFF2-40B4-BE49-F238E27FC236}">
                <a16:creationId xmlns:a16="http://schemas.microsoft.com/office/drawing/2014/main" id="{A51910CD-B2D7-59BB-E499-C2AE1CC4C967}"/>
              </a:ext>
            </a:extLst>
          </p:cNvPr>
          <p:cNvSpPr txBox="1"/>
          <p:nvPr/>
        </p:nvSpPr>
        <p:spPr>
          <a:xfrm>
            <a:off x="508000" y="3683000"/>
            <a:ext cx="6604000" cy="889000"/>
          </a:xfrm>
          <a:prstGeom prst="rect">
            <a:avLst/>
          </a:prstGeom>
          <a:noFill/>
        </p:spPr>
        <p:txBody>
          <a:bodyPr vert="horz" wrap="square" lIns="0" tIns="0" rIns="0" bIns="0" rtlCol="0" anchor="t">
            <a:noAutofit/>
          </a:bodyPr>
          <a:lstStyle/>
          <a:p>
            <a:r>
              <a:rPr lang="en-US">
                <a:solidFill>
                  <a:srgbClr val="C9D6EA"/>
                </a:solidFill>
                <a:latin typeface="Calibri" panose="020F0502020204030204" pitchFamily="34" charset="0"/>
              </a:rPr>
              <a:t>Domains, tasks, study frameworks, and exam-day rules from the July 2026 outline, reorganized for study</a:t>
            </a:r>
          </a:p>
        </p:txBody>
      </p:sp>
      <p:sp>
        <p:nvSpPr>
          <p:cNvPr id="4" name="TextBox 3">
            <a:extLst>
              <a:ext uri="{FF2B5EF4-FFF2-40B4-BE49-F238E27FC236}">
                <a16:creationId xmlns:a16="http://schemas.microsoft.com/office/drawing/2014/main" id="{BE199705-8026-8EAA-14B5-8A545A33FF73}"/>
              </a:ext>
            </a:extLst>
          </p:cNvPr>
          <p:cNvSpPr txBox="1"/>
          <p:nvPr/>
        </p:nvSpPr>
        <p:spPr>
          <a:xfrm>
            <a:off x="508000" y="5969000"/>
            <a:ext cx="7112000" cy="228600"/>
          </a:xfrm>
          <a:prstGeom prst="rect">
            <a:avLst/>
          </a:prstGeom>
          <a:noFill/>
        </p:spPr>
        <p:txBody>
          <a:bodyPr vert="horz" wrap="square" lIns="0" tIns="0" rIns="0" bIns="0" rtlCol="0" anchor="t">
            <a:noAutofit/>
          </a:bodyPr>
          <a:lstStyle/>
          <a:p>
            <a:r>
              <a:rPr lang="en-US" sz="1200">
                <a:solidFill>
                  <a:srgbClr val="9FB0CC"/>
                </a:solidFill>
                <a:latin typeface="Calibri" panose="020F0502020204030204" pitchFamily="34" charset="0"/>
              </a:rPr>
              <a:t>Based on PMI’s PMP® Examination Content Outline · July 2026</a:t>
            </a:r>
          </a:p>
        </p:txBody>
      </p:sp>
      <p:sp>
        <p:nvSpPr>
          <p:cNvPr id="5" name="ProcessCircle">
            <a:extLst>
              <a:ext uri="{FF2B5EF4-FFF2-40B4-BE49-F238E27FC236}">
                <a16:creationId xmlns:a16="http://schemas.microsoft.com/office/drawing/2014/main" id="{32AD9A7D-10EB-701F-5EDC-FF3BA3D89D32}"/>
              </a:ext>
            </a:extLst>
          </p:cNvPr>
          <p:cNvSpPr/>
          <p:nvPr/>
        </p:nvSpPr>
        <p:spPr>
          <a:xfrm>
            <a:off x="8890000" y="787400"/>
            <a:ext cx="2413000" cy="24130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2000" b="1">
                <a:solidFill>
                  <a:srgbClr val="FFFFFF"/>
                </a:solidFill>
                <a:latin typeface="Calibri" panose="020F0502020204030204" pitchFamily="34" charset="0"/>
              </a:rPr>
              <a:t>Process</a:t>
            </a:r>
          </a:p>
          <a:p>
            <a:pPr algn="ctr"/>
            <a:r>
              <a:rPr lang="en-US" sz="2000" b="1">
                <a:solidFill>
                  <a:srgbClr val="FFFFFF"/>
                </a:solidFill>
                <a:latin typeface="Calibri" panose="020F0502020204030204" pitchFamily="34" charset="0"/>
              </a:rPr>
              <a:t>41%</a:t>
            </a:r>
          </a:p>
        </p:txBody>
      </p:sp>
      <p:sp>
        <p:nvSpPr>
          <p:cNvPr id="6" name="PeopleCircle">
            <a:extLst>
              <a:ext uri="{FF2B5EF4-FFF2-40B4-BE49-F238E27FC236}">
                <a16:creationId xmlns:a16="http://schemas.microsoft.com/office/drawing/2014/main" id="{053F3E9D-3794-7259-60C9-F8E5A832CE53}"/>
              </a:ext>
            </a:extLst>
          </p:cNvPr>
          <p:cNvSpPr/>
          <p:nvPr/>
        </p:nvSpPr>
        <p:spPr>
          <a:xfrm>
            <a:off x="7683500" y="3619500"/>
            <a:ext cx="2159000" cy="2159000"/>
          </a:xfrm>
          <a:prstGeom prst="ellipse">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2000" b="1">
                <a:solidFill>
                  <a:srgbClr val="FFFFFF"/>
                </a:solidFill>
                <a:latin typeface="Calibri" panose="020F0502020204030204" pitchFamily="34" charset="0"/>
              </a:rPr>
              <a:t>People</a:t>
            </a:r>
          </a:p>
          <a:p>
            <a:pPr algn="ctr"/>
            <a:r>
              <a:rPr lang="en-US" sz="2000" b="1">
                <a:solidFill>
                  <a:srgbClr val="FFFFFF"/>
                </a:solidFill>
                <a:latin typeface="Calibri" panose="020F0502020204030204" pitchFamily="34" charset="0"/>
              </a:rPr>
              <a:t>33%</a:t>
            </a:r>
          </a:p>
        </p:txBody>
      </p:sp>
      <p:sp>
        <p:nvSpPr>
          <p:cNvPr id="7" name="BusinessCircle">
            <a:extLst>
              <a:ext uri="{FF2B5EF4-FFF2-40B4-BE49-F238E27FC236}">
                <a16:creationId xmlns:a16="http://schemas.microsoft.com/office/drawing/2014/main" id="{EC87D332-83AA-15C0-72B5-8A16C19F9C21}"/>
              </a:ext>
            </a:extLst>
          </p:cNvPr>
          <p:cNvSpPr/>
          <p:nvPr/>
        </p:nvSpPr>
        <p:spPr>
          <a:xfrm>
            <a:off x="9969500" y="3810000"/>
            <a:ext cx="1905000" cy="19050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400" b="1">
                <a:solidFill>
                  <a:srgbClr val="FFFFFF"/>
                </a:solidFill>
                <a:latin typeface="Calibri" panose="020F0502020204030204" pitchFamily="34" charset="0"/>
              </a:rPr>
              <a:t>Business</a:t>
            </a:r>
          </a:p>
          <a:p>
            <a:pPr algn="ctr"/>
            <a:r>
              <a:rPr lang="en-US" sz="1400" b="1">
                <a:solidFill>
                  <a:srgbClr val="FFFFFF"/>
                </a:solidFill>
                <a:latin typeface="Calibri" panose="020F0502020204030204" pitchFamily="34" charset="0"/>
              </a:rPr>
              <a:t>Environment</a:t>
            </a:r>
          </a:p>
          <a:p>
            <a:pPr algn="ctr"/>
            <a:r>
              <a:rPr lang="en-US" sz="2000" b="1">
                <a:solidFill>
                  <a:srgbClr val="FFFFFF"/>
                </a:solidFill>
                <a:latin typeface="Calibri" panose="020F0502020204030204" pitchFamily="34" charset="0"/>
              </a:rPr>
              <a:t>26%</a:t>
            </a:r>
          </a:p>
        </p:txBody>
      </p:sp>
      <p:sp>
        <p:nvSpPr>
          <p:cNvPr id="8" name="Copyright"/>
          <p:cNvSpPr txBox="1"/>
          <p:nvPr/>
        </p:nvSpPr>
        <p:spPr>
          <a:xfrm>
            <a:off x="508000" y="6324600"/>
            <a:ext cx="7112000" cy="228600"/>
          </a:xfrm>
          <a:prstGeom prst="rect">
            <a:avLst/>
          </a:prstGeom>
          <a:noFill/>
        </p:spPr>
        <p:txBody>
          <a:bodyPr wrap="square" lIns="0" rIns="0" tIns="0" bIns="0">
            <a:spAutoFit/>
          </a:bodyPr>
          <a:lstStyle/>
          <a:p>
            <a:r>
              <a:rPr sz="1100">
                <a:solidFill>
                  <a:srgbClr val="A3ACBD"/>
                </a:solidFill>
                <a:latin typeface="Calibri"/>
              </a:rPr>
              <a:t>© 2026 jmtibbetts (LinuxNinja). All rights reserved. With credit to ariel.r.marin@gmail.com.</a:t>
            </a:r>
          </a:p>
        </p:txBody>
      </p:sp>
    </p:spTree>
    <p:extLst>
      <p:ext uri="{BB962C8B-B14F-4D97-AF65-F5344CB8AC3E}">
        <p14:creationId xmlns:p14="http://schemas.microsoft.com/office/powerpoint/2010/main" val="3254519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2D3D47B-9A48-4BDC-570E-89D1716D247A}"/>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Table of contents</a:t>
            </a:r>
          </a:p>
        </p:txBody>
      </p:sp>
      <p:sp>
        <p:nvSpPr>
          <p:cNvPr id="3" name="Rectangle: Rounded Corners 2">
            <a:hlinkClick r:id="rId3" action="ppaction://hlinksldjump"/>
            <a:extLst>
              <a:ext uri="{FF2B5EF4-FFF2-40B4-BE49-F238E27FC236}">
                <a16:creationId xmlns:a16="http://schemas.microsoft.com/office/drawing/2014/main" id="{21E7FC55-16A2-49DD-060B-A607BA63D354}"/>
              </a:ext>
            </a:extLst>
          </p:cNvPr>
          <p:cNvSpPr/>
          <p:nvPr/>
        </p:nvSpPr>
        <p:spPr>
          <a:xfrm>
            <a:off x="508000" y="1320800"/>
            <a:ext cx="5461000" cy="863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hlinkClick r:id="rId3" action="ppaction://hlinksldjump"/>
            <a:extLst>
              <a:ext uri="{FF2B5EF4-FFF2-40B4-BE49-F238E27FC236}">
                <a16:creationId xmlns:a16="http://schemas.microsoft.com/office/drawing/2014/main" id="{945E7D17-53C8-EC86-4DE1-41414E13AA7A}"/>
              </a:ext>
            </a:extLst>
          </p:cNvPr>
          <p:cNvSpPr/>
          <p:nvPr/>
        </p:nvSpPr>
        <p:spPr>
          <a:xfrm>
            <a:off x="685800" y="1498600"/>
            <a:ext cx="508000" cy="508000"/>
          </a:xfrm>
          <a:prstGeom prst="ellipse">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600" b="1">
                <a:solidFill>
                  <a:srgbClr val="FFFFFF"/>
                </a:solidFill>
                <a:latin typeface="Calibri" panose="020F0502020204030204" pitchFamily="34" charset="0"/>
              </a:rPr>
              <a:t>1</a:t>
            </a:r>
          </a:p>
        </p:txBody>
      </p:sp>
      <p:sp>
        <p:nvSpPr>
          <p:cNvPr id="5" name="TextBox 4">
            <a:hlinkClick r:id="rId3" action="ppaction://hlinksldjump"/>
            <a:extLst>
              <a:ext uri="{FF2B5EF4-FFF2-40B4-BE49-F238E27FC236}">
                <a16:creationId xmlns:a16="http://schemas.microsoft.com/office/drawing/2014/main" id="{6E9C181A-F2D8-170B-0F21-F5DE25291725}"/>
              </a:ext>
            </a:extLst>
          </p:cNvPr>
          <p:cNvSpPr txBox="1"/>
          <p:nvPr/>
        </p:nvSpPr>
        <p:spPr>
          <a:xfrm>
            <a:off x="1371600" y="1371600"/>
            <a:ext cx="3175000" cy="762000"/>
          </a:xfrm>
          <a:prstGeom prst="rect">
            <a:avLst/>
          </a:prstGeom>
          <a:noFill/>
        </p:spPr>
        <p:txBody>
          <a:bodyPr vert="horz" wrap="square" lIns="0" tIns="0" rIns="0" bIns="0" rtlCol="0" anchor="ctr">
            <a:noAutofit/>
          </a:bodyPr>
          <a:lstStyle/>
          <a:p>
            <a:r>
              <a:rPr lang="en-US" sz="1700" b="1">
                <a:solidFill>
                  <a:srgbClr val="14213D"/>
                </a:solidFill>
                <a:latin typeface="Calibri" panose="020F0502020204030204" pitchFamily="34" charset="0"/>
              </a:rPr>
              <a:t>Overview</a:t>
            </a:r>
          </a:p>
        </p:txBody>
      </p:sp>
      <p:sp>
        <p:nvSpPr>
          <p:cNvPr id="6" name="TextBox 5">
            <a:hlinkClick r:id="rId3" action="ppaction://hlinksldjump"/>
            <a:extLst>
              <a:ext uri="{FF2B5EF4-FFF2-40B4-BE49-F238E27FC236}">
                <a16:creationId xmlns:a16="http://schemas.microsoft.com/office/drawing/2014/main" id="{CFC97A36-2622-9332-CBFF-9FD423D5FB94}"/>
              </a:ext>
            </a:extLst>
          </p:cNvPr>
          <p:cNvSpPr txBox="1"/>
          <p:nvPr/>
        </p:nvSpPr>
        <p:spPr>
          <a:xfrm>
            <a:off x="4521200" y="1371600"/>
            <a:ext cx="1270000" cy="762000"/>
          </a:xfrm>
          <a:prstGeom prst="rect">
            <a:avLst/>
          </a:prstGeom>
          <a:noFill/>
        </p:spPr>
        <p:txBody>
          <a:bodyPr vert="horz" wrap="square" lIns="0" tIns="0" rIns="0" bIns="0" rtlCol="0" anchor="ctr">
            <a:noAutofit/>
          </a:bodyPr>
          <a:lstStyle/>
          <a:p>
            <a:pPr algn="r"/>
            <a:r>
              <a:rPr lang="en-US" sz="1400">
                <a:solidFill>
                  <a:srgbClr val="5B6475"/>
                </a:solidFill>
                <a:latin typeface="Calibri" panose="020F0502020204030204" pitchFamily="34" charset="0"/>
              </a:rPr>
              <a:t>Slides 1–3</a:t>
            </a:r>
          </a:p>
        </p:txBody>
      </p:sp>
      <p:sp>
        <p:nvSpPr>
          <p:cNvPr id="7" name="Rectangle: Rounded Corners 6">
            <a:hlinkClick r:id="rId4" action="ppaction://hlinksldjump"/>
            <a:extLst>
              <a:ext uri="{FF2B5EF4-FFF2-40B4-BE49-F238E27FC236}">
                <a16:creationId xmlns:a16="http://schemas.microsoft.com/office/drawing/2014/main" id="{515C7EEA-F302-004C-7C41-2337F2FAE9DD}"/>
              </a:ext>
            </a:extLst>
          </p:cNvPr>
          <p:cNvSpPr/>
          <p:nvPr/>
        </p:nvSpPr>
        <p:spPr>
          <a:xfrm>
            <a:off x="508000" y="2311400"/>
            <a:ext cx="5461000" cy="863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hlinkClick r:id="rId4" action="ppaction://hlinksldjump"/>
            <a:extLst>
              <a:ext uri="{FF2B5EF4-FFF2-40B4-BE49-F238E27FC236}">
                <a16:creationId xmlns:a16="http://schemas.microsoft.com/office/drawing/2014/main" id="{30479E56-1AC2-D978-29DE-B5FB678F9584}"/>
              </a:ext>
            </a:extLst>
          </p:cNvPr>
          <p:cNvSpPr/>
          <p:nvPr/>
        </p:nvSpPr>
        <p:spPr>
          <a:xfrm>
            <a:off x="685800" y="2489200"/>
            <a:ext cx="508000" cy="508000"/>
          </a:xfrm>
          <a:prstGeom prst="ellipse">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600" b="1">
                <a:solidFill>
                  <a:srgbClr val="FFFFFF"/>
                </a:solidFill>
                <a:latin typeface="Calibri" panose="020F0502020204030204" pitchFamily="34" charset="0"/>
              </a:rPr>
              <a:t>2</a:t>
            </a:r>
          </a:p>
        </p:txBody>
      </p:sp>
      <p:sp>
        <p:nvSpPr>
          <p:cNvPr id="9" name="TextBox 8">
            <a:hlinkClick r:id="rId4" action="ppaction://hlinksldjump"/>
            <a:extLst>
              <a:ext uri="{FF2B5EF4-FFF2-40B4-BE49-F238E27FC236}">
                <a16:creationId xmlns:a16="http://schemas.microsoft.com/office/drawing/2014/main" id="{ADC4800F-A7FE-1C9E-DDE6-4D96EC8675A7}"/>
              </a:ext>
            </a:extLst>
          </p:cNvPr>
          <p:cNvSpPr txBox="1"/>
          <p:nvPr/>
        </p:nvSpPr>
        <p:spPr>
          <a:xfrm>
            <a:off x="1371600" y="2362200"/>
            <a:ext cx="3175000" cy="762000"/>
          </a:xfrm>
          <a:prstGeom prst="rect">
            <a:avLst/>
          </a:prstGeom>
          <a:noFill/>
        </p:spPr>
        <p:txBody>
          <a:bodyPr vert="horz" wrap="square" lIns="0" tIns="0" rIns="0" bIns="0" rtlCol="0" anchor="ctr">
            <a:noAutofit/>
          </a:bodyPr>
          <a:lstStyle/>
          <a:p>
            <a:r>
              <a:rPr lang="en-US" sz="1700" b="1">
                <a:solidFill>
                  <a:srgbClr val="14213D"/>
                </a:solidFill>
                <a:latin typeface="Calibri" panose="020F0502020204030204" pitchFamily="34" charset="0"/>
              </a:rPr>
              <a:t>How the exam is built</a:t>
            </a:r>
          </a:p>
        </p:txBody>
      </p:sp>
      <p:sp>
        <p:nvSpPr>
          <p:cNvPr id="10" name="TextBox 9">
            <a:hlinkClick r:id="rId4" action="ppaction://hlinksldjump"/>
            <a:extLst>
              <a:ext uri="{FF2B5EF4-FFF2-40B4-BE49-F238E27FC236}">
                <a16:creationId xmlns:a16="http://schemas.microsoft.com/office/drawing/2014/main" id="{5AEECA5F-0055-D0D7-B0AF-5335E49F0E67}"/>
              </a:ext>
            </a:extLst>
          </p:cNvPr>
          <p:cNvSpPr txBox="1"/>
          <p:nvPr/>
        </p:nvSpPr>
        <p:spPr>
          <a:xfrm>
            <a:off x="4521200" y="2362200"/>
            <a:ext cx="1270000" cy="762000"/>
          </a:xfrm>
          <a:prstGeom prst="rect">
            <a:avLst/>
          </a:prstGeom>
          <a:noFill/>
        </p:spPr>
        <p:txBody>
          <a:bodyPr vert="horz" wrap="square" lIns="0" tIns="0" rIns="0" bIns="0" rtlCol="0" anchor="ctr">
            <a:noAutofit/>
          </a:bodyPr>
          <a:lstStyle/>
          <a:p>
            <a:pPr algn="r"/>
            <a:r>
              <a:rPr lang="en-US" sz="1400">
                <a:solidFill>
                  <a:srgbClr val="5B6475"/>
                </a:solidFill>
                <a:latin typeface="Calibri" panose="020F0502020204030204" pitchFamily="34" charset="0"/>
              </a:rPr>
              <a:t>Slides 4–8</a:t>
            </a:r>
          </a:p>
        </p:txBody>
      </p:sp>
      <p:sp>
        <p:nvSpPr>
          <p:cNvPr id="11" name="Rectangle: Rounded Corners 10">
            <a:hlinkClick r:id="rId5" action="ppaction://hlinksldjump"/>
            <a:extLst>
              <a:ext uri="{FF2B5EF4-FFF2-40B4-BE49-F238E27FC236}">
                <a16:creationId xmlns:a16="http://schemas.microsoft.com/office/drawing/2014/main" id="{8B073CBF-0EF8-8B19-A3E8-0E22F6D266FD}"/>
              </a:ext>
            </a:extLst>
          </p:cNvPr>
          <p:cNvSpPr/>
          <p:nvPr/>
        </p:nvSpPr>
        <p:spPr>
          <a:xfrm>
            <a:off x="508000" y="3302000"/>
            <a:ext cx="5461000" cy="863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hlinkClick r:id="rId5" action="ppaction://hlinksldjump"/>
            <a:extLst>
              <a:ext uri="{FF2B5EF4-FFF2-40B4-BE49-F238E27FC236}">
                <a16:creationId xmlns:a16="http://schemas.microsoft.com/office/drawing/2014/main" id="{EA416DD3-A41B-E604-4A41-84E2C7D200FF}"/>
              </a:ext>
            </a:extLst>
          </p:cNvPr>
          <p:cNvSpPr/>
          <p:nvPr/>
        </p:nvSpPr>
        <p:spPr>
          <a:xfrm>
            <a:off x="685800" y="3479800"/>
            <a:ext cx="508000" cy="508000"/>
          </a:xfrm>
          <a:prstGeom prst="ellipse">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600" b="1">
                <a:solidFill>
                  <a:srgbClr val="FFFFFF"/>
                </a:solidFill>
                <a:latin typeface="Calibri" panose="020F0502020204030204" pitchFamily="34" charset="0"/>
              </a:rPr>
              <a:t>3</a:t>
            </a:r>
          </a:p>
        </p:txBody>
      </p:sp>
      <p:sp>
        <p:nvSpPr>
          <p:cNvPr id="13" name="TextBox 12">
            <a:hlinkClick r:id="rId5" action="ppaction://hlinksldjump"/>
            <a:extLst>
              <a:ext uri="{FF2B5EF4-FFF2-40B4-BE49-F238E27FC236}">
                <a16:creationId xmlns:a16="http://schemas.microsoft.com/office/drawing/2014/main" id="{49EF524F-64C0-7406-C928-782928F98500}"/>
              </a:ext>
            </a:extLst>
          </p:cNvPr>
          <p:cNvSpPr txBox="1"/>
          <p:nvPr/>
        </p:nvSpPr>
        <p:spPr>
          <a:xfrm>
            <a:off x="1371600" y="3352800"/>
            <a:ext cx="3175000" cy="762000"/>
          </a:xfrm>
          <a:prstGeom prst="rect">
            <a:avLst/>
          </a:prstGeom>
          <a:noFill/>
        </p:spPr>
        <p:txBody>
          <a:bodyPr vert="horz" wrap="square" lIns="0" tIns="0" rIns="0" bIns="0" rtlCol="0" anchor="ctr">
            <a:noAutofit/>
          </a:bodyPr>
          <a:lstStyle/>
          <a:p>
            <a:r>
              <a:rPr lang="en-US" sz="1700" b="1">
                <a:solidFill>
                  <a:srgbClr val="14213D"/>
                </a:solidFill>
                <a:latin typeface="Calibri" panose="020F0502020204030204" pitchFamily="34" charset="0"/>
              </a:rPr>
              <a:t>Domain I — People</a:t>
            </a:r>
          </a:p>
        </p:txBody>
      </p:sp>
      <p:sp>
        <p:nvSpPr>
          <p:cNvPr id="14" name="TextBox 13">
            <a:hlinkClick r:id="rId5" action="ppaction://hlinksldjump"/>
            <a:extLst>
              <a:ext uri="{FF2B5EF4-FFF2-40B4-BE49-F238E27FC236}">
                <a16:creationId xmlns:a16="http://schemas.microsoft.com/office/drawing/2014/main" id="{91197526-B9D9-F3E8-326E-D198EAAE5BC9}"/>
              </a:ext>
            </a:extLst>
          </p:cNvPr>
          <p:cNvSpPr txBox="1"/>
          <p:nvPr/>
        </p:nvSpPr>
        <p:spPr>
          <a:xfrm>
            <a:off x="4521200" y="3352800"/>
            <a:ext cx="1270000" cy="762000"/>
          </a:xfrm>
          <a:prstGeom prst="rect">
            <a:avLst/>
          </a:prstGeom>
          <a:noFill/>
        </p:spPr>
        <p:txBody>
          <a:bodyPr vert="horz" wrap="square" lIns="0" tIns="0" rIns="0" bIns="0" rtlCol="0" anchor="ctr">
            <a:noAutofit/>
          </a:bodyPr>
          <a:lstStyle/>
          <a:p>
            <a:pPr algn="r"/>
            <a:r>
              <a:rPr lang="en-US" sz="1400">
                <a:solidFill>
                  <a:srgbClr val="5B6475"/>
                </a:solidFill>
                <a:latin typeface="Calibri" panose="020F0502020204030204" pitchFamily="34" charset="0"/>
              </a:rPr>
              <a:t>Slides 9–26</a:t>
            </a:r>
          </a:p>
        </p:txBody>
      </p:sp>
      <p:sp>
        <p:nvSpPr>
          <p:cNvPr id="15" name="Rectangle: Rounded Corners 14">
            <a:hlinkClick r:id="rId6" action="ppaction://hlinksldjump"/>
            <a:extLst>
              <a:ext uri="{FF2B5EF4-FFF2-40B4-BE49-F238E27FC236}">
                <a16:creationId xmlns:a16="http://schemas.microsoft.com/office/drawing/2014/main" id="{0203CE2A-19AE-4CA0-6544-E5FD7B0B11C1}"/>
              </a:ext>
            </a:extLst>
          </p:cNvPr>
          <p:cNvSpPr/>
          <p:nvPr/>
        </p:nvSpPr>
        <p:spPr>
          <a:xfrm>
            <a:off x="508000" y="4292600"/>
            <a:ext cx="5461000" cy="863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hlinkClick r:id="rId6" action="ppaction://hlinksldjump"/>
            <a:extLst>
              <a:ext uri="{FF2B5EF4-FFF2-40B4-BE49-F238E27FC236}">
                <a16:creationId xmlns:a16="http://schemas.microsoft.com/office/drawing/2014/main" id="{62F711FA-5807-8BC8-E706-6B1BE51E4B4D}"/>
              </a:ext>
            </a:extLst>
          </p:cNvPr>
          <p:cNvSpPr/>
          <p:nvPr/>
        </p:nvSpPr>
        <p:spPr>
          <a:xfrm>
            <a:off x="685800" y="4470400"/>
            <a:ext cx="508000" cy="5080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600" b="1">
                <a:solidFill>
                  <a:srgbClr val="FFFFFF"/>
                </a:solidFill>
                <a:latin typeface="Calibri" panose="020F0502020204030204" pitchFamily="34" charset="0"/>
              </a:rPr>
              <a:t>4</a:t>
            </a:r>
          </a:p>
        </p:txBody>
      </p:sp>
      <p:sp>
        <p:nvSpPr>
          <p:cNvPr id="17" name="TextBox 16">
            <a:hlinkClick r:id="rId6" action="ppaction://hlinksldjump"/>
            <a:extLst>
              <a:ext uri="{FF2B5EF4-FFF2-40B4-BE49-F238E27FC236}">
                <a16:creationId xmlns:a16="http://schemas.microsoft.com/office/drawing/2014/main" id="{D3E47387-F35B-5A18-7387-B9D9E697D384}"/>
              </a:ext>
            </a:extLst>
          </p:cNvPr>
          <p:cNvSpPr txBox="1"/>
          <p:nvPr/>
        </p:nvSpPr>
        <p:spPr>
          <a:xfrm>
            <a:off x="1371600" y="4343400"/>
            <a:ext cx="3175000" cy="762000"/>
          </a:xfrm>
          <a:prstGeom prst="rect">
            <a:avLst/>
          </a:prstGeom>
          <a:noFill/>
        </p:spPr>
        <p:txBody>
          <a:bodyPr vert="horz" wrap="square" lIns="0" tIns="0" rIns="0" bIns="0" rtlCol="0" anchor="ctr">
            <a:noAutofit/>
          </a:bodyPr>
          <a:lstStyle/>
          <a:p>
            <a:r>
              <a:rPr lang="en-US" sz="1700" b="1">
                <a:solidFill>
                  <a:srgbClr val="14213D"/>
                </a:solidFill>
                <a:latin typeface="Calibri" panose="020F0502020204030204" pitchFamily="34" charset="0"/>
              </a:rPr>
              <a:t>Domain II — Process</a:t>
            </a:r>
          </a:p>
        </p:txBody>
      </p:sp>
      <p:sp>
        <p:nvSpPr>
          <p:cNvPr id="18" name="TextBox 17">
            <a:hlinkClick r:id="rId6" action="ppaction://hlinksldjump"/>
            <a:extLst>
              <a:ext uri="{FF2B5EF4-FFF2-40B4-BE49-F238E27FC236}">
                <a16:creationId xmlns:a16="http://schemas.microsoft.com/office/drawing/2014/main" id="{D420C64D-CB04-98DF-CE7A-AE7C25A64D2E}"/>
              </a:ext>
            </a:extLst>
          </p:cNvPr>
          <p:cNvSpPr txBox="1"/>
          <p:nvPr/>
        </p:nvSpPr>
        <p:spPr>
          <a:xfrm>
            <a:off x="4521200" y="4343400"/>
            <a:ext cx="1270000" cy="762000"/>
          </a:xfrm>
          <a:prstGeom prst="rect">
            <a:avLst/>
          </a:prstGeom>
          <a:noFill/>
        </p:spPr>
        <p:txBody>
          <a:bodyPr vert="horz" wrap="square" lIns="0" tIns="0" rIns="0" bIns="0" rtlCol="0" anchor="ctr">
            <a:noAutofit/>
          </a:bodyPr>
          <a:lstStyle/>
          <a:p>
            <a:pPr algn="r"/>
            <a:r>
              <a:rPr lang="en-US" sz="1400">
                <a:solidFill>
                  <a:srgbClr val="5B6475"/>
                </a:solidFill>
                <a:latin typeface="Calibri" panose="020F0502020204030204" pitchFamily="34" charset="0"/>
              </a:rPr>
              <a:t>Slides 27–60</a:t>
            </a:r>
          </a:p>
        </p:txBody>
      </p:sp>
      <p:sp>
        <p:nvSpPr>
          <p:cNvPr id="19" name="Rectangle: Rounded Corners 18">
            <a:hlinkClick r:id="rId7" action="ppaction://hlinksldjump"/>
            <a:extLst>
              <a:ext uri="{FF2B5EF4-FFF2-40B4-BE49-F238E27FC236}">
                <a16:creationId xmlns:a16="http://schemas.microsoft.com/office/drawing/2014/main" id="{8F7EFDA4-7650-C8BA-0641-273FA846D2FC}"/>
              </a:ext>
            </a:extLst>
          </p:cNvPr>
          <p:cNvSpPr/>
          <p:nvPr/>
        </p:nvSpPr>
        <p:spPr>
          <a:xfrm>
            <a:off x="508000" y="5283200"/>
            <a:ext cx="5461000" cy="863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hlinkClick r:id="rId7" action="ppaction://hlinksldjump"/>
            <a:extLst>
              <a:ext uri="{FF2B5EF4-FFF2-40B4-BE49-F238E27FC236}">
                <a16:creationId xmlns:a16="http://schemas.microsoft.com/office/drawing/2014/main" id="{AC7D8634-9A32-C992-9D81-B1463011A2E7}"/>
              </a:ext>
            </a:extLst>
          </p:cNvPr>
          <p:cNvSpPr/>
          <p:nvPr/>
        </p:nvSpPr>
        <p:spPr>
          <a:xfrm>
            <a:off x="685800" y="5461000"/>
            <a:ext cx="508000" cy="5080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600" b="1">
                <a:solidFill>
                  <a:srgbClr val="FFFFFF"/>
                </a:solidFill>
                <a:latin typeface="Calibri" panose="020F0502020204030204" pitchFamily="34" charset="0"/>
              </a:rPr>
              <a:t>5</a:t>
            </a:r>
          </a:p>
        </p:txBody>
      </p:sp>
      <p:sp>
        <p:nvSpPr>
          <p:cNvPr id="21" name="TextBox 20">
            <a:hlinkClick r:id="rId7" action="ppaction://hlinksldjump"/>
            <a:extLst>
              <a:ext uri="{FF2B5EF4-FFF2-40B4-BE49-F238E27FC236}">
                <a16:creationId xmlns:a16="http://schemas.microsoft.com/office/drawing/2014/main" id="{BA8C82C8-C979-002C-3E8D-5CE5DA8DC0D1}"/>
              </a:ext>
            </a:extLst>
          </p:cNvPr>
          <p:cNvSpPr txBox="1"/>
          <p:nvPr/>
        </p:nvSpPr>
        <p:spPr>
          <a:xfrm>
            <a:off x="1371600" y="5334000"/>
            <a:ext cx="3175000" cy="762000"/>
          </a:xfrm>
          <a:prstGeom prst="rect">
            <a:avLst/>
          </a:prstGeom>
          <a:noFill/>
        </p:spPr>
        <p:txBody>
          <a:bodyPr vert="horz" wrap="square" lIns="0" tIns="0" rIns="0" bIns="0" rtlCol="0" anchor="ctr">
            <a:noAutofit/>
          </a:bodyPr>
          <a:lstStyle/>
          <a:p>
            <a:r>
              <a:rPr lang="en-US" sz="1700" b="1">
                <a:solidFill>
                  <a:srgbClr val="14213D"/>
                </a:solidFill>
                <a:latin typeface="Calibri" panose="020F0502020204030204" pitchFamily="34" charset="0"/>
              </a:rPr>
              <a:t>Domain III — Business Environment</a:t>
            </a:r>
          </a:p>
        </p:txBody>
      </p:sp>
      <p:sp>
        <p:nvSpPr>
          <p:cNvPr id="22" name="TextBox 21">
            <a:hlinkClick r:id="rId7" action="ppaction://hlinksldjump"/>
            <a:extLst>
              <a:ext uri="{FF2B5EF4-FFF2-40B4-BE49-F238E27FC236}">
                <a16:creationId xmlns:a16="http://schemas.microsoft.com/office/drawing/2014/main" id="{95241BC5-5122-2D50-307A-10BA99D82728}"/>
              </a:ext>
            </a:extLst>
          </p:cNvPr>
          <p:cNvSpPr txBox="1"/>
          <p:nvPr/>
        </p:nvSpPr>
        <p:spPr>
          <a:xfrm>
            <a:off x="4521200" y="5334000"/>
            <a:ext cx="1270000" cy="762000"/>
          </a:xfrm>
          <a:prstGeom prst="rect">
            <a:avLst/>
          </a:prstGeom>
          <a:noFill/>
        </p:spPr>
        <p:txBody>
          <a:bodyPr vert="horz" wrap="square" lIns="0" tIns="0" rIns="0" bIns="0" rtlCol="0" anchor="ctr">
            <a:noAutofit/>
          </a:bodyPr>
          <a:lstStyle/>
          <a:p>
            <a:pPr algn="r"/>
            <a:r>
              <a:rPr lang="en-US" sz="1400">
                <a:solidFill>
                  <a:srgbClr val="5B6475"/>
                </a:solidFill>
                <a:latin typeface="Calibri" panose="020F0502020204030204" pitchFamily="34" charset="0"/>
              </a:rPr>
              <a:t>Slides 61–87</a:t>
            </a:r>
          </a:p>
        </p:txBody>
      </p:sp>
      <p:sp>
        <p:nvSpPr>
          <p:cNvPr id="23" name="Rectangle: Rounded Corners 22">
            <a:hlinkClick r:id="rId8" action="ppaction://hlinksldjump"/>
            <a:extLst>
              <a:ext uri="{FF2B5EF4-FFF2-40B4-BE49-F238E27FC236}">
                <a16:creationId xmlns:a16="http://schemas.microsoft.com/office/drawing/2014/main" id="{5B3B4C87-3E9E-F579-6F44-9F9778E75EF5}"/>
              </a:ext>
            </a:extLst>
          </p:cNvPr>
          <p:cNvSpPr/>
          <p:nvPr/>
        </p:nvSpPr>
        <p:spPr>
          <a:xfrm>
            <a:off x="6223000" y="1320800"/>
            <a:ext cx="5461000" cy="863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hlinkClick r:id="rId8" action="ppaction://hlinksldjump"/>
            <a:extLst>
              <a:ext uri="{FF2B5EF4-FFF2-40B4-BE49-F238E27FC236}">
                <a16:creationId xmlns:a16="http://schemas.microsoft.com/office/drawing/2014/main" id="{CD9B99F7-3B6D-524A-7C15-D93B8CBE3793}"/>
              </a:ext>
            </a:extLst>
          </p:cNvPr>
          <p:cNvSpPr/>
          <p:nvPr/>
        </p:nvSpPr>
        <p:spPr>
          <a:xfrm>
            <a:off x="6400800" y="1498600"/>
            <a:ext cx="508000" cy="5080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600" b="1">
                <a:solidFill>
                  <a:srgbClr val="FFFFFF"/>
                </a:solidFill>
                <a:latin typeface="Calibri" panose="020F0502020204030204" pitchFamily="34" charset="0"/>
              </a:rPr>
              <a:t>6</a:t>
            </a:r>
          </a:p>
        </p:txBody>
      </p:sp>
      <p:sp>
        <p:nvSpPr>
          <p:cNvPr id="25" name="TextBox 24">
            <a:hlinkClick r:id="rId8" action="ppaction://hlinksldjump"/>
            <a:extLst>
              <a:ext uri="{FF2B5EF4-FFF2-40B4-BE49-F238E27FC236}">
                <a16:creationId xmlns:a16="http://schemas.microsoft.com/office/drawing/2014/main" id="{0799A5E9-AC49-2DBF-A57E-7D1EFE6E3B2D}"/>
              </a:ext>
            </a:extLst>
          </p:cNvPr>
          <p:cNvSpPr txBox="1"/>
          <p:nvPr/>
        </p:nvSpPr>
        <p:spPr>
          <a:xfrm>
            <a:off x="7086600" y="1371600"/>
            <a:ext cx="3175000" cy="762000"/>
          </a:xfrm>
          <a:prstGeom prst="rect">
            <a:avLst/>
          </a:prstGeom>
          <a:noFill/>
        </p:spPr>
        <p:txBody>
          <a:bodyPr vert="horz" wrap="square" lIns="0" tIns="0" rIns="0" bIns="0" rtlCol="0" anchor="ctr">
            <a:noAutofit/>
          </a:bodyPr>
          <a:lstStyle/>
          <a:p>
            <a:r>
              <a:rPr lang="en-US" sz="1700" b="1">
                <a:solidFill>
                  <a:srgbClr val="14213D"/>
                </a:solidFill>
                <a:latin typeface="Calibri" panose="020F0502020204030204" pitchFamily="34" charset="0"/>
              </a:rPr>
              <a:t>Agile essentials</a:t>
            </a:r>
          </a:p>
        </p:txBody>
      </p:sp>
      <p:sp>
        <p:nvSpPr>
          <p:cNvPr id="26" name="TextBox 25">
            <a:hlinkClick r:id="rId8" action="ppaction://hlinksldjump"/>
            <a:extLst>
              <a:ext uri="{FF2B5EF4-FFF2-40B4-BE49-F238E27FC236}">
                <a16:creationId xmlns:a16="http://schemas.microsoft.com/office/drawing/2014/main" id="{5CB9F960-B2EC-61F3-C942-715928EB4124}"/>
              </a:ext>
            </a:extLst>
          </p:cNvPr>
          <p:cNvSpPr txBox="1"/>
          <p:nvPr/>
        </p:nvSpPr>
        <p:spPr>
          <a:xfrm>
            <a:off x="10236200" y="1371600"/>
            <a:ext cx="1270000" cy="762000"/>
          </a:xfrm>
          <a:prstGeom prst="rect">
            <a:avLst/>
          </a:prstGeom>
          <a:noFill/>
        </p:spPr>
        <p:txBody>
          <a:bodyPr vert="horz" wrap="square" lIns="0" tIns="0" rIns="0" bIns="0" rtlCol="0" anchor="ctr">
            <a:noAutofit/>
          </a:bodyPr>
          <a:lstStyle/>
          <a:p>
            <a:pPr algn="r"/>
            <a:r>
              <a:rPr lang="en-US" sz="1400">
                <a:solidFill>
                  <a:srgbClr val="5B6475"/>
                </a:solidFill>
                <a:latin typeface="Calibri" panose="020F0502020204030204" pitchFamily="34" charset="0"/>
              </a:rPr>
              <a:t>Slides 88–110</a:t>
            </a:r>
          </a:p>
        </p:txBody>
      </p:sp>
      <p:sp>
        <p:nvSpPr>
          <p:cNvPr id="27" name="Rectangle: Rounded Corners 26">
            <a:hlinkClick r:id="rId9" action="ppaction://hlinksldjump"/>
            <a:extLst>
              <a:ext uri="{FF2B5EF4-FFF2-40B4-BE49-F238E27FC236}">
                <a16:creationId xmlns:a16="http://schemas.microsoft.com/office/drawing/2014/main" id="{C3E4454A-3135-AEBC-2EF8-5D3C56CA9F99}"/>
              </a:ext>
            </a:extLst>
          </p:cNvPr>
          <p:cNvSpPr/>
          <p:nvPr/>
        </p:nvSpPr>
        <p:spPr>
          <a:xfrm>
            <a:off x="6223000" y="2311400"/>
            <a:ext cx="5461000" cy="863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hlinkClick r:id="rId9" action="ppaction://hlinksldjump"/>
            <a:extLst>
              <a:ext uri="{FF2B5EF4-FFF2-40B4-BE49-F238E27FC236}">
                <a16:creationId xmlns:a16="http://schemas.microsoft.com/office/drawing/2014/main" id="{E8127696-6763-089E-25D9-574185666772}"/>
              </a:ext>
            </a:extLst>
          </p:cNvPr>
          <p:cNvSpPr/>
          <p:nvPr/>
        </p:nvSpPr>
        <p:spPr>
          <a:xfrm>
            <a:off x="6400800" y="2489200"/>
            <a:ext cx="508000" cy="508000"/>
          </a:xfrm>
          <a:prstGeom prst="ellipse">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600" b="1">
                <a:solidFill>
                  <a:srgbClr val="14213D"/>
                </a:solidFill>
                <a:latin typeface="Calibri" panose="020F0502020204030204" pitchFamily="34" charset="0"/>
              </a:rPr>
              <a:t>7</a:t>
            </a:r>
          </a:p>
        </p:txBody>
      </p:sp>
      <p:sp>
        <p:nvSpPr>
          <p:cNvPr id="29" name="TextBox 28">
            <a:hlinkClick r:id="rId9" action="ppaction://hlinksldjump"/>
            <a:extLst>
              <a:ext uri="{FF2B5EF4-FFF2-40B4-BE49-F238E27FC236}">
                <a16:creationId xmlns:a16="http://schemas.microsoft.com/office/drawing/2014/main" id="{BC64CF50-50D3-A2B1-9EFC-AAD653B7542F}"/>
              </a:ext>
            </a:extLst>
          </p:cNvPr>
          <p:cNvSpPr txBox="1"/>
          <p:nvPr/>
        </p:nvSpPr>
        <p:spPr>
          <a:xfrm>
            <a:off x="7086600" y="2362200"/>
            <a:ext cx="3175000" cy="762000"/>
          </a:xfrm>
          <a:prstGeom prst="rect">
            <a:avLst/>
          </a:prstGeom>
          <a:noFill/>
        </p:spPr>
        <p:txBody>
          <a:bodyPr vert="horz" wrap="square" lIns="0" tIns="0" rIns="0" bIns="0" rtlCol="0" anchor="ctr">
            <a:noAutofit/>
          </a:bodyPr>
          <a:lstStyle/>
          <a:p>
            <a:r>
              <a:rPr lang="en-US" sz="1700" b="1">
                <a:solidFill>
                  <a:srgbClr val="14213D"/>
                </a:solidFill>
                <a:latin typeface="Calibri" panose="020F0502020204030204" pitchFamily="34" charset="0"/>
              </a:rPr>
              <a:t>Budget and earned value</a:t>
            </a:r>
          </a:p>
        </p:txBody>
      </p:sp>
      <p:sp>
        <p:nvSpPr>
          <p:cNvPr id="30" name="TextBox 29">
            <a:hlinkClick r:id="rId9" action="ppaction://hlinksldjump"/>
            <a:extLst>
              <a:ext uri="{FF2B5EF4-FFF2-40B4-BE49-F238E27FC236}">
                <a16:creationId xmlns:a16="http://schemas.microsoft.com/office/drawing/2014/main" id="{FAFE138F-4704-CC4E-1327-C6B2161D7001}"/>
              </a:ext>
            </a:extLst>
          </p:cNvPr>
          <p:cNvSpPr txBox="1"/>
          <p:nvPr/>
        </p:nvSpPr>
        <p:spPr>
          <a:xfrm>
            <a:off x="10236200" y="2362200"/>
            <a:ext cx="1270000" cy="762000"/>
          </a:xfrm>
          <a:prstGeom prst="rect">
            <a:avLst/>
          </a:prstGeom>
          <a:noFill/>
        </p:spPr>
        <p:txBody>
          <a:bodyPr vert="horz" wrap="square" lIns="0" tIns="0" rIns="0" bIns="0" rtlCol="0" anchor="ctr">
            <a:noAutofit/>
          </a:bodyPr>
          <a:lstStyle/>
          <a:p>
            <a:pPr algn="r"/>
            <a:r>
              <a:rPr lang="en-US" sz="1400">
                <a:solidFill>
                  <a:srgbClr val="5B6475"/>
                </a:solidFill>
                <a:latin typeface="Calibri" panose="020F0502020204030204" pitchFamily="34" charset="0"/>
              </a:rPr>
              <a:t>Slides 111–125</a:t>
            </a:r>
          </a:p>
        </p:txBody>
      </p:sp>
      <p:sp>
        <p:nvSpPr>
          <p:cNvPr id="31" name="Rectangle: Rounded Corners 30">
            <a:hlinkClick r:id="rId10" action="ppaction://hlinksldjump"/>
            <a:extLst>
              <a:ext uri="{FF2B5EF4-FFF2-40B4-BE49-F238E27FC236}">
                <a16:creationId xmlns:a16="http://schemas.microsoft.com/office/drawing/2014/main" id="{1AAA7C44-DEEF-6AD1-6796-BA136D50BE57}"/>
              </a:ext>
            </a:extLst>
          </p:cNvPr>
          <p:cNvSpPr/>
          <p:nvPr/>
        </p:nvSpPr>
        <p:spPr>
          <a:xfrm>
            <a:off x="6223000" y="3302000"/>
            <a:ext cx="5461000" cy="863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hlinkClick r:id="rId10" action="ppaction://hlinksldjump"/>
            <a:extLst>
              <a:ext uri="{FF2B5EF4-FFF2-40B4-BE49-F238E27FC236}">
                <a16:creationId xmlns:a16="http://schemas.microsoft.com/office/drawing/2014/main" id="{B29BAEE6-61EB-B00A-D42F-F2DFDF7CCFF2}"/>
              </a:ext>
            </a:extLst>
          </p:cNvPr>
          <p:cNvSpPr/>
          <p:nvPr/>
        </p:nvSpPr>
        <p:spPr>
          <a:xfrm>
            <a:off x="6400800" y="3479800"/>
            <a:ext cx="508000" cy="508000"/>
          </a:xfrm>
          <a:prstGeom prst="ellipse">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600" b="1">
                <a:solidFill>
                  <a:srgbClr val="FFFFFF"/>
                </a:solidFill>
                <a:latin typeface="Calibri" panose="020F0502020204030204" pitchFamily="34" charset="0"/>
              </a:rPr>
              <a:t>8</a:t>
            </a:r>
          </a:p>
        </p:txBody>
      </p:sp>
      <p:sp>
        <p:nvSpPr>
          <p:cNvPr id="33" name="TextBox 32">
            <a:hlinkClick r:id="rId10" action="ppaction://hlinksldjump"/>
            <a:extLst>
              <a:ext uri="{FF2B5EF4-FFF2-40B4-BE49-F238E27FC236}">
                <a16:creationId xmlns:a16="http://schemas.microsoft.com/office/drawing/2014/main" id="{C07344A6-F81B-1919-65E9-473CD977923B}"/>
              </a:ext>
            </a:extLst>
          </p:cNvPr>
          <p:cNvSpPr txBox="1"/>
          <p:nvPr/>
        </p:nvSpPr>
        <p:spPr>
          <a:xfrm>
            <a:off x="7086600" y="3352800"/>
            <a:ext cx="3175000" cy="762000"/>
          </a:xfrm>
          <a:prstGeom prst="rect">
            <a:avLst/>
          </a:prstGeom>
          <a:noFill/>
        </p:spPr>
        <p:txBody>
          <a:bodyPr vert="horz" wrap="square" lIns="0" tIns="0" rIns="0" bIns="0" rtlCol="0" anchor="ctr">
            <a:noAutofit/>
          </a:bodyPr>
          <a:lstStyle/>
          <a:p>
            <a:r>
              <a:rPr lang="en-US" sz="1700" b="1">
                <a:solidFill>
                  <a:srgbClr val="14213D"/>
                </a:solidFill>
                <a:latin typeface="Calibri" panose="020F0502020204030204" pitchFamily="34" charset="0"/>
              </a:rPr>
              <a:t>Exam day and retakes</a:t>
            </a:r>
          </a:p>
        </p:txBody>
      </p:sp>
      <p:sp>
        <p:nvSpPr>
          <p:cNvPr id="34" name="TextBox 33">
            <a:hlinkClick r:id="rId10" action="ppaction://hlinksldjump"/>
            <a:extLst>
              <a:ext uri="{FF2B5EF4-FFF2-40B4-BE49-F238E27FC236}">
                <a16:creationId xmlns:a16="http://schemas.microsoft.com/office/drawing/2014/main" id="{F9BA3418-0D7C-5FE1-0900-F4AD4010210A}"/>
              </a:ext>
            </a:extLst>
          </p:cNvPr>
          <p:cNvSpPr txBox="1"/>
          <p:nvPr/>
        </p:nvSpPr>
        <p:spPr>
          <a:xfrm>
            <a:off x="10236200" y="3352800"/>
            <a:ext cx="1270000" cy="762000"/>
          </a:xfrm>
          <a:prstGeom prst="rect">
            <a:avLst/>
          </a:prstGeom>
          <a:noFill/>
        </p:spPr>
        <p:txBody>
          <a:bodyPr vert="horz" wrap="square" lIns="0" tIns="0" rIns="0" bIns="0" rtlCol="0" anchor="ctr">
            <a:noAutofit/>
          </a:bodyPr>
          <a:lstStyle/>
          <a:p>
            <a:pPr algn="r"/>
            <a:r>
              <a:rPr lang="en-US" sz="1400">
                <a:solidFill>
                  <a:srgbClr val="5B6475"/>
                </a:solidFill>
                <a:latin typeface="Calibri" panose="020F0502020204030204" pitchFamily="34" charset="0"/>
              </a:rPr>
              <a:t>Slides 126–128</a:t>
            </a:r>
          </a:p>
        </p:txBody>
      </p:sp>
      <p:sp>
        <p:nvSpPr>
          <p:cNvPr id="35" name="Rectangle: Rounded Corners 34">
            <a:hlinkClick r:id="rId11" action="ppaction://hlinksldjump"/>
            <a:extLst>
              <a:ext uri="{FF2B5EF4-FFF2-40B4-BE49-F238E27FC236}">
                <a16:creationId xmlns:a16="http://schemas.microsoft.com/office/drawing/2014/main" id="{7BB227B1-5F50-6589-D93D-4F3596E0D516}"/>
              </a:ext>
            </a:extLst>
          </p:cNvPr>
          <p:cNvSpPr/>
          <p:nvPr/>
        </p:nvSpPr>
        <p:spPr>
          <a:xfrm>
            <a:off x="6223000" y="4292600"/>
            <a:ext cx="5461000" cy="863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hlinkClick r:id="rId11" action="ppaction://hlinksldjump"/>
            <a:extLst>
              <a:ext uri="{FF2B5EF4-FFF2-40B4-BE49-F238E27FC236}">
                <a16:creationId xmlns:a16="http://schemas.microsoft.com/office/drawing/2014/main" id="{284C52C0-0760-E8B3-2C83-4EDF36BA2613}"/>
              </a:ext>
            </a:extLst>
          </p:cNvPr>
          <p:cNvSpPr/>
          <p:nvPr/>
        </p:nvSpPr>
        <p:spPr>
          <a:xfrm>
            <a:off x="6400800" y="4470400"/>
            <a:ext cx="508000" cy="508000"/>
          </a:xfrm>
          <a:prstGeom prst="ellipse">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600" b="1">
                <a:solidFill>
                  <a:srgbClr val="FFFFFF"/>
                </a:solidFill>
                <a:latin typeface="Calibri" panose="020F0502020204030204" pitchFamily="34" charset="0"/>
              </a:rPr>
              <a:t>9</a:t>
            </a:r>
          </a:p>
        </p:txBody>
      </p:sp>
      <p:sp>
        <p:nvSpPr>
          <p:cNvPr id="37" name="TextBox 36">
            <a:hlinkClick r:id="rId11" action="ppaction://hlinksldjump"/>
            <a:extLst>
              <a:ext uri="{FF2B5EF4-FFF2-40B4-BE49-F238E27FC236}">
                <a16:creationId xmlns:a16="http://schemas.microsoft.com/office/drawing/2014/main" id="{818B75DB-9A48-07BA-7282-0971EF65A1F4}"/>
              </a:ext>
            </a:extLst>
          </p:cNvPr>
          <p:cNvSpPr txBox="1"/>
          <p:nvPr/>
        </p:nvSpPr>
        <p:spPr>
          <a:xfrm>
            <a:off x="7086600" y="4343400"/>
            <a:ext cx="3175000" cy="762000"/>
          </a:xfrm>
          <a:prstGeom prst="rect">
            <a:avLst/>
          </a:prstGeom>
          <a:noFill/>
        </p:spPr>
        <p:txBody>
          <a:bodyPr vert="horz" wrap="square" lIns="0" tIns="0" rIns="0" bIns="0" rtlCol="0" anchor="ctr">
            <a:noAutofit/>
          </a:bodyPr>
          <a:lstStyle/>
          <a:p>
            <a:r>
              <a:rPr lang="en-US" sz="1700" b="1">
                <a:solidFill>
                  <a:srgbClr val="14213D"/>
                </a:solidFill>
                <a:latin typeface="Calibri" panose="020F0502020204030204" pitchFamily="34" charset="0"/>
              </a:rPr>
              <a:t>Wrap-up</a:t>
            </a:r>
          </a:p>
        </p:txBody>
      </p:sp>
      <p:sp>
        <p:nvSpPr>
          <p:cNvPr id="38" name="TextBox 37">
            <a:hlinkClick r:id="rId11" action="ppaction://hlinksldjump"/>
            <a:extLst>
              <a:ext uri="{FF2B5EF4-FFF2-40B4-BE49-F238E27FC236}">
                <a16:creationId xmlns:a16="http://schemas.microsoft.com/office/drawing/2014/main" id="{0F9DF81C-9198-DF6B-B633-5F1699F0B074}"/>
              </a:ext>
            </a:extLst>
          </p:cNvPr>
          <p:cNvSpPr txBox="1"/>
          <p:nvPr/>
        </p:nvSpPr>
        <p:spPr>
          <a:xfrm>
            <a:off x="10236200" y="4343400"/>
            <a:ext cx="1270000" cy="762000"/>
          </a:xfrm>
          <a:prstGeom prst="rect">
            <a:avLst/>
          </a:prstGeom>
          <a:noFill/>
        </p:spPr>
        <p:txBody>
          <a:bodyPr vert="horz" wrap="square" lIns="0" tIns="0" rIns="0" bIns="0" rtlCol="0" anchor="ctr">
            <a:noAutofit/>
          </a:bodyPr>
          <a:lstStyle/>
          <a:p>
            <a:pPr algn="r"/>
            <a:r>
              <a:rPr lang="en-US" sz="1400">
                <a:solidFill>
                  <a:srgbClr val="5B6475"/>
                </a:solidFill>
                <a:latin typeface="Calibri" panose="020F0502020204030204" pitchFamily="34" charset="0"/>
              </a:rPr>
              <a:t>Slide 129</a:t>
            </a:r>
          </a:p>
        </p:txBody>
      </p:sp>
      <p:sp>
        <p:nvSpPr>
          <p:cNvPr id="39" name="TextBox 38">
            <a:extLst>
              <a:ext uri="{FF2B5EF4-FFF2-40B4-BE49-F238E27FC236}">
                <a16:creationId xmlns:a16="http://schemas.microsoft.com/office/drawing/2014/main" id="{BB00111B-F244-F79F-449F-4A746AA313FE}"/>
              </a:ext>
            </a:extLst>
          </p:cNvPr>
          <p:cNvSpPr txBox="1"/>
          <p:nvPr/>
        </p:nvSpPr>
        <p:spPr>
          <a:xfrm>
            <a:off x="6223000" y="5588000"/>
            <a:ext cx="5461000" cy="254000"/>
          </a:xfrm>
          <a:prstGeom prst="rect">
            <a:avLst/>
          </a:prstGeom>
          <a:noFill/>
        </p:spPr>
        <p:txBody>
          <a:bodyPr vert="horz" wrap="square" lIns="0" tIns="0" rIns="0" bIns="0" rtlCol="0" anchor="t">
            <a:noAutofit/>
          </a:bodyPr>
          <a:lstStyle/>
          <a:p>
            <a:r>
              <a:rPr lang="en-US" sz="1300" i="1">
                <a:solidFill>
                  <a:srgbClr val="5B6475"/>
                </a:solidFill>
                <a:latin typeface="Calibri" panose="020F0502020204030204" pitchFamily="34" charset="0"/>
              </a:rPr>
              <a:t>Click a section to jump to it.</a:t>
            </a:r>
          </a:p>
        </p:txBody>
      </p:sp>
      <p:sp>
        <p:nvSpPr>
          <p:cNvPr id="40" name="Footer">
            <a:extLst>
              <a:ext uri="{FF2B5EF4-FFF2-40B4-BE49-F238E27FC236}">
                <a16:creationId xmlns:a16="http://schemas.microsoft.com/office/drawing/2014/main" id="{099748AB-2D45-8C03-2E1B-8720BCD9232C}"/>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PMP® Examination Content Outline (July 2026)</a:t>
            </a:r>
          </a:p>
        </p:txBody>
      </p:sp>
      <p:sp>
        <p:nvSpPr>
          <p:cNvPr id="41" name="SlideNum">
            <a:extLst>
              <a:ext uri="{FF2B5EF4-FFF2-40B4-BE49-F238E27FC236}">
                <a16:creationId xmlns:a16="http://schemas.microsoft.com/office/drawing/2014/main" id="{D42F3F27-B348-6B01-4936-695A2918339F}"/>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2</a:t>
            </a:r>
          </a:p>
        </p:txBody>
      </p:sp>
      <p:sp>
        <p:nvSpPr>
          <p:cNvPr id="42"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802690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4D26313-84CC-74EE-E20A-B30ABC5BA8AD}"/>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The exam at a glance</a:t>
            </a:r>
          </a:p>
        </p:txBody>
      </p:sp>
      <p:sp>
        <p:nvSpPr>
          <p:cNvPr id="3" name="Rectangle: Rounded Corners 2">
            <a:extLst>
              <a:ext uri="{FF2B5EF4-FFF2-40B4-BE49-F238E27FC236}">
                <a16:creationId xmlns:a16="http://schemas.microsoft.com/office/drawing/2014/main" id="{7786224A-92D1-8724-4AFD-E4C4E9942D5D}"/>
              </a:ext>
            </a:extLst>
          </p:cNvPr>
          <p:cNvSpPr/>
          <p:nvPr/>
        </p:nvSpPr>
        <p:spPr>
          <a:xfrm>
            <a:off x="508000" y="1778000"/>
            <a:ext cx="2603500" cy="3556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0C9EA22-238F-E866-607F-B70662D8363A}"/>
              </a:ext>
            </a:extLst>
          </p:cNvPr>
          <p:cNvSpPr txBox="1"/>
          <p:nvPr/>
        </p:nvSpPr>
        <p:spPr>
          <a:xfrm>
            <a:off x="736600" y="2082800"/>
            <a:ext cx="2159000" cy="889000"/>
          </a:xfrm>
          <a:prstGeom prst="rect">
            <a:avLst/>
          </a:prstGeom>
          <a:noFill/>
        </p:spPr>
        <p:txBody>
          <a:bodyPr vert="horz" wrap="square" lIns="0" tIns="0" rIns="0" bIns="0" rtlCol="0" anchor="t">
            <a:noAutofit/>
          </a:bodyPr>
          <a:lstStyle/>
          <a:p>
            <a:r>
              <a:rPr lang="en-US" sz="5400" b="1">
                <a:solidFill>
                  <a:srgbClr val="14213D"/>
                </a:solidFill>
                <a:latin typeface="Cambria" panose="02040503050406030204" pitchFamily="18" charset="0"/>
              </a:rPr>
              <a:t>180</a:t>
            </a:r>
          </a:p>
        </p:txBody>
      </p:sp>
      <p:sp>
        <p:nvSpPr>
          <p:cNvPr id="5" name="Rectangle 4">
            <a:extLst>
              <a:ext uri="{FF2B5EF4-FFF2-40B4-BE49-F238E27FC236}">
                <a16:creationId xmlns:a16="http://schemas.microsoft.com/office/drawing/2014/main" id="{E524C0B9-864E-0FB2-6C80-A35C5578AD66}"/>
              </a:ext>
            </a:extLst>
          </p:cNvPr>
          <p:cNvSpPr/>
          <p:nvPr/>
        </p:nvSpPr>
        <p:spPr>
          <a:xfrm>
            <a:off x="736600" y="3149600"/>
            <a:ext cx="457200" cy="50800"/>
          </a:xfrm>
          <a:prstGeom prst="rect">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2675D71-F2D1-CB65-B0D5-5ECF76627CE6}"/>
              </a:ext>
            </a:extLst>
          </p:cNvPr>
          <p:cNvSpPr txBox="1"/>
          <p:nvPr/>
        </p:nvSpPr>
        <p:spPr>
          <a:xfrm>
            <a:off x="736600" y="3378200"/>
            <a:ext cx="2159000" cy="635000"/>
          </a:xfrm>
          <a:prstGeom prst="rect">
            <a:avLst/>
          </a:prstGeom>
          <a:noFill/>
        </p:spPr>
        <p:txBody>
          <a:bodyPr vert="horz" wrap="square" lIns="0" tIns="0" rIns="0" bIns="0" rtlCol="0" anchor="t">
            <a:noAutofit/>
          </a:bodyPr>
          <a:lstStyle/>
          <a:p>
            <a:r>
              <a:rPr lang="en-US" b="1">
                <a:solidFill>
                  <a:srgbClr val="14213D"/>
                </a:solidFill>
                <a:latin typeface="Calibri" panose="020F0502020204030204" pitchFamily="34" charset="0"/>
              </a:rPr>
              <a:t>questions</a:t>
            </a:r>
          </a:p>
        </p:txBody>
      </p:sp>
      <p:sp>
        <p:nvSpPr>
          <p:cNvPr id="7" name="TextBox 6">
            <a:extLst>
              <a:ext uri="{FF2B5EF4-FFF2-40B4-BE49-F238E27FC236}">
                <a16:creationId xmlns:a16="http://schemas.microsoft.com/office/drawing/2014/main" id="{98129251-2DA7-9153-48BD-742199A4AB2B}"/>
              </a:ext>
            </a:extLst>
          </p:cNvPr>
          <p:cNvSpPr txBox="1"/>
          <p:nvPr/>
        </p:nvSpPr>
        <p:spPr>
          <a:xfrm>
            <a:off x="736600" y="4064000"/>
            <a:ext cx="2159000" cy="1143000"/>
          </a:xfrm>
          <a:prstGeom prst="rect">
            <a:avLst/>
          </a:prstGeom>
          <a:noFill/>
        </p:spPr>
        <p:txBody>
          <a:bodyPr vert="horz" wrap="square" lIns="0" tIns="0" rIns="0" bIns="0" rtlCol="0" anchor="t">
            <a:noAutofit/>
          </a:bodyPr>
          <a:lstStyle/>
          <a:p>
            <a:r>
              <a:rPr lang="en-US" sz="1500">
                <a:solidFill>
                  <a:srgbClr val="5B6475"/>
                </a:solidFill>
                <a:latin typeface="Calibri" panose="020F0502020204030204" pitchFamily="34" charset="0"/>
              </a:rPr>
              <a:t>170 scored plus 10 unscored pretest items</a:t>
            </a:r>
          </a:p>
        </p:txBody>
      </p:sp>
      <p:sp>
        <p:nvSpPr>
          <p:cNvPr id="8" name="Rectangle: Rounded Corners 7">
            <a:extLst>
              <a:ext uri="{FF2B5EF4-FFF2-40B4-BE49-F238E27FC236}">
                <a16:creationId xmlns:a16="http://schemas.microsoft.com/office/drawing/2014/main" id="{D6416067-17EC-401E-D175-148BFD25C161}"/>
              </a:ext>
            </a:extLst>
          </p:cNvPr>
          <p:cNvSpPr/>
          <p:nvPr/>
        </p:nvSpPr>
        <p:spPr>
          <a:xfrm>
            <a:off x="3365500" y="1778000"/>
            <a:ext cx="2603500" cy="3556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F03A15D-D47E-394A-E5F0-B012614545D0}"/>
              </a:ext>
            </a:extLst>
          </p:cNvPr>
          <p:cNvSpPr txBox="1"/>
          <p:nvPr/>
        </p:nvSpPr>
        <p:spPr>
          <a:xfrm>
            <a:off x="3594100" y="2082800"/>
            <a:ext cx="2159000" cy="889000"/>
          </a:xfrm>
          <a:prstGeom prst="rect">
            <a:avLst/>
          </a:prstGeom>
          <a:noFill/>
        </p:spPr>
        <p:txBody>
          <a:bodyPr vert="horz" wrap="square" lIns="0" tIns="0" rIns="0" bIns="0" rtlCol="0" anchor="t">
            <a:noAutofit/>
          </a:bodyPr>
          <a:lstStyle/>
          <a:p>
            <a:r>
              <a:rPr lang="en-US" sz="5400" b="1">
                <a:solidFill>
                  <a:srgbClr val="14213D"/>
                </a:solidFill>
                <a:latin typeface="Cambria" panose="02040503050406030204" pitchFamily="18" charset="0"/>
              </a:rPr>
              <a:t>240</a:t>
            </a:r>
          </a:p>
        </p:txBody>
      </p:sp>
      <p:sp>
        <p:nvSpPr>
          <p:cNvPr id="10" name="Rectangle 9">
            <a:extLst>
              <a:ext uri="{FF2B5EF4-FFF2-40B4-BE49-F238E27FC236}">
                <a16:creationId xmlns:a16="http://schemas.microsoft.com/office/drawing/2014/main" id="{047F79C9-3EAF-6BC6-0E2D-2C336527ABE3}"/>
              </a:ext>
            </a:extLst>
          </p:cNvPr>
          <p:cNvSpPr/>
          <p:nvPr/>
        </p:nvSpPr>
        <p:spPr>
          <a:xfrm>
            <a:off x="3594100" y="3149600"/>
            <a:ext cx="457200" cy="50800"/>
          </a:xfrm>
          <a:prstGeom prst="rect">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E28822F-2136-EAB0-A547-5E5F691C85D5}"/>
              </a:ext>
            </a:extLst>
          </p:cNvPr>
          <p:cNvSpPr txBox="1"/>
          <p:nvPr/>
        </p:nvSpPr>
        <p:spPr>
          <a:xfrm>
            <a:off x="3594100" y="3378200"/>
            <a:ext cx="2159000" cy="635000"/>
          </a:xfrm>
          <a:prstGeom prst="rect">
            <a:avLst/>
          </a:prstGeom>
          <a:noFill/>
        </p:spPr>
        <p:txBody>
          <a:bodyPr vert="horz" wrap="square" lIns="0" tIns="0" rIns="0" bIns="0" rtlCol="0" anchor="t">
            <a:noAutofit/>
          </a:bodyPr>
          <a:lstStyle/>
          <a:p>
            <a:r>
              <a:rPr lang="en-US" b="1">
                <a:solidFill>
                  <a:srgbClr val="14213D"/>
                </a:solidFill>
                <a:latin typeface="Calibri" panose="020F0502020204030204" pitchFamily="34" charset="0"/>
              </a:rPr>
              <a:t>minutes</a:t>
            </a:r>
          </a:p>
        </p:txBody>
      </p:sp>
      <p:sp>
        <p:nvSpPr>
          <p:cNvPr id="12" name="TextBox 11">
            <a:extLst>
              <a:ext uri="{FF2B5EF4-FFF2-40B4-BE49-F238E27FC236}">
                <a16:creationId xmlns:a16="http://schemas.microsoft.com/office/drawing/2014/main" id="{42082C13-F873-6816-851F-17BCDD793C57}"/>
              </a:ext>
            </a:extLst>
          </p:cNvPr>
          <p:cNvSpPr txBox="1"/>
          <p:nvPr/>
        </p:nvSpPr>
        <p:spPr>
          <a:xfrm>
            <a:off x="3594100" y="4064000"/>
            <a:ext cx="2159000" cy="1143000"/>
          </a:xfrm>
          <a:prstGeom prst="rect">
            <a:avLst/>
          </a:prstGeom>
          <a:noFill/>
        </p:spPr>
        <p:txBody>
          <a:bodyPr vert="horz" wrap="square" lIns="0" tIns="0" rIns="0" bIns="0" rtlCol="0" anchor="t">
            <a:noAutofit/>
          </a:bodyPr>
          <a:lstStyle/>
          <a:p>
            <a:r>
              <a:rPr lang="en-US" sz="1500">
                <a:solidFill>
                  <a:srgbClr val="5B6475"/>
                </a:solidFill>
                <a:latin typeface="Calibri" panose="020F0502020204030204" pitchFamily="34" charset="0"/>
              </a:rPr>
              <a:t>for all 180 questions, with two 10-minute breaks</a:t>
            </a:r>
          </a:p>
        </p:txBody>
      </p:sp>
      <p:sp>
        <p:nvSpPr>
          <p:cNvPr id="13" name="Rectangle: Rounded Corners 12">
            <a:extLst>
              <a:ext uri="{FF2B5EF4-FFF2-40B4-BE49-F238E27FC236}">
                <a16:creationId xmlns:a16="http://schemas.microsoft.com/office/drawing/2014/main" id="{3B856E77-4964-4FFC-4CD3-732E2EB77EA8}"/>
              </a:ext>
            </a:extLst>
          </p:cNvPr>
          <p:cNvSpPr/>
          <p:nvPr/>
        </p:nvSpPr>
        <p:spPr>
          <a:xfrm>
            <a:off x="6223000" y="1778000"/>
            <a:ext cx="2603500" cy="3556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3A83010-AD41-984D-3D1C-D17F6B67ADD3}"/>
              </a:ext>
            </a:extLst>
          </p:cNvPr>
          <p:cNvSpPr txBox="1"/>
          <p:nvPr/>
        </p:nvSpPr>
        <p:spPr>
          <a:xfrm>
            <a:off x="6451600" y="2082800"/>
            <a:ext cx="2159000" cy="889000"/>
          </a:xfrm>
          <a:prstGeom prst="rect">
            <a:avLst/>
          </a:prstGeom>
          <a:noFill/>
        </p:spPr>
        <p:txBody>
          <a:bodyPr vert="horz" wrap="square" lIns="0" tIns="0" rIns="0" bIns="0" rtlCol="0" anchor="t">
            <a:noAutofit/>
          </a:bodyPr>
          <a:lstStyle/>
          <a:p>
            <a:r>
              <a:rPr lang="en-US" sz="5400" b="1">
                <a:solidFill>
                  <a:srgbClr val="14213D"/>
                </a:solidFill>
                <a:latin typeface="Cambria" panose="02040503050406030204" pitchFamily="18" charset="0"/>
              </a:rPr>
              <a:t>26</a:t>
            </a:r>
          </a:p>
        </p:txBody>
      </p:sp>
      <p:sp>
        <p:nvSpPr>
          <p:cNvPr id="15" name="Rectangle 14">
            <a:extLst>
              <a:ext uri="{FF2B5EF4-FFF2-40B4-BE49-F238E27FC236}">
                <a16:creationId xmlns:a16="http://schemas.microsoft.com/office/drawing/2014/main" id="{469E7D06-2EF9-A1C0-B5EB-9716016A6DF7}"/>
              </a:ext>
            </a:extLst>
          </p:cNvPr>
          <p:cNvSpPr/>
          <p:nvPr/>
        </p:nvSpPr>
        <p:spPr>
          <a:xfrm>
            <a:off x="6451600" y="3149600"/>
            <a:ext cx="457200" cy="50800"/>
          </a:xfrm>
          <a:prstGeom prst="rect">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B4BEA54-73E9-4100-D6F5-262F58091D12}"/>
              </a:ext>
            </a:extLst>
          </p:cNvPr>
          <p:cNvSpPr txBox="1"/>
          <p:nvPr/>
        </p:nvSpPr>
        <p:spPr>
          <a:xfrm>
            <a:off x="6451600" y="3378200"/>
            <a:ext cx="2159000" cy="635000"/>
          </a:xfrm>
          <a:prstGeom prst="rect">
            <a:avLst/>
          </a:prstGeom>
          <a:noFill/>
        </p:spPr>
        <p:txBody>
          <a:bodyPr vert="horz" wrap="square" lIns="0" tIns="0" rIns="0" bIns="0" rtlCol="0" anchor="t">
            <a:noAutofit/>
          </a:bodyPr>
          <a:lstStyle/>
          <a:p>
            <a:r>
              <a:rPr lang="en-US" b="1">
                <a:solidFill>
                  <a:srgbClr val="14213D"/>
                </a:solidFill>
                <a:latin typeface="Calibri" panose="020F0502020204030204" pitchFamily="34" charset="0"/>
              </a:rPr>
              <a:t>tasks</a:t>
            </a:r>
          </a:p>
        </p:txBody>
      </p:sp>
      <p:sp>
        <p:nvSpPr>
          <p:cNvPr id="17" name="TextBox 16">
            <a:extLst>
              <a:ext uri="{FF2B5EF4-FFF2-40B4-BE49-F238E27FC236}">
                <a16:creationId xmlns:a16="http://schemas.microsoft.com/office/drawing/2014/main" id="{F8CA4849-E9CC-7608-4BA5-1BDEFF62FA86}"/>
              </a:ext>
            </a:extLst>
          </p:cNvPr>
          <p:cNvSpPr txBox="1"/>
          <p:nvPr/>
        </p:nvSpPr>
        <p:spPr>
          <a:xfrm>
            <a:off x="6451600" y="4064000"/>
            <a:ext cx="2159000" cy="1143000"/>
          </a:xfrm>
          <a:prstGeom prst="rect">
            <a:avLst/>
          </a:prstGeom>
          <a:noFill/>
        </p:spPr>
        <p:txBody>
          <a:bodyPr vert="horz" wrap="square" lIns="0" tIns="0" rIns="0" bIns="0" rtlCol="0" anchor="t">
            <a:noAutofit/>
          </a:bodyPr>
          <a:lstStyle/>
          <a:p>
            <a:r>
              <a:rPr lang="en-US" sz="1500">
                <a:solidFill>
                  <a:srgbClr val="5B6475"/>
                </a:solidFill>
                <a:latin typeface="Calibri" panose="020F0502020204030204" pitchFamily="34" charset="0"/>
              </a:rPr>
              <a:t>across 3 domains: People, Process, and Business Environment</a:t>
            </a:r>
          </a:p>
        </p:txBody>
      </p:sp>
      <p:sp>
        <p:nvSpPr>
          <p:cNvPr id="18" name="Rectangle: Rounded Corners 17">
            <a:extLst>
              <a:ext uri="{FF2B5EF4-FFF2-40B4-BE49-F238E27FC236}">
                <a16:creationId xmlns:a16="http://schemas.microsoft.com/office/drawing/2014/main" id="{6BC01371-40EE-34F0-0040-45EB0BE7A9AB}"/>
              </a:ext>
            </a:extLst>
          </p:cNvPr>
          <p:cNvSpPr/>
          <p:nvPr/>
        </p:nvSpPr>
        <p:spPr>
          <a:xfrm>
            <a:off x="9080500" y="1778000"/>
            <a:ext cx="2603500" cy="3556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E0B5E08-2606-15F1-32C9-B06782DA6D0E}"/>
              </a:ext>
            </a:extLst>
          </p:cNvPr>
          <p:cNvSpPr txBox="1"/>
          <p:nvPr/>
        </p:nvSpPr>
        <p:spPr>
          <a:xfrm>
            <a:off x="9309100" y="2082800"/>
            <a:ext cx="2159000" cy="889000"/>
          </a:xfrm>
          <a:prstGeom prst="rect">
            <a:avLst/>
          </a:prstGeom>
          <a:noFill/>
        </p:spPr>
        <p:txBody>
          <a:bodyPr vert="horz" wrap="square" lIns="0" tIns="0" rIns="0" bIns="0" rtlCol="0" anchor="t">
            <a:noAutofit/>
          </a:bodyPr>
          <a:lstStyle/>
          <a:p>
            <a:r>
              <a:rPr lang="en-US" sz="5400" b="1">
                <a:solidFill>
                  <a:srgbClr val="14213D"/>
                </a:solidFill>
                <a:latin typeface="Cambria" panose="02040503050406030204" pitchFamily="18" charset="0"/>
              </a:rPr>
              <a:t>40/60</a:t>
            </a:r>
          </a:p>
        </p:txBody>
      </p:sp>
      <p:sp>
        <p:nvSpPr>
          <p:cNvPr id="20" name="Rectangle 19">
            <a:extLst>
              <a:ext uri="{FF2B5EF4-FFF2-40B4-BE49-F238E27FC236}">
                <a16:creationId xmlns:a16="http://schemas.microsoft.com/office/drawing/2014/main" id="{5636688D-774F-68EB-493C-59B3C3480BEA}"/>
              </a:ext>
            </a:extLst>
          </p:cNvPr>
          <p:cNvSpPr/>
          <p:nvPr/>
        </p:nvSpPr>
        <p:spPr>
          <a:xfrm>
            <a:off x="9309100" y="3149600"/>
            <a:ext cx="457200" cy="50800"/>
          </a:xfrm>
          <a:prstGeom prst="rect">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E3AA394-A41B-A8E9-0D87-BAF292181BAC}"/>
              </a:ext>
            </a:extLst>
          </p:cNvPr>
          <p:cNvSpPr txBox="1"/>
          <p:nvPr/>
        </p:nvSpPr>
        <p:spPr>
          <a:xfrm>
            <a:off x="9309100" y="3378200"/>
            <a:ext cx="2159000" cy="635000"/>
          </a:xfrm>
          <a:prstGeom prst="rect">
            <a:avLst/>
          </a:prstGeom>
          <a:noFill/>
        </p:spPr>
        <p:txBody>
          <a:bodyPr vert="horz" wrap="square" lIns="0" tIns="0" rIns="0" bIns="0" rtlCol="0" anchor="t">
            <a:noAutofit/>
          </a:bodyPr>
          <a:lstStyle/>
          <a:p>
            <a:r>
              <a:rPr lang="en-US" b="1">
                <a:solidFill>
                  <a:srgbClr val="14213D"/>
                </a:solidFill>
                <a:latin typeface="Calibri" panose="020F0502020204030204" pitchFamily="34" charset="0"/>
              </a:rPr>
              <a:t>predictive vs. agile or hybrid</a:t>
            </a:r>
          </a:p>
        </p:txBody>
      </p:sp>
      <p:sp>
        <p:nvSpPr>
          <p:cNvPr id="22" name="TextBox 21">
            <a:extLst>
              <a:ext uri="{FF2B5EF4-FFF2-40B4-BE49-F238E27FC236}">
                <a16:creationId xmlns:a16="http://schemas.microsoft.com/office/drawing/2014/main" id="{EAF39C46-9662-B64F-C78C-FF415BE35BE9}"/>
              </a:ext>
            </a:extLst>
          </p:cNvPr>
          <p:cNvSpPr txBox="1"/>
          <p:nvPr/>
        </p:nvSpPr>
        <p:spPr>
          <a:xfrm>
            <a:off x="9309100" y="4064000"/>
            <a:ext cx="2159000" cy="1143000"/>
          </a:xfrm>
          <a:prstGeom prst="rect">
            <a:avLst/>
          </a:prstGeom>
          <a:noFill/>
        </p:spPr>
        <p:txBody>
          <a:bodyPr vert="horz" wrap="square" lIns="0" tIns="0" rIns="0" bIns="0" rtlCol="0" anchor="t">
            <a:noAutofit/>
          </a:bodyPr>
          <a:lstStyle/>
          <a:p>
            <a:r>
              <a:rPr lang="en-US" sz="1500">
                <a:solidFill>
                  <a:srgbClr val="5B6475"/>
                </a:solidFill>
                <a:latin typeface="Calibri" panose="020F0502020204030204" pitchFamily="34" charset="0"/>
              </a:rPr>
              <a:t>about 40% predictive and 60% agile or hybrid, mixed through every domain</a:t>
            </a:r>
          </a:p>
        </p:txBody>
      </p:sp>
      <p:sp>
        <p:nvSpPr>
          <p:cNvPr id="23" name="Footer">
            <a:extLst>
              <a:ext uri="{FF2B5EF4-FFF2-40B4-BE49-F238E27FC236}">
                <a16:creationId xmlns:a16="http://schemas.microsoft.com/office/drawing/2014/main" id="{80F0CB07-2A69-B291-6810-7B9D03FCF1CE}"/>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PMP® Examination Content Outline (July 2026); PMI, PMP® Certification Handbook</a:t>
            </a:r>
          </a:p>
        </p:txBody>
      </p:sp>
      <p:sp>
        <p:nvSpPr>
          <p:cNvPr id="24" name="SlideNum">
            <a:extLst>
              <a:ext uri="{FF2B5EF4-FFF2-40B4-BE49-F238E27FC236}">
                <a16:creationId xmlns:a16="http://schemas.microsoft.com/office/drawing/2014/main" id="{D1B60980-9F7E-F348-6F02-7F0BA8F2E69C}"/>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3</a:t>
            </a:r>
          </a:p>
        </p:txBody>
      </p:sp>
      <p:sp>
        <p:nvSpPr>
          <p:cNvPr id="25"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002770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0F3FF6C-8458-65C1-36B4-D7DE267624EA}"/>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Every question traces back to real project work</a:t>
            </a:r>
          </a:p>
        </p:txBody>
      </p:sp>
      <p:sp>
        <p:nvSpPr>
          <p:cNvPr id="3" name="Rectangle: Rounded Corners 2">
            <a:extLst>
              <a:ext uri="{FF2B5EF4-FFF2-40B4-BE49-F238E27FC236}">
                <a16:creationId xmlns:a16="http://schemas.microsoft.com/office/drawing/2014/main" id="{F7225AB1-159B-8444-DC4E-387849110E49}"/>
              </a:ext>
            </a:extLst>
          </p:cNvPr>
          <p:cNvSpPr/>
          <p:nvPr/>
        </p:nvSpPr>
        <p:spPr>
          <a:xfrm>
            <a:off x="508000" y="1422400"/>
            <a:ext cx="2540000" cy="2184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B6BAB5D-3CB6-0966-947B-F489708E2E52}"/>
              </a:ext>
            </a:extLst>
          </p:cNvPr>
          <p:cNvSpPr txBox="1"/>
          <p:nvPr/>
        </p:nvSpPr>
        <p:spPr>
          <a:xfrm>
            <a:off x="711200" y="1625600"/>
            <a:ext cx="2133600" cy="203200"/>
          </a:xfrm>
          <a:prstGeom prst="rect">
            <a:avLst/>
          </a:prstGeom>
          <a:noFill/>
        </p:spPr>
        <p:txBody>
          <a:bodyPr vert="horz" wrap="square" lIns="0" tIns="0" rIns="0" bIns="0" rtlCol="0" anchor="t">
            <a:noAutofit/>
          </a:bodyPr>
          <a:lstStyle/>
          <a:p>
            <a:r>
              <a:rPr lang="en-US" sz="1100" b="1">
                <a:solidFill>
                  <a:srgbClr val="E3A63B"/>
                </a:solidFill>
                <a:latin typeface="Calibri" panose="020F0502020204030204" pitchFamily="34" charset="0"/>
              </a:rPr>
              <a:t>STEP 1</a:t>
            </a:r>
          </a:p>
        </p:txBody>
      </p:sp>
      <p:sp>
        <p:nvSpPr>
          <p:cNvPr id="5" name="TextBox 4">
            <a:extLst>
              <a:ext uri="{FF2B5EF4-FFF2-40B4-BE49-F238E27FC236}">
                <a16:creationId xmlns:a16="http://schemas.microsoft.com/office/drawing/2014/main" id="{DCCCEF9D-8A99-8FAF-2B1E-A8D2FE6840A1}"/>
              </a:ext>
            </a:extLst>
          </p:cNvPr>
          <p:cNvSpPr txBox="1"/>
          <p:nvPr/>
        </p:nvSpPr>
        <p:spPr>
          <a:xfrm>
            <a:off x="711200" y="1879600"/>
            <a:ext cx="2133600" cy="1625600"/>
          </a:xfrm>
          <a:prstGeom prst="rect">
            <a:avLst/>
          </a:prstGeom>
          <a:noFill/>
        </p:spPr>
        <p:txBody>
          <a:bodyPr vert="horz" wrap="square" lIns="0" tIns="0" rIns="0" bIns="0" rtlCol="0" anchor="t">
            <a:noAutofit/>
          </a:bodyPr>
          <a:lstStyle/>
          <a:p>
            <a:pPr>
              <a:spcAft>
                <a:spcPts val="600"/>
              </a:spcAft>
            </a:pPr>
            <a:r>
              <a:rPr lang="en-US" sz="1700" b="1">
                <a:solidFill>
                  <a:srgbClr val="14213D"/>
                </a:solidFill>
                <a:latin typeface="Calibri" panose="020F0502020204030204" pitchFamily="34" charset="0"/>
              </a:rPr>
              <a:t>Global practice analysis</a:t>
            </a:r>
          </a:p>
          <a:p>
            <a:r>
              <a:rPr lang="en-US" sz="1500">
                <a:solidFill>
                  <a:srgbClr val="1F2937"/>
                </a:solidFill>
                <a:latin typeface="Calibri" panose="020F0502020204030204" pitchFamily="34" charset="0"/>
              </a:rPr>
              <a:t>A job task analysis tested emerging trends, such as artificial intelligence (AI) and sustainability, against real practice.</a:t>
            </a:r>
          </a:p>
        </p:txBody>
      </p:sp>
      <p:sp>
        <p:nvSpPr>
          <p:cNvPr id="6" name="Arrow: Right 5">
            <a:extLst>
              <a:ext uri="{FF2B5EF4-FFF2-40B4-BE49-F238E27FC236}">
                <a16:creationId xmlns:a16="http://schemas.microsoft.com/office/drawing/2014/main" id="{5965D329-4443-DC10-1B25-BD1B9690B322}"/>
              </a:ext>
            </a:extLst>
          </p:cNvPr>
          <p:cNvSpPr/>
          <p:nvPr/>
        </p:nvSpPr>
        <p:spPr>
          <a:xfrm>
            <a:off x="3098800" y="2374900"/>
            <a:ext cx="254000" cy="279400"/>
          </a:xfrm>
          <a:prstGeom prst="rightArrow">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DD67ED6E-7DD4-23F8-30D2-984CA84A232A}"/>
              </a:ext>
            </a:extLst>
          </p:cNvPr>
          <p:cNvSpPr/>
          <p:nvPr/>
        </p:nvSpPr>
        <p:spPr>
          <a:xfrm>
            <a:off x="3390900" y="1422400"/>
            <a:ext cx="2540000" cy="2184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E6504FB-83DA-DF18-E5D2-969C403584E0}"/>
              </a:ext>
            </a:extLst>
          </p:cNvPr>
          <p:cNvSpPr txBox="1"/>
          <p:nvPr/>
        </p:nvSpPr>
        <p:spPr>
          <a:xfrm>
            <a:off x="3594100" y="1625600"/>
            <a:ext cx="2133600" cy="203200"/>
          </a:xfrm>
          <a:prstGeom prst="rect">
            <a:avLst/>
          </a:prstGeom>
          <a:noFill/>
        </p:spPr>
        <p:txBody>
          <a:bodyPr vert="horz" wrap="square" lIns="0" tIns="0" rIns="0" bIns="0" rtlCol="0" anchor="t">
            <a:noAutofit/>
          </a:bodyPr>
          <a:lstStyle/>
          <a:p>
            <a:r>
              <a:rPr lang="en-US" sz="1100" b="1">
                <a:solidFill>
                  <a:srgbClr val="E3A63B"/>
                </a:solidFill>
                <a:latin typeface="Calibri" panose="020F0502020204030204" pitchFamily="34" charset="0"/>
              </a:rPr>
              <a:t>STEP 2</a:t>
            </a:r>
          </a:p>
        </p:txBody>
      </p:sp>
      <p:sp>
        <p:nvSpPr>
          <p:cNvPr id="9" name="TextBox 8">
            <a:extLst>
              <a:ext uri="{FF2B5EF4-FFF2-40B4-BE49-F238E27FC236}">
                <a16:creationId xmlns:a16="http://schemas.microsoft.com/office/drawing/2014/main" id="{790C227B-AF62-C88C-8A2F-970A46016FFA}"/>
              </a:ext>
            </a:extLst>
          </p:cNvPr>
          <p:cNvSpPr txBox="1"/>
          <p:nvPr/>
        </p:nvSpPr>
        <p:spPr>
          <a:xfrm>
            <a:off x="3594100" y="1879600"/>
            <a:ext cx="2133600" cy="1625600"/>
          </a:xfrm>
          <a:prstGeom prst="rect">
            <a:avLst/>
          </a:prstGeom>
          <a:noFill/>
        </p:spPr>
        <p:txBody>
          <a:bodyPr vert="horz" wrap="square" lIns="0" tIns="0" rIns="0" bIns="0" rtlCol="0" anchor="t">
            <a:noAutofit/>
          </a:bodyPr>
          <a:lstStyle/>
          <a:p>
            <a:pPr>
              <a:spcAft>
                <a:spcPts val="600"/>
              </a:spcAft>
            </a:pPr>
            <a:r>
              <a:rPr lang="en-US" sz="1700" b="1">
                <a:solidFill>
                  <a:srgbClr val="14213D"/>
                </a:solidFill>
                <a:latin typeface="Calibri" panose="020F0502020204030204" pitchFamily="34" charset="0"/>
              </a:rPr>
              <a:t>Job task analysis</a:t>
            </a:r>
          </a:p>
          <a:p>
            <a:r>
              <a:rPr lang="en-US" sz="1500">
                <a:solidFill>
                  <a:srgbClr val="1F2937"/>
                </a:solidFill>
                <a:latin typeface="Calibri" panose="020F0502020204030204" pitchFamily="34" charset="0"/>
              </a:rPr>
              <a:t>Identifies the most critical and frequently performed project management work.</a:t>
            </a:r>
          </a:p>
        </p:txBody>
      </p:sp>
      <p:sp>
        <p:nvSpPr>
          <p:cNvPr id="10" name="Arrow: Right 9">
            <a:extLst>
              <a:ext uri="{FF2B5EF4-FFF2-40B4-BE49-F238E27FC236}">
                <a16:creationId xmlns:a16="http://schemas.microsoft.com/office/drawing/2014/main" id="{2D13BEC8-861C-E96C-F00C-096D6EE5AD2A}"/>
              </a:ext>
            </a:extLst>
          </p:cNvPr>
          <p:cNvSpPr/>
          <p:nvPr/>
        </p:nvSpPr>
        <p:spPr>
          <a:xfrm>
            <a:off x="5981700" y="2374900"/>
            <a:ext cx="254000" cy="279400"/>
          </a:xfrm>
          <a:prstGeom prst="rightArrow">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27E2B876-404C-EFC9-82A8-A6803A2D6165}"/>
              </a:ext>
            </a:extLst>
          </p:cNvPr>
          <p:cNvSpPr/>
          <p:nvPr/>
        </p:nvSpPr>
        <p:spPr>
          <a:xfrm>
            <a:off x="6273800" y="1422400"/>
            <a:ext cx="2540000" cy="2184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0912D17-7DD1-B199-D1E9-E3A8F4BEE8C7}"/>
              </a:ext>
            </a:extLst>
          </p:cNvPr>
          <p:cNvSpPr txBox="1"/>
          <p:nvPr/>
        </p:nvSpPr>
        <p:spPr>
          <a:xfrm>
            <a:off x="6477000" y="1625600"/>
            <a:ext cx="2133600" cy="203200"/>
          </a:xfrm>
          <a:prstGeom prst="rect">
            <a:avLst/>
          </a:prstGeom>
          <a:noFill/>
        </p:spPr>
        <p:txBody>
          <a:bodyPr vert="horz" wrap="square" lIns="0" tIns="0" rIns="0" bIns="0" rtlCol="0" anchor="t">
            <a:noAutofit/>
          </a:bodyPr>
          <a:lstStyle/>
          <a:p>
            <a:r>
              <a:rPr lang="en-US" sz="1100" b="1">
                <a:solidFill>
                  <a:srgbClr val="E3A63B"/>
                </a:solidFill>
                <a:latin typeface="Calibri" panose="020F0502020204030204" pitchFamily="34" charset="0"/>
              </a:rPr>
              <a:t>STEP 3</a:t>
            </a:r>
          </a:p>
        </p:txBody>
      </p:sp>
      <p:sp>
        <p:nvSpPr>
          <p:cNvPr id="13" name="TextBox 12">
            <a:extLst>
              <a:ext uri="{FF2B5EF4-FFF2-40B4-BE49-F238E27FC236}">
                <a16:creationId xmlns:a16="http://schemas.microsoft.com/office/drawing/2014/main" id="{B37BEB00-4BF4-D0FF-B5F9-FBA165C652F6}"/>
              </a:ext>
            </a:extLst>
          </p:cNvPr>
          <p:cNvSpPr txBox="1"/>
          <p:nvPr/>
        </p:nvSpPr>
        <p:spPr>
          <a:xfrm>
            <a:off x="6477000" y="1879600"/>
            <a:ext cx="2133600" cy="1625600"/>
          </a:xfrm>
          <a:prstGeom prst="rect">
            <a:avLst/>
          </a:prstGeom>
          <a:noFill/>
        </p:spPr>
        <p:txBody>
          <a:bodyPr vert="horz" wrap="square" lIns="0" tIns="0" rIns="0" bIns="0" rtlCol="0" anchor="t">
            <a:noAutofit/>
          </a:bodyPr>
          <a:lstStyle/>
          <a:p>
            <a:pPr>
              <a:spcAft>
                <a:spcPts val="600"/>
              </a:spcAft>
            </a:pPr>
            <a:r>
              <a:rPr lang="en-US" sz="1700" b="1">
                <a:solidFill>
                  <a:srgbClr val="14213D"/>
                </a:solidFill>
                <a:latin typeface="Calibri" panose="020F0502020204030204" pitchFamily="34" charset="0"/>
              </a:rPr>
              <a:t>Content outline</a:t>
            </a:r>
          </a:p>
          <a:p>
            <a:r>
              <a:rPr lang="en-US" sz="1500">
                <a:solidFill>
                  <a:srgbClr val="1F2937"/>
                </a:solidFill>
                <a:latin typeface="Calibri" panose="020F0502020204030204" pitchFamily="34" charset="0"/>
              </a:rPr>
              <a:t>Organizes that work into domains, tasks, and enablers; built with Alpine Testing Solutions.</a:t>
            </a:r>
          </a:p>
        </p:txBody>
      </p:sp>
      <p:sp>
        <p:nvSpPr>
          <p:cNvPr id="14" name="Arrow: Right 13">
            <a:extLst>
              <a:ext uri="{FF2B5EF4-FFF2-40B4-BE49-F238E27FC236}">
                <a16:creationId xmlns:a16="http://schemas.microsoft.com/office/drawing/2014/main" id="{94836044-35EB-1BAF-4E83-BC1914772577}"/>
              </a:ext>
            </a:extLst>
          </p:cNvPr>
          <p:cNvSpPr/>
          <p:nvPr/>
        </p:nvSpPr>
        <p:spPr>
          <a:xfrm>
            <a:off x="8864600" y="2374900"/>
            <a:ext cx="254000" cy="279400"/>
          </a:xfrm>
          <a:prstGeom prst="rightArrow">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F17DF402-79B2-0C8E-5995-220E1F2528AC}"/>
              </a:ext>
            </a:extLst>
          </p:cNvPr>
          <p:cNvSpPr/>
          <p:nvPr/>
        </p:nvSpPr>
        <p:spPr>
          <a:xfrm>
            <a:off x="9156700" y="1422400"/>
            <a:ext cx="2540000" cy="2184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4511321A-3236-44C3-05E2-DC46BEF291D9}"/>
              </a:ext>
            </a:extLst>
          </p:cNvPr>
          <p:cNvSpPr txBox="1"/>
          <p:nvPr/>
        </p:nvSpPr>
        <p:spPr>
          <a:xfrm>
            <a:off x="9359900" y="1625600"/>
            <a:ext cx="2133600" cy="203200"/>
          </a:xfrm>
          <a:prstGeom prst="rect">
            <a:avLst/>
          </a:prstGeom>
          <a:noFill/>
        </p:spPr>
        <p:txBody>
          <a:bodyPr vert="horz" wrap="square" lIns="0" tIns="0" rIns="0" bIns="0" rtlCol="0" anchor="t">
            <a:noAutofit/>
          </a:bodyPr>
          <a:lstStyle/>
          <a:p>
            <a:r>
              <a:rPr lang="en-US" sz="1100" b="1">
                <a:solidFill>
                  <a:srgbClr val="E3A63B"/>
                </a:solidFill>
                <a:latin typeface="Calibri" panose="020F0502020204030204" pitchFamily="34" charset="0"/>
              </a:rPr>
              <a:t>STEP 4</a:t>
            </a:r>
          </a:p>
        </p:txBody>
      </p:sp>
      <p:sp>
        <p:nvSpPr>
          <p:cNvPr id="17" name="TextBox 16">
            <a:extLst>
              <a:ext uri="{FF2B5EF4-FFF2-40B4-BE49-F238E27FC236}">
                <a16:creationId xmlns:a16="http://schemas.microsoft.com/office/drawing/2014/main" id="{A87464BD-095E-4B2D-0F96-E76F9D513627}"/>
              </a:ext>
            </a:extLst>
          </p:cNvPr>
          <p:cNvSpPr txBox="1"/>
          <p:nvPr/>
        </p:nvSpPr>
        <p:spPr>
          <a:xfrm>
            <a:off x="9359900" y="1879600"/>
            <a:ext cx="2133600" cy="1625600"/>
          </a:xfrm>
          <a:prstGeom prst="rect">
            <a:avLst/>
          </a:prstGeom>
          <a:noFill/>
        </p:spPr>
        <p:txBody>
          <a:bodyPr vert="horz" wrap="square" lIns="0" tIns="0" rIns="0" bIns="0" rtlCol="0" anchor="t">
            <a:noAutofit/>
          </a:bodyPr>
          <a:lstStyle/>
          <a:p>
            <a:pPr>
              <a:spcAft>
                <a:spcPts val="600"/>
              </a:spcAft>
            </a:pPr>
            <a:r>
              <a:rPr lang="en-US" sz="1700" b="1">
                <a:solidFill>
                  <a:srgbClr val="14213D"/>
                </a:solidFill>
                <a:latin typeface="Calibri" panose="020F0502020204030204" pitchFamily="34" charset="0"/>
              </a:rPr>
              <a:t>Exam questions</a:t>
            </a:r>
          </a:p>
          <a:p>
            <a:r>
              <a:rPr lang="en-US" sz="1500">
                <a:solidFill>
                  <a:srgbClr val="1F2937"/>
                </a:solidFill>
                <a:latin typeface="Calibri" panose="020F0502020204030204" pitchFamily="34" charset="0"/>
              </a:rPr>
              <a:t>Written and reviewed by PMP-certified experts, pretested, and mapped to the outline.</a:t>
            </a:r>
          </a:p>
        </p:txBody>
      </p:sp>
      <p:sp>
        <p:nvSpPr>
          <p:cNvPr id="18" name="Rectangle: Rounded Corners 17">
            <a:extLst>
              <a:ext uri="{FF2B5EF4-FFF2-40B4-BE49-F238E27FC236}">
                <a16:creationId xmlns:a16="http://schemas.microsoft.com/office/drawing/2014/main" id="{690D10C7-DC5E-6800-C3A0-17938C04E523}"/>
              </a:ext>
            </a:extLst>
          </p:cNvPr>
          <p:cNvSpPr/>
          <p:nvPr/>
        </p:nvSpPr>
        <p:spPr>
          <a:xfrm>
            <a:off x="508000" y="3962400"/>
            <a:ext cx="5461000" cy="1651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79E0836-4212-89EE-844B-C726C9FB032F}"/>
              </a:ext>
            </a:extLst>
          </p:cNvPr>
          <p:cNvSpPr txBox="1"/>
          <p:nvPr/>
        </p:nvSpPr>
        <p:spPr>
          <a:xfrm>
            <a:off x="711200" y="4165600"/>
            <a:ext cx="5054600" cy="1244600"/>
          </a:xfrm>
          <a:prstGeom prst="rect">
            <a:avLst/>
          </a:prstGeom>
          <a:noFill/>
        </p:spPr>
        <p:txBody>
          <a:bodyPr vert="horz" wrap="square" lIns="0" tIns="0" rIns="0" bIns="0" rtlCol="0" anchor="t">
            <a:noAutofit/>
          </a:bodyPr>
          <a:lstStyle/>
          <a:p>
            <a:pPr>
              <a:spcAft>
                <a:spcPts val="600"/>
              </a:spcAft>
            </a:pPr>
            <a:r>
              <a:rPr lang="en-US" sz="1700" b="1">
                <a:solidFill>
                  <a:srgbClr val="14213D"/>
                </a:solidFill>
                <a:latin typeface="Calibri" panose="020F0502020204030204" pitchFamily="34" charset="0"/>
              </a:rPr>
              <a:t>Accredited and standards-aligned</a:t>
            </a:r>
          </a:p>
          <a:p>
            <a:r>
              <a:rPr lang="en-US" sz="1400">
                <a:solidFill>
                  <a:srgbClr val="1F2937"/>
                </a:solidFill>
                <a:latin typeface="Calibri" panose="020F0502020204030204" pitchFamily="34" charset="0"/>
              </a:rPr>
              <a:t>Accredited against ISO 9001 and, by ANSI, against ISO/IEC 17024. Development follows the Standards for Educational and Psychological Testing.</a:t>
            </a:r>
          </a:p>
        </p:txBody>
      </p:sp>
      <p:sp>
        <p:nvSpPr>
          <p:cNvPr id="20" name="Rectangle: Rounded Corners 19">
            <a:extLst>
              <a:ext uri="{FF2B5EF4-FFF2-40B4-BE49-F238E27FC236}">
                <a16:creationId xmlns:a16="http://schemas.microsoft.com/office/drawing/2014/main" id="{F0366815-A0FC-5538-6BAE-329C9E932128}"/>
              </a:ext>
            </a:extLst>
          </p:cNvPr>
          <p:cNvSpPr/>
          <p:nvPr/>
        </p:nvSpPr>
        <p:spPr>
          <a:xfrm>
            <a:off x="6223000" y="3962400"/>
            <a:ext cx="5461000" cy="1651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131AB329-7194-37D9-312C-B9A8EFD8208B}"/>
              </a:ext>
            </a:extLst>
          </p:cNvPr>
          <p:cNvSpPr txBox="1"/>
          <p:nvPr/>
        </p:nvSpPr>
        <p:spPr>
          <a:xfrm>
            <a:off x="6426200" y="4165600"/>
            <a:ext cx="5054600" cy="1244600"/>
          </a:xfrm>
          <a:prstGeom prst="rect">
            <a:avLst/>
          </a:prstGeom>
          <a:noFill/>
        </p:spPr>
        <p:txBody>
          <a:bodyPr vert="horz" wrap="square" lIns="0" tIns="0" rIns="0" bIns="0" rtlCol="0" anchor="t">
            <a:noAutofit/>
          </a:bodyPr>
          <a:lstStyle/>
          <a:p>
            <a:pPr>
              <a:spcAft>
                <a:spcPts val="600"/>
              </a:spcAft>
            </a:pPr>
            <a:r>
              <a:rPr lang="en-US" sz="1700" b="1">
                <a:solidFill>
                  <a:srgbClr val="14213D"/>
                </a:solidFill>
                <a:latin typeface="Calibri" panose="020F0502020204030204" pitchFamily="34" charset="0"/>
              </a:rPr>
              <a:t>Not a PMBOK® Guide test</a:t>
            </a:r>
          </a:p>
          <a:p>
            <a:r>
              <a:rPr lang="en-US" sz="1400">
                <a:solidFill>
                  <a:srgbClr val="1F2937"/>
                </a:solidFill>
                <a:latin typeface="Calibri" panose="020F0502020204030204" pitchFamily="34" charset="0"/>
              </a:rPr>
              <a:t>The task force was not bound by the PMBOK® Guide, so expect differences: the outline reflects the tasks of people who actually lead and direct projects.</a:t>
            </a:r>
          </a:p>
        </p:txBody>
      </p:sp>
      <p:sp>
        <p:nvSpPr>
          <p:cNvPr id="22" name="Footer">
            <a:extLst>
              <a:ext uri="{FF2B5EF4-FFF2-40B4-BE49-F238E27FC236}">
                <a16:creationId xmlns:a16="http://schemas.microsoft.com/office/drawing/2014/main" id="{F9FBB5C1-11EE-F54B-0C05-71F942979863}"/>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PMP® Examination Content Outline (July 2026)</a:t>
            </a:r>
          </a:p>
        </p:txBody>
      </p:sp>
      <p:sp>
        <p:nvSpPr>
          <p:cNvPr id="23" name="SlideNum">
            <a:extLst>
              <a:ext uri="{FF2B5EF4-FFF2-40B4-BE49-F238E27FC236}">
                <a16:creationId xmlns:a16="http://schemas.microsoft.com/office/drawing/2014/main" id="{2D339A2D-ABAE-ABE3-89F4-CDA2C7FD7D16}"/>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4</a:t>
            </a:r>
          </a:p>
        </p:txBody>
      </p:sp>
      <p:sp>
        <p:nvSpPr>
          <p:cNvPr id="24"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40743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A830E6D-AD00-B8E4-F338-FFEB4D5F8989}"/>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Business Environment rises to 26% of the exam</a:t>
            </a:r>
          </a:p>
        </p:txBody>
      </p:sp>
      <p:graphicFrame>
        <p:nvGraphicFramePr>
          <p:cNvPr id="3" name="DomainChart">
            <a:extLst>
              <a:ext uri="{FF2B5EF4-FFF2-40B4-BE49-F238E27FC236}">
                <a16:creationId xmlns:a16="http://schemas.microsoft.com/office/drawing/2014/main" id="{4007DCDC-F638-D98F-54F0-6FACC30D7368}"/>
              </a:ext>
            </a:extLst>
          </p:cNvPr>
          <p:cNvGraphicFramePr/>
          <p:nvPr>
            <p:extLst>
              <p:ext uri="{D42A27DB-BD31-4B8C-83A1-F6EECF244321}">
                <p14:modId xmlns:p14="http://schemas.microsoft.com/office/powerpoint/2010/main" val="280833811"/>
              </p:ext>
            </p:extLst>
          </p:nvPr>
        </p:nvGraphicFramePr>
        <p:xfrm>
          <a:off x="508000" y="1270000"/>
          <a:ext cx="5080000" cy="49530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D92DEF64-C961-AE8B-4BB0-64808BFDB832}"/>
              </a:ext>
            </a:extLst>
          </p:cNvPr>
          <p:cNvSpPr txBox="1"/>
          <p:nvPr/>
        </p:nvSpPr>
        <p:spPr>
          <a:xfrm>
            <a:off x="2095500" y="3327400"/>
            <a:ext cx="1905000" cy="762000"/>
          </a:xfrm>
          <a:prstGeom prst="rect">
            <a:avLst/>
          </a:prstGeom>
          <a:noFill/>
        </p:spPr>
        <p:txBody>
          <a:bodyPr vert="horz" wrap="square" lIns="0" tIns="0" rIns="0" bIns="0" rtlCol="0" anchor="ctr">
            <a:noAutofit/>
          </a:bodyPr>
          <a:lstStyle/>
          <a:p>
            <a:pPr algn="ctr"/>
            <a:r>
              <a:rPr lang="en-US" sz="1600">
                <a:solidFill>
                  <a:srgbClr val="5B6475"/>
                </a:solidFill>
                <a:latin typeface="Calibri" panose="020F0502020204030204" pitchFamily="34" charset="0"/>
              </a:rPr>
              <a:t>100%</a:t>
            </a:r>
          </a:p>
          <a:p>
            <a:pPr algn="ctr"/>
            <a:r>
              <a:rPr lang="en-US" sz="1600">
                <a:solidFill>
                  <a:srgbClr val="5B6475"/>
                </a:solidFill>
                <a:latin typeface="Calibri" panose="020F0502020204030204" pitchFamily="34" charset="0"/>
              </a:rPr>
              <a:t>of questions</a:t>
            </a:r>
          </a:p>
        </p:txBody>
      </p:sp>
      <p:sp>
        <p:nvSpPr>
          <p:cNvPr id="5" name="Oval 4">
            <a:extLst>
              <a:ext uri="{FF2B5EF4-FFF2-40B4-BE49-F238E27FC236}">
                <a16:creationId xmlns:a16="http://schemas.microsoft.com/office/drawing/2014/main" id="{922E4C88-8FFD-D89C-2FC3-A82755A7D88E}"/>
              </a:ext>
            </a:extLst>
          </p:cNvPr>
          <p:cNvSpPr/>
          <p:nvPr/>
        </p:nvSpPr>
        <p:spPr>
          <a:xfrm>
            <a:off x="6096000" y="1803400"/>
            <a:ext cx="279400" cy="2794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D20C645-5DA8-EA35-7E67-50AAFFE222CD}"/>
              </a:ext>
            </a:extLst>
          </p:cNvPr>
          <p:cNvSpPr txBox="1"/>
          <p:nvPr/>
        </p:nvSpPr>
        <p:spPr>
          <a:xfrm>
            <a:off x="6553200" y="1524000"/>
            <a:ext cx="3556000" cy="203200"/>
          </a:xfrm>
          <a:prstGeom prst="rect">
            <a:avLst/>
          </a:prstGeom>
          <a:noFill/>
        </p:spPr>
        <p:txBody>
          <a:bodyPr vert="horz" wrap="square" lIns="0" tIns="0" rIns="0" bIns="0" rtlCol="0" anchor="t">
            <a:noAutofit/>
          </a:bodyPr>
          <a:lstStyle/>
          <a:p>
            <a:r>
              <a:rPr lang="en-US" sz="1100" b="1">
                <a:solidFill>
                  <a:srgbClr val="5B6475"/>
                </a:solidFill>
                <a:latin typeface="Calibri" panose="020F0502020204030204" pitchFamily="34" charset="0"/>
              </a:rPr>
              <a:t>DOMAIN II</a:t>
            </a:r>
          </a:p>
        </p:txBody>
      </p:sp>
      <p:sp>
        <p:nvSpPr>
          <p:cNvPr id="7" name="TextBox 6">
            <a:extLst>
              <a:ext uri="{FF2B5EF4-FFF2-40B4-BE49-F238E27FC236}">
                <a16:creationId xmlns:a16="http://schemas.microsoft.com/office/drawing/2014/main" id="{68D575DA-12C2-3985-8C5E-424F59C1E26B}"/>
              </a:ext>
            </a:extLst>
          </p:cNvPr>
          <p:cNvSpPr txBox="1"/>
          <p:nvPr/>
        </p:nvSpPr>
        <p:spPr>
          <a:xfrm>
            <a:off x="6553200" y="1727200"/>
            <a:ext cx="3556000" cy="381000"/>
          </a:xfrm>
          <a:prstGeom prst="rect">
            <a:avLst/>
          </a:prstGeom>
          <a:noFill/>
        </p:spPr>
        <p:txBody>
          <a:bodyPr vert="horz" wrap="square" lIns="0" tIns="0" rIns="0" bIns="0" rtlCol="0" anchor="t">
            <a:noAutofit/>
          </a:bodyPr>
          <a:lstStyle/>
          <a:p>
            <a:r>
              <a:rPr lang="en-US" sz="2000" b="1">
                <a:solidFill>
                  <a:srgbClr val="14213D"/>
                </a:solidFill>
                <a:latin typeface="Calibri" panose="020F0502020204030204" pitchFamily="34" charset="0"/>
              </a:rPr>
              <a:t>Process</a:t>
            </a:r>
          </a:p>
        </p:txBody>
      </p:sp>
      <p:sp>
        <p:nvSpPr>
          <p:cNvPr id="8" name="TextBox 7">
            <a:extLst>
              <a:ext uri="{FF2B5EF4-FFF2-40B4-BE49-F238E27FC236}">
                <a16:creationId xmlns:a16="http://schemas.microsoft.com/office/drawing/2014/main" id="{7F5535FD-63E4-EB30-667C-92BD2BAB63D8}"/>
              </a:ext>
            </a:extLst>
          </p:cNvPr>
          <p:cNvSpPr txBox="1"/>
          <p:nvPr/>
        </p:nvSpPr>
        <p:spPr>
          <a:xfrm>
            <a:off x="6553200" y="2108200"/>
            <a:ext cx="3556000" cy="279400"/>
          </a:xfrm>
          <a:prstGeom prst="rect">
            <a:avLst/>
          </a:prstGeom>
          <a:noFill/>
        </p:spPr>
        <p:txBody>
          <a:bodyPr vert="horz" wrap="square" lIns="0" tIns="0" rIns="0" bIns="0" rtlCol="0" anchor="t">
            <a:noAutofit/>
          </a:bodyPr>
          <a:lstStyle/>
          <a:p>
            <a:r>
              <a:rPr lang="en-US" sz="1500">
                <a:solidFill>
                  <a:srgbClr val="5B6475"/>
                </a:solidFill>
                <a:latin typeface="Calibri" panose="020F0502020204030204" pitchFamily="34" charset="0"/>
              </a:rPr>
              <a:t>10 tasks</a:t>
            </a:r>
          </a:p>
        </p:txBody>
      </p:sp>
      <p:sp>
        <p:nvSpPr>
          <p:cNvPr id="9" name="TextBox 8">
            <a:extLst>
              <a:ext uri="{FF2B5EF4-FFF2-40B4-BE49-F238E27FC236}">
                <a16:creationId xmlns:a16="http://schemas.microsoft.com/office/drawing/2014/main" id="{857AE223-9709-87C8-23C8-D56FE8E442C9}"/>
              </a:ext>
            </a:extLst>
          </p:cNvPr>
          <p:cNvSpPr txBox="1"/>
          <p:nvPr/>
        </p:nvSpPr>
        <p:spPr>
          <a:xfrm>
            <a:off x="10033000" y="1498600"/>
            <a:ext cx="1651000" cy="762000"/>
          </a:xfrm>
          <a:prstGeom prst="rect">
            <a:avLst/>
          </a:prstGeom>
          <a:noFill/>
        </p:spPr>
        <p:txBody>
          <a:bodyPr vert="horz" wrap="square" lIns="0" tIns="0" rIns="0" bIns="0" rtlCol="0" anchor="t">
            <a:noAutofit/>
          </a:bodyPr>
          <a:lstStyle/>
          <a:p>
            <a:pPr algn="r"/>
            <a:r>
              <a:rPr lang="en-US" sz="4000" b="1">
                <a:solidFill>
                  <a:srgbClr val="34509A"/>
                </a:solidFill>
                <a:latin typeface="Cambria" panose="02040503050406030204" pitchFamily="18" charset="0"/>
              </a:rPr>
              <a:t>41%</a:t>
            </a:r>
          </a:p>
        </p:txBody>
      </p:sp>
      <p:sp>
        <p:nvSpPr>
          <p:cNvPr id="10" name="Oval 9">
            <a:extLst>
              <a:ext uri="{FF2B5EF4-FFF2-40B4-BE49-F238E27FC236}">
                <a16:creationId xmlns:a16="http://schemas.microsoft.com/office/drawing/2014/main" id="{B735243A-6AA4-BB7E-9A8C-664B1083F46C}"/>
              </a:ext>
            </a:extLst>
          </p:cNvPr>
          <p:cNvSpPr/>
          <p:nvPr/>
        </p:nvSpPr>
        <p:spPr>
          <a:xfrm>
            <a:off x="6096000" y="3073400"/>
            <a:ext cx="279400" cy="279400"/>
          </a:xfrm>
          <a:prstGeom prst="ellipse">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DC398A2-5F5D-9009-0994-A9CE2B37D057}"/>
              </a:ext>
            </a:extLst>
          </p:cNvPr>
          <p:cNvSpPr txBox="1"/>
          <p:nvPr/>
        </p:nvSpPr>
        <p:spPr>
          <a:xfrm>
            <a:off x="6553200" y="2794000"/>
            <a:ext cx="3556000" cy="203200"/>
          </a:xfrm>
          <a:prstGeom prst="rect">
            <a:avLst/>
          </a:prstGeom>
          <a:noFill/>
        </p:spPr>
        <p:txBody>
          <a:bodyPr vert="horz" wrap="square" lIns="0" tIns="0" rIns="0" bIns="0" rtlCol="0" anchor="t">
            <a:noAutofit/>
          </a:bodyPr>
          <a:lstStyle/>
          <a:p>
            <a:r>
              <a:rPr lang="en-US" sz="1100" b="1">
                <a:solidFill>
                  <a:srgbClr val="5B6475"/>
                </a:solidFill>
                <a:latin typeface="Calibri" panose="020F0502020204030204" pitchFamily="34" charset="0"/>
              </a:rPr>
              <a:t>DOMAIN I</a:t>
            </a:r>
          </a:p>
        </p:txBody>
      </p:sp>
      <p:sp>
        <p:nvSpPr>
          <p:cNvPr id="12" name="TextBox 11">
            <a:extLst>
              <a:ext uri="{FF2B5EF4-FFF2-40B4-BE49-F238E27FC236}">
                <a16:creationId xmlns:a16="http://schemas.microsoft.com/office/drawing/2014/main" id="{B796B5E1-92CE-DF11-A1DF-611E16418D05}"/>
              </a:ext>
            </a:extLst>
          </p:cNvPr>
          <p:cNvSpPr txBox="1"/>
          <p:nvPr/>
        </p:nvSpPr>
        <p:spPr>
          <a:xfrm>
            <a:off x="6553200" y="2997200"/>
            <a:ext cx="3556000" cy="381000"/>
          </a:xfrm>
          <a:prstGeom prst="rect">
            <a:avLst/>
          </a:prstGeom>
          <a:noFill/>
        </p:spPr>
        <p:txBody>
          <a:bodyPr vert="horz" wrap="square" lIns="0" tIns="0" rIns="0" bIns="0" rtlCol="0" anchor="t">
            <a:noAutofit/>
          </a:bodyPr>
          <a:lstStyle/>
          <a:p>
            <a:r>
              <a:rPr lang="en-US" sz="2000" b="1">
                <a:solidFill>
                  <a:srgbClr val="14213D"/>
                </a:solidFill>
                <a:latin typeface="Calibri" panose="020F0502020204030204" pitchFamily="34" charset="0"/>
              </a:rPr>
              <a:t>People</a:t>
            </a:r>
          </a:p>
        </p:txBody>
      </p:sp>
      <p:sp>
        <p:nvSpPr>
          <p:cNvPr id="13" name="TextBox 12">
            <a:extLst>
              <a:ext uri="{FF2B5EF4-FFF2-40B4-BE49-F238E27FC236}">
                <a16:creationId xmlns:a16="http://schemas.microsoft.com/office/drawing/2014/main" id="{15CC9E21-2654-93F1-6714-747326E12407}"/>
              </a:ext>
            </a:extLst>
          </p:cNvPr>
          <p:cNvSpPr txBox="1"/>
          <p:nvPr/>
        </p:nvSpPr>
        <p:spPr>
          <a:xfrm>
            <a:off x="6553200" y="3378200"/>
            <a:ext cx="3556000" cy="279400"/>
          </a:xfrm>
          <a:prstGeom prst="rect">
            <a:avLst/>
          </a:prstGeom>
          <a:noFill/>
        </p:spPr>
        <p:txBody>
          <a:bodyPr vert="horz" wrap="square" lIns="0" tIns="0" rIns="0" bIns="0" rtlCol="0" anchor="t">
            <a:noAutofit/>
          </a:bodyPr>
          <a:lstStyle/>
          <a:p>
            <a:r>
              <a:rPr lang="en-US" sz="1500">
                <a:solidFill>
                  <a:srgbClr val="5B6475"/>
                </a:solidFill>
                <a:latin typeface="Calibri" panose="020F0502020204030204" pitchFamily="34" charset="0"/>
              </a:rPr>
              <a:t>8 tasks</a:t>
            </a:r>
          </a:p>
        </p:txBody>
      </p:sp>
      <p:sp>
        <p:nvSpPr>
          <p:cNvPr id="14" name="TextBox 13">
            <a:extLst>
              <a:ext uri="{FF2B5EF4-FFF2-40B4-BE49-F238E27FC236}">
                <a16:creationId xmlns:a16="http://schemas.microsoft.com/office/drawing/2014/main" id="{BFE5C05E-877E-54FD-4EDC-F21962D337AE}"/>
              </a:ext>
            </a:extLst>
          </p:cNvPr>
          <p:cNvSpPr txBox="1"/>
          <p:nvPr/>
        </p:nvSpPr>
        <p:spPr>
          <a:xfrm>
            <a:off x="10033000" y="2768600"/>
            <a:ext cx="1651000" cy="762000"/>
          </a:xfrm>
          <a:prstGeom prst="rect">
            <a:avLst/>
          </a:prstGeom>
          <a:noFill/>
        </p:spPr>
        <p:txBody>
          <a:bodyPr vert="horz" wrap="square" lIns="0" tIns="0" rIns="0" bIns="0" rtlCol="0" anchor="t">
            <a:noAutofit/>
          </a:bodyPr>
          <a:lstStyle/>
          <a:p>
            <a:pPr algn="r"/>
            <a:r>
              <a:rPr lang="en-US" sz="4000" b="1">
                <a:solidFill>
                  <a:srgbClr val="0F7C80"/>
                </a:solidFill>
                <a:latin typeface="Cambria" panose="02040503050406030204" pitchFamily="18" charset="0"/>
              </a:rPr>
              <a:t>33%</a:t>
            </a:r>
          </a:p>
        </p:txBody>
      </p:sp>
      <p:sp>
        <p:nvSpPr>
          <p:cNvPr id="15" name="Oval 14">
            <a:extLst>
              <a:ext uri="{FF2B5EF4-FFF2-40B4-BE49-F238E27FC236}">
                <a16:creationId xmlns:a16="http://schemas.microsoft.com/office/drawing/2014/main" id="{125C6574-5BC6-AB6C-D9DB-1E63ACCF2C7B}"/>
              </a:ext>
            </a:extLst>
          </p:cNvPr>
          <p:cNvSpPr/>
          <p:nvPr/>
        </p:nvSpPr>
        <p:spPr>
          <a:xfrm>
            <a:off x="6096000" y="4343400"/>
            <a:ext cx="279400" cy="2794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903CB33-8431-929E-B115-AC834C6F37C5}"/>
              </a:ext>
            </a:extLst>
          </p:cNvPr>
          <p:cNvSpPr txBox="1"/>
          <p:nvPr/>
        </p:nvSpPr>
        <p:spPr>
          <a:xfrm>
            <a:off x="6553200" y="4064000"/>
            <a:ext cx="3556000" cy="203200"/>
          </a:xfrm>
          <a:prstGeom prst="rect">
            <a:avLst/>
          </a:prstGeom>
          <a:noFill/>
        </p:spPr>
        <p:txBody>
          <a:bodyPr vert="horz" wrap="square" lIns="0" tIns="0" rIns="0" bIns="0" rtlCol="0" anchor="t">
            <a:noAutofit/>
          </a:bodyPr>
          <a:lstStyle/>
          <a:p>
            <a:r>
              <a:rPr lang="en-US" sz="1100" b="1">
                <a:solidFill>
                  <a:srgbClr val="5B6475"/>
                </a:solidFill>
                <a:latin typeface="Calibri" panose="020F0502020204030204" pitchFamily="34" charset="0"/>
              </a:rPr>
              <a:t>DOMAIN III</a:t>
            </a:r>
          </a:p>
        </p:txBody>
      </p:sp>
      <p:sp>
        <p:nvSpPr>
          <p:cNvPr id="17" name="TextBox 16">
            <a:extLst>
              <a:ext uri="{FF2B5EF4-FFF2-40B4-BE49-F238E27FC236}">
                <a16:creationId xmlns:a16="http://schemas.microsoft.com/office/drawing/2014/main" id="{ECC78CC5-F4B7-7C49-0050-A34D6EB00909}"/>
              </a:ext>
            </a:extLst>
          </p:cNvPr>
          <p:cNvSpPr txBox="1"/>
          <p:nvPr/>
        </p:nvSpPr>
        <p:spPr>
          <a:xfrm>
            <a:off x="6553200" y="4267200"/>
            <a:ext cx="3556000" cy="381000"/>
          </a:xfrm>
          <a:prstGeom prst="rect">
            <a:avLst/>
          </a:prstGeom>
          <a:noFill/>
        </p:spPr>
        <p:txBody>
          <a:bodyPr vert="horz" wrap="square" lIns="0" tIns="0" rIns="0" bIns="0" rtlCol="0" anchor="t">
            <a:noAutofit/>
          </a:bodyPr>
          <a:lstStyle/>
          <a:p>
            <a:r>
              <a:rPr lang="en-US" sz="2000" b="1">
                <a:solidFill>
                  <a:srgbClr val="14213D"/>
                </a:solidFill>
                <a:latin typeface="Calibri" panose="020F0502020204030204" pitchFamily="34" charset="0"/>
              </a:rPr>
              <a:t>Business Environment</a:t>
            </a:r>
          </a:p>
        </p:txBody>
      </p:sp>
      <p:sp>
        <p:nvSpPr>
          <p:cNvPr id="18" name="TextBox 17">
            <a:extLst>
              <a:ext uri="{FF2B5EF4-FFF2-40B4-BE49-F238E27FC236}">
                <a16:creationId xmlns:a16="http://schemas.microsoft.com/office/drawing/2014/main" id="{C4B8F467-AF1A-E598-92E8-3BBBD65A15B1}"/>
              </a:ext>
            </a:extLst>
          </p:cNvPr>
          <p:cNvSpPr txBox="1"/>
          <p:nvPr/>
        </p:nvSpPr>
        <p:spPr>
          <a:xfrm>
            <a:off x="6553200" y="4648200"/>
            <a:ext cx="3556000" cy="279400"/>
          </a:xfrm>
          <a:prstGeom prst="rect">
            <a:avLst/>
          </a:prstGeom>
          <a:noFill/>
        </p:spPr>
        <p:txBody>
          <a:bodyPr vert="horz" wrap="square" lIns="0" tIns="0" rIns="0" bIns="0" rtlCol="0" anchor="t">
            <a:noAutofit/>
          </a:bodyPr>
          <a:lstStyle/>
          <a:p>
            <a:r>
              <a:rPr lang="en-US" sz="1500">
                <a:solidFill>
                  <a:srgbClr val="5B6475"/>
                </a:solidFill>
                <a:latin typeface="Calibri" panose="020F0502020204030204" pitchFamily="34" charset="0"/>
              </a:rPr>
              <a:t>8 tasks</a:t>
            </a:r>
          </a:p>
        </p:txBody>
      </p:sp>
      <p:sp>
        <p:nvSpPr>
          <p:cNvPr id="19" name="TextBox 18">
            <a:extLst>
              <a:ext uri="{FF2B5EF4-FFF2-40B4-BE49-F238E27FC236}">
                <a16:creationId xmlns:a16="http://schemas.microsoft.com/office/drawing/2014/main" id="{AD48770B-D927-7A94-BA22-DD64EE2409F9}"/>
              </a:ext>
            </a:extLst>
          </p:cNvPr>
          <p:cNvSpPr txBox="1"/>
          <p:nvPr/>
        </p:nvSpPr>
        <p:spPr>
          <a:xfrm>
            <a:off x="10033000" y="4038600"/>
            <a:ext cx="1651000" cy="762000"/>
          </a:xfrm>
          <a:prstGeom prst="rect">
            <a:avLst/>
          </a:prstGeom>
          <a:noFill/>
        </p:spPr>
        <p:txBody>
          <a:bodyPr vert="horz" wrap="square" lIns="0" tIns="0" rIns="0" bIns="0" rtlCol="0" anchor="t">
            <a:noAutofit/>
          </a:bodyPr>
          <a:lstStyle/>
          <a:p>
            <a:pPr algn="r"/>
            <a:r>
              <a:rPr lang="en-US" sz="4000" b="1">
                <a:solidFill>
                  <a:srgbClr val="A84A2E"/>
                </a:solidFill>
                <a:latin typeface="Cambria" panose="02040503050406030204" pitchFamily="18" charset="0"/>
              </a:rPr>
              <a:t>26%</a:t>
            </a:r>
          </a:p>
        </p:txBody>
      </p:sp>
      <p:sp>
        <p:nvSpPr>
          <p:cNvPr id="20" name="TextBox 19">
            <a:extLst>
              <a:ext uri="{FF2B5EF4-FFF2-40B4-BE49-F238E27FC236}">
                <a16:creationId xmlns:a16="http://schemas.microsoft.com/office/drawing/2014/main" id="{E6F38DFD-5BCA-5EFF-3B6A-FCFE6F5C7219}"/>
              </a:ext>
            </a:extLst>
          </p:cNvPr>
          <p:cNvSpPr txBox="1"/>
          <p:nvPr/>
        </p:nvSpPr>
        <p:spPr>
          <a:xfrm>
            <a:off x="6096000" y="5461000"/>
            <a:ext cx="5588000" cy="635000"/>
          </a:xfrm>
          <a:prstGeom prst="rect">
            <a:avLst/>
          </a:prstGeom>
          <a:noFill/>
        </p:spPr>
        <p:txBody>
          <a:bodyPr vert="horz" wrap="square" lIns="0" tIns="0" rIns="0" bIns="0" rtlCol="0" anchor="t">
            <a:noAutofit/>
          </a:bodyPr>
          <a:lstStyle/>
          <a:p>
            <a:r>
              <a:rPr lang="en-US" sz="1500" i="1">
                <a:solidFill>
                  <a:srgbClr val="1F2937"/>
                </a:solidFill>
                <a:latin typeface="Calibri" panose="020F0502020204030204" pitchFamily="34" charset="0"/>
              </a:rPr>
              <a:t>Every exam covers all tasks in each domain, and PMI holds to these domain percentages.</a:t>
            </a:r>
          </a:p>
        </p:txBody>
      </p:sp>
      <p:sp>
        <p:nvSpPr>
          <p:cNvPr id="21" name="Footer">
            <a:extLst>
              <a:ext uri="{FF2B5EF4-FFF2-40B4-BE49-F238E27FC236}">
                <a16:creationId xmlns:a16="http://schemas.microsoft.com/office/drawing/2014/main" id="{8822D34D-EAEF-4DBA-EFA7-7BF284421754}"/>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PMP® Examination Content Outline (July 2026)</a:t>
            </a:r>
          </a:p>
        </p:txBody>
      </p:sp>
      <p:sp>
        <p:nvSpPr>
          <p:cNvPr id="22" name="SlideNum">
            <a:extLst>
              <a:ext uri="{FF2B5EF4-FFF2-40B4-BE49-F238E27FC236}">
                <a16:creationId xmlns:a16="http://schemas.microsoft.com/office/drawing/2014/main" id="{E85E91E3-4F99-93AA-6290-30C71978C8A5}"/>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5</a:t>
            </a:r>
          </a:p>
        </p:txBody>
      </p:sp>
      <p:sp>
        <p:nvSpPr>
          <p:cNvPr id="23"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864671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2A21AA1-70CC-F92A-5E89-61FFBC0FCA77}"/>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The PMI Talent Triangle mirrors the three domains</a:t>
            </a:r>
          </a:p>
        </p:txBody>
      </p:sp>
      <p:sp>
        <p:nvSpPr>
          <p:cNvPr id="3" name="Tag">
            <a:extLst>
              <a:ext uri="{FF2B5EF4-FFF2-40B4-BE49-F238E27FC236}">
                <a16:creationId xmlns:a16="http://schemas.microsoft.com/office/drawing/2014/main" id="{3E539188-1F7D-54EC-9D0B-CAFAE6A8EFC8}"/>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14213D"/>
                </a:solidFill>
                <a:latin typeface="Calibri" panose="020F0502020204030204" pitchFamily="34" charset="0"/>
              </a:rPr>
              <a:t>Context · PMI’s model of the skills a project professional needs</a:t>
            </a:r>
          </a:p>
        </p:txBody>
      </p:sp>
      <p:cxnSp>
        <p:nvCxnSpPr>
          <p:cNvPr id="4" name="Straight Connector 3">
            <a:extLst>
              <a:ext uri="{FF2B5EF4-FFF2-40B4-BE49-F238E27FC236}">
                <a16:creationId xmlns:a16="http://schemas.microsoft.com/office/drawing/2014/main" id="{C643BE4E-23E7-F8A6-EF48-1BAB03F33ED3}"/>
              </a:ext>
            </a:extLst>
          </p:cNvPr>
          <p:cNvCxnSpPr/>
          <p:nvPr/>
        </p:nvCxnSpPr>
        <p:spPr>
          <a:xfrm flipH="1">
            <a:off x="1397000" y="2159000"/>
            <a:ext cx="1778000" cy="2921000"/>
          </a:xfrm>
          <a:prstGeom prst="line">
            <a:avLst/>
          </a:prstGeom>
          <a:ln w="76200">
            <a:solidFill>
              <a:srgbClr val="D5DBE3"/>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1669E2C-BBDB-534D-4EB8-460513EAF794}"/>
              </a:ext>
            </a:extLst>
          </p:cNvPr>
          <p:cNvCxnSpPr/>
          <p:nvPr/>
        </p:nvCxnSpPr>
        <p:spPr>
          <a:xfrm>
            <a:off x="1397000" y="5080000"/>
            <a:ext cx="3556000" cy="0"/>
          </a:xfrm>
          <a:prstGeom prst="line">
            <a:avLst/>
          </a:prstGeom>
          <a:ln w="76200">
            <a:solidFill>
              <a:srgbClr val="D5DBE3"/>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00880F6B-20C9-2B65-B27A-0EF60698895D}"/>
              </a:ext>
            </a:extLst>
          </p:cNvPr>
          <p:cNvCxnSpPr/>
          <p:nvPr/>
        </p:nvCxnSpPr>
        <p:spPr>
          <a:xfrm flipH="1" flipV="1">
            <a:off x="3175000" y="2159000"/>
            <a:ext cx="1778000" cy="2921000"/>
          </a:xfrm>
          <a:prstGeom prst="line">
            <a:avLst/>
          </a:prstGeom>
          <a:ln w="76200">
            <a:solidFill>
              <a:srgbClr val="D5DBE3"/>
            </a:solidFill>
          </a:ln>
        </p:spPr>
        <p:style>
          <a:lnRef idx="2">
            <a:schemeClr val="accent1"/>
          </a:lnRef>
          <a:fillRef idx="0">
            <a:schemeClr val="accent1"/>
          </a:fillRef>
          <a:effectRef idx="1">
            <a:schemeClr val="accent1"/>
          </a:effectRef>
          <a:fontRef idx="minor">
            <a:schemeClr val="tx1"/>
          </a:fontRef>
        </p:style>
      </p:cxnSp>
      <p:sp>
        <p:nvSpPr>
          <p:cNvPr id="7" name="Oval 6">
            <a:extLst>
              <a:ext uri="{FF2B5EF4-FFF2-40B4-BE49-F238E27FC236}">
                <a16:creationId xmlns:a16="http://schemas.microsoft.com/office/drawing/2014/main" id="{BEEFEE6C-975C-DB45-8AFB-4C3490F6E5AB}"/>
              </a:ext>
            </a:extLst>
          </p:cNvPr>
          <p:cNvSpPr/>
          <p:nvPr/>
        </p:nvSpPr>
        <p:spPr>
          <a:xfrm>
            <a:off x="2336800" y="1320800"/>
            <a:ext cx="1676400" cy="16764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25400" rIns="127000" bIns="25400" rtlCol="0" anchor="ctr"/>
          <a:lstStyle/>
          <a:p>
            <a:pPr algn="ctr"/>
            <a:r>
              <a:rPr lang="en-US" sz="1700" b="1">
                <a:solidFill>
                  <a:srgbClr val="FFFFFF"/>
                </a:solidFill>
                <a:latin typeface="Calibri" panose="020F0502020204030204" pitchFamily="34" charset="0"/>
              </a:rPr>
              <a:t>Ways of Working</a:t>
            </a:r>
          </a:p>
        </p:txBody>
      </p:sp>
      <p:sp>
        <p:nvSpPr>
          <p:cNvPr id="8" name="Oval 7">
            <a:extLst>
              <a:ext uri="{FF2B5EF4-FFF2-40B4-BE49-F238E27FC236}">
                <a16:creationId xmlns:a16="http://schemas.microsoft.com/office/drawing/2014/main" id="{C83A60B0-70A2-6C92-11AB-F00827C96099}"/>
              </a:ext>
            </a:extLst>
          </p:cNvPr>
          <p:cNvSpPr/>
          <p:nvPr/>
        </p:nvSpPr>
        <p:spPr>
          <a:xfrm>
            <a:off x="558800" y="4241800"/>
            <a:ext cx="1676400" cy="1676400"/>
          </a:xfrm>
          <a:prstGeom prst="ellipse">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25400" rIns="127000" bIns="25400" rtlCol="0" anchor="ctr"/>
          <a:lstStyle/>
          <a:p>
            <a:pPr algn="ctr"/>
            <a:r>
              <a:rPr lang="en-US" sz="1700" b="1">
                <a:solidFill>
                  <a:srgbClr val="FFFFFF"/>
                </a:solidFill>
                <a:latin typeface="Calibri" panose="020F0502020204030204" pitchFamily="34" charset="0"/>
              </a:rPr>
              <a:t>Power Skills</a:t>
            </a:r>
          </a:p>
        </p:txBody>
      </p:sp>
      <p:sp>
        <p:nvSpPr>
          <p:cNvPr id="9" name="Oval 8">
            <a:extLst>
              <a:ext uri="{FF2B5EF4-FFF2-40B4-BE49-F238E27FC236}">
                <a16:creationId xmlns:a16="http://schemas.microsoft.com/office/drawing/2014/main" id="{58A5A2A3-9172-13A1-3C8E-5C287A5FDB9A}"/>
              </a:ext>
            </a:extLst>
          </p:cNvPr>
          <p:cNvSpPr/>
          <p:nvPr/>
        </p:nvSpPr>
        <p:spPr>
          <a:xfrm>
            <a:off x="4114800" y="4241800"/>
            <a:ext cx="1676400" cy="16764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25400" rIns="127000" bIns="25400" rtlCol="0" anchor="ctr"/>
          <a:lstStyle/>
          <a:p>
            <a:pPr algn="ctr"/>
            <a:r>
              <a:rPr lang="en-US" sz="1700" b="1">
                <a:solidFill>
                  <a:srgbClr val="FFFFFF"/>
                </a:solidFill>
                <a:latin typeface="Calibri" panose="020F0502020204030204" pitchFamily="34" charset="0"/>
              </a:rPr>
              <a:t>Business Acumen</a:t>
            </a:r>
          </a:p>
        </p:txBody>
      </p:sp>
      <p:sp>
        <p:nvSpPr>
          <p:cNvPr id="10" name="Rectangle: Rounded Corners 9">
            <a:extLst>
              <a:ext uri="{FF2B5EF4-FFF2-40B4-BE49-F238E27FC236}">
                <a16:creationId xmlns:a16="http://schemas.microsoft.com/office/drawing/2014/main" id="{CC8863E9-95E0-1AB0-CA62-A1081CBD6FBF}"/>
              </a:ext>
            </a:extLst>
          </p:cNvPr>
          <p:cNvSpPr/>
          <p:nvPr/>
        </p:nvSpPr>
        <p:spPr>
          <a:xfrm>
            <a:off x="6096000" y="1371600"/>
            <a:ext cx="5588000" cy="14732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CBDCCB3-5FC3-EAB6-CA53-9F93FE67F1F0}"/>
              </a:ext>
            </a:extLst>
          </p:cNvPr>
          <p:cNvSpPr txBox="1"/>
          <p:nvPr/>
        </p:nvSpPr>
        <p:spPr>
          <a:xfrm>
            <a:off x="6299200" y="1574800"/>
            <a:ext cx="5181600" cy="1066800"/>
          </a:xfrm>
          <a:prstGeom prst="rect">
            <a:avLst/>
          </a:prstGeom>
          <a:noFill/>
        </p:spPr>
        <p:txBody>
          <a:bodyPr vert="horz" wrap="square" lIns="0" tIns="0" rIns="0" bIns="0" rtlCol="0" anchor="t">
            <a:noAutofit/>
          </a:bodyPr>
          <a:lstStyle/>
          <a:p>
            <a:pPr>
              <a:spcAft>
                <a:spcPts val="600"/>
              </a:spcAft>
            </a:pPr>
            <a:r>
              <a:rPr lang="en-US" sz="1700" b="1">
                <a:solidFill>
                  <a:srgbClr val="34509A"/>
                </a:solidFill>
                <a:latin typeface="Calibri" panose="020F0502020204030204" pitchFamily="34" charset="0"/>
              </a:rPr>
              <a:t>Ways of Working  →  Process</a:t>
            </a:r>
          </a:p>
          <a:p>
            <a:r>
              <a:rPr lang="en-US" sz="1400">
                <a:solidFill>
                  <a:srgbClr val="1F2937"/>
                </a:solidFill>
                <a:latin typeface="Calibri" panose="020F0502020204030204" pitchFamily="34" charset="0"/>
              </a:rPr>
              <a:t>Mastering diverse ways of getting work done: predictive, agile, hybrid, design thinking, and new practices as they emerge.</a:t>
            </a:r>
          </a:p>
        </p:txBody>
      </p:sp>
      <p:sp>
        <p:nvSpPr>
          <p:cNvPr id="12" name="Rectangle: Rounded Corners 11">
            <a:extLst>
              <a:ext uri="{FF2B5EF4-FFF2-40B4-BE49-F238E27FC236}">
                <a16:creationId xmlns:a16="http://schemas.microsoft.com/office/drawing/2014/main" id="{FF6F50A3-634F-5EA3-C2BA-7677CA6FD418}"/>
              </a:ext>
            </a:extLst>
          </p:cNvPr>
          <p:cNvSpPr/>
          <p:nvPr/>
        </p:nvSpPr>
        <p:spPr>
          <a:xfrm>
            <a:off x="6096000" y="2997200"/>
            <a:ext cx="5588000" cy="14732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D1E7E84-BE13-DEF5-FDE7-FCA4E542A8AA}"/>
              </a:ext>
            </a:extLst>
          </p:cNvPr>
          <p:cNvSpPr txBox="1"/>
          <p:nvPr/>
        </p:nvSpPr>
        <p:spPr>
          <a:xfrm>
            <a:off x="6299200" y="3200400"/>
            <a:ext cx="5181600" cy="1066800"/>
          </a:xfrm>
          <a:prstGeom prst="rect">
            <a:avLst/>
          </a:prstGeom>
          <a:noFill/>
        </p:spPr>
        <p:txBody>
          <a:bodyPr vert="horz" wrap="square" lIns="0" tIns="0" rIns="0" bIns="0" rtlCol="0" anchor="t">
            <a:noAutofit/>
          </a:bodyPr>
          <a:lstStyle/>
          <a:p>
            <a:pPr>
              <a:spcAft>
                <a:spcPts val="600"/>
              </a:spcAft>
            </a:pPr>
            <a:r>
              <a:rPr lang="en-US" sz="1700" b="1">
                <a:solidFill>
                  <a:srgbClr val="0F7C80"/>
                </a:solidFill>
                <a:latin typeface="Calibri" panose="020F0502020204030204" pitchFamily="34" charset="0"/>
              </a:rPr>
              <a:t>Power Skills  →  People</a:t>
            </a:r>
          </a:p>
          <a:p>
            <a:r>
              <a:rPr lang="en-US" sz="1400">
                <a:solidFill>
                  <a:srgbClr val="1F2937"/>
                </a:solidFill>
                <a:latin typeface="Calibri" panose="020F0502020204030204" pitchFamily="34" charset="0"/>
              </a:rPr>
              <a:t>Interpersonal skills such as collaborative leadership, communication, an innovative mindset, and empathy.</a:t>
            </a:r>
          </a:p>
        </p:txBody>
      </p:sp>
      <p:sp>
        <p:nvSpPr>
          <p:cNvPr id="14" name="Rectangle: Rounded Corners 13">
            <a:extLst>
              <a:ext uri="{FF2B5EF4-FFF2-40B4-BE49-F238E27FC236}">
                <a16:creationId xmlns:a16="http://schemas.microsoft.com/office/drawing/2014/main" id="{A9CD59EC-0499-8EED-0926-DBC07F8EBE6A}"/>
              </a:ext>
            </a:extLst>
          </p:cNvPr>
          <p:cNvSpPr/>
          <p:nvPr/>
        </p:nvSpPr>
        <p:spPr>
          <a:xfrm>
            <a:off x="6096000" y="4622800"/>
            <a:ext cx="5588000" cy="14732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9EF85E6-EE0A-9DBD-5241-6BA3A302F56E}"/>
              </a:ext>
            </a:extLst>
          </p:cNvPr>
          <p:cNvSpPr txBox="1"/>
          <p:nvPr/>
        </p:nvSpPr>
        <p:spPr>
          <a:xfrm>
            <a:off x="6299200" y="4826000"/>
            <a:ext cx="5181600" cy="1066800"/>
          </a:xfrm>
          <a:prstGeom prst="rect">
            <a:avLst/>
          </a:prstGeom>
          <a:noFill/>
        </p:spPr>
        <p:txBody>
          <a:bodyPr vert="horz" wrap="square" lIns="0" tIns="0" rIns="0" bIns="0" rtlCol="0" anchor="t">
            <a:noAutofit/>
          </a:bodyPr>
          <a:lstStyle/>
          <a:p>
            <a:pPr>
              <a:spcAft>
                <a:spcPts val="600"/>
              </a:spcAft>
            </a:pPr>
            <a:r>
              <a:rPr lang="en-US" sz="1700" b="1">
                <a:solidFill>
                  <a:srgbClr val="A84A2E"/>
                </a:solidFill>
                <a:latin typeface="Calibri" panose="020F0502020204030204" pitchFamily="34" charset="0"/>
              </a:rPr>
              <a:t>Business Acumen  →  Business Environment</a:t>
            </a:r>
          </a:p>
          <a:p>
            <a:r>
              <a:rPr lang="en-US" sz="1400">
                <a:solidFill>
                  <a:srgbClr val="1F2937"/>
                </a:solidFill>
                <a:latin typeface="Calibri" panose="020F0502020204030204" pitchFamily="34" charset="0"/>
              </a:rPr>
              <a:t>Understanding the organization, its industry, and outside influences, so decisions deliver strategic value.</a:t>
            </a:r>
          </a:p>
        </p:txBody>
      </p:sp>
      <p:sp>
        <p:nvSpPr>
          <p:cNvPr id="16" name="Footer">
            <a:extLst>
              <a:ext uri="{FF2B5EF4-FFF2-40B4-BE49-F238E27FC236}">
                <a16:creationId xmlns:a16="http://schemas.microsoft.com/office/drawing/2014/main" id="{F6BDF8BF-9E57-CDA9-B231-B1D4412B31D1}"/>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The PMI Talent Triangle® (2022 update)</a:t>
            </a:r>
          </a:p>
        </p:txBody>
      </p:sp>
      <p:sp>
        <p:nvSpPr>
          <p:cNvPr id="17" name="SlideNum">
            <a:extLst>
              <a:ext uri="{FF2B5EF4-FFF2-40B4-BE49-F238E27FC236}">
                <a16:creationId xmlns:a16="http://schemas.microsoft.com/office/drawing/2014/main" id="{A4F54A9D-7A23-1D9F-86F1-F5100B373505}"/>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6</a:t>
            </a:r>
          </a:p>
        </p:txBody>
      </p:sp>
      <p:sp>
        <p:nvSpPr>
          <p:cNvPr id="18"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674311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B21DA8B-C66F-4CA1-9959-4906962A4224}"/>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About 40% predictive, 60% agile or hybrid</a:t>
            </a:r>
          </a:p>
        </p:txBody>
      </p:sp>
      <p:sp>
        <p:nvSpPr>
          <p:cNvPr id="3" name="Rectangle 2">
            <a:extLst>
              <a:ext uri="{FF2B5EF4-FFF2-40B4-BE49-F238E27FC236}">
                <a16:creationId xmlns:a16="http://schemas.microsoft.com/office/drawing/2014/main" id="{AFB4D117-CB24-F69F-0B8E-6CE958740E46}"/>
              </a:ext>
            </a:extLst>
          </p:cNvPr>
          <p:cNvSpPr/>
          <p:nvPr/>
        </p:nvSpPr>
        <p:spPr>
          <a:xfrm>
            <a:off x="508000" y="1587500"/>
            <a:ext cx="4445000" cy="1397000"/>
          </a:xfrm>
          <a:prstGeom prst="rect">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2400" b="1">
                <a:solidFill>
                  <a:srgbClr val="FFFFFF"/>
                </a:solidFill>
                <a:latin typeface="Calibri" panose="020F0502020204030204" pitchFamily="34" charset="0"/>
              </a:rPr>
              <a:t>Predictive</a:t>
            </a:r>
          </a:p>
          <a:p>
            <a:pPr algn="ctr"/>
            <a:r>
              <a:rPr lang="en-US" sz="2400" b="1">
                <a:solidFill>
                  <a:srgbClr val="FFFFFF"/>
                </a:solidFill>
                <a:latin typeface="Calibri" panose="020F0502020204030204" pitchFamily="34" charset="0"/>
              </a:rPr>
              <a:t>about 40%</a:t>
            </a:r>
          </a:p>
        </p:txBody>
      </p:sp>
      <p:sp>
        <p:nvSpPr>
          <p:cNvPr id="4" name="Rectangle 3">
            <a:extLst>
              <a:ext uri="{FF2B5EF4-FFF2-40B4-BE49-F238E27FC236}">
                <a16:creationId xmlns:a16="http://schemas.microsoft.com/office/drawing/2014/main" id="{11192A5E-6FF1-3D6C-1C78-6A564E3A0113}"/>
              </a:ext>
            </a:extLst>
          </p:cNvPr>
          <p:cNvSpPr/>
          <p:nvPr/>
        </p:nvSpPr>
        <p:spPr>
          <a:xfrm>
            <a:off x="5003800" y="1587500"/>
            <a:ext cx="6680200" cy="1397000"/>
          </a:xfrm>
          <a:prstGeom prst="rect">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2400" b="1">
                <a:solidFill>
                  <a:srgbClr val="14213D"/>
                </a:solidFill>
                <a:latin typeface="Calibri" panose="020F0502020204030204" pitchFamily="34" charset="0"/>
              </a:rPr>
              <a:t>Agile or hybrid</a:t>
            </a:r>
          </a:p>
          <a:p>
            <a:pPr algn="ctr"/>
            <a:r>
              <a:rPr lang="en-US" sz="2400" b="1">
                <a:solidFill>
                  <a:srgbClr val="14213D"/>
                </a:solidFill>
                <a:latin typeface="Calibri" panose="020F0502020204030204" pitchFamily="34" charset="0"/>
              </a:rPr>
              <a:t>about 60%</a:t>
            </a:r>
          </a:p>
        </p:txBody>
      </p:sp>
      <p:sp>
        <p:nvSpPr>
          <p:cNvPr id="5" name="Rectangle: Rounded Corners 4">
            <a:extLst>
              <a:ext uri="{FF2B5EF4-FFF2-40B4-BE49-F238E27FC236}">
                <a16:creationId xmlns:a16="http://schemas.microsoft.com/office/drawing/2014/main" id="{A79F3618-2068-26FA-099C-248A48C043F5}"/>
              </a:ext>
            </a:extLst>
          </p:cNvPr>
          <p:cNvSpPr/>
          <p:nvPr/>
        </p:nvSpPr>
        <p:spPr>
          <a:xfrm>
            <a:off x="508000" y="3429000"/>
            <a:ext cx="3556000" cy="20955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A11F465-426F-2B87-FE69-76FB7CF87099}"/>
              </a:ext>
            </a:extLst>
          </p:cNvPr>
          <p:cNvSpPr txBox="1"/>
          <p:nvPr/>
        </p:nvSpPr>
        <p:spPr>
          <a:xfrm>
            <a:off x="711200" y="3632200"/>
            <a:ext cx="3149600" cy="1689100"/>
          </a:xfrm>
          <a:prstGeom prst="rect">
            <a:avLst/>
          </a:prstGeom>
          <a:noFill/>
        </p:spPr>
        <p:txBody>
          <a:bodyPr vert="horz" wrap="square" lIns="0" tIns="0" rIns="0" bIns="0" rtlCol="0" anchor="t">
            <a:noAutofit/>
          </a:bodyPr>
          <a:lstStyle/>
          <a:p>
            <a:pPr>
              <a:spcAft>
                <a:spcPts val="600"/>
              </a:spcAft>
            </a:pPr>
            <a:r>
              <a:rPr lang="en-US" sz="1700" b="1">
                <a:solidFill>
                  <a:srgbClr val="14213D"/>
                </a:solidFill>
                <a:latin typeface="Calibri" panose="020F0502020204030204" pitchFamily="34" charset="0"/>
              </a:rPr>
              <a:t>Everywhere</a:t>
            </a:r>
          </a:p>
          <a:p>
            <a:r>
              <a:rPr lang="en-US" sz="1400">
                <a:solidFill>
                  <a:srgbClr val="1F2937"/>
                </a:solidFill>
                <a:latin typeface="Calibri" panose="020F0502020204030204" pitchFamily="34" charset="0"/>
              </a:rPr>
              <a:t>Predictive, agile, and hybrid approaches appear throughout all three domains, not isolated to any domain or task.</a:t>
            </a:r>
          </a:p>
        </p:txBody>
      </p:sp>
      <p:sp>
        <p:nvSpPr>
          <p:cNvPr id="7" name="Rectangle: Rounded Corners 6">
            <a:extLst>
              <a:ext uri="{FF2B5EF4-FFF2-40B4-BE49-F238E27FC236}">
                <a16:creationId xmlns:a16="http://schemas.microsoft.com/office/drawing/2014/main" id="{3FCE2369-BA81-DB23-B197-8370CB7A5431}"/>
              </a:ext>
            </a:extLst>
          </p:cNvPr>
          <p:cNvSpPr/>
          <p:nvPr/>
        </p:nvSpPr>
        <p:spPr>
          <a:xfrm>
            <a:off x="4318000" y="3429000"/>
            <a:ext cx="3556000" cy="20955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A2229E-E6FF-BC31-4F05-AFC4053A60FD}"/>
              </a:ext>
            </a:extLst>
          </p:cNvPr>
          <p:cNvSpPr txBox="1"/>
          <p:nvPr/>
        </p:nvSpPr>
        <p:spPr>
          <a:xfrm>
            <a:off x="4521200" y="3632200"/>
            <a:ext cx="3149600" cy="1689100"/>
          </a:xfrm>
          <a:prstGeom prst="rect">
            <a:avLst/>
          </a:prstGeom>
          <a:noFill/>
        </p:spPr>
        <p:txBody>
          <a:bodyPr vert="horz" wrap="square" lIns="0" tIns="0" rIns="0" bIns="0" rtlCol="0" anchor="t">
            <a:noAutofit/>
          </a:bodyPr>
          <a:lstStyle/>
          <a:p>
            <a:pPr>
              <a:spcAft>
                <a:spcPts val="600"/>
              </a:spcAft>
            </a:pPr>
            <a:r>
              <a:rPr lang="en-US" sz="1700" b="1">
                <a:solidFill>
                  <a:srgbClr val="14213D"/>
                </a:solidFill>
                <a:latin typeface="Calibri" panose="020F0502020204030204" pitchFamily="34" charset="0"/>
              </a:rPr>
              <a:t>Varies by form</a:t>
            </a:r>
          </a:p>
          <a:p>
            <a:r>
              <a:rPr lang="en-US" sz="1400">
                <a:solidFill>
                  <a:srgbClr val="1F2937"/>
                </a:solidFill>
                <a:latin typeface="Calibri" panose="020F0502020204030204" pitchFamily="34" charset="0"/>
              </a:rPr>
              <a:t>The exact number of items for each question type and approach can vary between exam forms. PMI periodically reviews the scoring model.</a:t>
            </a:r>
          </a:p>
        </p:txBody>
      </p:sp>
      <p:sp>
        <p:nvSpPr>
          <p:cNvPr id="9" name="Rectangle: Rounded Corners 8">
            <a:extLst>
              <a:ext uri="{FF2B5EF4-FFF2-40B4-BE49-F238E27FC236}">
                <a16:creationId xmlns:a16="http://schemas.microsoft.com/office/drawing/2014/main" id="{E34B845E-ED32-C822-0133-5030CB5DD966}"/>
              </a:ext>
            </a:extLst>
          </p:cNvPr>
          <p:cNvSpPr/>
          <p:nvPr/>
        </p:nvSpPr>
        <p:spPr>
          <a:xfrm>
            <a:off x="8128000" y="3429000"/>
            <a:ext cx="3556000" cy="20955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2B48369-3AB0-5C99-9146-97249EF48EF0}"/>
              </a:ext>
            </a:extLst>
          </p:cNvPr>
          <p:cNvSpPr txBox="1"/>
          <p:nvPr/>
        </p:nvSpPr>
        <p:spPr>
          <a:xfrm>
            <a:off x="8331200" y="3632200"/>
            <a:ext cx="3149600" cy="1689100"/>
          </a:xfrm>
          <a:prstGeom prst="rect">
            <a:avLst/>
          </a:prstGeom>
          <a:noFill/>
        </p:spPr>
        <p:txBody>
          <a:bodyPr vert="horz" wrap="square" lIns="0" tIns="0" rIns="0" bIns="0" rtlCol="0" anchor="t">
            <a:noAutofit/>
          </a:bodyPr>
          <a:lstStyle/>
          <a:p>
            <a:pPr>
              <a:spcAft>
                <a:spcPts val="600"/>
              </a:spcAft>
            </a:pPr>
            <a:r>
              <a:rPr lang="en-US" sz="1700" b="1">
                <a:solidFill>
                  <a:srgbClr val="14213D"/>
                </a:solidFill>
                <a:latin typeface="Calibri" panose="020F0502020204030204" pitchFamily="34" charset="0"/>
              </a:rPr>
              <a:t>Mirrors real practice</a:t>
            </a:r>
          </a:p>
          <a:p>
            <a:r>
              <a:rPr lang="en-US" sz="1400">
                <a:solidFill>
                  <a:srgbClr val="1F2937"/>
                </a:solidFill>
                <a:latin typeface="Calibri" panose="020F0502020204030204" pitchFamily="34" charset="0"/>
              </a:rPr>
              <a:t>The job task analysis found practitioners work in many environments and approaches, so the exam spans the value delivery spectrum.</a:t>
            </a:r>
          </a:p>
        </p:txBody>
      </p:sp>
      <p:sp>
        <p:nvSpPr>
          <p:cNvPr id="11" name="Footer">
            <a:extLst>
              <a:ext uri="{FF2B5EF4-FFF2-40B4-BE49-F238E27FC236}">
                <a16:creationId xmlns:a16="http://schemas.microsoft.com/office/drawing/2014/main" id="{0F2EEFB7-E113-BA90-4B97-7A7FFBD7AD9C}"/>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PMP® Examination Content Outline (July 2026)</a:t>
            </a:r>
          </a:p>
        </p:txBody>
      </p:sp>
      <p:sp>
        <p:nvSpPr>
          <p:cNvPr id="12" name="SlideNum">
            <a:extLst>
              <a:ext uri="{FF2B5EF4-FFF2-40B4-BE49-F238E27FC236}">
                <a16:creationId xmlns:a16="http://schemas.microsoft.com/office/drawing/2014/main" id="{0A152770-FB43-A422-AB58-CC225C0A80A1}"/>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7</a:t>
            </a:r>
          </a:p>
        </p:txBody>
      </p:sp>
      <p:sp>
        <p:nvSpPr>
          <p:cNvPr id="13"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853364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927B61C-7BC8-16A8-9323-F2B827A5522B}"/>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How to read the outline: domain, task, enabler</a:t>
            </a:r>
          </a:p>
        </p:txBody>
      </p:sp>
      <p:sp>
        <p:nvSpPr>
          <p:cNvPr id="3" name="Rectangle: Rounded Corners 2">
            <a:extLst>
              <a:ext uri="{FF2B5EF4-FFF2-40B4-BE49-F238E27FC236}">
                <a16:creationId xmlns:a16="http://schemas.microsoft.com/office/drawing/2014/main" id="{1FB7DD11-5E2F-88D2-313E-CC221C901F09}"/>
              </a:ext>
            </a:extLst>
          </p:cNvPr>
          <p:cNvSpPr/>
          <p:nvPr/>
        </p:nvSpPr>
        <p:spPr>
          <a:xfrm>
            <a:off x="508000" y="1397000"/>
            <a:ext cx="5334000" cy="1422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A10AA88-AD85-8D58-0458-BCDDADD0EBCB}"/>
              </a:ext>
            </a:extLst>
          </p:cNvPr>
          <p:cNvSpPr txBox="1"/>
          <p:nvPr/>
        </p:nvSpPr>
        <p:spPr>
          <a:xfrm>
            <a:off x="711200" y="1600200"/>
            <a:ext cx="4927600" cy="1016000"/>
          </a:xfrm>
          <a:prstGeom prst="rect">
            <a:avLst/>
          </a:prstGeom>
          <a:noFill/>
        </p:spPr>
        <p:txBody>
          <a:bodyPr vert="horz" wrap="square" lIns="0" tIns="0" rIns="0" bIns="0" rtlCol="0" anchor="t">
            <a:noAutofit/>
          </a:bodyPr>
          <a:lstStyle/>
          <a:p>
            <a:pPr>
              <a:spcAft>
                <a:spcPts val="600"/>
              </a:spcAft>
            </a:pPr>
            <a:r>
              <a:rPr lang="en-US" sz="1700" b="1">
                <a:solidFill>
                  <a:srgbClr val="14213D"/>
                </a:solidFill>
                <a:latin typeface="Calibri" panose="020F0502020204030204" pitchFamily="34" charset="0"/>
              </a:rPr>
              <a:t>Domain</a:t>
            </a:r>
          </a:p>
          <a:p>
            <a:r>
              <a:rPr lang="en-US" sz="1400">
                <a:solidFill>
                  <a:srgbClr val="1F2937"/>
                </a:solidFill>
                <a:latin typeface="Calibri" panose="020F0502020204030204" pitchFamily="34" charset="0"/>
              </a:rPr>
              <a:t>A high-level knowledge area that is essential to the practice of project management.</a:t>
            </a:r>
          </a:p>
        </p:txBody>
      </p:sp>
      <p:sp>
        <p:nvSpPr>
          <p:cNvPr id="5" name="Rectangle: Rounded Corners 4">
            <a:extLst>
              <a:ext uri="{FF2B5EF4-FFF2-40B4-BE49-F238E27FC236}">
                <a16:creationId xmlns:a16="http://schemas.microsoft.com/office/drawing/2014/main" id="{2EC579D3-D36B-E0EC-02DA-855F125D9F1A}"/>
              </a:ext>
            </a:extLst>
          </p:cNvPr>
          <p:cNvSpPr/>
          <p:nvPr/>
        </p:nvSpPr>
        <p:spPr>
          <a:xfrm>
            <a:off x="508000" y="3022600"/>
            <a:ext cx="5334000" cy="1422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536DB31-0B10-A408-C702-D946CA5BE281}"/>
              </a:ext>
            </a:extLst>
          </p:cNvPr>
          <p:cNvSpPr txBox="1"/>
          <p:nvPr/>
        </p:nvSpPr>
        <p:spPr>
          <a:xfrm>
            <a:off x="711200" y="3225800"/>
            <a:ext cx="4927600" cy="1016000"/>
          </a:xfrm>
          <a:prstGeom prst="rect">
            <a:avLst/>
          </a:prstGeom>
          <a:noFill/>
        </p:spPr>
        <p:txBody>
          <a:bodyPr vert="horz" wrap="square" lIns="0" tIns="0" rIns="0" bIns="0" rtlCol="0" anchor="t">
            <a:noAutofit/>
          </a:bodyPr>
          <a:lstStyle/>
          <a:p>
            <a:pPr>
              <a:spcAft>
                <a:spcPts val="600"/>
              </a:spcAft>
            </a:pPr>
            <a:r>
              <a:rPr lang="en-US" sz="1700" b="1">
                <a:solidFill>
                  <a:srgbClr val="14213D"/>
                </a:solidFill>
                <a:latin typeface="Calibri" panose="020F0502020204030204" pitchFamily="34" charset="0"/>
              </a:rPr>
              <a:t>Task</a:t>
            </a:r>
          </a:p>
          <a:p>
            <a:r>
              <a:rPr lang="en-US" sz="1400">
                <a:solidFill>
                  <a:srgbClr val="1F2937"/>
                </a:solidFill>
                <a:latin typeface="Calibri" panose="020F0502020204030204" pitchFamily="34" charset="0"/>
              </a:rPr>
              <a:t>An underlying responsibility of the project manager within a domain.</a:t>
            </a:r>
          </a:p>
        </p:txBody>
      </p:sp>
      <p:sp>
        <p:nvSpPr>
          <p:cNvPr id="7" name="Rectangle: Rounded Corners 6">
            <a:extLst>
              <a:ext uri="{FF2B5EF4-FFF2-40B4-BE49-F238E27FC236}">
                <a16:creationId xmlns:a16="http://schemas.microsoft.com/office/drawing/2014/main" id="{7CCA1417-8C69-8BD3-F95C-E85F0E9F9714}"/>
              </a:ext>
            </a:extLst>
          </p:cNvPr>
          <p:cNvSpPr/>
          <p:nvPr/>
        </p:nvSpPr>
        <p:spPr>
          <a:xfrm>
            <a:off x="508000" y="4648200"/>
            <a:ext cx="5334000" cy="1422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E6B7A6A-9064-49AD-0AC0-8062CBB5ACB7}"/>
              </a:ext>
            </a:extLst>
          </p:cNvPr>
          <p:cNvSpPr txBox="1"/>
          <p:nvPr/>
        </p:nvSpPr>
        <p:spPr>
          <a:xfrm>
            <a:off x="711200" y="4851400"/>
            <a:ext cx="4927600" cy="1016000"/>
          </a:xfrm>
          <a:prstGeom prst="rect">
            <a:avLst/>
          </a:prstGeom>
          <a:noFill/>
        </p:spPr>
        <p:txBody>
          <a:bodyPr vert="horz" wrap="square" lIns="0" tIns="0" rIns="0" bIns="0" rtlCol="0" anchor="t">
            <a:noAutofit/>
          </a:bodyPr>
          <a:lstStyle/>
          <a:p>
            <a:pPr>
              <a:spcAft>
                <a:spcPts val="600"/>
              </a:spcAft>
            </a:pPr>
            <a:r>
              <a:rPr lang="en-US" sz="1700" b="1">
                <a:solidFill>
                  <a:srgbClr val="14213D"/>
                </a:solidFill>
                <a:latin typeface="Calibri" panose="020F0502020204030204" pitchFamily="34" charset="0"/>
              </a:rPr>
              <a:t>Enabler</a:t>
            </a:r>
          </a:p>
          <a:p>
            <a:r>
              <a:rPr lang="en-US" sz="1400">
                <a:solidFill>
                  <a:srgbClr val="1F2937"/>
                </a:solidFill>
                <a:latin typeface="Calibri" panose="020F0502020204030204" pitchFamily="34" charset="0"/>
              </a:rPr>
              <a:t>An illustrative example of the work involved in a task. Enablers are examples, not an exhaustive list.</a:t>
            </a:r>
          </a:p>
        </p:txBody>
      </p:sp>
      <p:sp>
        <p:nvSpPr>
          <p:cNvPr id="9" name="Rectangle: Rounded Corners 8">
            <a:extLst>
              <a:ext uri="{FF2B5EF4-FFF2-40B4-BE49-F238E27FC236}">
                <a16:creationId xmlns:a16="http://schemas.microsoft.com/office/drawing/2014/main" id="{249BC5B4-0553-E179-E30B-9F881847C06B}"/>
              </a:ext>
            </a:extLst>
          </p:cNvPr>
          <p:cNvSpPr/>
          <p:nvPr/>
        </p:nvSpPr>
        <p:spPr>
          <a:xfrm>
            <a:off x="6604000" y="1422400"/>
            <a:ext cx="5080000" cy="660400"/>
          </a:xfrm>
          <a:prstGeom prst="roundRect">
            <a:avLst>
              <a:gd name="adj" fmla="val 8000"/>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03200" tIns="25400" rIns="203200" bIns="25400" rtlCol="0" anchor="ctr"/>
          <a:lstStyle/>
          <a:p>
            <a:r>
              <a:rPr lang="en-US" b="1">
                <a:solidFill>
                  <a:srgbClr val="FFFFFF"/>
                </a:solidFill>
                <a:latin typeface="Calibri" panose="020F0502020204030204" pitchFamily="34" charset="0"/>
              </a:rPr>
              <a:t>Domain I · People</a:t>
            </a:r>
          </a:p>
        </p:txBody>
      </p:sp>
      <p:sp>
        <p:nvSpPr>
          <p:cNvPr id="10" name="Rectangle: Rounded Corners 9">
            <a:extLst>
              <a:ext uri="{FF2B5EF4-FFF2-40B4-BE49-F238E27FC236}">
                <a16:creationId xmlns:a16="http://schemas.microsoft.com/office/drawing/2014/main" id="{57C87867-DD2E-84C6-B116-F1FFEA91F7D6}"/>
              </a:ext>
            </a:extLst>
          </p:cNvPr>
          <p:cNvSpPr/>
          <p:nvPr/>
        </p:nvSpPr>
        <p:spPr>
          <a:xfrm>
            <a:off x="7112000" y="2489200"/>
            <a:ext cx="4572000" cy="6604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03200" tIns="25400" rIns="203200" bIns="25400" rtlCol="0" anchor="ctr"/>
          <a:lstStyle/>
          <a:p>
            <a:r>
              <a:rPr lang="en-US" sz="1700" b="1">
                <a:solidFill>
                  <a:srgbClr val="14213D"/>
                </a:solidFill>
                <a:latin typeface="Calibri" panose="020F0502020204030204" pitchFamily="34" charset="0"/>
              </a:rPr>
              <a:t>Task 7 · Help ensure knowledge transfer</a:t>
            </a:r>
          </a:p>
        </p:txBody>
      </p:sp>
      <p:sp>
        <p:nvSpPr>
          <p:cNvPr id="11" name="Rectangle: Rounded Corners 10">
            <a:extLst>
              <a:ext uri="{FF2B5EF4-FFF2-40B4-BE49-F238E27FC236}">
                <a16:creationId xmlns:a16="http://schemas.microsoft.com/office/drawing/2014/main" id="{898FBA60-D6A5-7B34-A97E-13CFFFD84353}"/>
              </a:ext>
            </a:extLst>
          </p:cNvPr>
          <p:cNvSpPr/>
          <p:nvPr/>
        </p:nvSpPr>
        <p:spPr>
          <a:xfrm>
            <a:off x="7620000" y="3556000"/>
            <a:ext cx="4064000" cy="736600"/>
          </a:xfrm>
          <a:prstGeom prst="roundRect">
            <a:avLst>
              <a:gd name="adj" fmla="val 8000"/>
            </a:avLst>
          </a:prstGeom>
          <a:solidFill>
            <a:srgbClr val="FFFFFF"/>
          </a:solidFill>
          <a:ln w="12700">
            <a:solidFill>
              <a:srgbClr val="D5DBE3"/>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25400" rIns="152400" bIns="25400" rtlCol="0" anchor="ctr">
            <a:noAutofit/>
          </a:bodyPr>
          <a:lstStyle/>
          <a:p>
            <a:r>
              <a:rPr lang="en-US" sz="1400">
                <a:solidFill>
                  <a:srgbClr val="1F2937"/>
                </a:solidFill>
                <a:latin typeface="Calibri" panose="020F0502020204030204" pitchFamily="34" charset="0"/>
              </a:rPr>
              <a:t>Identify knowledge critical to the project</a:t>
            </a:r>
          </a:p>
        </p:txBody>
      </p:sp>
      <p:cxnSp>
        <p:nvCxnSpPr>
          <p:cNvPr id="12" name="Straight Connector 11">
            <a:extLst>
              <a:ext uri="{FF2B5EF4-FFF2-40B4-BE49-F238E27FC236}">
                <a16:creationId xmlns:a16="http://schemas.microsoft.com/office/drawing/2014/main" id="{2DAEBA80-ABA3-3B2E-42BF-59C236EEBF80}"/>
              </a:ext>
            </a:extLst>
          </p:cNvPr>
          <p:cNvCxnSpPr/>
          <p:nvPr/>
        </p:nvCxnSpPr>
        <p:spPr>
          <a:xfrm>
            <a:off x="7366000" y="3924300"/>
            <a:ext cx="254000" cy="0"/>
          </a:xfrm>
          <a:prstGeom prst="line">
            <a:avLst/>
          </a:prstGeom>
          <a:ln w="19050">
            <a:solidFill>
              <a:srgbClr val="D5DBE3"/>
            </a:solidFill>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1B830055-7EA0-759D-661E-0B3394298438}"/>
              </a:ext>
            </a:extLst>
          </p:cNvPr>
          <p:cNvSpPr/>
          <p:nvPr/>
        </p:nvSpPr>
        <p:spPr>
          <a:xfrm>
            <a:off x="7620000" y="4445000"/>
            <a:ext cx="4064000" cy="736600"/>
          </a:xfrm>
          <a:prstGeom prst="roundRect">
            <a:avLst>
              <a:gd name="adj" fmla="val 8000"/>
            </a:avLst>
          </a:prstGeom>
          <a:solidFill>
            <a:srgbClr val="FFFFFF"/>
          </a:solidFill>
          <a:ln w="12700">
            <a:solidFill>
              <a:srgbClr val="D5DBE3"/>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25400" rIns="152400" bIns="25400" rtlCol="0" anchor="ctr">
            <a:noAutofit/>
          </a:bodyPr>
          <a:lstStyle/>
          <a:p>
            <a:r>
              <a:rPr lang="en-US" sz="1400">
                <a:solidFill>
                  <a:srgbClr val="1F2937"/>
                </a:solidFill>
                <a:latin typeface="Calibri" panose="020F0502020204030204" pitchFamily="34" charset="0"/>
              </a:rPr>
              <a:t>Gather knowledge</a:t>
            </a:r>
          </a:p>
        </p:txBody>
      </p:sp>
      <p:cxnSp>
        <p:nvCxnSpPr>
          <p:cNvPr id="14" name="Straight Connector 13">
            <a:extLst>
              <a:ext uri="{FF2B5EF4-FFF2-40B4-BE49-F238E27FC236}">
                <a16:creationId xmlns:a16="http://schemas.microsoft.com/office/drawing/2014/main" id="{9923240A-7A68-BF58-8A9E-2F682795B9C1}"/>
              </a:ext>
            </a:extLst>
          </p:cNvPr>
          <p:cNvCxnSpPr/>
          <p:nvPr/>
        </p:nvCxnSpPr>
        <p:spPr>
          <a:xfrm>
            <a:off x="7366000" y="4813300"/>
            <a:ext cx="254000" cy="0"/>
          </a:xfrm>
          <a:prstGeom prst="line">
            <a:avLst/>
          </a:prstGeom>
          <a:ln w="1905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029BA584-AC83-C326-D68C-39719CACE98E}"/>
              </a:ext>
            </a:extLst>
          </p:cNvPr>
          <p:cNvSpPr/>
          <p:nvPr/>
        </p:nvSpPr>
        <p:spPr>
          <a:xfrm>
            <a:off x="7620000" y="5334000"/>
            <a:ext cx="4064000" cy="736600"/>
          </a:xfrm>
          <a:prstGeom prst="roundRect">
            <a:avLst>
              <a:gd name="adj" fmla="val 8000"/>
            </a:avLst>
          </a:prstGeom>
          <a:solidFill>
            <a:srgbClr val="FFFFFF"/>
          </a:solidFill>
          <a:ln w="12700">
            <a:solidFill>
              <a:srgbClr val="D5DBE3"/>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25400" rIns="152400" bIns="25400" rtlCol="0" anchor="ctr">
            <a:noAutofit/>
          </a:bodyPr>
          <a:lstStyle/>
          <a:p>
            <a:r>
              <a:rPr lang="en-US" sz="1400">
                <a:solidFill>
                  <a:srgbClr val="1F2937"/>
                </a:solidFill>
                <a:latin typeface="Calibri" panose="020F0502020204030204" pitchFamily="34" charset="0"/>
              </a:rPr>
              <a:t>Foster an environment for knowledge transfer</a:t>
            </a:r>
          </a:p>
        </p:txBody>
      </p:sp>
      <p:cxnSp>
        <p:nvCxnSpPr>
          <p:cNvPr id="16" name="Straight Connector 15">
            <a:extLst>
              <a:ext uri="{FF2B5EF4-FFF2-40B4-BE49-F238E27FC236}">
                <a16:creationId xmlns:a16="http://schemas.microsoft.com/office/drawing/2014/main" id="{7AEED729-CAC6-7534-D038-331F1E1DA653}"/>
              </a:ext>
            </a:extLst>
          </p:cNvPr>
          <p:cNvCxnSpPr/>
          <p:nvPr/>
        </p:nvCxnSpPr>
        <p:spPr>
          <a:xfrm>
            <a:off x="7366000" y="5702300"/>
            <a:ext cx="254000" cy="0"/>
          </a:xfrm>
          <a:prstGeom prst="line">
            <a:avLst/>
          </a:prstGeom>
          <a:ln w="19050">
            <a:solidFill>
              <a:srgbClr val="D5DBE3"/>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C8B81EE9-8B79-F28E-764F-FE38CFFEB4F1}"/>
              </a:ext>
            </a:extLst>
          </p:cNvPr>
          <p:cNvCxnSpPr/>
          <p:nvPr/>
        </p:nvCxnSpPr>
        <p:spPr>
          <a:xfrm>
            <a:off x="6858000" y="2082800"/>
            <a:ext cx="0" cy="736600"/>
          </a:xfrm>
          <a:prstGeom prst="line">
            <a:avLst/>
          </a:prstGeom>
          <a:ln w="19050">
            <a:solidFill>
              <a:srgbClr val="D5DBE3"/>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D0356826-2C67-4594-63CD-C80739F7F12A}"/>
              </a:ext>
            </a:extLst>
          </p:cNvPr>
          <p:cNvCxnSpPr/>
          <p:nvPr/>
        </p:nvCxnSpPr>
        <p:spPr>
          <a:xfrm>
            <a:off x="6858000" y="2819400"/>
            <a:ext cx="254000" cy="0"/>
          </a:xfrm>
          <a:prstGeom prst="line">
            <a:avLst/>
          </a:prstGeom>
          <a:ln w="19050">
            <a:solidFill>
              <a:srgbClr val="D5DBE3"/>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B209F96D-B23B-74FC-54F1-88E48A69022D}"/>
              </a:ext>
            </a:extLst>
          </p:cNvPr>
          <p:cNvCxnSpPr/>
          <p:nvPr/>
        </p:nvCxnSpPr>
        <p:spPr>
          <a:xfrm>
            <a:off x="7366000" y="3149600"/>
            <a:ext cx="0" cy="2565400"/>
          </a:xfrm>
          <a:prstGeom prst="line">
            <a:avLst/>
          </a:prstGeom>
          <a:ln w="19050">
            <a:solidFill>
              <a:srgbClr val="D5DBE3"/>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D2BE9B05-324A-0FD3-A629-DDDF98A37455}"/>
              </a:ext>
            </a:extLst>
          </p:cNvPr>
          <p:cNvSpPr txBox="1"/>
          <p:nvPr/>
        </p:nvSpPr>
        <p:spPr>
          <a:xfrm>
            <a:off x="6604000" y="1168400"/>
            <a:ext cx="5080000" cy="203200"/>
          </a:xfrm>
          <a:prstGeom prst="rect">
            <a:avLst/>
          </a:prstGeom>
          <a:noFill/>
        </p:spPr>
        <p:txBody>
          <a:bodyPr vert="horz" wrap="square" lIns="0" tIns="0" rIns="0" bIns="0" rtlCol="0" anchor="t">
            <a:noAutofit/>
          </a:bodyPr>
          <a:lstStyle/>
          <a:p>
            <a:r>
              <a:rPr lang="en-US" sz="1200" i="1">
                <a:solidFill>
                  <a:srgbClr val="5B6475"/>
                </a:solidFill>
                <a:latin typeface="Calibri" panose="020F0502020204030204" pitchFamily="34" charset="0"/>
              </a:rPr>
              <a:t>Example from the outline</a:t>
            </a:r>
          </a:p>
        </p:txBody>
      </p:sp>
      <p:sp>
        <p:nvSpPr>
          <p:cNvPr id="21" name="Footer">
            <a:extLst>
              <a:ext uri="{FF2B5EF4-FFF2-40B4-BE49-F238E27FC236}">
                <a16:creationId xmlns:a16="http://schemas.microsoft.com/office/drawing/2014/main" id="{866C0475-84BF-02F7-BF99-574A495635A6}"/>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PMP® Examination Content Outline (July 2026)</a:t>
            </a:r>
          </a:p>
        </p:txBody>
      </p:sp>
      <p:sp>
        <p:nvSpPr>
          <p:cNvPr id="22" name="SlideNum">
            <a:extLst>
              <a:ext uri="{FF2B5EF4-FFF2-40B4-BE49-F238E27FC236}">
                <a16:creationId xmlns:a16="http://schemas.microsoft.com/office/drawing/2014/main" id="{6D5FC5F7-C8BC-9F8B-381B-8B951DF567AD}"/>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8</a:t>
            </a:r>
          </a:p>
        </p:txBody>
      </p:sp>
      <p:sp>
        <p:nvSpPr>
          <p:cNvPr id="23"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74794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7C8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3B62B7-63BC-EC9C-47E4-84709ED598B6}"/>
              </a:ext>
            </a:extLst>
          </p:cNvPr>
          <p:cNvSpPr txBox="1"/>
          <p:nvPr/>
        </p:nvSpPr>
        <p:spPr>
          <a:xfrm>
            <a:off x="508000" y="1905000"/>
            <a:ext cx="6350000" cy="381000"/>
          </a:xfrm>
          <a:prstGeom prst="rect">
            <a:avLst/>
          </a:prstGeom>
          <a:noFill/>
        </p:spPr>
        <p:txBody>
          <a:bodyPr vert="horz" wrap="square" lIns="0" tIns="0" rIns="0" bIns="0" rtlCol="0" anchor="t">
            <a:noAutofit/>
          </a:bodyPr>
          <a:lstStyle/>
          <a:p>
            <a:r>
              <a:rPr lang="en-US" sz="2200" b="1">
                <a:solidFill>
                  <a:srgbClr val="E8EEF6"/>
                </a:solidFill>
                <a:latin typeface="Calibri" panose="020F0502020204030204" pitchFamily="34" charset="0"/>
              </a:rPr>
              <a:t>Domain I</a:t>
            </a:r>
          </a:p>
        </p:txBody>
      </p:sp>
      <p:sp>
        <p:nvSpPr>
          <p:cNvPr id="3" name="TextBox 2">
            <a:extLst>
              <a:ext uri="{FF2B5EF4-FFF2-40B4-BE49-F238E27FC236}">
                <a16:creationId xmlns:a16="http://schemas.microsoft.com/office/drawing/2014/main" id="{4E139E3F-9DA2-81AE-89B0-77567B8A7AA1}"/>
              </a:ext>
            </a:extLst>
          </p:cNvPr>
          <p:cNvSpPr txBox="1"/>
          <p:nvPr/>
        </p:nvSpPr>
        <p:spPr>
          <a:xfrm>
            <a:off x="508000" y="2349500"/>
            <a:ext cx="7874000" cy="1905000"/>
          </a:xfrm>
          <a:prstGeom prst="rect">
            <a:avLst/>
          </a:prstGeom>
          <a:noFill/>
        </p:spPr>
        <p:txBody>
          <a:bodyPr vert="horz" wrap="square" lIns="0" tIns="0" rIns="0" bIns="0" rtlCol="0" anchor="t">
            <a:noAutofit/>
          </a:bodyPr>
          <a:lstStyle/>
          <a:p>
            <a:r>
              <a:rPr lang="en-US" sz="5800" b="1">
                <a:solidFill>
                  <a:srgbClr val="FFFFFF"/>
                </a:solidFill>
                <a:latin typeface="Cambria" panose="02040503050406030204" pitchFamily="18" charset="0"/>
              </a:rPr>
              <a:t>People</a:t>
            </a:r>
          </a:p>
        </p:txBody>
      </p:sp>
      <p:sp>
        <p:nvSpPr>
          <p:cNvPr id="4" name="TextBox 3">
            <a:extLst>
              <a:ext uri="{FF2B5EF4-FFF2-40B4-BE49-F238E27FC236}">
                <a16:creationId xmlns:a16="http://schemas.microsoft.com/office/drawing/2014/main" id="{4AEBCEB3-DC4E-D4F0-521C-FF4B3F4A70CB}"/>
              </a:ext>
            </a:extLst>
          </p:cNvPr>
          <p:cNvSpPr txBox="1"/>
          <p:nvPr/>
        </p:nvSpPr>
        <p:spPr>
          <a:xfrm>
            <a:off x="508000" y="4381500"/>
            <a:ext cx="7620000" cy="381000"/>
          </a:xfrm>
          <a:prstGeom prst="rect">
            <a:avLst/>
          </a:prstGeom>
          <a:noFill/>
        </p:spPr>
        <p:txBody>
          <a:bodyPr vert="horz" wrap="square" lIns="0" tIns="0" rIns="0" bIns="0" rtlCol="0" anchor="t">
            <a:noAutofit/>
          </a:bodyPr>
          <a:lstStyle/>
          <a:p>
            <a:r>
              <a:rPr lang="en-US" sz="2200">
                <a:solidFill>
                  <a:srgbClr val="FFFFFF"/>
                </a:solidFill>
                <a:latin typeface="Calibri" panose="020F0502020204030204" pitchFamily="34" charset="0"/>
              </a:rPr>
              <a:t>33% of exam questions · 8 tasks</a:t>
            </a:r>
          </a:p>
        </p:txBody>
      </p:sp>
      <p:sp>
        <p:nvSpPr>
          <p:cNvPr id="5" name="TextBox 4">
            <a:extLst>
              <a:ext uri="{FF2B5EF4-FFF2-40B4-BE49-F238E27FC236}">
                <a16:creationId xmlns:a16="http://schemas.microsoft.com/office/drawing/2014/main" id="{07B9C638-D810-3CA7-2B8E-F6A0622544B8}"/>
              </a:ext>
            </a:extLst>
          </p:cNvPr>
          <p:cNvSpPr txBox="1"/>
          <p:nvPr/>
        </p:nvSpPr>
        <p:spPr>
          <a:xfrm>
            <a:off x="508000" y="4889500"/>
            <a:ext cx="7112000" cy="762000"/>
          </a:xfrm>
          <a:prstGeom prst="rect">
            <a:avLst/>
          </a:prstGeom>
          <a:noFill/>
        </p:spPr>
        <p:txBody>
          <a:bodyPr vert="horz" wrap="square" lIns="0" tIns="0" rIns="0" bIns="0" rtlCol="0" anchor="t">
            <a:noAutofit/>
          </a:bodyPr>
          <a:lstStyle/>
          <a:p>
            <a:r>
              <a:rPr lang="en-US" i="1">
                <a:solidFill>
                  <a:srgbClr val="E8EEF6"/>
                </a:solidFill>
                <a:latin typeface="Calibri" panose="020F0502020204030204" pitchFamily="34" charset="0"/>
              </a:rPr>
              <a:t>Vision, conflict, leadership, stakeholders, knowledge transfer, and communication</a:t>
            </a:r>
          </a:p>
        </p:txBody>
      </p:sp>
      <p:sp>
        <p:nvSpPr>
          <p:cNvPr id="6" name="TextBox 5">
            <a:extLst>
              <a:ext uri="{FF2B5EF4-FFF2-40B4-BE49-F238E27FC236}">
                <a16:creationId xmlns:a16="http://schemas.microsoft.com/office/drawing/2014/main" id="{051C1273-A1A2-35F2-3342-0DFF4E6CD503}"/>
              </a:ext>
            </a:extLst>
          </p:cNvPr>
          <p:cNvSpPr txBox="1"/>
          <p:nvPr/>
        </p:nvSpPr>
        <p:spPr>
          <a:xfrm>
            <a:off x="7620000" y="1524000"/>
            <a:ext cx="4064000" cy="2794000"/>
          </a:xfrm>
          <a:prstGeom prst="rect">
            <a:avLst/>
          </a:prstGeom>
          <a:noFill/>
        </p:spPr>
        <p:txBody>
          <a:bodyPr vert="horz" wrap="square" lIns="0" tIns="0" rIns="0" bIns="0" rtlCol="0" anchor="ctr">
            <a:noAutofit/>
          </a:bodyPr>
          <a:lstStyle/>
          <a:p>
            <a:pPr algn="r"/>
            <a:r>
              <a:rPr lang="en-US" sz="13000" b="1">
                <a:solidFill>
                  <a:srgbClr val="FFFFFF">
                    <a:alpha val="25000"/>
                  </a:srgbClr>
                </a:solidFill>
                <a:latin typeface="Cambria" panose="02040503050406030204" pitchFamily="18" charset="0"/>
              </a:rPr>
              <a:t>33%</a:t>
            </a:r>
          </a:p>
        </p:txBody>
      </p:sp>
      <p:sp>
        <p:nvSpPr>
          <p:cNvPr id="7" name="Footer">
            <a:extLst>
              <a:ext uri="{FF2B5EF4-FFF2-40B4-BE49-F238E27FC236}">
                <a16:creationId xmlns:a16="http://schemas.microsoft.com/office/drawing/2014/main" id="{1E8DFF85-6AC9-8B54-C0E0-5ABB71A186D0}"/>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C9D6EA"/>
                </a:solidFill>
                <a:latin typeface="Calibri" panose="020F0502020204030204" pitchFamily="34" charset="0"/>
              </a:rPr>
              <a:t>Source: PMI, PMP® Examination Content Outline (July 2026)</a:t>
            </a:r>
          </a:p>
        </p:txBody>
      </p:sp>
      <p:sp>
        <p:nvSpPr>
          <p:cNvPr id="8"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92323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omainChip">
            <a:extLst>
              <a:ext uri="{FF2B5EF4-FFF2-40B4-BE49-F238E27FC236}">
                <a16:creationId xmlns:a16="http://schemas.microsoft.com/office/drawing/2014/main" id="{742C4237-6CE7-250F-D5D5-0A7705111367}"/>
              </a:ext>
            </a:extLst>
          </p:cNvPr>
          <p:cNvSpPr/>
          <p:nvPr/>
        </p:nvSpPr>
        <p:spPr>
          <a:xfrm>
            <a:off x="508000" y="444500"/>
            <a:ext cx="558800" cy="558800"/>
          </a:xfrm>
          <a:prstGeom prst="ellipse">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b="1">
                <a:solidFill>
                  <a:srgbClr val="FFFFFF"/>
                </a:solidFill>
                <a:latin typeface="Calibri" panose="020F0502020204030204" pitchFamily="34" charset="0"/>
              </a:rPr>
              <a:t>I</a:t>
            </a:r>
          </a:p>
        </p:txBody>
      </p:sp>
      <p:sp>
        <p:nvSpPr>
          <p:cNvPr id="3" name="Title">
            <a:extLst>
              <a:ext uri="{FF2B5EF4-FFF2-40B4-BE49-F238E27FC236}">
                <a16:creationId xmlns:a16="http://schemas.microsoft.com/office/drawing/2014/main" id="{4450E467-958D-7029-7F36-20267593F516}"/>
              </a:ext>
            </a:extLst>
          </p:cNvPr>
          <p:cNvSpPr txBox="1"/>
          <p:nvPr/>
        </p:nvSpPr>
        <p:spPr>
          <a:xfrm>
            <a:off x="1219200" y="381000"/>
            <a:ext cx="104648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People: 8 tasks at a glance</a:t>
            </a:r>
          </a:p>
        </p:txBody>
      </p:sp>
      <p:sp>
        <p:nvSpPr>
          <p:cNvPr id="4" name="Oval 3">
            <a:extLst>
              <a:ext uri="{FF2B5EF4-FFF2-40B4-BE49-F238E27FC236}">
                <a16:creationId xmlns:a16="http://schemas.microsoft.com/office/drawing/2014/main" id="{C7AFEFE7-2DFC-5C8C-9BFD-6E0A29E5E898}"/>
              </a:ext>
            </a:extLst>
          </p:cNvPr>
          <p:cNvSpPr/>
          <p:nvPr/>
        </p:nvSpPr>
        <p:spPr>
          <a:xfrm>
            <a:off x="508000" y="1778000"/>
            <a:ext cx="381000" cy="381000"/>
          </a:xfrm>
          <a:prstGeom prst="ellipse">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1</a:t>
            </a:r>
          </a:p>
        </p:txBody>
      </p:sp>
      <p:sp>
        <p:nvSpPr>
          <p:cNvPr id="5" name="TextBox 4">
            <a:extLst>
              <a:ext uri="{FF2B5EF4-FFF2-40B4-BE49-F238E27FC236}">
                <a16:creationId xmlns:a16="http://schemas.microsoft.com/office/drawing/2014/main" id="{7EE81FE2-2034-6C2F-C96B-E7F47CEA55B4}"/>
              </a:ext>
            </a:extLst>
          </p:cNvPr>
          <p:cNvSpPr txBox="1"/>
          <p:nvPr/>
        </p:nvSpPr>
        <p:spPr>
          <a:xfrm>
            <a:off x="1041400" y="1346200"/>
            <a:ext cx="4927600" cy="1244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Develop a common vision</a:t>
            </a:r>
          </a:p>
        </p:txBody>
      </p:sp>
      <p:sp>
        <p:nvSpPr>
          <p:cNvPr id="6" name="Oval 5">
            <a:extLst>
              <a:ext uri="{FF2B5EF4-FFF2-40B4-BE49-F238E27FC236}">
                <a16:creationId xmlns:a16="http://schemas.microsoft.com/office/drawing/2014/main" id="{99050E52-4740-8294-54CA-DD1D2BE4603A}"/>
              </a:ext>
            </a:extLst>
          </p:cNvPr>
          <p:cNvSpPr/>
          <p:nvPr/>
        </p:nvSpPr>
        <p:spPr>
          <a:xfrm>
            <a:off x="508000" y="3022600"/>
            <a:ext cx="381000" cy="381000"/>
          </a:xfrm>
          <a:prstGeom prst="ellipse">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2</a:t>
            </a:r>
          </a:p>
        </p:txBody>
      </p:sp>
      <p:sp>
        <p:nvSpPr>
          <p:cNvPr id="7" name="TextBox 6">
            <a:extLst>
              <a:ext uri="{FF2B5EF4-FFF2-40B4-BE49-F238E27FC236}">
                <a16:creationId xmlns:a16="http://schemas.microsoft.com/office/drawing/2014/main" id="{D2016CC3-3CAC-188A-195B-58AAC213D0CB}"/>
              </a:ext>
            </a:extLst>
          </p:cNvPr>
          <p:cNvSpPr txBox="1"/>
          <p:nvPr/>
        </p:nvSpPr>
        <p:spPr>
          <a:xfrm>
            <a:off x="1041400" y="2590800"/>
            <a:ext cx="4927600" cy="1244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Manage conflicts</a:t>
            </a:r>
          </a:p>
        </p:txBody>
      </p:sp>
      <p:sp>
        <p:nvSpPr>
          <p:cNvPr id="8" name="Oval 7">
            <a:extLst>
              <a:ext uri="{FF2B5EF4-FFF2-40B4-BE49-F238E27FC236}">
                <a16:creationId xmlns:a16="http://schemas.microsoft.com/office/drawing/2014/main" id="{C595AA76-6D1E-7F41-628A-59CAEAF73ABA}"/>
              </a:ext>
            </a:extLst>
          </p:cNvPr>
          <p:cNvSpPr/>
          <p:nvPr/>
        </p:nvSpPr>
        <p:spPr>
          <a:xfrm>
            <a:off x="508000" y="4267200"/>
            <a:ext cx="381000" cy="381000"/>
          </a:xfrm>
          <a:prstGeom prst="ellipse">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3</a:t>
            </a:r>
          </a:p>
        </p:txBody>
      </p:sp>
      <p:sp>
        <p:nvSpPr>
          <p:cNvPr id="9" name="TextBox 8">
            <a:extLst>
              <a:ext uri="{FF2B5EF4-FFF2-40B4-BE49-F238E27FC236}">
                <a16:creationId xmlns:a16="http://schemas.microsoft.com/office/drawing/2014/main" id="{0CE18DB7-94C2-D339-416B-737A8627E849}"/>
              </a:ext>
            </a:extLst>
          </p:cNvPr>
          <p:cNvSpPr txBox="1"/>
          <p:nvPr/>
        </p:nvSpPr>
        <p:spPr>
          <a:xfrm>
            <a:off x="1041400" y="3835400"/>
            <a:ext cx="4927600" cy="1244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Lead the project team</a:t>
            </a:r>
          </a:p>
        </p:txBody>
      </p:sp>
      <p:sp>
        <p:nvSpPr>
          <p:cNvPr id="10" name="Oval 9">
            <a:extLst>
              <a:ext uri="{FF2B5EF4-FFF2-40B4-BE49-F238E27FC236}">
                <a16:creationId xmlns:a16="http://schemas.microsoft.com/office/drawing/2014/main" id="{BBFE3981-6C36-469E-1EEE-CF4A0AE07432}"/>
              </a:ext>
            </a:extLst>
          </p:cNvPr>
          <p:cNvSpPr/>
          <p:nvPr/>
        </p:nvSpPr>
        <p:spPr>
          <a:xfrm>
            <a:off x="508000" y="5511800"/>
            <a:ext cx="381000" cy="381000"/>
          </a:xfrm>
          <a:prstGeom prst="ellipse">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4</a:t>
            </a:r>
          </a:p>
        </p:txBody>
      </p:sp>
      <p:sp>
        <p:nvSpPr>
          <p:cNvPr id="11" name="TextBox 10">
            <a:extLst>
              <a:ext uri="{FF2B5EF4-FFF2-40B4-BE49-F238E27FC236}">
                <a16:creationId xmlns:a16="http://schemas.microsoft.com/office/drawing/2014/main" id="{53E9BD58-06E1-5F68-D875-78302D0BDD92}"/>
              </a:ext>
            </a:extLst>
          </p:cNvPr>
          <p:cNvSpPr txBox="1"/>
          <p:nvPr/>
        </p:nvSpPr>
        <p:spPr>
          <a:xfrm>
            <a:off x="1041400" y="5080000"/>
            <a:ext cx="4927600" cy="1244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Engage stakeholders</a:t>
            </a:r>
          </a:p>
        </p:txBody>
      </p:sp>
      <p:sp>
        <p:nvSpPr>
          <p:cNvPr id="12" name="Oval 11">
            <a:extLst>
              <a:ext uri="{FF2B5EF4-FFF2-40B4-BE49-F238E27FC236}">
                <a16:creationId xmlns:a16="http://schemas.microsoft.com/office/drawing/2014/main" id="{0BE018C9-A00A-D067-CFDA-8DC43C680B1E}"/>
              </a:ext>
            </a:extLst>
          </p:cNvPr>
          <p:cNvSpPr/>
          <p:nvPr/>
        </p:nvSpPr>
        <p:spPr>
          <a:xfrm>
            <a:off x="6223000" y="1778000"/>
            <a:ext cx="381000" cy="381000"/>
          </a:xfrm>
          <a:prstGeom prst="ellipse">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5</a:t>
            </a:r>
          </a:p>
        </p:txBody>
      </p:sp>
      <p:sp>
        <p:nvSpPr>
          <p:cNvPr id="13" name="TextBox 12">
            <a:extLst>
              <a:ext uri="{FF2B5EF4-FFF2-40B4-BE49-F238E27FC236}">
                <a16:creationId xmlns:a16="http://schemas.microsoft.com/office/drawing/2014/main" id="{DBA43AED-D685-7ACF-B70D-5EE7F87D9819}"/>
              </a:ext>
            </a:extLst>
          </p:cNvPr>
          <p:cNvSpPr txBox="1"/>
          <p:nvPr/>
        </p:nvSpPr>
        <p:spPr>
          <a:xfrm>
            <a:off x="6756400" y="1346200"/>
            <a:ext cx="4927600" cy="1244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Align stakeholder expectations</a:t>
            </a:r>
          </a:p>
        </p:txBody>
      </p:sp>
      <p:sp>
        <p:nvSpPr>
          <p:cNvPr id="14" name="Oval 13">
            <a:extLst>
              <a:ext uri="{FF2B5EF4-FFF2-40B4-BE49-F238E27FC236}">
                <a16:creationId xmlns:a16="http://schemas.microsoft.com/office/drawing/2014/main" id="{8BBCBD19-368E-AED4-F8AE-3ED5CF8E8C84}"/>
              </a:ext>
            </a:extLst>
          </p:cNvPr>
          <p:cNvSpPr/>
          <p:nvPr/>
        </p:nvSpPr>
        <p:spPr>
          <a:xfrm>
            <a:off x="6223000" y="3022600"/>
            <a:ext cx="381000" cy="381000"/>
          </a:xfrm>
          <a:prstGeom prst="ellipse">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6</a:t>
            </a:r>
          </a:p>
        </p:txBody>
      </p:sp>
      <p:sp>
        <p:nvSpPr>
          <p:cNvPr id="15" name="TextBox 14">
            <a:extLst>
              <a:ext uri="{FF2B5EF4-FFF2-40B4-BE49-F238E27FC236}">
                <a16:creationId xmlns:a16="http://schemas.microsoft.com/office/drawing/2014/main" id="{DBD663A7-7D5F-D3E1-9310-5583577AFE22}"/>
              </a:ext>
            </a:extLst>
          </p:cNvPr>
          <p:cNvSpPr txBox="1"/>
          <p:nvPr/>
        </p:nvSpPr>
        <p:spPr>
          <a:xfrm>
            <a:off x="6756400" y="2590800"/>
            <a:ext cx="4927600" cy="1244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Manage stakeholder expectations</a:t>
            </a:r>
          </a:p>
        </p:txBody>
      </p:sp>
      <p:sp>
        <p:nvSpPr>
          <p:cNvPr id="16" name="Oval 15">
            <a:extLst>
              <a:ext uri="{FF2B5EF4-FFF2-40B4-BE49-F238E27FC236}">
                <a16:creationId xmlns:a16="http://schemas.microsoft.com/office/drawing/2014/main" id="{4FD94C58-F14E-CFC3-23D9-D1628145F57E}"/>
              </a:ext>
            </a:extLst>
          </p:cNvPr>
          <p:cNvSpPr/>
          <p:nvPr/>
        </p:nvSpPr>
        <p:spPr>
          <a:xfrm>
            <a:off x="6223000" y="4267200"/>
            <a:ext cx="381000" cy="381000"/>
          </a:xfrm>
          <a:prstGeom prst="ellipse">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7</a:t>
            </a:r>
          </a:p>
        </p:txBody>
      </p:sp>
      <p:sp>
        <p:nvSpPr>
          <p:cNvPr id="17" name="TextBox 16">
            <a:extLst>
              <a:ext uri="{FF2B5EF4-FFF2-40B4-BE49-F238E27FC236}">
                <a16:creationId xmlns:a16="http://schemas.microsoft.com/office/drawing/2014/main" id="{E8A319B0-09D2-77BB-05D5-B73F45B205CD}"/>
              </a:ext>
            </a:extLst>
          </p:cNvPr>
          <p:cNvSpPr txBox="1"/>
          <p:nvPr/>
        </p:nvSpPr>
        <p:spPr>
          <a:xfrm>
            <a:off x="6756400" y="3835400"/>
            <a:ext cx="4927600" cy="1244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Help ensure knowledge transfer</a:t>
            </a:r>
          </a:p>
        </p:txBody>
      </p:sp>
      <p:sp>
        <p:nvSpPr>
          <p:cNvPr id="18" name="Oval 17">
            <a:extLst>
              <a:ext uri="{FF2B5EF4-FFF2-40B4-BE49-F238E27FC236}">
                <a16:creationId xmlns:a16="http://schemas.microsoft.com/office/drawing/2014/main" id="{6C1CE93B-85AF-BC58-A712-140D934F5E47}"/>
              </a:ext>
            </a:extLst>
          </p:cNvPr>
          <p:cNvSpPr/>
          <p:nvPr/>
        </p:nvSpPr>
        <p:spPr>
          <a:xfrm>
            <a:off x="6223000" y="5511800"/>
            <a:ext cx="381000" cy="381000"/>
          </a:xfrm>
          <a:prstGeom prst="ellipse">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8</a:t>
            </a:r>
          </a:p>
        </p:txBody>
      </p:sp>
      <p:sp>
        <p:nvSpPr>
          <p:cNvPr id="19" name="TextBox 18">
            <a:extLst>
              <a:ext uri="{FF2B5EF4-FFF2-40B4-BE49-F238E27FC236}">
                <a16:creationId xmlns:a16="http://schemas.microsoft.com/office/drawing/2014/main" id="{FF53A3D5-E829-51DA-674F-9D0248A8B0E3}"/>
              </a:ext>
            </a:extLst>
          </p:cNvPr>
          <p:cNvSpPr txBox="1"/>
          <p:nvPr/>
        </p:nvSpPr>
        <p:spPr>
          <a:xfrm>
            <a:off x="6756400" y="5080000"/>
            <a:ext cx="4927600" cy="1244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Plan and manage communication</a:t>
            </a:r>
          </a:p>
        </p:txBody>
      </p:sp>
      <p:sp>
        <p:nvSpPr>
          <p:cNvPr id="20" name="Footer">
            <a:extLst>
              <a:ext uri="{FF2B5EF4-FFF2-40B4-BE49-F238E27FC236}">
                <a16:creationId xmlns:a16="http://schemas.microsoft.com/office/drawing/2014/main" id="{EBFC74A0-22D6-D8AF-0131-B444671EB54C}"/>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PMP® Examination Content Outline (July 2026)</a:t>
            </a:r>
          </a:p>
        </p:txBody>
      </p:sp>
      <p:sp>
        <p:nvSpPr>
          <p:cNvPr id="21" name="SlideNum">
            <a:extLst>
              <a:ext uri="{FF2B5EF4-FFF2-40B4-BE49-F238E27FC236}">
                <a16:creationId xmlns:a16="http://schemas.microsoft.com/office/drawing/2014/main" id="{8C3BCF3A-07A8-7BC6-22EB-EC2317F50A85}"/>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10</a:t>
            </a:r>
          </a:p>
        </p:txBody>
      </p:sp>
      <p:sp>
        <p:nvSpPr>
          <p:cNvPr id="22"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8658935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omainChip">
            <a:extLst>
              <a:ext uri="{FF2B5EF4-FFF2-40B4-BE49-F238E27FC236}">
                <a16:creationId xmlns:a16="http://schemas.microsoft.com/office/drawing/2014/main" id="{9897E77F-3ED3-BF0A-4D4E-F5FD53ADF6C1}"/>
              </a:ext>
            </a:extLst>
          </p:cNvPr>
          <p:cNvSpPr/>
          <p:nvPr/>
        </p:nvSpPr>
        <p:spPr>
          <a:xfrm>
            <a:off x="508000" y="444500"/>
            <a:ext cx="558800" cy="558800"/>
          </a:xfrm>
          <a:prstGeom prst="ellipse">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b="1">
                <a:solidFill>
                  <a:srgbClr val="FFFFFF"/>
                </a:solidFill>
                <a:latin typeface="Calibri" panose="020F0502020204030204" pitchFamily="34" charset="0"/>
              </a:rPr>
              <a:t>I</a:t>
            </a:r>
          </a:p>
        </p:txBody>
      </p:sp>
      <p:sp>
        <p:nvSpPr>
          <p:cNvPr id="3" name="Title">
            <a:extLst>
              <a:ext uri="{FF2B5EF4-FFF2-40B4-BE49-F238E27FC236}">
                <a16:creationId xmlns:a16="http://schemas.microsoft.com/office/drawing/2014/main" id="{F943B528-5A4E-75CC-CD21-4A27C3F326EC}"/>
              </a:ext>
            </a:extLst>
          </p:cNvPr>
          <p:cNvSpPr txBox="1"/>
          <p:nvPr/>
        </p:nvSpPr>
        <p:spPr>
          <a:xfrm>
            <a:off x="1219200" y="381000"/>
            <a:ext cx="104648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People tasks 1–4</a:t>
            </a:r>
          </a:p>
        </p:txBody>
      </p:sp>
      <p:sp>
        <p:nvSpPr>
          <p:cNvPr id="4" name="TaskColumn">
            <a:extLst>
              <a:ext uri="{FF2B5EF4-FFF2-40B4-BE49-F238E27FC236}">
                <a16:creationId xmlns:a16="http://schemas.microsoft.com/office/drawing/2014/main" id="{211B77FA-D077-3F57-015F-977FB76A6FB5}"/>
              </a:ext>
            </a:extLst>
          </p:cNvPr>
          <p:cNvSpPr txBox="1"/>
          <p:nvPr/>
        </p:nvSpPr>
        <p:spPr>
          <a:xfrm>
            <a:off x="508000" y="1371600"/>
            <a:ext cx="5435600" cy="4927600"/>
          </a:xfrm>
          <a:prstGeom prst="rect">
            <a:avLst/>
          </a:prstGeom>
          <a:noFill/>
        </p:spPr>
        <p:txBody>
          <a:bodyPr vert="horz" wrap="square" lIns="0" tIns="0" rIns="0" bIns="0" rtlCol="0">
            <a:noAutofit/>
          </a:bodyPr>
          <a:lstStyle/>
          <a:p>
            <a:pPr>
              <a:spcAft>
                <a:spcPts val="400"/>
              </a:spcAft>
            </a:pPr>
            <a:r>
              <a:rPr lang="en-US" sz="1600" b="1">
                <a:solidFill>
                  <a:srgbClr val="0F7C80"/>
                </a:solidFill>
                <a:latin typeface="Calibri" panose="020F0502020204030204" pitchFamily="34" charset="0"/>
              </a:rPr>
              <a:t>Task 1</a:t>
            </a:r>
            <a:r>
              <a:rPr lang="en-US" sz="1600" b="1">
                <a:solidFill>
                  <a:srgbClr val="14213D"/>
                </a:solidFill>
                <a:latin typeface="Calibri" panose="020F0502020204030204" pitchFamily="34" charset="0"/>
              </a:rPr>
              <a:t> Develop a common vision</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Help ensure a shared vision with key stakeholders</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Promote the shared vision</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Keep the vision current</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Break down situations to identify the root cause of a misunderstanding of the vision</a:t>
            </a:r>
          </a:p>
          <a:p>
            <a:pPr>
              <a:spcBef>
                <a:spcPts val="1400"/>
              </a:spcBef>
              <a:spcAft>
                <a:spcPts val="400"/>
              </a:spcAft>
            </a:pPr>
            <a:r>
              <a:rPr lang="en-US" sz="1600" b="1">
                <a:solidFill>
                  <a:srgbClr val="0F7C80"/>
                </a:solidFill>
                <a:latin typeface="Calibri" panose="020F0502020204030204" pitchFamily="34" charset="0"/>
              </a:rPr>
              <a:t>Task 2</a:t>
            </a:r>
            <a:r>
              <a:rPr lang="en-US" sz="1600" b="1">
                <a:solidFill>
                  <a:srgbClr val="14213D"/>
                </a:solidFill>
                <a:latin typeface="Calibri" panose="020F0502020204030204" pitchFamily="34" charset="0"/>
              </a:rPr>
              <a:t> Manage conflicts</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Identify conflict sources</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Analyze the context for the conflict</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Implement an agreed-on resolution strategy</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Communicate conflict management principles with the team and external stakeholders</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Establish an environment that fosters adherence to common ground rules</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Manage and rectify ground rule violations</a:t>
            </a:r>
          </a:p>
        </p:txBody>
      </p:sp>
      <p:sp>
        <p:nvSpPr>
          <p:cNvPr id="5" name="TaskColumn">
            <a:extLst>
              <a:ext uri="{FF2B5EF4-FFF2-40B4-BE49-F238E27FC236}">
                <a16:creationId xmlns:a16="http://schemas.microsoft.com/office/drawing/2014/main" id="{D5E14EFB-C6B6-FD3E-D8F7-0E2EA1E2EC69}"/>
              </a:ext>
            </a:extLst>
          </p:cNvPr>
          <p:cNvSpPr txBox="1"/>
          <p:nvPr/>
        </p:nvSpPr>
        <p:spPr>
          <a:xfrm>
            <a:off x="6248400" y="1371600"/>
            <a:ext cx="5435600" cy="4927600"/>
          </a:xfrm>
          <a:prstGeom prst="rect">
            <a:avLst/>
          </a:prstGeom>
          <a:noFill/>
        </p:spPr>
        <p:txBody>
          <a:bodyPr vert="horz" wrap="square" lIns="0" tIns="0" rIns="0" bIns="0" rtlCol="0">
            <a:noAutofit/>
          </a:bodyPr>
          <a:lstStyle/>
          <a:p>
            <a:pPr>
              <a:spcAft>
                <a:spcPts val="400"/>
              </a:spcAft>
            </a:pPr>
            <a:r>
              <a:rPr lang="en-US" sz="1600" b="1">
                <a:solidFill>
                  <a:srgbClr val="0F7C80"/>
                </a:solidFill>
                <a:latin typeface="Calibri" panose="020F0502020204030204" pitchFamily="34" charset="0"/>
              </a:rPr>
              <a:t>Task 3</a:t>
            </a:r>
            <a:r>
              <a:rPr lang="en-US" sz="1600" b="1">
                <a:solidFill>
                  <a:srgbClr val="14213D"/>
                </a:solidFill>
                <a:latin typeface="Calibri" panose="020F0502020204030204" pitchFamily="34" charset="0"/>
              </a:rPr>
              <a:t> Lead the project team</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Establish expectations at the team level</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Empower the team</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Solve problems</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Represent the voice of the team</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Support the team’s varied experiences, skills, and perspectives</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Determine an appropriate leadership style</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Establish clear roles and responsibilities within the team</a:t>
            </a:r>
          </a:p>
          <a:p>
            <a:pPr>
              <a:spcBef>
                <a:spcPts val="1400"/>
              </a:spcBef>
              <a:spcAft>
                <a:spcPts val="400"/>
              </a:spcAft>
            </a:pPr>
            <a:r>
              <a:rPr lang="en-US" sz="1600" b="1">
                <a:solidFill>
                  <a:srgbClr val="0F7C80"/>
                </a:solidFill>
                <a:latin typeface="Calibri" panose="020F0502020204030204" pitchFamily="34" charset="0"/>
              </a:rPr>
              <a:t>Task 4</a:t>
            </a:r>
            <a:r>
              <a:rPr lang="en-US" sz="1600" b="1">
                <a:solidFill>
                  <a:srgbClr val="14213D"/>
                </a:solidFill>
                <a:latin typeface="Calibri" panose="020F0502020204030204" pitchFamily="34" charset="0"/>
              </a:rPr>
              <a:t> Engage stakeholders</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Identify stakeholders</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Analyze stakeholders</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Analyze and tailor communication to stakeholder needs</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Execute the stakeholder engagement plan</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Optimize alignment among stakeholder needs, expectations, and project objectives</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Build trust and influence stakeholders to accomplish project objectives</a:t>
            </a:r>
          </a:p>
        </p:txBody>
      </p:sp>
      <p:sp>
        <p:nvSpPr>
          <p:cNvPr id="6" name="Footer">
            <a:extLst>
              <a:ext uri="{FF2B5EF4-FFF2-40B4-BE49-F238E27FC236}">
                <a16:creationId xmlns:a16="http://schemas.microsoft.com/office/drawing/2014/main" id="{535833BE-1B10-B18D-E51E-E8F652C5816C}"/>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PMP® Examination Content Outline (July 2026)</a:t>
            </a:r>
          </a:p>
        </p:txBody>
      </p:sp>
      <p:sp>
        <p:nvSpPr>
          <p:cNvPr id="7" name="SlideNum">
            <a:extLst>
              <a:ext uri="{FF2B5EF4-FFF2-40B4-BE49-F238E27FC236}">
                <a16:creationId xmlns:a16="http://schemas.microsoft.com/office/drawing/2014/main" id="{27A53283-8954-DC83-2433-BA5DF8FC26A7}"/>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11</a:t>
            </a:r>
          </a:p>
        </p:txBody>
      </p:sp>
      <p:sp>
        <p:nvSpPr>
          <p:cNvPr id="8"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629424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omainChip">
            <a:extLst>
              <a:ext uri="{FF2B5EF4-FFF2-40B4-BE49-F238E27FC236}">
                <a16:creationId xmlns:a16="http://schemas.microsoft.com/office/drawing/2014/main" id="{83C47558-9D2B-46DF-F981-143DCD6C5E6F}"/>
              </a:ext>
            </a:extLst>
          </p:cNvPr>
          <p:cNvSpPr/>
          <p:nvPr/>
        </p:nvSpPr>
        <p:spPr>
          <a:xfrm>
            <a:off x="508000" y="444500"/>
            <a:ext cx="558800" cy="558800"/>
          </a:xfrm>
          <a:prstGeom prst="ellipse">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b="1">
                <a:solidFill>
                  <a:srgbClr val="FFFFFF"/>
                </a:solidFill>
                <a:latin typeface="Calibri" panose="020F0502020204030204" pitchFamily="34" charset="0"/>
              </a:rPr>
              <a:t>I</a:t>
            </a:r>
          </a:p>
        </p:txBody>
      </p:sp>
      <p:sp>
        <p:nvSpPr>
          <p:cNvPr id="3" name="Title">
            <a:extLst>
              <a:ext uri="{FF2B5EF4-FFF2-40B4-BE49-F238E27FC236}">
                <a16:creationId xmlns:a16="http://schemas.microsoft.com/office/drawing/2014/main" id="{FDDA1FA5-2CB5-10E5-CCED-4103C4D6015C}"/>
              </a:ext>
            </a:extLst>
          </p:cNvPr>
          <p:cNvSpPr txBox="1"/>
          <p:nvPr/>
        </p:nvSpPr>
        <p:spPr>
          <a:xfrm>
            <a:off x="1219200" y="381000"/>
            <a:ext cx="104648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People tasks 5–8</a:t>
            </a:r>
          </a:p>
        </p:txBody>
      </p:sp>
      <p:sp>
        <p:nvSpPr>
          <p:cNvPr id="4" name="TaskColumn">
            <a:extLst>
              <a:ext uri="{FF2B5EF4-FFF2-40B4-BE49-F238E27FC236}">
                <a16:creationId xmlns:a16="http://schemas.microsoft.com/office/drawing/2014/main" id="{D2AF0E7E-05CF-78BC-132D-BA2F93ED195D}"/>
              </a:ext>
            </a:extLst>
          </p:cNvPr>
          <p:cNvSpPr txBox="1"/>
          <p:nvPr/>
        </p:nvSpPr>
        <p:spPr>
          <a:xfrm>
            <a:off x="508000" y="1371600"/>
            <a:ext cx="5435600" cy="4927600"/>
          </a:xfrm>
          <a:prstGeom prst="rect">
            <a:avLst/>
          </a:prstGeom>
          <a:noFill/>
        </p:spPr>
        <p:txBody>
          <a:bodyPr vert="horz" wrap="square" lIns="0" tIns="0" rIns="0" bIns="0" rtlCol="0">
            <a:noAutofit/>
          </a:bodyPr>
          <a:lstStyle/>
          <a:p>
            <a:pPr>
              <a:spcAft>
                <a:spcPts val="400"/>
              </a:spcAft>
            </a:pPr>
            <a:r>
              <a:rPr lang="en-US" sz="1600" b="1">
                <a:solidFill>
                  <a:srgbClr val="0F7C80"/>
                </a:solidFill>
                <a:latin typeface="Calibri" panose="020F0502020204030204" pitchFamily="34" charset="0"/>
              </a:rPr>
              <a:t>Task 5</a:t>
            </a:r>
            <a:r>
              <a:rPr lang="en-US" sz="1600" b="1">
                <a:solidFill>
                  <a:srgbClr val="14213D"/>
                </a:solidFill>
                <a:latin typeface="Calibri" panose="020F0502020204030204" pitchFamily="34" charset="0"/>
              </a:rPr>
              <a:t> Align stakeholder expectations</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Categorize stakeholders</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Identify stakeholder expectations</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Facilitate discussions to align expectations</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Organize and act on mentoring opportunities</a:t>
            </a:r>
          </a:p>
          <a:p>
            <a:pPr>
              <a:spcBef>
                <a:spcPts val="1400"/>
              </a:spcBef>
              <a:spcAft>
                <a:spcPts val="400"/>
              </a:spcAft>
            </a:pPr>
            <a:r>
              <a:rPr lang="en-US" sz="1600" b="1">
                <a:solidFill>
                  <a:srgbClr val="0F7C80"/>
                </a:solidFill>
                <a:latin typeface="Calibri" panose="020F0502020204030204" pitchFamily="34" charset="0"/>
              </a:rPr>
              <a:t>Task 6</a:t>
            </a:r>
            <a:r>
              <a:rPr lang="en-US" sz="1600" b="1">
                <a:solidFill>
                  <a:srgbClr val="14213D"/>
                </a:solidFill>
                <a:latin typeface="Calibri" panose="020F0502020204030204" pitchFamily="34" charset="0"/>
              </a:rPr>
              <a:t> Manage stakeholder expectations</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Identify internal and external customer expectations</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Align and maintain outcomes to internal and external customer expectations</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Monitor internal and external customer satisfaction/expectations and respond as needed</a:t>
            </a:r>
          </a:p>
          <a:p>
            <a:pPr>
              <a:spcBef>
                <a:spcPts val="1400"/>
              </a:spcBef>
              <a:spcAft>
                <a:spcPts val="400"/>
              </a:spcAft>
            </a:pPr>
            <a:r>
              <a:rPr lang="en-US" sz="1600" b="1">
                <a:solidFill>
                  <a:srgbClr val="0F7C80"/>
                </a:solidFill>
                <a:latin typeface="Calibri" panose="020F0502020204030204" pitchFamily="34" charset="0"/>
              </a:rPr>
              <a:t>Task 7</a:t>
            </a:r>
            <a:r>
              <a:rPr lang="en-US" sz="1600" b="1">
                <a:solidFill>
                  <a:srgbClr val="14213D"/>
                </a:solidFill>
                <a:latin typeface="Calibri" panose="020F0502020204030204" pitchFamily="34" charset="0"/>
              </a:rPr>
              <a:t> Help ensure knowledge transfer</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Identify knowledge critical to the project</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Gather knowledge</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Foster an environment for knowledge transfer</a:t>
            </a:r>
          </a:p>
        </p:txBody>
      </p:sp>
      <p:sp>
        <p:nvSpPr>
          <p:cNvPr id="5" name="TaskColumn">
            <a:extLst>
              <a:ext uri="{FF2B5EF4-FFF2-40B4-BE49-F238E27FC236}">
                <a16:creationId xmlns:a16="http://schemas.microsoft.com/office/drawing/2014/main" id="{C38CB333-6883-C131-4DF0-88863F63D882}"/>
              </a:ext>
            </a:extLst>
          </p:cNvPr>
          <p:cNvSpPr txBox="1"/>
          <p:nvPr/>
        </p:nvSpPr>
        <p:spPr>
          <a:xfrm>
            <a:off x="6248400" y="1371600"/>
            <a:ext cx="5435600" cy="4927600"/>
          </a:xfrm>
          <a:prstGeom prst="rect">
            <a:avLst/>
          </a:prstGeom>
          <a:noFill/>
        </p:spPr>
        <p:txBody>
          <a:bodyPr vert="horz" wrap="square" lIns="0" tIns="0" rIns="0" bIns="0" rtlCol="0">
            <a:noAutofit/>
          </a:bodyPr>
          <a:lstStyle/>
          <a:p>
            <a:pPr>
              <a:spcAft>
                <a:spcPts val="400"/>
              </a:spcAft>
            </a:pPr>
            <a:r>
              <a:rPr lang="en-US" sz="1600" b="1">
                <a:solidFill>
                  <a:srgbClr val="0F7C80"/>
                </a:solidFill>
                <a:latin typeface="Calibri" panose="020F0502020204030204" pitchFamily="34" charset="0"/>
              </a:rPr>
              <a:t>Task 8</a:t>
            </a:r>
            <a:r>
              <a:rPr lang="en-US" sz="1600" b="1">
                <a:solidFill>
                  <a:srgbClr val="14213D"/>
                </a:solidFill>
                <a:latin typeface="Calibri" panose="020F0502020204030204" pitchFamily="34" charset="0"/>
              </a:rPr>
              <a:t> Plan and manage communication</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Define a communication strategy</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Promote transparency and collaboration</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Establish a feedback loop</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Understand reporting requirements</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Create reports aligned with sponsors and stakeholder expectations</a:t>
            </a:r>
          </a:p>
          <a:p>
            <a:pPr marL="203200" indent="-203200">
              <a:spcAft>
                <a:spcPts val="300"/>
              </a:spcAft>
              <a:buClr>
                <a:srgbClr val="0F7C80"/>
              </a:buClr>
              <a:buFont typeface="+mj-lt"/>
              <a:buChar char="•"/>
            </a:pPr>
            <a:r>
              <a:rPr lang="en-US" sz="1400">
                <a:solidFill>
                  <a:srgbClr val="1F2937"/>
                </a:solidFill>
                <a:latin typeface="Calibri" panose="020F0502020204030204" pitchFamily="34" charset="0"/>
              </a:rPr>
              <a:t>Support reporting and governance processes</a:t>
            </a:r>
          </a:p>
        </p:txBody>
      </p:sp>
      <p:sp>
        <p:nvSpPr>
          <p:cNvPr id="6" name="Footer">
            <a:extLst>
              <a:ext uri="{FF2B5EF4-FFF2-40B4-BE49-F238E27FC236}">
                <a16:creationId xmlns:a16="http://schemas.microsoft.com/office/drawing/2014/main" id="{9E2F15B2-E537-E0B7-C308-710D7C6892E4}"/>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PMP® Examination Content Outline (July 2026)</a:t>
            </a:r>
          </a:p>
        </p:txBody>
      </p:sp>
      <p:sp>
        <p:nvSpPr>
          <p:cNvPr id="7" name="SlideNum">
            <a:extLst>
              <a:ext uri="{FF2B5EF4-FFF2-40B4-BE49-F238E27FC236}">
                <a16:creationId xmlns:a16="http://schemas.microsoft.com/office/drawing/2014/main" id="{318F8698-48AB-6920-A447-F2F29E0B1DEE}"/>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12</a:t>
            </a:r>
          </a:p>
        </p:txBody>
      </p:sp>
      <p:sp>
        <p:nvSpPr>
          <p:cNvPr id="8"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523299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FA72AE8-9111-E841-6C89-82C7513E70AD}"/>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Situational leadership: match style to the person</a:t>
            </a:r>
          </a:p>
        </p:txBody>
      </p:sp>
      <p:sp>
        <p:nvSpPr>
          <p:cNvPr id="3" name="Tag">
            <a:extLst>
              <a:ext uri="{FF2B5EF4-FFF2-40B4-BE49-F238E27FC236}">
                <a16:creationId xmlns:a16="http://schemas.microsoft.com/office/drawing/2014/main" id="{C4EEFC67-36C7-AFA6-8A69-7D4D7529179A}"/>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0F7C80"/>
                </a:solidFill>
                <a:latin typeface="Calibri" panose="020F0502020204030204" pitchFamily="34" charset="0"/>
              </a:rPr>
              <a:t>People deep dive · Supports People Task 3 · Lead the project team (determine an appropriate leadership style)</a:t>
            </a:r>
          </a:p>
        </p:txBody>
      </p:sp>
      <p:sp>
        <p:nvSpPr>
          <p:cNvPr id="4" name="Rectangle: Rounded Corners 3">
            <a:extLst>
              <a:ext uri="{FF2B5EF4-FFF2-40B4-BE49-F238E27FC236}">
                <a16:creationId xmlns:a16="http://schemas.microsoft.com/office/drawing/2014/main" id="{23C2CACD-6A22-4B27-08C2-1E211DB28BFA}"/>
              </a:ext>
            </a:extLst>
          </p:cNvPr>
          <p:cNvSpPr/>
          <p:nvPr/>
        </p:nvSpPr>
        <p:spPr>
          <a:xfrm>
            <a:off x="1270000" y="1397000"/>
            <a:ext cx="2870200" cy="21844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41BACE7-DDF4-595B-43EF-E4B959ADA355}"/>
              </a:ext>
            </a:extLst>
          </p:cNvPr>
          <p:cNvSpPr txBox="1"/>
          <p:nvPr/>
        </p:nvSpPr>
        <p:spPr>
          <a:xfrm>
            <a:off x="1447800" y="1574800"/>
            <a:ext cx="2514600" cy="1828800"/>
          </a:xfrm>
          <a:prstGeom prst="rect">
            <a:avLst/>
          </a:prstGeom>
          <a:noFill/>
        </p:spPr>
        <p:txBody>
          <a:bodyPr vert="horz" wrap="square" lIns="0" tIns="0" rIns="0" bIns="0" rtlCol="0" anchor="t">
            <a:noAutofit/>
          </a:bodyPr>
          <a:lstStyle/>
          <a:p>
            <a:pPr>
              <a:spcAft>
                <a:spcPts val="600"/>
              </a:spcAft>
            </a:pPr>
            <a:r>
              <a:rPr lang="en-US" sz="1700" b="1">
                <a:solidFill>
                  <a:srgbClr val="14213D"/>
                </a:solidFill>
                <a:latin typeface="Calibri" panose="020F0502020204030204" pitchFamily="34" charset="0"/>
              </a:rPr>
              <a:t>S3  Supporting</a:t>
            </a:r>
          </a:p>
          <a:p>
            <a:r>
              <a:rPr lang="en-US" sz="1400">
                <a:solidFill>
                  <a:srgbClr val="1F2937"/>
                </a:solidFill>
                <a:latin typeface="Calibri" panose="020F0502020204030204" pitchFamily="34" charset="0"/>
              </a:rPr>
              <a:t>Low directive, high supportive. For D3: capable but cautious; skills are there, confidence varies.</a:t>
            </a:r>
          </a:p>
        </p:txBody>
      </p:sp>
      <p:sp>
        <p:nvSpPr>
          <p:cNvPr id="6" name="Rectangle: Rounded Corners 5">
            <a:extLst>
              <a:ext uri="{FF2B5EF4-FFF2-40B4-BE49-F238E27FC236}">
                <a16:creationId xmlns:a16="http://schemas.microsoft.com/office/drawing/2014/main" id="{BA00D71F-3429-36AB-F7EB-C741CCF592A1}"/>
              </a:ext>
            </a:extLst>
          </p:cNvPr>
          <p:cNvSpPr/>
          <p:nvPr/>
        </p:nvSpPr>
        <p:spPr>
          <a:xfrm>
            <a:off x="4191000" y="1397000"/>
            <a:ext cx="2870200" cy="21844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9941B1B-A052-DF58-A7D4-DD13EBA82A36}"/>
              </a:ext>
            </a:extLst>
          </p:cNvPr>
          <p:cNvSpPr txBox="1"/>
          <p:nvPr/>
        </p:nvSpPr>
        <p:spPr>
          <a:xfrm>
            <a:off x="4368800" y="1574800"/>
            <a:ext cx="2514600" cy="1828800"/>
          </a:xfrm>
          <a:prstGeom prst="rect">
            <a:avLst/>
          </a:prstGeom>
          <a:noFill/>
        </p:spPr>
        <p:txBody>
          <a:bodyPr vert="horz" wrap="square" lIns="0" tIns="0" rIns="0" bIns="0" rtlCol="0" anchor="t">
            <a:noAutofit/>
          </a:bodyPr>
          <a:lstStyle/>
          <a:p>
            <a:pPr>
              <a:spcAft>
                <a:spcPts val="600"/>
              </a:spcAft>
            </a:pPr>
            <a:r>
              <a:rPr lang="en-US" sz="1700" b="1">
                <a:solidFill>
                  <a:srgbClr val="14213D"/>
                </a:solidFill>
                <a:latin typeface="Calibri" panose="020F0502020204030204" pitchFamily="34" charset="0"/>
              </a:rPr>
              <a:t>S2  Coaching</a:t>
            </a:r>
          </a:p>
          <a:p>
            <a:r>
              <a:rPr lang="en-US" sz="1400">
                <a:solidFill>
                  <a:srgbClr val="1F2937"/>
                </a:solidFill>
                <a:latin typeface="Calibri" panose="020F0502020204030204" pitchFamily="34" charset="0"/>
              </a:rPr>
              <a:t>High directive, high supportive. For D2: disillusioned learner; some skill, commitment has dipped.</a:t>
            </a:r>
          </a:p>
        </p:txBody>
      </p:sp>
      <p:sp>
        <p:nvSpPr>
          <p:cNvPr id="8" name="Rectangle: Rounded Corners 7">
            <a:extLst>
              <a:ext uri="{FF2B5EF4-FFF2-40B4-BE49-F238E27FC236}">
                <a16:creationId xmlns:a16="http://schemas.microsoft.com/office/drawing/2014/main" id="{D44F1FEC-2F2A-E61D-380F-8C9B4F8F5811}"/>
              </a:ext>
            </a:extLst>
          </p:cNvPr>
          <p:cNvSpPr/>
          <p:nvPr/>
        </p:nvSpPr>
        <p:spPr>
          <a:xfrm>
            <a:off x="1270000" y="3632200"/>
            <a:ext cx="2870200" cy="2184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709BCF6-AA98-227F-CB14-FA23DBF8C253}"/>
              </a:ext>
            </a:extLst>
          </p:cNvPr>
          <p:cNvSpPr txBox="1"/>
          <p:nvPr/>
        </p:nvSpPr>
        <p:spPr>
          <a:xfrm>
            <a:off x="1447800" y="3810000"/>
            <a:ext cx="2514600" cy="1828800"/>
          </a:xfrm>
          <a:prstGeom prst="rect">
            <a:avLst/>
          </a:prstGeom>
          <a:noFill/>
        </p:spPr>
        <p:txBody>
          <a:bodyPr vert="horz" wrap="square" lIns="0" tIns="0" rIns="0" bIns="0" rtlCol="0" anchor="t">
            <a:noAutofit/>
          </a:bodyPr>
          <a:lstStyle/>
          <a:p>
            <a:pPr>
              <a:spcAft>
                <a:spcPts val="600"/>
              </a:spcAft>
            </a:pPr>
            <a:r>
              <a:rPr lang="en-US" sz="1700" b="1">
                <a:solidFill>
                  <a:srgbClr val="14213D"/>
                </a:solidFill>
                <a:latin typeface="Calibri" panose="020F0502020204030204" pitchFamily="34" charset="0"/>
              </a:rPr>
              <a:t>S4  Delegating</a:t>
            </a:r>
          </a:p>
          <a:p>
            <a:r>
              <a:rPr lang="en-US" sz="1400">
                <a:solidFill>
                  <a:srgbClr val="1F2937"/>
                </a:solidFill>
                <a:latin typeface="Calibri" panose="020F0502020204030204" pitchFamily="34" charset="0"/>
              </a:rPr>
              <a:t>Low directive, low supportive. For D4: self-reliant achiever; high skill and high commitment.</a:t>
            </a:r>
          </a:p>
        </p:txBody>
      </p:sp>
      <p:sp>
        <p:nvSpPr>
          <p:cNvPr id="10" name="Rectangle: Rounded Corners 9">
            <a:extLst>
              <a:ext uri="{FF2B5EF4-FFF2-40B4-BE49-F238E27FC236}">
                <a16:creationId xmlns:a16="http://schemas.microsoft.com/office/drawing/2014/main" id="{041D5B8E-A73C-C6B8-3B8F-54169B2FF942}"/>
              </a:ext>
            </a:extLst>
          </p:cNvPr>
          <p:cNvSpPr/>
          <p:nvPr/>
        </p:nvSpPr>
        <p:spPr>
          <a:xfrm>
            <a:off x="4191000" y="3632200"/>
            <a:ext cx="2870200" cy="21844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97D4BD1-1721-19AA-B040-E84C2C87931D}"/>
              </a:ext>
            </a:extLst>
          </p:cNvPr>
          <p:cNvSpPr txBox="1"/>
          <p:nvPr/>
        </p:nvSpPr>
        <p:spPr>
          <a:xfrm>
            <a:off x="4368800" y="3810000"/>
            <a:ext cx="2514600" cy="1828800"/>
          </a:xfrm>
          <a:prstGeom prst="rect">
            <a:avLst/>
          </a:prstGeom>
          <a:noFill/>
        </p:spPr>
        <p:txBody>
          <a:bodyPr vert="horz" wrap="square" lIns="0" tIns="0" rIns="0" bIns="0" rtlCol="0" anchor="t">
            <a:noAutofit/>
          </a:bodyPr>
          <a:lstStyle/>
          <a:p>
            <a:pPr>
              <a:spcAft>
                <a:spcPts val="600"/>
              </a:spcAft>
            </a:pPr>
            <a:r>
              <a:rPr lang="en-US" sz="1700" b="1">
                <a:solidFill>
                  <a:srgbClr val="14213D"/>
                </a:solidFill>
                <a:latin typeface="Calibri" panose="020F0502020204030204" pitchFamily="34" charset="0"/>
              </a:rPr>
              <a:t>S1  Directing</a:t>
            </a:r>
          </a:p>
          <a:p>
            <a:r>
              <a:rPr lang="en-US" sz="1400">
                <a:solidFill>
                  <a:srgbClr val="1F2937"/>
                </a:solidFill>
                <a:latin typeface="Calibri" panose="020F0502020204030204" pitchFamily="34" charset="0"/>
              </a:rPr>
              <a:t>High directive, low supportive. For D1: enthusiastic beginner; eager but inexperienced.</a:t>
            </a:r>
          </a:p>
        </p:txBody>
      </p:sp>
      <p:sp>
        <p:nvSpPr>
          <p:cNvPr id="12" name="TextBox 11">
            <a:extLst>
              <a:ext uri="{FF2B5EF4-FFF2-40B4-BE49-F238E27FC236}">
                <a16:creationId xmlns:a16="http://schemas.microsoft.com/office/drawing/2014/main" id="{3A653A16-9CE9-561D-D43D-2031135116D3}"/>
              </a:ext>
            </a:extLst>
          </p:cNvPr>
          <p:cNvSpPr txBox="1"/>
          <p:nvPr/>
        </p:nvSpPr>
        <p:spPr>
          <a:xfrm rot="16200000">
            <a:off x="-571500" y="3543300"/>
            <a:ext cx="2921000" cy="228600"/>
          </a:xfrm>
          <a:prstGeom prst="rect">
            <a:avLst/>
          </a:prstGeom>
          <a:noFill/>
        </p:spPr>
        <p:txBody>
          <a:bodyPr vert="horz" wrap="square" lIns="0" tIns="0" rIns="0" bIns="0" rtlCol="0" anchor="t">
            <a:noAutofit/>
          </a:bodyPr>
          <a:lstStyle/>
          <a:p>
            <a:pPr algn="ctr"/>
            <a:r>
              <a:rPr lang="en-US" sz="1300" b="1">
                <a:solidFill>
                  <a:srgbClr val="5B6475"/>
                </a:solidFill>
                <a:latin typeface="Calibri" panose="020F0502020204030204" pitchFamily="34" charset="0"/>
              </a:rPr>
              <a:t>Supportive behavior →</a:t>
            </a:r>
          </a:p>
        </p:txBody>
      </p:sp>
      <p:sp>
        <p:nvSpPr>
          <p:cNvPr id="13" name="TextBox 12">
            <a:extLst>
              <a:ext uri="{FF2B5EF4-FFF2-40B4-BE49-F238E27FC236}">
                <a16:creationId xmlns:a16="http://schemas.microsoft.com/office/drawing/2014/main" id="{757E3B6F-CD28-7B53-BC01-21DF8B76EE86}"/>
              </a:ext>
            </a:extLst>
          </p:cNvPr>
          <p:cNvSpPr txBox="1"/>
          <p:nvPr/>
        </p:nvSpPr>
        <p:spPr>
          <a:xfrm>
            <a:off x="1270000" y="5918200"/>
            <a:ext cx="5791200" cy="228600"/>
          </a:xfrm>
          <a:prstGeom prst="rect">
            <a:avLst/>
          </a:prstGeom>
          <a:noFill/>
        </p:spPr>
        <p:txBody>
          <a:bodyPr vert="horz" wrap="square" lIns="0" tIns="0" rIns="0" bIns="0" rtlCol="0" anchor="t">
            <a:noAutofit/>
          </a:bodyPr>
          <a:lstStyle/>
          <a:p>
            <a:pPr algn="ctr"/>
            <a:r>
              <a:rPr lang="en-US" sz="1300" b="1">
                <a:solidFill>
                  <a:srgbClr val="5B6475"/>
                </a:solidFill>
                <a:latin typeface="Calibri" panose="020F0502020204030204" pitchFamily="34" charset="0"/>
              </a:rPr>
              <a:t>Directive behavior →</a:t>
            </a:r>
          </a:p>
        </p:txBody>
      </p:sp>
      <p:sp>
        <p:nvSpPr>
          <p:cNvPr id="14" name="Rectangle: Rounded Corners 13">
            <a:extLst>
              <a:ext uri="{FF2B5EF4-FFF2-40B4-BE49-F238E27FC236}">
                <a16:creationId xmlns:a16="http://schemas.microsoft.com/office/drawing/2014/main" id="{AEEE67EC-8AD2-A931-3293-CBED5CCCF6AE}"/>
              </a:ext>
            </a:extLst>
          </p:cNvPr>
          <p:cNvSpPr/>
          <p:nvPr/>
        </p:nvSpPr>
        <p:spPr>
          <a:xfrm>
            <a:off x="7569200" y="1397000"/>
            <a:ext cx="4114800" cy="24892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D1B4E3E-8CF8-A933-1980-4D09F0DF64D2}"/>
              </a:ext>
            </a:extLst>
          </p:cNvPr>
          <p:cNvSpPr txBox="1"/>
          <p:nvPr/>
        </p:nvSpPr>
        <p:spPr>
          <a:xfrm>
            <a:off x="7772400" y="1600200"/>
            <a:ext cx="3708400" cy="2082800"/>
          </a:xfrm>
          <a:prstGeom prst="rect">
            <a:avLst/>
          </a:prstGeom>
          <a:noFill/>
        </p:spPr>
        <p:txBody>
          <a:bodyPr vert="horz" wrap="square" lIns="0" tIns="0" rIns="0" bIns="0" rtlCol="0" anchor="t">
            <a:noAutofit/>
          </a:bodyPr>
          <a:lstStyle/>
          <a:p>
            <a:pPr>
              <a:spcAft>
                <a:spcPts val="600"/>
              </a:spcAft>
            </a:pPr>
            <a:r>
              <a:rPr lang="en-US" sz="1700" b="1">
                <a:solidFill>
                  <a:srgbClr val="14213D"/>
                </a:solidFill>
                <a:latin typeface="Calibri" panose="020F0502020204030204" pitchFamily="34" charset="0"/>
              </a:rPr>
              <a:t>How to use it</a:t>
            </a:r>
          </a:p>
          <a:p>
            <a:r>
              <a:rPr lang="en-US" sz="1400">
                <a:solidFill>
                  <a:srgbClr val="1F2937"/>
                </a:solidFill>
                <a:latin typeface="Calibri" panose="020F0502020204030204" pitchFamily="34" charset="0"/>
              </a:rPr>
              <a:t>Diagnose the person’s development level for this specific task (competence plus commitment), then use the matching style. As they grow, move from S1 to S2, S3, and S4.</a:t>
            </a:r>
          </a:p>
        </p:txBody>
      </p:sp>
      <p:sp>
        <p:nvSpPr>
          <p:cNvPr id="16" name="Rectangle: Rounded Corners 15">
            <a:extLst>
              <a:ext uri="{FF2B5EF4-FFF2-40B4-BE49-F238E27FC236}">
                <a16:creationId xmlns:a16="http://schemas.microsoft.com/office/drawing/2014/main" id="{9C20ACF2-C735-4DA6-10EA-C26347114F88}"/>
              </a:ext>
            </a:extLst>
          </p:cNvPr>
          <p:cNvSpPr/>
          <p:nvPr/>
        </p:nvSpPr>
        <p:spPr>
          <a:xfrm>
            <a:off x="7569200" y="4089400"/>
            <a:ext cx="4114800" cy="19558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2F14DDB-52F7-E29A-B415-7A7587A67E8F}"/>
              </a:ext>
            </a:extLst>
          </p:cNvPr>
          <p:cNvSpPr txBox="1"/>
          <p:nvPr/>
        </p:nvSpPr>
        <p:spPr>
          <a:xfrm>
            <a:off x="7772400" y="4292600"/>
            <a:ext cx="3708400" cy="1549400"/>
          </a:xfrm>
          <a:prstGeom prst="rect">
            <a:avLst/>
          </a:prstGeom>
          <a:noFill/>
        </p:spPr>
        <p:txBody>
          <a:bodyPr vert="horz" wrap="square" lIns="0" tIns="0" rIns="0" bIns="0" rtlCol="0" anchor="t">
            <a:noAutofit/>
          </a:bodyPr>
          <a:lstStyle/>
          <a:p>
            <a:pPr>
              <a:spcAft>
                <a:spcPts val="600"/>
              </a:spcAft>
            </a:pPr>
            <a:r>
              <a:rPr lang="en-US" sz="1700" b="1">
                <a:solidFill>
                  <a:srgbClr val="14213D"/>
                </a:solidFill>
                <a:latin typeface="Calibri" panose="020F0502020204030204" pitchFamily="34" charset="0"/>
              </a:rPr>
              <a:t>Original names</a:t>
            </a:r>
          </a:p>
          <a:p>
            <a:r>
              <a:rPr lang="en-US" sz="1400">
                <a:solidFill>
                  <a:srgbClr val="1F2937"/>
                </a:solidFill>
                <a:latin typeface="Calibri" panose="020F0502020204030204" pitchFamily="34" charset="0"/>
              </a:rPr>
              <a:t>Hersey and Blanchard’s first version called the styles Telling, Selling, Participating, and Delegating.</a:t>
            </a:r>
          </a:p>
        </p:txBody>
      </p:sp>
      <p:sp>
        <p:nvSpPr>
          <p:cNvPr id="18" name="Footer">
            <a:extLst>
              <a:ext uri="{FF2B5EF4-FFF2-40B4-BE49-F238E27FC236}">
                <a16:creationId xmlns:a16="http://schemas.microsoft.com/office/drawing/2014/main" id="{89CD5513-2CB2-65CD-7DF1-8CD0910AB3AD}"/>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Paul Hersey and Kenneth Blanchard, ‘Life Cycle Theory of Leadership’ (1969); The Ken Blanchard Companies, SLII®</a:t>
            </a:r>
          </a:p>
        </p:txBody>
      </p:sp>
      <p:sp>
        <p:nvSpPr>
          <p:cNvPr id="19" name="SlideNum">
            <a:extLst>
              <a:ext uri="{FF2B5EF4-FFF2-40B4-BE49-F238E27FC236}">
                <a16:creationId xmlns:a16="http://schemas.microsoft.com/office/drawing/2014/main" id="{C6D8CC7B-3ECA-AB4E-3B72-7743ECCF4ACF}"/>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13</a:t>
            </a:r>
          </a:p>
        </p:txBody>
      </p:sp>
      <p:sp>
        <p:nvSpPr>
          <p:cNvPr id="20"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798334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51607F2-17FF-604F-B7A2-CFAA25B847BB}"/>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Covey’s 7 Habits, applied to project work</a:t>
            </a:r>
          </a:p>
        </p:txBody>
      </p:sp>
      <p:sp>
        <p:nvSpPr>
          <p:cNvPr id="3" name="Tag">
            <a:extLst>
              <a:ext uri="{FF2B5EF4-FFF2-40B4-BE49-F238E27FC236}">
                <a16:creationId xmlns:a16="http://schemas.microsoft.com/office/drawing/2014/main" id="{78D607E2-8A58-54C0-55EF-59C0493D8EC3}"/>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0F7C80"/>
                </a:solidFill>
                <a:latin typeface="Calibri" panose="020F0502020204030204" pitchFamily="34" charset="0"/>
              </a:rPr>
              <a:t>People deep dive · Supports People Tasks 1–4 and Process Task 5 · Vision, conflict, leadership, stakeholders, negotiation</a:t>
            </a:r>
          </a:p>
        </p:txBody>
      </p:sp>
      <p:sp>
        <p:nvSpPr>
          <p:cNvPr id="4" name="Rectangle: Rounded Corners 3">
            <a:extLst>
              <a:ext uri="{FF2B5EF4-FFF2-40B4-BE49-F238E27FC236}">
                <a16:creationId xmlns:a16="http://schemas.microsoft.com/office/drawing/2014/main" id="{E645DA60-BD78-AF87-F093-DFFBEBCF8386}"/>
              </a:ext>
            </a:extLst>
          </p:cNvPr>
          <p:cNvSpPr/>
          <p:nvPr/>
        </p:nvSpPr>
        <p:spPr>
          <a:xfrm>
            <a:off x="508000" y="1371600"/>
            <a:ext cx="1905000" cy="1498600"/>
          </a:xfrm>
          <a:prstGeom prst="roundRect">
            <a:avLst>
              <a:gd name="adj" fmla="val 8000"/>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25400" rIns="127000" bIns="25400" rtlCol="0" anchor="ctr"/>
          <a:lstStyle/>
          <a:p>
            <a:pPr algn="ctr"/>
            <a:r>
              <a:rPr lang="en-US" sz="1600" b="1">
                <a:solidFill>
                  <a:srgbClr val="FFFFFF"/>
                </a:solidFill>
                <a:latin typeface="Calibri" panose="020F0502020204030204" pitchFamily="34" charset="0"/>
              </a:rPr>
              <a:t>Private victory</a:t>
            </a:r>
          </a:p>
          <a:p>
            <a:pPr algn="ctr"/>
            <a:r>
              <a:rPr lang="en-US" sz="1300" b="1">
                <a:solidFill>
                  <a:srgbClr val="FFFFFF"/>
                </a:solidFill>
                <a:latin typeface="Calibri" panose="020F0502020204030204" pitchFamily="34" charset="0"/>
              </a:rPr>
              <a:t>Mastering yourself (independence)</a:t>
            </a:r>
          </a:p>
        </p:txBody>
      </p:sp>
      <p:sp>
        <p:nvSpPr>
          <p:cNvPr id="5" name="Rectangle: Rounded Corners 4">
            <a:extLst>
              <a:ext uri="{FF2B5EF4-FFF2-40B4-BE49-F238E27FC236}">
                <a16:creationId xmlns:a16="http://schemas.microsoft.com/office/drawing/2014/main" id="{DBB64186-2D33-2462-7178-95E879912EA3}"/>
              </a:ext>
            </a:extLst>
          </p:cNvPr>
          <p:cNvSpPr/>
          <p:nvPr/>
        </p:nvSpPr>
        <p:spPr>
          <a:xfrm>
            <a:off x="508000" y="2997200"/>
            <a:ext cx="1905000" cy="1498600"/>
          </a:xfrm>
          <a:prstGeom prst="roundRect">
            <a:avLst>
              <a:gd name="adj" fmla="val 8000"/>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25400" rIns="127000" bIns="25400" rtlCol="0" anchor="ctr"/>
          <a:lstStyle/>
          <a:p>
            <a:pPr algn="ctr"/>
            <a:r>
              <a:rPr lang="en-US" sz="1600" b="1">
                <a:solidFill>
                  <a:srgbClr val="FFFFFF"/>
                </a:solidFill>
                <a:latin typeface="Calibri" panose="020F0502020204030204" pitchFamily="34" charset="0"/>
              </a:rPr>
              <a:t>Public victory</a:t>
            </a:r>
          </a:p>
          <a:p>
            <a:pPr algn="ctr"/>
            <a:r>
              <a:rPr lang="en-US" sz="1300" b="1">
                <a:solidFill>
                  <a:srgbClr val="FFFFFF"/>
                </a:solidFill>
                <a:latin typeface="Calibri" panose="020F0502020204030204" pitchFamily="34" charset="0"/>
              </a:rPr>
              <a:t>Working with others (interdependence)</a:t>
            </a:r>
          </a:p>
        </p:txBody>
      </p:sp>
      <p:sp>
        <p:nvSpPr>
          <p:cNvPr id="6" name="Rectangle: Rounded Corners 5">
            <a:extLst>
              <a:ext uri="{FF2B5EF4-FFF2-40B4-BE49-F238E27FC236}">
                <a16:creationId xmlns:a16="http://schemas.microsoft.com/office/drawing/2014/main" id="{E6629D59-E7A7-9FDC-1F06-701C628EC1DB}"/>
              </a:ext>
            </a:extLst>
          </p:cNvPr>
          <p:cNvSpPr/>
          <p:nvPr/>
        </p:nvSpPr>
        <p:spPr>
          <a:xfrm>
            <a:off x="508000" y="4622800"/>
            <a:ext cx="1905000" cy="1498600"/>
          </a:xfrm>
          <a:prstGeom prst="roundRect">
            <a:avLst>
              <a:gd name="adj" fmla="val 8000"/>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25400" rIns="127000" bIns="25400" rtlCol="0" anchor="ctr"/>
          <a:lstStyle/>
          <a:p>
            <a:pPr algn="ctr"/>
            <a:r>
              <a:rPr lang="en-US" sz="1600" b="1">
                <a:solidFill>
                  <a:srgbClr val="14213D"/>
                </a:solidFill>
                <a:latin typeface="Calibri" panose="020F0502020204030204" pitchFamily="34" charset="0"/>
              </a:rPr>
              <a:t>Renewal</a:t>
            </a:r>
          </a:p>
          <a:p>
            <a:pPr algn="ctr"/>
            <a:r>
              <a:rPr lang="en-US" sz="1300" b="1">
                <a:solidFill>
                  <a:srgbClr val="14213D"/>
                </a:solidFill>
                <a:latin typeface="Calibri" panose="020F0502020204030204" pitchFamily="34" charset="0"/>
              </a:rPr>
              <a:t>Keeping yourself sharp</a:t>
            </a:r>
          </a:p>
        </p:txBody>
      </p:sp>
      <p:sp>
        <p:nvSpPr>
          <p:cNvPr id="7" name="Rectangle: Rounded Corners 6">
            <a:extLst>
              <a:ext uri="{FF2B5EF4-FFF2-40B4-BE49-F238E27FC236}">
                <a16:creationId xmlns:a16="http://schemas.microsoft.com/office/drawing/2014/main" id="{E13B889C-C4CD-19D1-4A44-F94BC01C7C46}"/>
              </a:ext>
            </a:extLst>
          </p:cNvPr>
          <p:cNvSpPr/>
          <p:nvPr/>
        </p:nvSpPr>
        <p:spPr>
          <a:xfrm>
            <a:off x="2565400" y="1371600"/>
            <a:ext cx="2946400" cy="1498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414B1D6-C353-EC2E-08B5-A5588F4F112E}"/>
              </a:ext>
            </a:extLst>
          </p:cNvPr>
          <p:cNvSpPr txBox="1"/>
          <p:nvPr/>
        </p:nvSpPr>
        <p:spPr>
          <a:xfrm>
            <a:off x="2717800" y="1524000"/>
            <a:ext cx="2641600" cy="1193800"/>
          </a:xfrm>
          <a:prstGeom prst="rect">
            <a:avLst/>
          </a:prstGeom>
          <a:noFill/>
        </p:spPr>
        <p:txBody>
          <a:bodyPr vert="horz" wrap="square" lIns="0" tIns="0" rIns="0" bIns="0" rtlCol="0" anchor="t">
            <a:noAutofit/>
          </a:bodyPr>
          <a:lstStyle/>
          <a:p>
            <a:pPr>
              <a:spcAft>
                <a:spcPts val="600"/>
              </a:spcAft>
            </a:pPr>
            <a:r>
              <a:rPr lang="en-US" sz="1500" b="1">
                <a:solidFill>
                  <a:srgbClr val="14213D"/>
                </a:solidFill>
                <a:latin typeface="Calibri" panose="020F0502020204030204" pitchFamily="34" charset="0"/>
              </a:rPr>
              <a:t>1  Be proactive</a:t>
            </a:r>
          </a:p>
          <a:p>
            <a:r>
              <a:rPr lang="en-US" sz="1400">
                <a:solidFill>
                  <a:srgbClr val="1F2937"/>
                </a:solidFill>
                <a:latin typeface="Calibri" panose="020F0502020204030204" pitchFamily="34" charset="0"/>
              </a:rPr>
              <a:t>Own your response: act on risks and issues instead of waiting to be told.</a:t>
            </a:r>
          </a:p>
        </p:txBody>
      </p:sp>
      <p:sp>
        <p:nvSpPr>
          <p:cNvPr id="9" name="Rectangle: Rounded Corners 8">
            <a:extLst>
              <a:ext uri="{FF2B5EF4-FFF2-40B4-BE49-F238E27FC236}">
                <a16:creationId xmlns:a16="http://schemas.microsoft.com/office/drawing/2014/main" id="{B055B053-59A6-31EE-8A01-8F56D1BCAD68}"/>
              </a:ext>
            </a:extLst>
          </p:cNvPr>
          <p:cNvSpPr/>
          <p:nvPr/>
        </p:nvSpPr>
        <p:spPr>
          <a:xfrm>
            <a:off x="5664200" y="1371600"/>
            <a:ext cx="2946400" cy="1498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ECD32E6-5D0E-6CA6-F914-E487889FE5BE}"/>
              </a:ext>
            </a:extLst>
          </p:cNvPr>
          <p:cNvSpPr txBox="1"/>
          <p:nvPr/>
        </p:nvSpPr>
        <p:spPr>
          <a:xfrm>
            <a:off x="5816600" y="1524000"/>
            <a:ext cx="2641600" cy="1193800"/>
          </a:xfrm>
          <a:prstGeom prst="rect">
            <a:avLst/>
          </a:prstGeom>
          <a:noFill/>
        </p:spPr>
        <p:txBody>
          <a:bodyPr vert="horz" wrap="square" lIns="0" tIns="0" rIns="0" bIns="0" rtlCol="0" anchor="t">
            <a:noAutofit/>
          </a:bodyPr>
          <a:lstStyle/>
          <a:p>
            <a:pPr>
              <a:spcAft>
                <a:spcPts val="600"/>
              </a:spcAft>
            </a:pPr>
            <a:r>
              <a:rPr lang="en-US" sz="1500" b="1">
                <a:solidFill>
                  <a:srgbClr val="14213D"/>
                </a:solidFill>
                <a:latin typeface="Calibri" panose="020F0502020204030204" pitchFamily="34" charset="0"/>
              </a:rPr>
              <a:t>2  Begin with the end in mind</a:t>
            </a:r>
          </a:p>
          <a:p>
            <a:r>
              <a:rPr lang="en-US" sz="1400">
                <a:solidFill>
                  <a:srgbClr val="1F2937"/>
                </a:solidFill>
                <a:latin typeface="Calibri" panose="020F0502020204030204" pitchFamily="34" charset="0"/>
              </a:rPr>
              <a:t>Start from the charter’s vision, objectives, and success criteria.</a:t>
            </a:r>
          </a:p>
        </p:txBody>
      </p:sp>
      <p:sp>
        <p:nvSpPr>
          <p:cNvPr id="11" name="Rectangle: Rounded Corners 10">
            <a:extLst>
              <a:ext uri="{FF2B5EF4-FFF2-40B4-BE49-F238E27FC236}">
                <a16:creationId xmlns:a16="http://schemas.microsoft.com/office/drawing/2014/main" id="{2EB1E505-6CA7-7DA5-58A3-527861984533}"/>
              </a:ext>
            </a:extLst>
          </p:cNvPr>
          <p:cNvSpPr/>
          <p:nvPr/>
        </p:nvSpPr>
        <p:spPr>
          <a:xfrm>
            <a:off x="8763000" y="1371600"/>
            <a:ext cx="2946400" cy="1498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7445253-5AF0-51A1-0112-5CD38E4903E2}"/>
              </a:ext>
            </a:extLst>
          </p:cNvPr>
          <p:cNvSpPr txBox="1"/>
          <p:nvPr/>
        </p:nvSpPr>
        <p:spPr>
          <a:xfrm>
            <a:off x="8915400" y="1524000"/>
            <a:ext cx="2641600" cy="1193800"/>
          </a:xfrm>
          <a:prstGeom prst="rect">
            <a:avLst/>
          </a:prstGeom>
          <a:noFill/>
        </p:spPr>
        <p:txBody>
          <a:bodyPr vert="horz" wrap="square" lIns="0" tIns="0" rIns="0" bIns="0" rtlCol="0" anchor="t">
            <a:noAutofit/>
          </a:bodyPr>
          <a:lstStyle/>
          <a:p>
            <a:pPr>
              <a:spcAft>
                <a:spcPts val="600"/>
              </a:spcAft>
            </a:pPr>
            <a:r>
              <a:rPr lang="en-US" sz="1500" b="1">
                <a:solidFill>
                  <a:srgbClr val="14213D"/>
                </a:solidFill>
                <a:latin typeface="Calibri" panose="020F0502020204030204" pitchFamily="34" charset="0"/>
              </a:rPr>
              <a:t>3  Put first things first</a:t>
            </a:r>
          </a:p>
          <a:p>
            <a:r>
              <a:rPr lang="en-US" sz="1400">
                <a:solidFill>
                  <a:srgbClr val="1F2937"/>
                </a:solidFill>
                <a:latin typeface="Calibri" panose="020F0502020204030204" pitchFamily="34" charset="0"/>
              </a:rPr>
              <a:t>Prioritize by value: backlog order and critical path, important before urgent.</a:t>
            </a:r>
          </a:p>
        </p:txBody>
      </p:sp>
      <p:sp>
        <p:nvSpPr>
          <p:cNvPr id="13" name="Rectangle: Rounded Corners 12">
            <a:extLst>
              <a:ext uri="{FF2B5EF4-FFF2-40B4-BE49-F238E27FC236}">
                <a16:creationId xmlns:a16="http://schemas.microsoft.com/office/drawing/2014/main" id="{5E3079C9-F35E-DF9D-D3AB-743DAF5501D7}"/>
              </a:ext>
            </a:extLst>
          </p:cNvPr>
          <p:cNvSpPr/>
          <p:nvPr/>
        </p:nvSpPr>
        <p:spPr>
          <a:xfrm>
            <a:off x="2565400" y="2997200"/>
            <a:ext cx="2946400" cy="1498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B2996B9-0CA8-38E4-E8F6-04DA77E3B2B5}"/>
              </a:ext>
            </a:extLst>
          </p:cNvPr>
          <p:cNvSpPr txBox="1"/>
          <p:nvPr/>
        </p:nvSpPr>
        <p:spPr>
          <a:xfrm>
            <a:off x="2717800" y="3149600"/>
            <a:ext cx="2641600" cy="1193800"/>
          </a:xfrm>
          <a:prstGeom prst="rect">
            <a:avLst/>
          </a:prstGeom>
          <a:noFill/>
        </p:spPr>
        <p:txBody>
          <a:bodyPr vert="horz" wrap="square" lIns="0" tIns="0" rIns="0" bIns="0" rtlCol="0" anchor="t">
            <a:noAutofit/>
          </a:bodyPr>
          <a:lstStyle/>
          <a:p>
            <a:pPr>
              <a:spcAft>
                <a:spcPts val="600"/>
              </a:spcAft>
            </a:pPr>
            <a:r>
              <a:rPr lang="en-US" sz="1500" b="1">
                <a:solidFill>
                  <a:srgbClr val="14213D"/>
                </a:solidFill>
                <a:latin typeface="Calibri" panose="020F0502020204030204" pitchFamily="34" charset="0"/>
              </a:rPr>
              <a:t>4  Think win-win</a:t>
            </a:r>
          </a:p>
          <a:p>
            <a:r>
              <a:rPr lang="en-US" sz="1400">
                <a:solidFill>
                  <a:srgbClr val="1F2937"/>
                </a:solidFill>
                <a:latin typeface="Calibri" panose="020F0502020204030204" pitchFamily="34" charset="0"/>
              </a:rPr>
              <a:t>Negotiate agreements that work for both sides, sellers included.</a:t>
            </a:r>
          </a:p>
        </p:txBody>
      </p:sp>
      <p:sp>
        <p:nvSpPr>
          <p:cNvPr id="15" name="Rectangle: Rounded Corners 14">
            <a:extLst>
              <a:ext uri="{FF2B5EF4-FFF2-40B4-BE49-F238E27FC236}">
                <a16:creationId xmlns:a16="http://schemas.microsoft.com/office/drawing/2014/main" id="{61703FB3-D3E8-37D2-644B-1C5D740EFF3C}"/>
              </a:ext>
            </a:extLst>
          </p:cNvPr>
          <p:cNvSpPr/>
          <p:nvPr/>
        </p:nvSpPr>
        <p:spPr>
          <a:xfrm>
            <a:off x="5664200" y="2997200"/>
            <a:ext cx="2946400" cy="1498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901444B-69BA-5D43-3A34-432480DB5773}"/>
              </a:ext>
            </a:extLst>
          </p:cNvPr>
          <p:cNvSpPr txBox="1"/>
          <p:nvPr/>
        </p:nvSpPr>
        <p:spPr>
          <a:xfrm>
            <a:off x="5816600" y="3149600"/>
            <a:ext cx="2641600" cy="1193800"/>
          </a:xfrm>
          <a:prstGeom prst="rect">
            <a:avLst/>
          </a:prstGeom>
          <a:noFill/>
        </p:spPr>
        <p:txBody>
          <a:bodyPr vert="horz" wrap="square" lIns="0" tIns="0" rIns="0" bIns="0" rtlCol="0" anchor="t">
            <a:noAutofit/>
          </a:bodyPr>
          <a:lstStyle/>
          <a:p>
            <a:pPr>
              <a:spcAft>
                <a:spcPts val="600"/>
              </a:spcAft>
            </a:pPr>
            <a:r>
              <a:rPr lang="en-US" sz="1500" b="1">
                <a:solidFill>
                  <a:srgbClr val="14213D"/>
                </a:solidFill>
                <a:latin typeface="Calibri" panose="020F0502020204030204" pitchFamily="34" charset="0"/>
              </a:rPr>
              <a:t>5  Seek first to understand, then to be understood</a:t>
            </a:r>
          </a:p>
          <a:p>
            <a:r>
              <a:rPr lang="en-US" sz="1400">
                <a:solidFill>
                  <a:srgbClr val="1F2937"/>
                </a:solidFill>
                <a:latin typeface="Calibri" panose="020F0502020204030204" pitchFamily="34" charset="0"/>
              </a:rPr>
              <a:t>Listen before proposing; the classic first step in conflict.</a:t>
            </a:r>
          </a:p>
        </p:txBody>
      </p:sp>
      <p:sp>
        <p:nvSpPr>
          <p:cNvPr id="17" name="Rectangle: Rounded Corners 16">
            <a:extLst>
              <a:ext uri="{FF2B5EF4-FFF2-40B4-BE49-F238E27FC236}">
                <a16:creationId xmlns:a16="http://schemas.microsoft.com/office/drawing/2014/main" id="{23F6317E-8FF2-B939-9504-8878D601E589}"/>
              </a:ext>
            </a:extLst>
          </p:cNvPr>
          <p:cNvSpPr/>
          <p:nvPr/>
        </p:nvSpPr>
        <p:spPr>
          <a:xfrm>
            <a:off x="8763000" y="2997200"/>
            <a:ext cx="2946400" cy="1498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3A94EDF-4F50-56AD-AE6E-4EEF78A0396D}"/>
              </a:ext>
            </a:extLst>
          </p:cNvPr>
          <p:cNvSpPr txBox="1"/>
          <p:nvPr/>
        </p:nvSpPr>
        <p:spPr>
          <a:xfrm>
            <a:off x="8915400" y="3149600"/>
            <a:ext cx="2641600" cy="1193800"/>
          </a:xfrm>
          <a:prstGeom prst="rect">
            <a:avLst/>
          </a:prstGeom>
          <a:noFill/>
        </p:spPr>
        <p:txBody>
          <a:bodyPr vert="horz" wrap="square" lIns="0" tIns="0" rIns="0" bIns="0" rtlCol="0" anchor="t">
            <a:noAutofit/>
          </a:bodyPr>
          <a:lstStyle/>
          <a:p>
            <a:pPr>
              <a:spcAft>
                <a:spcPts val="600"/>
              </a:spcAft>
            </a:pPr>
            <a:r>
              <a:rPr lang="en-US" sz="1500" b="1">
                <a:solidFill>
                  <a:srgbClr val="14213D"/>
                </a:solidFill>
                <a:latin typeface="Calibri" panose="020F0502020204030204" pitchFamily="34" charset="0"/>
              </a:rPr>
              <a:t>6  Synergize</a:t>
            </a:r>
          </a:p>
          <a:p>
            <a:r>
              <a:rPr lang="en-US" sz="1400">
                <a:solidFill>
                  <a:srgbClr val="1F2937"/>
                </a:solidFill>
                <a:latin typeface="Calibri" panose="020F0502020204030204" pitchFamily="34" charset="0"/>
              </a:rPr>
              <a:t>Combine diverse views into better solutions than any one person’s.</a:t>
            </a:r>
          </a:p>
        </p:txBody>
      </p:sp>
      <p:sp>
        <p:nvSpPr>
          <p:cNvPr id="19" name="Rectangle: Rounded Corners 18">
            <a:extLst>
              <a:ext uri="{FF2B5EF4-FFF2-40B4-BE49-F238E27FC236}">
                <a16:creationId xmlns:a16="http://schemas.microsoft.com/office/drawing/2014/main" id="{A5FA190F-2907-C9ED-BA09-916E81CBFE5D}"/>
              </a:ext>
            </a:extLst>
          </p:cNvPr>
          <p:cNvSpPr/>
          <p:nvPr/>
        </p:nvSpPr>
        <p:spPr>
          <a:xfrm>
            <a:off x="2565400" y="4622800"/>
            <a:ext cx="9118600" cy="1498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44FBDFA2-889A-CCE9-9F4F-E9993F058E88}"/>
              </a:ext>
            </a:extLst>
          </p:cNvPr>
          <p:cNvSpPr txBox="1"/>
          <p:nvPr/>
        </p:nvSpPr>
        <p:spPr>
          <a:xfrm>
            <a:off x="2717800" y="4775200"/>
            <a:ext cx="8813800" cy="1193800"/>
          </a:xfrm>
          <a:prstGeom prst="rect">
            <a:avLst/>
          </a:prstGeom>
          <a:noFill/>
        </p:spPr>
        <p:txBody>
          <a:bodyPr vert="horz" wrap="square" lIns="0" tIns="0" rIns="0" bIns="0" rtlCol="0" anchor="t">
            <a:noAutofit/>
          </a:bodyPr>
          <a:lstStyle/>
          <a:p>
            <a:pPr>
              <a:spcAft>
                <a:spcPts val="600"/>
              </a:spcAft>
            </a:pPr>
            <a:r>
              <a:rPr lang="en-US" sz="1500" b="1">
                <a:solidFill>
                  <a:srgbClr val="14213D"/>
                </a:solidFill>
                <a:latin typeface="Calibri" panose="020F0502020204030204" pitchFamily="34" charset="0"/>
              </a:rPr>
              <a:t>7  Sharpen the saw</a:t>
            </a:r>
          </a:p>
          <a:p>
            <a:r>
              <a:rPr lang="en-US" sz="1400">
                <a:solidFill>
                  <a:srgbClr val="1F2937"/>
                </a:solidFill>
                <a:latin typeface="Calibri" panose="020F0502020204030204" pitchFamily="34" charset="0"/>
              </a:rPr>
              <a:t>Keep renewing skills and energy: training, retrospectives, lessons learned, and PDUs.</a:t>
            </a:r>
          </a:p>
        </p:txBody>
      </p:sp>
      <p:sp>
        <p:nvSpPr>
          <p:cNvPr id="21" name="Footer">
            <a:extLst>
              <a:ext uri="{FF2B5EF4-FFF2-40B4-BE49-F238E27FC236}">
                <a16:creationId xmlns:a16="http://schemas.microsoft.com/office/drawing/2014/main" id="{FB3278C6-5C71-40A0-80EC-50999C06BBC4}"/>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Stephen R. Covey, The 7 Habits of Highly Effective People (1989)</a:t>
            </a:r>
          </a:p>
        </p:txBody>
      </p:sp>
      <p:sp>
        <p:nvSpPr>
          <p:cNvPr id="22" name="SlideNum">
            <a:extLst>
              <a:ext uri="{FF2B5EF4-FFF2-40B4-BE49-F238E27FC236}">
                <a16:creationId xmlns:a16="http://schemas.microsoft.com/office/drawing/2014/main" id="{9C655B1B-B5B1-3F44-553E-D95DD8102224}"/>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14</a:t>
            </a:r>
          </a:p>
        </p:txBody>
      </p:sp>
      <p:sp>
        <p:nvSpPr>
          <p:cNvPr id="23"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518976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1313124-675F-9282-B613-887522804AAB}"/>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Tuckman’s stages and the team charter</a:t>
            </a:r>
          </a:p>
        </p:txBody>
      </p:sp>
      <p:sp>
        <p:nvSpPr>
          <p:cNvPr id="3" name="Tag">
            <a:extLst>
              <a:ext uri="{FF2B5EF4-FFF2-40B4-BE49-F238E27FC236}">
                <a16:creationId xmlns:a16="http://schemas.microsoft.com/office/drawing/2014/main" id="{72765DF5-1254-912B-B5E5-72531A317429}"/>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0F7C80"/>
                </a:solidFill>
                <a:latin typeface="Calibri" panose="020F0502020204030204" pitchFamily="34" charset="0"/>
              </a:rPr>
              <a:t>People deep dive · Supports People Task 3 (Lead the project team) and Task 2 (common ground rules)</a:t>
            </a:r>
          </a:p>
        </p:txBody>
      </p:sp>
      <p:sp>
        <p:nvSpPr>
          <p:cNvPr id="4" name="Rectangle: Rounded Corners 3">
            <a:extLst>
              <a:ext uri="{FF2B5EF4-FFF2-40B4-BE49-F238E27FC236}">
                <a16:creationId xmlns:a16="http://schemas.microsoft.com/office/drawing/2014/main" id="{94B94CEA-A67B-98EC-67E6-33DC8922926F}"/>
              </a:ext>
            </a:extLst>
          </p:cNvPr>
          <p:cNvSpPr/>
          <p:nvPr/>
        </p:nvSpPr>
        <p:spPr>
          <a:xfrm>
            <a:off x="508000" y="1320800"/>
            <a:ext cx="2133600" cy="431800"/>
          </a:xfrm>
          <a:prstGeom prst="roundRect">
            <a:avLst>
              <a:gd name="adj" fmla="val 8000"/>
            </a:avLst>
          </a:prstGeom>
          <a:solidFill>
            <a:srgbClr val="0B5E6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400" b="1">
                <a:solidFill>
                  <a:srgbClr val="FFFFFF"/>
                </a:solidFill>
                <a:latin typeface="Calibri" panose="020F0502020204030204" pitchFamily="34" charset="0"/>
              </a:rPr>
              <a:t>1  Forming</a:t>
            </a:r>
          </a:p>
        </p:txBody>
      </p:sp>
      <p:sp>
        <p:nvSpPr>
          <p:cNvPr id="5" name="Rectangle: Rounded Corners 4">
            <a:extLst>
              <a:ext uri="{FF2B5EF4-FFF2-40B4-BE49-F238E27FC236}">
                <a16:creationId xmlns:a16="http://schemas.microsoft.com/office/drawing/2014/main" id="{A1149F35-BB13-2FB6-8E69-A9BF5683CB1F}"/>
              </a:ext>
            </a:extLst>
          </p:cNvPr>
          <p:cNvSpPr/>
          <p:nvPr/>
        </p:nvSpPr>
        <p:spPr>
          <a:xfrm>
            <a:off x="508000" y="1803400"/>
            <a:ext cx="2133600" cy="19050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0978A33-1D19-6535-D3C7-B19AB6D48280}"/>
              </a:ext>
            </a:extLst>
          </p:cNvPr>
          <p:cNvSpPr txBox="1"/>
          <p:nvPr/>
        </p:nvSpPr>
        <p:spPr>
          <a:xfrm>
            <a:off x="660400" y="1955800"/>
            <a:ext cx="1828800" cy="1625600"/>
          </a:xfrm>
          <a:prstGeom prst="rect">
            <a:avLst/>
          </a:prstGeom>
          <a:noFill/>
        </p:spPr>
        <p:txBody>
          <a:bodyPr vert="horz" wrap="square" lIns="0" tIns="0" rIns="0" bIns="0" rtlCol="0" anchor="t">
            <a:noAutofit/>
          </a:bodyPr>
          <a:lstStyle/>
          <a:p>
            <a:pPr>
              <a:spcAft>
                <a:spcPts val="800"/>
              </a:spcAft>
            </a:pPr>
            <a:r>
              <a:rPr lang="en-US" sz="1300">
                <a:solidFill>
                  <a:srgbClr val="1F2937"/>
                </a:solidFill>
                <a:latin typeface="Calibri" panose="020F0502020204030204" pitchFamily="34" charset="0"/>
              </a:rPr>
              <a:t>Polite and unsure; roles are unclear.</a:t>
            </a:r>
          </a:p>
          <a:p>
            <a:r>
              <a:rPr lang="en-US" sz="1300" b="1">
                <a:solidFill>
                  <a:srgbClr val="0F7C80"/>
                </a:solidFill>
                <a:latin typeface="Calibri" panose="020F0502020204030204" pitchFamily="34" charset="0"/>
              </a:rPr>
              <a:t>PM:</a:t>
            </a:r>
            <a:r>
              <a:rPr lang="en-US" sz="1300">
                <a:solidFill>
                  <a:srgbClr val="1F2937"/>
                </a:solidFill>
                <a:latin typeface="Calibri" panose="020F0502020204030204" pitchFamily="34" charset="0"/>
              </a:rPr>
              <a:t> direct; set goals and roles.</a:t>
            </a:r>
          </a:p>
        </p:txBody>
      </p:sp>
      <p:sp>
        <p:nvSpPr>
          <p:cNvPr id="7" name="Rectangle: Rounded Corners 6">
            <a:extLst>
              <a:ext uri="{FF2B5EF4-FFF2-40B4-BE49-F238E27FC236}">
                <a16:creationId xmlns:a16="http://schemas.microsoft.com/office/drawing/2014/main" id="{1BD0A4DE-E423-B056-50B0-DE9A12034225}"/>
              </a:ext>
            </a:extLst>
          </p:cNvPr>
          <p:cNvSpPr/>
          <p:nvPr/>
        </p:nvSpPr>
        <p:spPr>
          <a:xfrm>
            <a:off x="2768600" y="1320800"/>
            <a:ext cx="2133600" cy="431800"/>
          </a:xfrm>
          <a:prstGeom prst="roundRect">
            <a:avLst>
              <a:gd name="adj" fmla="val 8000"/>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400" b="1">
                <a:solidFill>
                  <a:srgbClr val="FFFFFF"/>
                </a:solidFill>
                <a:latin typeface="Calibri" panose="020F0502020204030204" pitchFamily="34" charset="0"/>
              </a:rPr>
              <a:t>2  Storming</a:t>
            </a:r>
          </a:p>
        </p:txBody>
      </p:sp>
      <p:sp>
        <p:nvSpPr>
          <p:cNvPr id="8" name="Rectangle: Rounded Corners 7">
            <a:extLst>
              <a:ext uri="{FF2B5EF4-FFF2-40B4-BE49-F238E27FC236}">
                <a16:creationId xmlns:a16="http://schemas.microsoft.com/office/drawing/2014/main" id="{66EDF3C2-CD4A-E888-E705-237B4E1978C5}"/>
              </a:ext>
            </a:extLst>
          </p:cNvPr>
          <p:cNvSpPr/>
          <p:nvPr/>
        </p:nvSpPr>
        <p:spPr>
          <a:xfrm>
            <a:off x="2768600" y="1803400"/>
            <a:ext cx="2133600" cy="19050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F18AEAD-84A2-D7D7-C0F6-E808E19EF28F}"/>
              </a:ext>
            </a:extLst>
          </p:cNvPr>
          <p:cNvSpPr txBox="1"/>
          <p:nvPr/>
        </p:nvSpPr>
        <p:spPr>
          <a:xfrm>
            <a:off x="2921000" y="1955800"/>
            <a:ext cx="1828800" cy="1625600"/>
          </a:xfrm>
          <a:prstGeom prst="rect">
            <a:avLst/>
          </a:prstGeom>
          <a:noFill/>
        </p:spPr>
        <p:txBody>
          <a:bodyPr vert="horz" wrap="square" lIns="0" tIns="0" rIns="0" bIns="0" rtlCol="0" anchor="t">
            <a:noAutofit/>
          </a:bodyPr>
          <a:lstStyle/>
          <a:p>
            <a:pPr>
              <a:spcAft>
                <a:spcPts val="800"/>
              </a:spcAft>
            </a:pPr>
            <a:r>
              <a:rPr lang="en-US" sz="1300">
                <a:solidFill>
                  <a:srgbClr val="1F2937"/>
                </a:solidFill>
                <a:latin typeface="Calibri" panose="020F0502020204030204" pitchFamily="34" charset="0"/>
              </a:rPr>
              <a:t>Friction over roles, approach, and authority.</a:t>
            </a:r>
          </a:p>
          <a:p>
            <a:r>
              <a:rPr lang="en-US" sz="1300" b="1">
                <a:solidFill>
                  <a:srgbClr val="0F7C80"/>
                </a:solidFill>
                <a:latin typeface="Calibri" panose="020F0502020204030204" pitchFamily="34" charset="0"/>
              </a:rPr>
              <a:t>PM:</a:t>
            </a:r>
            <a:r>
              <a:rPr lang="en-US" sz="1300">
                <a:solidFill>
                  <a:srgbClr val="1F2937"/>
                </a:solidFill>
                <a:latin typeface="Calibri" panose="020F0502020204030204" pitchFamily="34" charset="0"/>
              </a:rPr>
              <a:t> coach; surface and resolve conflict.</a:t>
            </a:r>
          </a:p>
        </p:txBody>
      </p:sp>
      <p:sp>
        <p:nvSpPr>
          <p:cNvPr id="10" name="Rectangle: Rounded Corners 9">
            <a:extLst>
              <a:ext uri="{FF2B5EF4-FFF2-40B4-BE49-F238E27FC236}">
                <a16:creationId xmlns:a16="http://schemas.microsoft.com/office/drawing/2014/main" id="{AA8CAF30-FCA2-8757-E217-E490718BF9FF}"/>
              </a:ext>
            </a:extLst>
          </p:cNvPr>
          <p:cNvSpPr/>
          <p:nvPr/>
        </p:nvSpPr>
        <p:spPr>
          <a:xfrm>
            <a:off x="5029200" y="1320800"/>
            <a:ext cx="2133600" cy="431800"/>
          </a:xfrm>
          <a:prstGeom prst="roundRect">
            <a:avLst>
              <a:gd name="adj" fmla="val 8000"/>
            </a:avLst>
          </a:prstGeom>
          <a:solidFill>
            <a:srgbClr val="2E949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400" b="1">
                <a:solidFill>
                  <a:srgbClr val="FFFFFF"/>
                </a:solidFill>
                <a:latin typeface="Calibri" panose="020F0502020204030204" pitchFamily="34" charset="0"/>
              </a:rPr>
              <a:t>3  Norming</a:t>
            </a:r>
          </a:p>
        </p:txBody>
      </p:sp>
      <p:sp>
        <p:nvSpPr>
          <p:cNvPr id="11" name="Rectangle: Rounded Corners 10">
            <a:extLst>
              <a:ext uri="{FF2B5EF4-FFF2-40B4-BE49-F238E27FC236}">
                <a16:creationId xmlns:a16="http://schemas.microsoft.com/office/drawing/2014/main" id="{49A20E63-81C9-584A-4D66-726AFEDDE129}"/>
              </a:ext>
            </a:extLst>
          </p:cNvPr>
          <p:cNvSpPr/>
          <p:nvPr/>
        </p:nvSpPr>
        <p:spPr>
          <a:xfrm>
            <a:off x="5029200" y="1803400"/>
            <a:ext cx="2133600" cy="19050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BDFB784-A5BB-8A56-6781-80944AC3B6EF}"/>
              </a:ext>
            </a:extLst>
          </p:cNvPr>
          <p:cNvSpPr txBox="1"/>
          <p:nvPr/>
        </p:nvSpPr>
        <p:spPr>
          <a:xfrm>
            <a:off x="5181600" y="1955800"/>
            <a:ext cx="1828800" cy="1625600"/>
          </a:xfrm>
          <a:prstGeom prst="rect">
            <a:avLst/>
          </a:prstGeom>
          <a:noFill/>
        </p:spPr>
        <p:txBody>
          <a:bodyPr vert="horz" wrap="square" lIns="0" tIns="0" rIns="0" bIns="0" rtlCol="0" anchor="t">
            <a:noAutofit/>
          </a:bodyPr>
          <a:lstStyle/>
          <a:p>
            <a:pPr>
              <a:spcAft>
                <a:spcPts val="800"/>
              </a:spcAft>
            </a:pPr>
            <a:r>
              <a:rPr lang="en-US" sz="1300">
                <a:solidFill>
                  <a:srgbClr val="1F2937"/>
                </a:solidFill>
                <a:latin typeface="Calibri" panose="020F0502020204030204" pitchFamily="34" charset="0"/>
              </a:rPr>
              <a:t>Agreed ways of working; trust grows.</a:t>
            </a:r>
          </a:p>
          <a:p>
            <a:r>
              <a:rPr lang="en-US" sz="1300" b="1">
                <a:solidFill>
                  <a:srgbClr val="0F7C80"/>
                </a:solidFill>
                <a:latin typeface="Calibri" panose="020F0502020204030204" pitchFamily="34" charset="0"/>
              </a:rPr>
              <a:t>PM:</a:t>
            </a:r>
            <a:r>
              <a:rPr lang="en-US" sz="1300">
                <a:solidFill>
                  <a:srgbClr val="1F2937"/>
                </a:solidFill>
                <a:latin typeface="Calibri" panose="020F0502020204030204" pitchFamily="34" charset="0"/>
              </a:rPr>
              <a:t> support; reinforce the team charter.</a:t>
            </a:r>
          </a:p>
        </p:txBody>
      </p:sp>
      <p:sp>
        <p:nvSpPr>
          <p:cNvPr id="13" name="Rectangle: Rounded Corners 12">
            <a:extLst>
              <a:ext uri="{FF2B5EF4-FFF2-40B4-BE49-F238E27FC236}">
                <a16:creationId xmlns:a16="http://schemas.microsoft.com/office/drawing/2014/main" id="{56C6DEA0-A721-DD4C-53A5-E5F4089E25B2}"/>
              </a:ext>
            </a:extLst>
          </p:cNvPr>
          <p:cNvSpPr/>
          <p:nvPr/>
        </p:nvSpPr>
        <p:spPr>
          <a:xfrm>
            <a:off x="7289800" y="1320800"/>
            <a:ext cx="2133600" cy="431800"/>
          </a:xfrm>
          <a:prstGeom prst="roundRect">
            <a:avLst>
              <a:gd name="adj" fmla="val 8000"/>
            </a:avLst>
          </a:prstGeom>
          <a:solidFill>
            <a:srgbClr val="4FA9A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400" b="1">
                <a:solidFill>
                  <a:srgbClr val="FFFFFF"/>
                </a:solidFill>
                <a:latin typeface="Calibri" panose="020F0502020204030204" pitchFamily="34" charset="0"/>
              </a:rPr>
              <a:t>4  Performing</a:t>
            </a:r>
          </a:p>
        </p:txBody>
      </p:sp>
      <p:sp>
        <p:nvSpPr>
          <p:cNvPr id="14" name="Rectangle: Rounded Corners 13">
            <a:extLst>
              <a:ext uri="{FF2B5EF4-FFF2-40B4-BE49-F238E27FC236}">
                <a16:creationId xmlns:a16="http://schemas.microsoft.com/office/drawing/2014/main" id="{9FAA6F34-2937-5BAA-328A-869FD7B43CA5}"/>
              </a:ext>
            </a:extLst>
          </p:cNvPr>
          <p:cNvSpPr/>
          <p:nvPr/>
        </p:nvSpPr>
        <p:spPr>
          <a:xfrm>
            <a:off x="7289800" y="1803400"/>
            <a:ext cx="2133600" cy="19050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8C5A550B-221F-B378-2F65-63FD22096D0A}"/>
              </a:ext>
            </a:extLst>
          </p:cNvPr>
          <p:cNvSpPr txBox="1"/>
          <p:nvPr/>
        </p:nvSpPr>
        <p:spPr>
          <a:xfrm>
            <a:off x="7442200" y="1955800"/>
            <a:ext cx="1828800" cy="1625600"/>
          </a:xfrm>
          <a:prstGeom prst="rect">
            <a:avLst/>
          </a:prstGeom>
          <a:noFill/>
        </p:spPr>
        <p:txBody>
          <a:bodyPr vert="horz" wrap="square" lIns="0" tIns="0" rIns="0" bIns="0" rtlCol="0" anchor="t">
            <a:noAutofit/>
          </a:bodyPr>
          <a:lstStyle/>
          <a:p>
            <a:pPr>
              <a:spcAft>
                <a:spcPts val="800"/>
              </a:spcAft>
            </a:pPr>
            <a:r>
              <a:rPr lang="en-US" sz="1300">
                <a:solidFill>
                  <a:srgbClr val="1F2937"/>
                </a:solidFill>
                <a:latin typeface="Calibri" panose="020F0502020204030204" pitchFamily="34" charset="0"/>
              </a:rPr>
              <a:t>Self-directed, high trust, high output.</a:t>
            </a:r>
          </a:p>
          <a:p>
            <a:r>
              <a:rPr lang="en-US" sz="1300" b="1">
                <a:solidFill>
                  <a:srgbClr val="0F7C80"/>
                </a:solidFill>
                <a:latin typeface="Calibri" panose="020F0502020204030204" pitchFamily="34" charset="0"/>
              </a:rPr>
              <a:t>PM:</a:t>
            </a:r>
            <a:r>
              <a:rPr lang="en-US" sz="1300">
                <a:solidFill>
                  <a:srgbClr val="1F2937"/>
                </a:solidFill>
                <a:latin typeface="Calibri" panose="020F0502020204030204" pitchFamily="34" charset="0"/>
              </a:rPr>
              <a:t> delegate; remove impediments.</a:t>
            </a:r>
          </a:p>
        </p:txBody>
      </p:sp>
      <p:sp>
        <p:nvSpPr>
          <p:cNvPr id="16" name="Rectangle: Rounded Corners 15">
            <a:extLst>
              <a:ext uri="{FF2B5EF4-FFF2-40B4-BE49-F238E27FC236}">
                <a16:creationId xmlns:a16="http://schemas.microsoft.com/office/drawing/2014/main" id="{CB188928-BF21-215F-E8E5-318731F5FC18}"/>
              </a:ext>
            </a:extLst>
          </p:cNvPr>
          <p:cNvSpPr/>
          <p:nvPr/>
        </p:nvSpPr>
        <p:spPr>
          <a:xfrm>
            <a:off x="9550400" y="1320800"/>
            <a:ext cx="2133600" cy="431800"/>
          </a:xfrm>
          <a:prstGeom prst="roundRect">
            <a:avLst>
              <a:gd name="adj" fmla="val 8000"/>
            </a:avLst>
          </a:prstGeom>
          <a:solidFill>
            <a:srgbClr val="74BEC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400" b="1">
                <a:solidFill>
                  <a:srgbClr val="FFFFFF"/>
                </a:solidFill>
                <a:latin typeface="Calibri" panose="020F0502020204030204" pitchFamily="34" charset="0"/>
              </a:rPr>
              <a:t>5  Adjourning</a:t>
            </a:r>
          </a:p>
        </p:txBody>
      </p:sp>
      <p:sp>
        <p:nvSpPr>
          <p:cNvPr id="17" name="Rectangle: Rounded Corners 16">
            <a:extLst>
              <a:ext uri="{FF2B5EF4-FFF2-40B4-BE49-F238E27FC236}">
                <a16:creationId xmlns:a16="http://schemas.microsoft.com/office/drawing/2014/main" id="{BC27FD3D-F567-FB2A-5C2B-939E4F38926E}"/>
              </a:ext>
            </a:extLst>
          </p:cNvPr>
          <p:cNvSpPr/>
          <p:nvPr/>
        </p:nvSpPr>
        <p:spPr>
          <a:xfrm>
            <a:off x="9550400" y="1803400"/>
            <a:ext cx="2133600" cy="19050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88649D5-5881-E899-0C16-07B64ECE4C21}"/>
              </a:ext>
            </a:extLst>
          </p:cNvPr>
          <p:cNvSpPr txBox="1"/>
          <p:nvPr/>
        </p:nvSpPr>
        <p:spPr>
          <a:xfrm>
            <a:off x="9702800" y="1955800"/>
            <a:ext cx="1828800" cy="1625600"/>
          </a:xfrm>
          <a:prstGeom prst="rect">
            <a:avLst/>
          </a:prstGeom>
          <a:noFill/>
        </p:spPr>
        <p:txBody>
          <a:bodyPr vert="horz" wrap="square" lIns="0" tIns="0" rIns="0" bIns="0" rtlCol="0" anchor="t">
            <a:noAutofit/>
          </a:bodyPr>
          <a:lstStyle/>
          <a:p>
            <a:pPr>
              <a:spcAft>
                <a:spcPts val="800"/>
              </a:spcAft>
            </a:pPr>
            <a:r>
              <a:rPr lang="en-US" sz="1300">
                <a:solidFill>
                  <a:srgbClr val="1F2937"/>
                </a:solidFill>
                <a:latin typeface="Calibri" panose="020F0502020204030204" pitchFamily="34" charset="0"/>
              </a:rPr>
              <a:t>The work is done and the team is released.</a:t>
            </a:r>
          </a:p>
          <a:p>
            <a:r>
              <a:rPr lang="en-US" sz="1300" b="1">
                <a:solidFill>
                  <a:srgbClr val="0F7C80"/>
                </a:solidFill>
                <a:latin typeface="Calibri" panose="020F0502020204030204" pitchFamily="34" charset="0"/>
              </a:rPr>
              <a:t>PM:</a:t>
            </a:r>
            <a:r>
              <a:rPr lang="en-US" sz="1300">
                <a:solidFill>
                  <a:srgbClr val="1F2937"/>
                </a:solidFill>
                <a:latin typeface="Calibri" panose="020F0502020204030204" pitchFamily="34" charset="0"/>
              </a:rPr>
              <a:t> recognize the team, capture lessons, release resources.</a:t>
            </a:r>
          </a:p>
        </p:txBody>
      </p:sp>
      <p:sp>
        <p:nvSpPr>
          <p:cNvPr id="19" name="Rectangle: Rounded Corners 18">
            <a:extLst>
              <a:ext uri="{FF2B5EF4-FFF2-40B4-BE49-F238E27FC236}">
                <a16:creationId xmlns:a16="http://schemas.microsoft.com/office/drawing/2014/main" id="{53844F7B-FA93-AF54-9F09-76845B063838}"/>
              </a:ext>
            </a:extLst>
          </p:cNvPr>
          <p:cNvSpPr/>
          <p:nvPr/>
        </p:nvSpPr>
        <p:spPr>
          <a:xfrm>
            <a:off x="508000" y="3860800"/>
            <a:ext cx="7112000" cy="14986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24BB354C-9179-BF2C-FF33-883B7CBE5A31}"/>
              </a:ext>
            </a:extLst>
          </p:cNvPr>
          <p:cNvSpPr txBox="1"/>
          <p:nvPr/>
        </p:nvSpPr>
        <p:spPr>
          <a:xfrm>
            <a:off x="685800" y="4038600"/>
            <a:ext cx="6756400" cy="1143000"/>
          </a:xfrm>
          <a:prstGeom prst="rect">
            <a:avLst/>
          </a:prstGeom>
          <a:noFill/>
        </p:spPr>
        <p:txBody>
          <a:bodyPr vert="horz" wrap="square" lIns="0" tIns="0" rIns="0" bIns="0" rtlCol="0" anchor="t">
            <a:noAutofit/>
          </a:bodyPr>
          <a:lstStyle/>
          <a:p>
            <a:pPr>
              <a:spcAft>
                <a:spcPts val="600"/>
              </a:spcAft>
            </a:pPr>
            <a:r>
              <a:rPr lang="en-US" sz="1500" b="1">
                <a:solidFill>
                  <a:srgbClr val="0F7C80"/>
                </a:solidFill>
                <a:latin typeface="Calibri" panose="020F0502020204030204" pitchFamily="34" charset="0"/>
              </a:rPr>
              <a:t>Team charter</a:t>
            </a:r>
          </a:p>
          <a:p>
            <a:r>
              <a:rPr lang="en-US" sz="1300">
                <a:solidFill>
                  <a:srgbClr val="1F2937"/>
                </a:solidFill>
                <a:latin typeface="Calibri" panose="020F0502020204030204" pitchFamily="34" charset="0"/>
              </a:rPr>
              <a:t>The team’s own agreement on how it works together: values, working agreements, ground rules, decision-making and conflict processes, and meeting norms. The team writes it; the project manager facilitates.</a:t>
            </a:r>
          </a:p>
        </p:txBody>
      </p:sp>
      <p:sp>
        <p:nvSpPr>
          <p:cNvPr id="21" name="Rectangle: Rounded Corners 20">
            <a:extLst>
              <a:ext uri="{FF2B5EF4-FFF2-40B4-BE49-F238E27FC236}">
                <a16:creationId xmlns:a16="http://schemas.microsoft.com/office/drawing/2014/main" id="{2242DDC3-4EC0-399E-124B-EE7340F6A376}"/>
              </a:ext>
            </a:extLst>
          </p:cNvPr>
          <p:cNvSpPr/>
          <p:nvPr/>
        </p:nvSpPr>
        <p:spPr>
          <a:xfrm>
            <a:off x="7874000" y="3860800"/>
            <a:ext cx="3810000" cy="14986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D3816187-A0F9-ED6B-6B91-AA990787C7DC}"/>
              </a:ext>
            </a:extLst>
          </p:cNvPr>
          <p:cNvSpPr txBox="1"/>
          <p:nvPr/>
        </p:nvSpPr>
        <p:spPr>
          <a:xfrm>
            <a:off x="8051800" y="4038600"/>
            <a:ext cx="3454400" cy="1143000"/>
          </a:xfrm>
          <a:prstGeom prst="rect">
            <a:avLst/>
          </a:prstGeom>
          <a:noFill/>
        </p:spPr>
        <p:txBody>
          <a:bodyPr vert="horz" wrap="square" lIns="0" tIns="0" rIns="0" bIns="0" rtlCol="0" anchor="t">
            <a:noAutofit/>
          </a:bodyPr>
          <a:lstStyle/>
          <a:p>
            <a:pPr>
              <a:spcAft>
                <a:spcPts val="600"/>
              </a:spcAft>
            </a:pPr>
            <a:r>
              <a:rPr lang="en-US" sz="1500" b="1">
                <a:solidFill>
                  <a:srgbClr val="A86F0E"/>
                </a:solidFill>
                <a:latin typeface="Calibri" panose="020F0502020204030204" pitchFamily="34" charset="0"/>
              </a:rPr>
              <a:t>Stages can repeat</a:t>
            </a:r>
          </a:p>
          <a:p>
            <a:r>
              <a:rPr lang="en-US" sz="1300">
                <a:solidFill>
                  <a:srgbClr val="1F2937"/>
                </a:solidFill>
                <a:latin typeface="Calibri" panose="020F0502020204030204" pitchFamily="34" charset="0"/>
              </a:rPr>
              <a:t>A new member, a new leader, or a major change can send a performing team back to storming.</a:t>
            </a:r>
          </a:p>
        </p:txBody>
      </p:sp>
      <p:sp>
        <p:nvSpPr>
          <p:cNvPr id="23" name="Rectangle: Rounded Corners 22">
            <a:extLst>
              <a:ext uri="{FF2B5EF4-FFF2-40B4-BE49-F238E27FC236}">
                <a16:creationId xmlns:a16="http://schemas.microsoft.com/office/drawing/2014/main" id="{575B5074-B44C-EF69-F71D-B695778D6DE9}"/>
              </a:ext>
            </a:extLst>
          </p:cNvPr>
          <p:cNvSpPr/>
          <p:nvPr/>
        </p:nvSpPr>
        <p:spPr>
          <a:xfrm>
            <a:off x="508000" y="5486400"/>
            <a:ext cx="11176000" cy="8382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C4AA4E64-F09D-2B34-5345-7AE0AED49DC9}"/>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storming is normal, so coach the team rather than replace people. Ground-rule violations are handled through the team charter: first by the team, then by the project manager.</a:t>
            </a:r>
          </a:p>
        </p:txBody>
      </p:sp>
      <p:sp>
        <p:nvSpPr>
          <p:cNvPr id="25" name="Footer">
            <a:extLst>
              <a:ext uri="{FF2B5EF4-FFF2-40B4-BE49-F238E27FC236}">
                <a16:creationId xmlns:a16="http://schemas.microsoft.com/office/drawing/2014/main" id="{291B67D6-0A93-60B3-A820-C2ECE8863893}"/>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Bruce Tuckman, ‘Developmental Sequence in Small Groups’ (1965); Tuckman and Jensen (1977); PMI, PMBOK® Guide — Sixth Edition, 9.1.3.2 and 9.4</a:t>
            </a:r>
          </a:p>
        </p:txBody>
      </p:sp>
      <p:sp>
        <p:nvSpPr>
          <p:cNvPr id="26" name="SlideNum">
            <a:extLst>
              <a:ext uri="{FF2B5EF4-FFF2-40B4-BE49-F238E27FC236}">
                <a16:creationId xmlns:a16="http://schemas.microsoft.com/office/drawing/2014/main" id="{0615962F-36BC-2610-1882-F3E89DF160B2}"/>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15</a:t>
            </a:r>
          </a:p>
        </p:txBody>
      </p:sp>
      <p:sp>
        <p:nvSpPr>
          <p:cNvPr id="27"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749573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D19059B-DC17-E27E-6473-8BD60E484022}"/>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Four stages of psychological safety</a:t>
            </a:r>
          </a:p>
        </p:txBody>
      </p:sp>
      <p:sp>
        <p:nvSpPr>
          <p:cNvPr id="3" name="Tag">
            <a:extLst>
              <a:ext uri="{FF2B5EF4-FFF2-40B4-BE49-F238E27FC236}">
                <a16:creationId xmlns:a16="http://schemas.microsoft.com/office/drawing/2014/main" id="{AF8AD388-1D31-E6EE-A4ED-585105AE7436}"/>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0F7C80"/>
                </a:solidFill>
                <a:latin typeface="Calibri" panose="020F0502020204030204" pitchFamily="34" charset="0"/>
              </a:rPr>
              <a:t>People deep dive · Supports People Task 3 · Lead the project team</a:t>
            </a:r>
          </a:p>
        </p:txBody>
      </p:sp>
      <p:sp>
        <p:nvSpPr>
          <p:cNvPr id="4" name="TextBox 3">
            <a:extLst>
              <a:ext uri="{FF2B5EF4-FFF2-40B4-BE49-F238E27FC236}">
                <a16:creationId xmlns:a16="http://schemas.microsoft.com/office/drawing/2014/main" id="{4BFC8DF3-6E6F-8EDC-29D9-FC4ED44D2BF3}"/>
              </a:ext>
            </a:extLst>
          </p:cNvPr>
          <p:cNvSpPr txBox="1"/>
          <p:nvPr/>
        </p:nvSpPr>
        <p:spPr>
          <a:xfrm>
            <a:off x="508000" y="1473200"/>
            <a:ext cx="5334000" cy="889000"/>
          </a:xfrm>
          <a:prstGeom prst="rect">
            <a:avLst/>
          </a:prstGeom>
          <a:noFill/>
        </p:spPr>
        <p:txBody>
          <a:bodyPr vert="horz" wrap="square" lIns="0" tIns="0" rIns="0" bIns="0" rtlCol="0" anchor="t">
            <a:noAutofit/>
          </a:bodyPr>
          <a:lstStyle/>
          <a:p>
            <a:r>
              <a:rPr lang="en-US" sz="1600">
                <a:solidFill>
                  <a:srgbClr val="1F2937"/>
                </a:solidFill>
                <a:latin typeface="Calibri" panose="020F0502020204030204" pitchFamily="34" charset="0"/>
              </a:rPr>
              <a:t>Each stage builds on the one before. Teams climb as both respect for people and permission to contribute grow.</a:t>
            </a:r>
          </a:p>
        </p:txBody>
      </p:sp>
      <p:sp>
        <p:nvSpPr>
          <p:cNvPr id="5" name="Rectangle 4">
            <a:extLst>
              <a:ext uri="{FF2B5EF4-FFF2-40B4-BE49-F238E27FC236}">
                <a16:creationId xmlns:a16="http://schemas.microsoft.com/office/drawing/2014/main" id="{A0B93753-CC89-E13D-4FDF-B25F243895CF}"/>
              </a:ext>
            </a:extLst>
          </p:cNvPr>
          <p:cNvSpPr/>
          <p:nvPr/>
        </p:nvSpPr>
        <p:spPr>
          <a:xfrm>
            <a:off x="508000" y="3810000"/>
            <a:ext cx="2603500" cy="2413000"/>
          </a:xfrm>
          <a:prstGeom prst="rect">
            <a:avLst/>
          </a:prstGeom>
          <a:solidFill>
            <a:srgbClr val="3E9A9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169136A-9C18-4169-E29E-B0CC27BD03BD}"/>
              </a:ext>
            </a:extLst>
          </p:cNvPr>
          <p:cNvSpPr txBox="1"/>
          <p:nvPr/>
        </p:nvSpPr>
        <p:spPr>
          <a:xfrm>
            <a:off x="685800" y="3962400"/>
            <a:ext cx="2247900" cy="2159000"/>
          </a:xfrm>
          <a:prstGeom prst="rect">
            <a:avLst/>
          </a:prstGeom>
          <a:noFill/>
        </p:spPr>
        <p:txBody>
          <a:bodyPr vert="horz" wrap="square" lIns="0" tIns="0" rIns="0" bIns="0" rtlCol="0" anchor="t">
            <a:noAutofit/>
          </a:bodyPr>
          <a:lstStyle/>
          <a:p>
            <a:r>
              <a:rPr lang="en-US" sz="1100" b="1">
                <a:solidFill>
                  <a:srgbClr val="CFE6E6"/>
                </a:solidFill>
                <a:latin typeface="Calibri" panose="020F0502020204030204" pitchFamily="34" charset="0"/>
              </a:rPr>
              <a:t>STAGE 1</a:t>
            </a:r>
          </a:p>
          <a:p>
            <a:r>
              <a:rPr lang="en-US" sz="1900" b="1">
                <a:solidFill>
                  <a:srgbClr val="FFFFFF"/>
                </a:solidFill>
                <a:latin typeface="Calibri" panose="020F0502020204030204" pitchFamily="34" charset="0"/>
              </a:rPr>
              <a:t>Inclusion safety</a:t>
            </a:r>
          </a:p>
          <a:p>
            <a:pPr>
              <a:spcAft>
                <a:spcPts val="600"/>
              </a:spcAft>
            </a:pPr>
            <a:r>
              <a:rPr lang="en-US" sz="1500" i="1">
                <a:solidFill>
                  <a:srgbClr val="FFFFFF"/>
                </a:solidFill>
                <a:latin typeface="Calibri" panose="020F0502020204030204" pitchFamily="34" charset="0"/>
              </a:rPr>
              <a:t>Safe to be yourself</a:t>
            </a:r>
          </a:p>
          <a:p>
            <a:r>
              <a:rPr lang="en-US" sz="1400">
                <a:solidFill>
                  <a:srgbClr val="FFFFFF"/>
                </a:solidFill>
                <a:latin typeface="Calibri" panose="020F0502020204030204" pitchFamily="34" charset="0"/>
              </a:rPr>
              <a:t>Secure bringing your true self to work, knowing you’re accepted and valued as part of the team.</a:t>
            </a:r>
          </a:p>
        </p:txBody>
      </p:sp>
      <p:sp>
        <p:nvSpPr>
          <p:cNvPr id="7" name="Rectangle 6">
            <a:extLst>
              <a:ext uri="{FF2B5EF4-FFF2-40B4-BE49-F238E27FC236}">
                <a16:creationId xmlns:a16="http://schemas.microsoft.com/office/drawing/2014/main" id="{21DE4262-EACA-E781-C7E1-B85A99944558}"/>
              </a:ext>
            </a:extLst>
          </p:cNvPr>
          <p:cNvSpPr/>
          <p:nvPr/>
        </p:nvSpPr>
        <p:spPr>
          <a:xfrm>
            <a:off x="3302000" y="3048000"/>
            <a:ext cx="2603500" cy="3175000"/>
          </a:xfrm>
          <a:prstGeom prst="rect">
            <a:avLst/>
          </a:prstGeom>
          <a:solidFill>
            <a:srgbClr val="1F868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29A981A-CF7B-750D-AEB9-592374089BF1}"/>
              </a:ext>
            </a:extLst>
          </p:cNvPr>
          <p:cNvSpPr txBox="1"/>
          <p:nvPr/>
        </p:nvSpPr>
        <p:spPr>
          <a:xfrm>
            <a:off x="3479800" y="3200400"/>
            <a:ext cx="2247900" cy="2921000"/>
          </a:xfrm>
          <a:prstGeom prst="rect">
            <a:avLst/>
          </a:prstGeom>
          <a:noFill/>
        </p:spPr>
        <p:txBody>
          <a:bodyPr vert="horz" wrap="square" lIns="0" tIns="0" rIns="0" bIns="0" rtlCol="0" anchor="t">
            <a:noAutofit/>
          </a:bodyPr>
          <a:lstStyle/>
          <a:p>
            <a:r>
              <a:rPr lang="en-US" sz="1100" b="1">
                <a:solidFill>
                  <a:srgbClr val="CFE6E6"/>
                </a:solidFill>
                <a:latin typeface="Calibri" panose="020F0502020204030204" pitchFamily="34" charset="0"/>
              </a:rPr>
              <a:t>STAGE 2</a:t>
            </a:r>
          </a:p>
          <a:p>
            <a:r>
              <a:rPr lang="en-US" sz="1900" b="1">
                <a:solidFill>
                  <a:srgbClr val="FFFFFF"/>
                </a:solidFill>
                <a:latin typeface="Calibri" panose="020F0502020204030204" pitchFamily="34" charset="0"/>
              </a:rPr>
              <a:t>Learner safety</a:t>
            </a:r>
          </a:p>
          <a:p>
            <a:pPr>
              <a:spcAft>
                <a:spcPts val="600"/>
              </a:spcAft>
            </a:pPr>
            <a:r>
              <a:rPr lang="en-US" sz="1500" i="1">
                <a:solidFill>
                  <a:srgbClr val="FFFFFF"/>
                </a:solidFill>
                <a:latin typeface="Calibri" panose="020F0502020204030204" pitchFamily="34" charset="0"/>
              </a:rPr>
              <a:t>Safe to learn</a:t>
            </a:r>
          </a:p>
          <a:p>
            <a:r>
              <a:rPr lang="en-US" sz="1400">
                <a:solidFill>
                  <a:srgbClr val="FFFFFF"/>
                </a:solidFill>
                <a:latin typeface="Calibri" panose="020F0502020204030204" pitchFamily="34" charset="0"/>
              </a:rPr>
              <a:t>Comfortable asking questions, experimenting, and learning without fear of judgment.</a:t>
            </a:r>
          </a:p>
        </p:txBody>
      </p:sp>
      <p:sp>
        <p:nvSpPr>
          <p:cNvPr id="9" name="Rectangle 8">
            <a:extLst>
              <a:ext uri="{FF2B5EF4-FFF2-40B4-BE49-F238E27FC236}">
                <a16:creationId xmlns:a16="http://schemas.microsoft.com/office/drawing/2014/main" id="{A2D88C24-4BDF-F790-626B-6FFCBEE6A600}"/>
              </a:ext>
            </a:extLst>
          </p:cNvPr>
          <p:cNvSpPr/>
          <p:nvPr/>
        </p:nvSpPr>
        <p:spPr>
          <a:xfrm>
            <a:off x="6096000" y="2286000"/>
            <a:ext cx="2603500" cy="3937000"/>
          </a:xfrm>
          <a:prstGeom prst="rect">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5CE5B95-2F29-C3B2-C0CC-12269D8593F4}"/>
              </a:ext>
            </a:extLst>
          </p:cNvPr>
          <p:cNvSpPr txBox="1"/>
          <p:nvPr/>
        </p:nvSpPr>
        <p:spPr>
          <a:xfrm>
            <a:off x="6273800" y="2438400"/>
            <a:ext cx="2247900" cy="3683000"/>
          </a:xfrm>
          <a:prstGeom prst="rect">
            <a:avLst/>
          </a:prstGeom>
          <a:noFill/>
        </p:spPr>
        <p:txBody>
          <a:bodyPr vert="horz" wrap="square" lIns="0" tIns="0" rIns="0" bIns="0" rtlCol="0" anchor="t">
            <a:noAutofit/>
          </a:bodyPr>
          <a:lstStyle/>
          <a:p>
            <a:r>
              <a:rPr lang="en-US" sz="1100" b="1">
                <a:solidFill>
                  <a:srgbClr val="CFE6E6"/>
                </a:solidFill>
                <a:latin typeface="Calibri" panose="020F0502020204030204" pitchFamily="34" charset="0"/>
              </a:rPr>
              <a:t>STAGE 3</a:t>
            </a:r>
          </a:p>
          <a:p>
            <a:r>
              <a:rPr lang="en-US" sz="1900" b="1">
                <a:solidFill>
                  <a:srgbClr val="FFFFFF"/>
                </a:solidFill>
                <a:latin typeface="Calibri" panose="020F0502020204030204" pitchFamily="34" charset="0"/>
              </a:rPr>
              <a:t>Contributor safety</a:t>
            </a:r>
          </a:p>
          <a:p>
            <a:pPr>
              <a:spcAft>
                <a:spcPts val="600"/>
              </a:spcAft>
            </a:pPr>
            <a:r>
              <a:rPr lang="en-US" sz="1500" i="1">
                <a:solidFill>
                  <a:srgbClr val="FFFFFF"/>
                </a:solidFill>
                <a:latin typeface="Calibri" panose="020F0502020204030204" pitchFamily="34" charset="0"/>
              </a:rPr>
              <a:t>Safe to contribute</a:t>
            </a:r>
          </a:p>
          <a:p>
            <a:r>
              <a:rPr lang="en-US" sz="1400">
                <a:solidFill>
                  <a:srgbClr val="FFFFFF"/>
                </a:solidFill>
                <a:latin typeface="Calibri" panose="020F0502020204030204" pitchFamily="34" charset="0"/>
              </a:rPr>
              <a:t>Confident sharing your ideas, knowing all perspectives are valued and respected.</a:t>
            </a:r>
          </a:p>
        </p:txBody>
      </p:sp>
      <p:sp>
        <p:nvSpPr>
          <p:cNvPr id="11" name="Rectangle 10">
            <a:extLst>
              <a:ext uri="{FF2B5EF4-FFF2-40B4-BE49-F238E27FC236}">
                <a16:creationId xmlns:a16="http://schemas.microsoft.com/office/drawing/2014/main" id="{BAC76728-4C8D-6B52-67D1-19B76C4F22FC}"/>
              </a:ext>
            </a:extLst>
          </p:cNvPr>
          <p:cNvSpPr/>
          <p:nvPr/>
        </p:nvSpPr>
        <p:spPr>
          <a:xfrm>
            <a:off x="8890000" y="1524000"/>
            <a:ext cx="2603500" cy="4699000"/>
          </a:xfrm>
          <a:prstGeom prst="rect">
            <a:avLst/>
          </a:prstGeom>
          <a:solidFill>
            <a:srgbClr val="0B5E6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5036E29-9F51-3E0E-2A35-041D7D6034A0}"/>
              </a:ext>
            </a:extLst>
          </p:cNvPr>
          <p:cNvSpPr txBox="1"/>
          <p:nvPr/>
        </p:nvSpPr>
        <p:spPr>
          <a:xfrm>
            <a:off x="9067800" y="1676400"/>
            <a:ext cx="2247900" cy="4445000"/>
          </a:xfrm>
          <a:prstGeom prst="rect">
            <a:avLst/>
          </a:prstGeom>
          <a:noFill/>
        </p:spPr>
        <p:txBody>
          <a:bodyPr vert="horz" wrap="square" lIns="0" tIns="0" rIns="0" bIns="0" rtlCol="0" anchor="t">
            <a:noAutofit/>
          </a:bodyPr>
          <a:lstStyle/>
          <a:p>
            <a:r>
              <a:rPr lang="en-US" sz="1100" b="1">
                <a:solidFill>
                  <a:srgbClr val="CFE6E6"/>
                </a:solidFill>
                <a:latin typeface="Calibri" panose="020F0502020204030204" pitchFamily="34" charset="0"/>
              </a:rPr>
              <a:t>STAGE 4</a:t>
            </a:r>
          </a:p>
          <a:p>
            <a:r>
              <a:rPr lang="en-US" sz="1900" b="1">
                <a:solidFill>
                  <a:srgbClr val="FFFFFF"/>
                </a:solidFill>
                <a:latin typeface="Calibri" panose="020F0502020204030204" pitchFamily="34" charset="0"/>
              </a:rPr>
              <a:t>Challenger safety</a:t>
            </a:r>
          </a:p>
          <a:p>
            <a:pPr>
              <a:spcAft>
                <a:spcPts val="600"/>
              </a:spcAft>
            </a:pPr>
            <a:r>
              <a:rPr lang="en-US" sz="1500" i="1">
                <a:solidFill>
                  <a:srgbClr val="FFFFFF"/>
                </a:solidFill>
                <a:latin typeface="Calibri" panose="020F0502020204030204" pitchFamily="34" charset="0"/>
              </a:rPr>
              <a:t>Safe to challenge</a:t>
            </a:r>
          </a:p>
          <a:p>
            <a:r>
              <a:rPr lang="en-US" sz="1400">
                <a:solidFill>
                  <a:srgbClr val="FFFFFF"/>
                </a:solidFill>
                <a:latin typeface="Calibri" panose="020F0502020204030204" pitchFamily="34" charset="0"/>
              </a:rPr>
              <a:t>Empowered to question the status quo and suggest changes without fear of negative consequences.</a:t>
            </a:r>
          </a:p>
        </p:txBody>
      </p:sp>
      <p:sp>
        <p:nvSpPr>
          <p:cNvPr id="13" name="Footer">
            <a:extLst>
              <a:ext uri="{FF2B5EF4-FFF2-40B4-BE49-F238E27FC236}">
                <a16:creationId xmlns:a16="http://schemas.microsoft.com/office/drawing/2014/main" id="{DB4A2317-D4D7-C9EC-B1AF-CDC1A8E2DA03}"/>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Timothy R. Clark, The 4 Stages of Psychological Safety (2020)</a:t>
            </a:r>
          </a:p>
        </p:txBody>
      </p:sp>
      <p:sp>
        <p:nvSpPr>
          <p:cNvPr id="14" name="SlideNum">
            <a:extLst>
              <a:ext uri="{FF2B5EF4-FFF2-40B4-BE49-F238E27FC236}">
                <a16:creationId xmlns:a16="http://schemas.microsoft.com/office/drawing/2014/main" id="{D8EC79AB-F53E-3DC6-FED5-3443E34648A4}"/>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16</a:t>
            </a:r>
          </a:p>
        </p:txBody>
      </p:sp>
      <p:sp>
        <p:nvSpPr>
          <p:cNvPr id="15"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912931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9469358-290E-039C-201C-F1274E057C77}"/>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Roles and motivation: RACI, Maslow, McGregor</a:t>
            </a:r>
          </a:p>
        </p:txBody>
      </p:sp>
      <p:sp>
        <p:nvSpPr>
          <p:cNvPr id="3" name="Tag">
            <a:extLst>
              <a:ext uri="{FF2B5EF4-FFF2-40B4-BE49-F238E27FC236}">
                <a16:creationId xmlns:a16="http://schemas.microsoft.com/office/drawing/2014/main" id="{68B97ACA-8D7D-0077-D82B-216590B02A93}"/>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0F7C80"/>
                </a:solidFill>
                <a:latin typeface="Calibri" panose="020F0502020204030204" pitchFamily="34" charset="0"/>
              </a:rPr>
              <a:t>People deep dive · Supports People Task 3 (Lead the project team: clear roles; motivation)</a:t>
            </a:r>
          </a:p>
        </p:txBody>
      </p:sp>
      <p:sp>
        <p:nvSpPr>
          <p:cNvPr id="4" name="TextBox 3">
            <a:extLst>
              <a:ext uri="{FF2B5EF4-FFF2-40B4-BE49-F238E27FC236}">
                <a16:creationId xmlns:a16="http://schemas.microsoft.com/office/drawing/2014/main" id="{54F62628-F63E-BBF2-8183-49645210B6C3}"/>
              </a:ext>
            </a:extLst>
          </p:cNvPr>
          <p:cNvSpPr txBox="1"/>
          <p:nvPr/>
        </p:nvSpPr>
        <p:spPr>
          <a:xfrm>
            <a:off x="508000" y="1320800"/>
            <a:ext cx="5461000" cy="228600"/>
          </a:xfrm>
          <a:prstGeom prst="rect">
            <a:avLst/>
          </a:prstGeom>
          <a:noFill/>
        </p:spPr>
        <p:txBody>
          <a:bodyPr vert="horz" wrap="square" lIns="0" tIns="0" rIns="0" bIns="0" rtlCol="0" anchor="t">
            <a:noAutofit/>
          </a:bodyPr>
          <a:lstStyle/>
          <a:p>
            <a:r>
              <a:rPr lang="en-US" sz="1400" b="1">
                <a:solidFill>
                  <a:srgbClr val="0F7C80"/>
                </a:solidFill>
                <a:latin typeface="Calibri" panose="020F0502020204030204" pitchFamily="34" charset="0"/>
              </a:rPr>
              <a:t>Responsibility assignment matrix (RACI)</a:t>
            </a:r>
          </a:p>
        </p:txBody>
      </p:sp>
      <p:graphicFrame>
        <p:nvGraphicFramePr>
          <p:cNvPr id="5" name="Table">
            <a:extLst>
              <a:ext uri="{FF2B5EF4-FFF2-40B4-BE49-F238E27FC236}">
                <a16:creationId xmlns:a16="http://schemas.microsoft.com/office/drawing/2014/main" id="{0E64C8A6-A47F-4D74-4C09-EFB735B5CCB1}"/>
              </a:ext>
            </a:extLst>
          </p:cNvPr>
          <p:cNvGraphicFramePr>
            <a:graphicFrameLocks noGrp="1"/>
          </p:cNvGraphicFramePr>
          <p:nvPr>
            <p:extLst>
              <p:ext uri="{D42A27DB-BD31-4B8C-83A1-F6EECF244321}">
                <p14:modId xmlns:p14="http://schemas.microsoft.com/office/powerpoint/2010/main" val="2500045457"/>
              </p:ext>
            </p:extLst>
          </p:nvPr>
        </p:nvGraphicFramePr>
        <p:xfrm>
          <a:off x="508000" y="1600200"/>
          <a:ext cx="5461000" cy="1524000"/>
        </p:xfrm>
        <a:graphic>
          <a:graphicData uri="http://schemas.openxmlformats.org/drawingml/2006/table">
            <a:tbl>
              <a:tblPr firstRow="1" bandRow="1">
                <a:tableStyleId>{2D5ABB26-0587-4C30-8999-92F81FD0307C}</a:tableStyleId>
              </a:tblPr>
              <a:tblGrid>
                <a:gridCol w="1676400">
                  <a:extLst>
                    <a:ext uri="{9D8B030D-6E8A-4147-A177-3AD203B41FA5}">
                      <a16:colId xmlns:a16="http://schemas.microsoft.com/office/drawing/2014/main" val="744952120"/>
                    </a:ext>
                  </a:extLst>
                </a:gridCol>
                <a:gridCol w="812800">
                  <a:extLst>
                    <a:ext uri="{9D8B030D-6E8A-4147-A177-3AD203B41FA5}">
                      <a16:colId xmlns:a16="http://schemas.microsoft.com/office/drawing/2014/main" val="2443568893"/>
                    </a:ext>
                  </a:extLst>
                </a:gridCol>
                <a:gridCol w="914400">
                  <a:extLst>
                    <a:ext uri="{9D8B030D-6E8A-4147-A177-3AD203B41FA5}">
                      <a16:colId xmlns:a16="http://schemas.microsoft.com/office/drawing/2014/main" val="785949956"/>
                    </a:ext>
                  </a:extLst>
                </a:gridCol>
                <a:gridCol w="1168400">
                  <a:extLst>
                    <a:ext uri="{9D8B030D-6E8A-4147-A177-3AD203B41FA5}">
                      <a16:colId xmlns:a16="http://schemas.microsoft.com/office/drawing/2014/main" val="2202157854"/>
                    </a:ext>
                  </a:extLst>
                </a:gridCol>
                <a:gridCol w="889000">
                  <a:extLst>
                    <a:ext uri="{9D8B030D-6E8A-4147-A177-3AD203B41FA5}">
                      <a16:colId xmlns:a16="http://schemas.microsoft.com/office/drawing/2014/main" val="935044600"/>
                    </a:ext>
                  </a:extLst>
                </a:gridCol>
              </a:tblGrid>
              <a:tr h="381000">
                <a:tc>
                  <a:txBody>
                    <a:bodyPr/>
                    <a:lstStyle/>
                    <a:p>
                      <a:r>
                        <a:rPr lang="en-US" sz="1300" b="1">
                          <a:solidFill>
                            <a:srgbClr val="FFFFFF"/>
                          </a:solidFill>
                          <a:latin typeface="Calibri" panose="020F0502020204030204" pitchFamily="34" charset="0"/>
                        </a:rPr>
                        <a:t>Activity</a:t>
                      </a:r>
                    </a:p>
                  </a:txBody>
                  <a:tcPr marL="127000" marR="101600" marT="63500" marB="63500" anchor="ctr">
                    <a:solidFill>
                      <a:srgbClr val="14213D"/>
                    </a:solidFill>
                  </a:tcPr>
                </a:tc>
                <a:tc>
                  <a:txBody>
                    <a:bodyPr/>
                    <a:lstStyle/>
                    <a:p>
                      <a:pPr algn="ctr"/>
                      <a:r>
                        <a:rPr lang="en-US" sz="1300" b="1">
                          <a:solidFill>
                            <a:srgbClr val="FFFFFF"/>
                          </a:solidFill>
                          <a:latin typeface="Calibri" panose="020F0502020204030204" pitchFamily="34" charset="0"/>
                        </a:rPr>
                        <a:t>PM</a:t>
                      </a:r>
                    </a:p>
                  </a:txBody>
                  <a:tcPr marL="127000" marR="101600" marT="63500" marB="63500" anchor="ctr">
                    <a:solidFill>
                      <a:srgbClr val="14213D"/>
                    </a:solidFill>
                  </a:tcPr>
                </a:tc>
                <a:tc>
                  <a:txBody>
                    <a:bodyPr/>
                    <a:lstStyle/>
                    <a:p>
                      <a:pPr algn="ctr"/>
                      <a:r>
                        <a:rPr lang="en-US" sz="1300" b="1">
                          <a:solidFill>
                            <a:srgbClr val="FFFFFF"/>
                          </a:solidFill>
                          <a:latin typeface="Calibri" panose="020F0502020204030204" pitchFamily="34" charset="0"/>
                        </a:rPr>
                        <a:t>Analyst</a:t>
                      </a:r>
                    </a:p>
                  </a:txBody>
                  <a:tcPr marL="127000" marR="101600" marT="63500" marB="63500" anchor="ctr">
                    <a:solidFill>
                      <a:srgbClr val="14213D"/>
                    </a:solidFill>
                  </a:tcPr>
                </a:tc>
                <a:tc>
                  <a:txBody>
                    <a:bodyPr/>
                    <a:lstStyle/>
                    <a:p>
                      <a:pPr algn="ctr"/>
                      <a:r>
                        <a:rPr lang="en-US" sz="1300" b="1">
                          <a:solidFill>
                            <a:srgbClr val="FFFFFF"/>
                          </a:solidFill>
                          <a:latin typeface="Calibri" panose="020F0502020204030204" pitchFamily="34" charset="0"/>
                        </a:rPr>
                        <a:t>Developer</a:t>
                      </a:r>
                    </a:p>
                  </a:txBody>
                  <a:tcPr marL="127000" marR="101600" marT="63500" marB="63500" anchor="ctr">
                    <a:solidFill>
                      <a:srgbClr val="14213D"/>
                    </a:solidFill>
                  </a:tcPr>
                </a:tc>
                <a:tc>
                  <a:txBody>
                    <a:bodyPr/>
                    <a:lstStyle/>
                    <a:p>
                      <a:pPr algn="ctr"/>
                      <a:r>
                        <a:rPr lang="en-US" sz="1300" b="1">
                          <a:solidFill>
                            <a:srgbClr val="FFFFFF"/>
                          </a:solidFill>
                          <a:latin typeface="Calibri" panose="020F0502020204030204" pitchFamily="34" charset="0"/>
                        </a:rPr>
                        <a:t>Sponsor</a:t>
                      </a:r>
                    </a:p>
                  </a:txBody>
                  <a:tcPr marL="127000" marR="101600" marT="63500" marB="63500" anchor="ctr">
                    <a:solidFill>
                      <a:srgbClr val="14213D"/>
                    </a:solidFill>
                  </a:tcPr>
                </a:tc>
                <a:extLst>
                  <a:ext uri="{0D108BD9-81ED-4DB2-BD59-A6C34878D82A}">
                    <a16:rowId xmlns:a16="http://schemas.microsoft.com/office/drawing/2014/main" val="689239098"/>
                  </a:ext>
                </a:extLst>
              </a:tr>
              <a:tr h="381000">
                <a:tc>
                  <a:txBody>
                    <a:bodyPr/>
                    <a:lstStyle/>
                    <a:p>
                      <a:r>
                        <a:rPr lang="en-US" sz="1300" b="1">
                          <a:solidFill>
                            <a:srgbClr val="14213D"/>
                          </a:solidFill>
                          <a:latin typeface="Calibri" panose="020F0502020204030204" pitchFamily="34" charset="0"/>
                        </a:rPr>
                        <a:t>Gather requirements</a:t>
                      </a:r>
                    </a:p>
                  </a:txBody>
                  <a:tcPr marL="127000" marR="101600" marT="63500" marB="63500" anchor="ctr">
                    <a:solidFill>
                      <a:srgbClr val="FFFFFF"/>
                    </a:solidFill>
                  </a:tcPr>
                </a:tc>
                <a:tc>
                  <a:txBody>
                    <a:bodyPr/>
                    <a:lstStyle/>
                    <a:p>
                      <a:pPr algn="ctr"/>
                      <a:r>
                        <a:rPr lang="en-US" sz="1300">
                          <a:solidFill>
                            <a:srgbClr val="1F2937"/>
                          </a:solidFill>
                          <a:latin typeface="Calibri" panose="020F0502020204030204" pitchFamily="34" charset="0"/>
                        </a:rPr>
                        <a:t>A</a:t>
                      </a:r>
                    </a:p>
                  </a:txBody>
                  <a:tcPr marL="127000" marR="101600" marT="63500" marB="63500" anchor="ctr">
                    <a:solidFill>
                      <a:srgbClr val="FFFFFF"/>
                    </a:solidFill>
                  </a:tcPr>
                </a:tc>
                <a:tc>
                  <a:txBody>
                    <a:bodyPr/>
                    <a:lstStyle/>
                    <a:p>
                      <a:pPr algn="ctr"/>
                      <a:r>
                        <a:rPr lang="en-US" sz="1300">
                          <a:solidFill>
                            <a:srgbClr val="1F2937"/>
                          </a:solidFill>
                          <a:latin typeface="Calibri" panose="020F0502020204030204" pitchFamily="34" charset="0"/>
                        </a:rPr>
                        <a:t>R</a:t>
                      </a:r>
                    </a:p>
                  </a:txBody>
                  <a:tcPr marL="127000" marR="101600" marT="63500" marB="63500" anchor="ctr">
                    <a:solidFill>
                      <a:srgbClr val="FFFFFF"/>
                    </a:solidFill>
                  </a:tcPr>
                </a:tc>
                <a:tc>
                  <a:txBody>
                    <a:bodyPr/>
                    <a:lstStyle/>
                    <a:p>
                      <a:pPr algn="ctr"/>
                      <a:r>
                        <a:rPr lang="en-US" sz="1300">
                          <a:solidFill>
                            <a:srgbClr val="1F2937"/>
                          </a:solidFill>
                          <a:latin typeface="Calibri" panose="020F0502020204030204" pitchFamily="34" charset="0"/>
                        </a:rPr>
                        <a:t>C</a:t>
                      </a:r>
                    </a:p>
                  </a:txBody>
                  <a:tcPr marL="127000" marR="101600" marT="63500" marB="63500" anchor="ctr">
                    <a:solidFill>
                      <a:srgbClr val="FFFFFF"/>
                    </a:solidFill>
                  </a:tcPr>
                </a:tc>
                <a:tc>
                  <a:txBody>
                    <a:bodyPr/>
                    <a:lstStyle/>
                    <a:p>
                      <a:pPr algn="ctr"/>
                      <a:r>
                        <a:rPr lang="en-US" sz="1300">
                          <a:solidFill>
                            <a:srgbClr val="1F2937"/>
                          </a:solidFill>
                          <a:latin typeface="Calibri" panose="020F0502020204030204" pitchFamily="34" charset="0"/>
                        </a:rPr>
                        <a:t>I</a:t>
                      </a:r>
                    </a:p>
                  </a:txBody>
                  <a:tcPr marL="127000" marR="101600" marT="63500" marB="63500" anchor="ctr">
                    <a:solidFill>
                      <a:srgbClr val="FFFFFF"/>
                    </a:solidFill>
                  </a:tcPr>
                </a:tc>
                <a:extLst>
                  <a:ext uri="{0D108BD9-81ED-4DB2-BD59-A6C34878D82A}">
                    <a16:rowId xmlns:a16="http://schemas.microsoft.com/office/drawing/2014/main" val="1033334363"/>
                  </a:ext>
                </a:extLst>
              </a:tr>
              <a:tr h="381000">
                <a:tc>
                  <a:txBody>
                    <a:bodyPr/>
                    <a:lstStyle/>
                    <a:p>
                      <a:r>
                        <a:rPr lang="en-US" sz="1300" b="1">
                          <a:solidFill>
                            <a:srgbClr val="14213D"/>
                          </a:solidFill>
                          <a:latin typeface="Calibri" panose="020F0502020204030204" pitchFamily="34" charset="0"/>
                        </a:rPr>
                        <a:t>Build the solution</a:t>
                      </a:r>
                    </a:p>
                  </a:txBody>
                  <a:tcPr marL="127000" marR="101600" marT="63500" marB="63500" anchor="ctr">
                    <a:solidFill>
                      <a:srgbClr val="F3F5F8"/>
                    </a:solidFill>
                  </a:tcPr>
                </a:tc>
                <a:tc>
                  <a:txBody>
                    <a:bodyPr/>
                    <a:lstStyle/>
                    <a:p>
                      <a:pPr algn="ctr"/>
                      <a:r>
                        <a:rPr lang="en-US" sz="1300">
                          <a:solidFill>
                            <a:srgbClr val="1F2937"/>
                          </a:solidFill>
                          <a:latin typeface="Calibri" panose="020F0502020204030204" pitchFamily="34" charset="0"/>
                        </a:rPr>
                        <a:t>A</a:t>
                      </a:r>
                    </a:p>
                  </a:txBody>
                  <a:tcPr marL="127000" marR="101600" marT="63500" marB="63500" anchor="ctr">
                    <a:solidFill>
                      <a:srgbClr val="F3F5F8"/>
                    </a:solidFill>
                  </a:tcPr>
                </a:tc>
                <a:tc>
                  <a:txBody>
                    <a:bodyPr/>
                    <a:lstStyle/>
                    <a:p>
                      <a:pPr algn="ctr"/>
                      <a:r>
                        <a:rPr lang="en-US" sz="1300">
                          <a:solidFill>
                            <a:srgbClr val="1F2937"/>
                          </a:solidFill>
                          <a:latin typeface="Calibri" panose="020F0502020204030204" pitchFamily="34" charset="0"/>
                        </a:rPr>
                        <a:t>C</a:t>
                      </a:r>
                    </a:p>
                  </a:txBody>
                  <a:tcPr marL="127000" marR="101600" marT="63500" marB="63500" anchor="ctr">
                    <a:solidFill>
                      <a:srgbClr val="F3F5F8"/>
                    </a:solidFill>
                  </a:tcPr>
                </a:tc>
                <a:tc>
                  <a:txBody>
                    <a:bodyPr/>
                    <a:lstStyle/>
                    <a:p>
                      <a:pPr algn="ctr"/>
                      <a:r>
                        <a:rPr lang="en-US" sz="1300">
                          <a:solidFill>
                            <a:srgbClr val="1F2937"/>
                          </a:solidFill>
                          <a:latin typeface="Calibri" panose="020F0502020204030204" pitchFamily="34" charset="0"/>
                        </a:rPr>
                        <a:t>R</a:t>
                      </a:r>
                    </a:p>
                  </a:txBody>
                  <a:tcPr marL="127000" marR="101600" marT="63500" marB="63500" anchor="ctr">
                    <a:solidFill>
                      <a:srgbClr val="F3F5F8"/>
                    </a:solidFill>
                  </a:tcPr>
                </a:tc>
                <a:tc>
                  <a:txBody>
                    <a:bodyPr/>
                    <a:lstStyle/>
                    <a:p>
                      <a:pPr algn="ctr"/>
                      <a:r>
                        <a:rPr lang="en-US" sz="1300">
                          <a:solidFill>
                            <a:srgbClr val="1F2937"/>
                          </a:solidFill>
                          <a:latin typeface="Calibri" panose="020F0502020204030204" pitchFamily="34" charset="0"/>
                        </a:rPr>
                        <a:t>I</a:t>
                      </a:r>
                    </a:p>
                  </a:txBody>
                  <a:tcPr marL="127000" marR="101600" marT="63500" marB="63500" anchor="ctr">
                    <a:solidFill>
                      <a:srgbClr val="F3F5F8"/>
                    </a:solidFill>
                  </a:tcPr>
                </a:tc>
                <a:extLst>
                  <a:ext uri="{0D108BD9-81ED-4DB2-BD59-A6C34878D82A}">
                    <a16:rowId xmlns:a16="http://schemas.microsoft.com/office/drawing/2014/main" val="1927873813"/>
                  </a:ext>
                </a:extLst>
              </a:tr>
              <a:tr h="381000">
                <a:tc>
                  <a:txBody>
                    <a:bodyPr/>
                    <a:lstStyle/>
                    <a:p>
                      <a:r>
                        <a:rPr lang="en-US" sz="1300" b="1">
                          <a:solidFill>
                            <a:srgbClr val="14213D"/>
                          </a:solidFill>
                          <a:latin typeface="Calibri" panose="020F0502020204030204" pitchFamily="34" charset="0"/>
                        </a:rPr>
                        <a:t>Approve the release</a:t>
                      </a:r>
                    </a:p>
                  </a:txBody>
                  <a:tcPr marL="127000" marR="101600" marT="63500" marB="63500" anchor="ctr">
                    <a:solidFill>
                      <a:srgbClr val="FFFFFF"/>
                    </a:solidFill>
                  </a:tcPr>
                </a:tc>
                <a:tc>
                  <a:txBody>
                    <a:bodyPr/>
                    <a:lstStyle/>
                    <a:p>
                      <a:pPr algn="ctr"/>
                      <a:r>
                        <a:rPr lang="en-US" sz="1300">
                          <a:solidFill>
                            <a:srgbClr val="1F2937"/>
                          </a:solidFill>
                          <a:latin typeface="Calibri" panose="020F0502020204030204" pitchFamily="34" charset="0"/>
                        </a:rPr>
                        <a:t>R</a:t>
                      </a:r>
                    </a:p>
                  </a:txBody>
                  <a:tcPr marL="127000" marR="101600" marT="63500" marB="63500" anchor="ctr">
                    <a:solidFill>
                      <a:srgbClr val="FFFFFF"/>
                    </a:solidFill>
                  </a:tcPr>
                </a:tc>
                <a:tc>
                  <a:txBody>
                    <a:bodyPr/>
                    <a:lstStyle/>
                    <a:p>
                      <a:pPr algn="ctr"/>
                      <a:r>
                        <a:rPr lang="en-US" sz="1300">
                          <a:solidFill>
                            <a:srgbClr val="1F2937"/>
                          </a:solidFill>
                          <a:latin typeface="Calibri" panose="020F0502020204030204" pitchFamily="34" charset="0"/>
                        </a:rPr>
                        <a:t>I</a:t>
                      </a:r>
                    </a:p>
                  </a:txBody>
                  <a:tcPr marL="127000" marR="101600" marT="63500" marB="63500" anchor="ctr">
                    <a:solidFill>
                      <a:srgbClr val="FFFFFF"/>
                    </a:solidFill>
                  </a:tcPr>
                </a:tc>
                <a:tc>
                  <a:txBody>
                    <a:bodyPr/>
                    <a:lstStyle/>
                    <a:p>
                      <a:pPr algn="ctr"/>
                      <a:r>
                        <a:rPr lang="en-US" sz="1300">
                          <a:solidFill>
                            <a:srgbClr val="1F2937"/>
                          </a:solidFill>
                          <a:latin typeface="Calibri" panose="020F0502020204030204" pitchFamily="34" charset="0"/>
                        </a:rPr>
                        <a:t>C</a:t>
                      </a:r>
                    </a:p>
                  </a:txBody>
                  <a:tcPr marL="127000" marR="101600" marT="63500" marB="63500" anchor="ctr">
                    <a:solidFill>
                      <a:srgbClr val="FFFFFF"/>
                    </a:solidFill>
                  </a:tcPr>
                </a:tc>
                <a:tc>
                  <a:txBody>
                    <a:bodyPr/>
                    <a:lstStyle/>
                    <a:p>
                      <a:pPr algn="ctr"/>
                      <a:r>
                        <a:rPr lang="en-US" sz="1300">
                          <a:solidFill>
                            <a:srgbClr val="1F2937"/>
                          </a:solidFill>
                          <a:latin typeface="Calibri" panose="020F0502020204030204" pitchFamily="34" charset="0"/>
                        </a:rPr>
                        <a:t>A</a:t>
                      </a:r>
                    </a:p>
                  </a:txBody>
                  <a:tcPr marL="127000" marR="101600" marT="63500" marB="63500" anchor="ctr">
                    <a:solidFill>
                      <a:srgbClr val="FFFFFF"/>
                    </a:solidFill>
                  </a:tcPr>
                </a:tc>
                <a:extLst>
                  <a:ext uri="{0D108BD9-81ED-4DB2-BD59-A6C34878D82A}">
                    <a16:rowId xmlns:a16="http://schemas.microsoft.com/office/drawing/2014/main" val="1203161649"/>
                  </a:ext>
                </a:extLst>
              </a:tr>
            </a:tbl>
          </a:graphicData>
        </a:graphic>
      </p:graphicFrame>
      <p:sp>
        <p:nvSpPr>
          <p:cNvPr id="6" name="TextBox 5">
            <a:extLst>
              <a:ext uri="{FF2B5EF4-FFF2-40B4-BE49-F238E27FC236}">
                <a16:creationId xmlns:a16="http://schemas.microsoft.com/office/drawing/2014/main" id="{AE8BDADB-2542-49E9-A371-D443A8D68780}"/>
              </a:ext>
            </a:extLst>
          </p:cNvPr>
          <p:cNvSpPr txBox="1"/>
          <p:nvPr/>
        </p:nvSpPr>
        <p:spPr>
          <a:xfrm>
            <a:off x="508000" y="3200400"/>
            <a:ext cx="5461000" cy="431800"/>
          </a:xfrm>
          <a:prstGeom prst="rect">
            <a:avLst/>
          </a:prstGeom>
          <a:noFill/>
        </p:spPr>
        <p:txBody>
          <a:bodyPr vert="horz" wrap="square" lIns="0" tIns="0" rIns="0" bIns="0" rtlCol="0" anchor="t">
            <a:noAutofit/>
          </a:bodyPr>
          <a:lstStyle/>
          <a:p>
            <a:r>
              <a:rPr lang="en-US" sz="1100" i="1">
                <a:solidFill>
                  <a:srgbClr val="5B6475"/>
                </a:solidFill>
                <a:latin typeface="Calibri" panose="020F0502020204030204" pitchFamily="34" charset="0"/>
              </a:rPr>
              <a:t>R = responsible (does the work)  ·  A = accountable (exactly one; signs off)  ·  C = consulted (two-way)  ·  I = informed (one-way)</a:t>
            </a:r>
          </a:p>
        </p:txBody>
      </p:sp>
      <p:sp>
        <p:nvSpPr>
          <p:cNvPr id="7" name="Rectangle: Rounded Corners 6">
            <a:extLst>
              <a:ext uri="{FF2B5EF4-FFF2-40B4-BE49-F238E27FC236}">
                <a16:creationId xmlns:a16="http://schemas.microsoft.com/office/drawing/2014/main" id="{D672BD9C-02D3-DF52-3F9F-C814F7D5609A}"/>
              </a:ext>
            </a:extLst>
          </p:cNvPr>
          <p:cNvSpPr/>
          <p:nvPr/>
        </p:nvSpPr>
        <p:spPr>
          <a:xfrm>
            <a:off x="508000" y="3759200"/>
            <a:ext cx="5461000" cy="16002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48E5441-1309-1061-71ED-98B6FA47A57F}"/>
              </a:ext>
            </a:extLst>
          </p:cNvPr>
          <p:cNvSpPr txBox="1"/>
          <p:nvPr/>
        </p:nvSpPr>
        <p:spPr>
          <a:xfrm>
            <a:off x="660400" y="3911600"/>
            <a:ext cx="5156200" cy="1295400"/>
          </a:xfrm>
          <a:prstGeom prst="rect">
            <a:avLst/>
          </a:prstGeom>
          <a:noFill/>
        </p:spPr>
        <p:txBody>
          <a:bodyPr vert="horz" wrap="square" lIns="0" tIns="0" rIns="0" bIns="0" rtlCol="0" anchor="t">
            <a:noAutofit/>
          </a:bodyPr>
          <a:lstStyle/>
          <a:p>
            <a:pPr>
              <a:spcAft>
                <a:spcPts val="600"/>
              </a:spcAft>
            </a:pPr>
            <a:r>
              <a:rPr lang="en-US" sz="1400" b="1">
                <a:solidFill>
                  <a:srgbClr val="0F7C80"/>
                </a:solidFill>
                <a:latin typeface="Calibri" panose="020F0502020204030204" pitchFamily="34" charset="0"/>
              </a:rPr>
              <a:t>McGregor’s Theory X and Theory Y</a:t>
            </a:r>
          </a:p>
          <a:p>
            <a:pPr>
              <a:spcAft>
                <a:spcPts val="400"/>
              </a:spcAft>
            </a:pPr>
            <a:r>
              <a:rPr lang="en-US" sz="1200" b="1">
                <a:solidFill>
                  <a:srgbClr val="14213D"/>
                </a:solidFill>
                <a:latin typeface="Calibri" panose="020F0502020204030204" pitchFamily="34" charset="0"/>
              </a:rPr>
              <a:t>Theory X:</a:t>
            </a:r>
            <a:r>
              <a:rPr lang="en-US" sz="1200">
                <a:solidFill>
                  <a:srgbClr val="1F2937"/>
                </a:solidFill>
                <a:latin typeface="Calibri" panose="020F0502020204030204" pitchFamily="34" charset="0"/>
              </a:rPr>
              <a:t> people avoid work and need close control, which leads to a directive style.</a:t>
            </a:r>
          </a:p>
          <a:p>
            <a:pPr>
              <a:spcAft>
                <a:spcPts val="400"/>
              </a:spcAft>
            </a:pPr>
            <a:r>
              <a:rPr lang="en-US" sz="1200" b="1">
                <a:solidFill>
                  <a:srgbClr val="14213D"/>
                </a:solidFill>
                <a:latin typeface="Calibri" panose="020F0502020204030204" pitchFamily="34" charset="0"/>
              </a:rPr>
              <a:t>Theory Y:</a:t>
            </a:r>
            <a:r>
              <a:rPr lang="en-US" sz="1200">
                <a:solidFill>
                  <a:srgbClr val="1F2937"/>
                </a:solidFill>
                <a:latin typeface="Calibri" panose="020F0502020204030204" pitchFamily="34" charset="0"/>
              </a:rPr>
              <a:t> people are self-motivated and seek responsibility, which leads to a participative style. Agile teams assume Theory Y.</a:t>
            </a:r>
          </a:p>
        </p:txBody>
      </p:sp>
      <p:sp>
        <p:nvSpPr>
          <p:cNvPr id="9" name="TextBox 8">
            <a:extLst>
              <a:ext uri="{FF2B5EF4-FFF2-40B4-BE49-F238E27FC236}">
                <a16:creationId xmlns:a16="http://schemas.microsoft.com/office/drawing/2014/main" id="{57A9360C-0479-C4EE-3D1B-E055C8815141}"/>
              </a:ext>
            </a:extLst>
          </p:cNvPr>
          <p:cNvSpPr txBox="1"/>
          <p:nvPr/>
        </p:nvSpPr>
        <p:spPr>
          <a:xfrm>
            <a:off x="6350000" y="1320800"/>
            <a:ext cx="5334000" cy="228600"/>
          </a:xfrm>
          <a:prstGeom prst="rect">
            <a:avLst/>
          </a:prstGeom>
          <a:noFill/>
        </p:spPr>
        <p:txBody>
          <a:bodyPr vert="horz" wrap="square" lIns="0" tIns="0" rIns="0" bIns="0" rtlCol="0" anchor="t">
            <a:noAutofit/>
          </a:bodyPr>
          <a:lstStyle/>
          <a:p>
            <a:r>
              <a:rPr lang="en-US" sz="1400" b="1">
                <a:solidFill>
                  <a:srgbClr val="0F7C80"/>
                </a:solidFill>
                <a:latin typeface="Calibri" panose="020F0502020204030204" pitchFamily="34" charset="0"/>
              </a:rPr>
              <a:t>Maslow’s hierarchy of needs</a:t>
            </a:r>
          </a:p>
        </p:txBody>
      </p:sp>
      <p:sp>
        <p:nvSpPr>
          <p:cNvPr id="10" name="Rectangle 9">
            <a:extLst>
              <a:ext uri="{FF2B5EF4-FFF2-40B4-BE49-F238E27FC236}">
                <a16:creationId xmlns:a16="http://schemas.microsoft.com/office/drawing/2014/main" id="{3902395B-6AE1-ACA2-FADB-40C464A66E10}"/>
              </a:ext>
            </a:extLst>
          </p:cNvPr>
          <p:cNvSpPr/>
          <p:nvPr/>
        </p:nvSpPr>
        <p:spPr>
          <a:xfrm>
            <a:off x="8128000" y="1625600"/>
            <a:ext cx="1778000" cy="482600"/>
          </a:xfrm>
          <a:prstGeom prst="rect">
            <a:avLst/>
          </a:prstGeom>
          <a:solidFill>
            <a:srgbClr val="74BEC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200" b="1">
                <a:solidFill>
                  <a:srgbClr val="FFFFFF"/>
                </a:solidFill>
                <a:latin typeface="Calibri" panose="020F0502020204030204" pitchFamily="34" charset="0"/>
              </a:rPr>
              <a:t>Self-actualization</a:t>
            </a:r>
          </a:p>
        </p:txBody>
      </p:sp>
      <p:sp>
        <p:nvSpPr>
          <p:cNvPr id="11" name="Rectangle 10">
            <a:extLst>
              <a:ext uri="{FF2B5EF4-FFF2-40B4-BE49-F238E27FC236}">
                <a16:creationId xmlns:a16="http://schemas.microsoft.com/office/drawing/2014/main" id="{259210FF-5CEB-1F71-B848-D4A38E248CCB}"/>
              </a:ext>
            </a:extLst>
          </p:cNvPr>
          <p:cNvSpPr/>
          <p:nvPr/>
        </p:nvSpPr>
        <p:spPr>
          <a:xfrm>
            <a:off x="7683500" y="2159000"/>
            <a:ext cx="2667000" cy="482600"/>
          </a:xfrm>
          <a:prstGeom prst="rect">
            <a:avLst/>
          </a:prstGeom>
          <a:solidFill>
            <a:srgbClr val="4FA9A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200" b="1">
                <a:solidFill>
                  <a:srgbClr val="FFFFFF"/>
                </a:solidFill>
                <a:latin typeface="Calibri" panose="020F0502020204030204" pitchFamily="34" charset="0"/>
              </a:rPr>
              <a:t>Esteem</a:t>
            </a:r>
          </a:p>
        </p:txBody>
      </p:sp>
      <p:sp>
        <p:nvSpPr>
          <p:cNvPr id="12" name="Rectangle 11">
            <a:extLst>
              <a:ext uri="{FF2B5EF4-FFF2-40B4-BE49-F238E27FC236}">
                <a16:creationId xmlns:a16="http://schemas.microsoft.com/office/drawing/2014/main" id="{06CFFA72-244F-E8D2-5AC0-D4646B03F56E}"/>
              </a:ext>
            </a:extLst>
          </p:cNvPr>
          <p:cNvSpPr/>
          <p:nvPr/>
        </p:nvSpPr>
        <p:spPr>
          <a:xfrm>
            <a:off x="7239000" y="2692400"/>
            <a:ext cx="3556000" cy="482600"/>
          </a:xfrm>
          <a:prstGeom prst="rect">
            <a:avLst/>
          </a:prstGeom>
          <a:solidFill>
            <a:srgbClr val="2E949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200" b="1">
                <a:solidFill>
                  <a:srgbClr val="FFFFFF"/>
                </a:solidFill>
                <a:latin typeface="Calibri" panose="020F0502020204030204" pitchFamily="34" charset="0"/>
              </a:rPr>
              <a:t>Belonging</a:t>
            </a:r>
          </a:p>
        </p:txBody>
      </p:sp>
      <p:sp>
        <p:nvSpPr>
          <p:cNvPr id="13" name="Rectangle 12">
            <a:extLst>
              <a:ext uri="{FF2B5EF4-FFF2-40B4-BE49-F238E27FC236}">
                <a16:creationId xmlns:a16="http://schemas.microsoft.com/office/drawing/2014/main" id="{027D4285-35C6-8B5B-0DF5-BC542AAEB190}"/>
              </a:ext>
            </a:extLst>
          </p:cNvPr>
          <p:cNvSpPr/>
          <p:nvPr/>
        </p:nvSpPr>
        <p:spPr>
          <a:xfrm>
            <a:off x="6794500" y="3225800"/>
            <a:ext cx="4445000" cy="482600"/>
          </a:xfrm>
          <a:prstGeom prst="rect">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200" b="1">
                <a:solidFill>
                  <a:srgbClr val="FFFFFF"/>
                </a:solidFill>
                <a:latin typeface="Calibri" panose="020F0502020204030204" pitchFamily="34" charset="0"/>
              </a:rPr>
              <a:t>Safety</a:t>
            </a:r>
          </a:p>
        </p:txBody>
      </p:sp>
      <p:sp>
        <p:nvSpPr>
          <p:cNvPr id="14" name="Rectangle 13">
            <a:extLst>
              <a:ext uri="{FF2B5EF4-FFF2-40B4-BE49-F238E27FC236}">
                <a16:creationId xmlns:a16="http://schemas.microsoft.com/office/drawing/2014/main" id="{B6069810-99E3-7712-06AE-B29668BDC69D}"/>
              </a:ext>
            </a:extLst>
          </p:cNvPr>
          <p:cNvSpPr/>
          <p:nvPr/>
        </p:nvSpPr>
        <p:spPr>
          <a:xfrm>
            <a:off x="6350000" y="3759200"/>
            <a:ext cx="5334000" cy="482600"/>
          </a:xfrm>
          <a:prstGeom prst="rect">
            <a:avLst/>
          </a:prstGeom>
          <a:solidFill>
            <a:srgbClr val="0B5E6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200" b="1">
                <a:solidFill>
                  <a:srgbClr val="FFFFFF"/>
                </a:solidFill>
                <a:latin typeface="Calibri" panose="020F0502020204030204" pitchFamily="34" charset="0"/>
              </a:rPr>
              <a:t>Physiological</a:t>
            </a:r>
          </a:p>
        </p:txBody>
      </p:sp>
      <p:sp>
        <p:nvSpPr>
          <p:cNvPr id="15" name="TextBox 14">
            <a:extLst>
              <a:ext uri="{FF2B5EF4-FFF2-40B4-BE49-F238E27FC236}">
                <a16:creationId xmlns:a16="http://schemas.microsoft.com/office/drawing/2014/main" id="{7A9FB463-FE94-EBA0-F0AB-E794FB19C905}"/>
              </a:ext>
            </a:extLst>
          </p:cNvPr>
          <p:cNvSpPr txBox="1"/>
          <p:nvPr/>
        </p:nvSpPr>
        <p:spPr>
          <a:xfrm>
            <a:off x="6350000" y="4343400"/>
            <a:ext cx="5334000" cy="635000"/>
          </a:xfrm>
          <a:prstGeom prst="rect">
            <a:avLst/>
          </a:prstGeom>
          <a:noFill/>
        </p:spPr>
        <p:txBody>
          <a:bodyPr vert="horz" wrap="square" lIns="0" tIns="0" rIns="0" bIns="0" rtlCol="0" anchor="t">
            <a:noAutofit/>
          </a:bodyPr>
          <a:lstStyle/>
          <a:p>
            <a:r>
              <a:rPr lang="en-US" sz="1200" i="1">
                <a:solidFill>
                  <a:srgbClr val="5B6475"/>
                </a:solidFill>
                <a:latin typeface="Calibri" panose="020F0502020204030204" pitchFamily="34" charset="0"/>
              </a:rPr>
              <a:t>People are motivated by the lowest unmet need; lower levels come first. Herzberg’s hygiene factors map to the lower levels.</a:t>
            </a:r>
          </a:p>
        </p:txBody>
      </p:sp>
      <p:sp>
        <p:nvSpPr>
          <p:cNvPr id="16" name="Rectangle: Rounded Corners 15">
            <a:extLst>
              <a:ext uri="{FF2B5EF4-FFF2-40B4-BE49-F238E27FC236}">
                <a16:creationId xmlns:a16="http://schemas.microsoft.com/office/drawing/2014/main" id="{A0D14058-61BA-0F8E-F4A9-C2732E66DF51}"/>
              </a:ext>
            </a:extLst>
          </p:cNvPr>
          <p:cNvSpPr/>
          <p:nvPr/>
        </p:nvSpPr>
        <p:spPr>
          <a:xfrm>
            <a:off x="508000" y="5486400"/>
            <a:ext cx="11176000" cy="8382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DBD4346-3E65-D1CA-E69A-1710DD11ACB9}"/>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each activity has exactly one accountable (A). Unclear roles cause conflict, so fix the RACI before blaming people.</a:t>
            </a:r>
          </a:p>
        </p:txBody>
      </p:sp>
      <p:sp>
        <p:nvSpPr>
          <p:cNvPr id="18" name="Footer">
            <a:extLst>
              <a:ext uri="{FF2B5EF4-FFF2-40B4-BE49-F238E27FC236}">
                <a16:creationId xmlns:a16="http://schemas.microsoft.com/office/drawing/2014/main" id="{845557A8-7619-8C9A-D118-4257CC84352C}"/>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9.1.2.2 (RACI); A. Maslow, ‘A Theory of Human Motivation’ (1943); D. McGregor, The Human Side of Enterprise (1960)</a:t>
            </a:r>
          </a:p>
        </p:txBody>
      </p:sp>
      <p:sp>
        <p:nvSpPr>
          <p:cNvPr id="19" name="SlideNum">
            <a:extLst>
              <a:ext uri="{FF2B5EF4-FFF2-40B4-BE49-F238E27FC236}">
                <a16:creationId xmlns:a16="http://schemas.microsoft.com/office/drawing/2014/main" id="{D3D6A860-F9AE-4B70-93A2-676C3E8001CD}"/>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17</a:t>
            </a:r>
          </a:p>
        </p:txBody>
      </p:sp>
      <p:sp>
        <p:nvSpPr>
          <p:cNvPr id="20"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385622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C9D4627-5770-4245-0AA6-C662B2758131}"/>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Herzberg: fix hygiene factors, then motivate</a:t>
            </a:r>
          </a:p>
        </p:txBody>
      </p:sp>
      <p:sp>
        <p:nvSpPr>
          <p:cNvPr id="3" name="Tag">
            <a:extLst>
              <a:ext uri="{FF2B5EF4-FFF2-40B4-BE49-F238E27FC236}">
                <a16:creationId xmlns:a16="http://schemas.microsoft.com/office/drawing/2014/main" id="{6EB8EA7F-0D53-87B2-53EC-03A016FCBF9C}"/>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0F7C80"/>
                </a:solidFill>
                <a:latin typeface="Calibri" panose="020F0502020204030204" pitchFamily="34" charset="0"/>
              </a:rPr>
              <a:t>People deep dive · Supports People Task 3 · Lead the project team</a:t>
            </a:r>
          </a:p>
        </p:txBody>
      </p:sp>
      <p:sp>
        <p:nvSpPr>
          <p:cNvPr id="4" name="Rectangle 3">
            <a:extLst>
              <a:ext uri="{FF2B5EF4-FFF2-40B4-BE49-F238E27FC236}">
                <a16:creationId xmlns:a16="http://schemas.microsoft.com/office/drawing/2014/main" id="{5A9C90DE-2A14-9366-8C38-35ABB6D00B16}"/>
              </a:ext>
            </a:extLst>
          </p:cNvPr>
          <p:cNvSpPr/>
          <p:nvPr/>
        </p:nvSpPr>
        <p:spPr>
          <a:xfrm>
            <a:off x="508000" y="1422400"/>
            <a:ext cx="3721100" cy="508000"/>
          </a:xfrm>
          <a:prstGeom prst="rect">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500" b="1">
                <a:solidFill>
                  <a:srgbClr val="FFFFFF"/>
                </a:solidFill>
                <a:latin typeface="Calibri" panose="020F0502020204030204" pitchFamily="34" charset="0"/>
              </a:rPr>
              <a:t>Dissatisfied</a:t>
            </a:r>
          </a:p>
        </p:txBody>
      </p:sp>
      <p:sp>
        <p:nvSpPr>
          <p:cNvPr id="5" name="Rectangle 4">
            <a:extLst>
              <a:ext uri="{FF2B5EF4-FFF2-40B4-BE49-F238E27FC236}">
                <a16:creationId xmlns:a16="http://schemas.microsoft.com/office/drawing/2014/main" id="{1FBDA775-2A8A-B58A-AF22-AD5814052D74}"/>
              </a:ext>
            </a:extLst>
          </p:cNvPr>
          <p:cNvSpPr/>
          <p:nvPr/>
        </p:nvSpPr>
        <p:spPr>
          <a:xfrm>
            <a:off x="4254500" y="1422400"/>
            <a:ext cx="3683000" cy="508000"/>
          </a:xfrm>
          <a:prstGeom prst="rect">
            <a:avLst/>
          </a:prstGeom>
          <a:solidFill>
            <a:srgbClr val="D5DB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500" b="1">
                <a:solidFill>
                  <a:srgbClr val="14213D"/>
                </a:solidFill>
                <a:latin typeface="Calibri" panose="020F0502020204030204" pitchFamily="34" charset="0"/>
              </a:rPr>
              <a:t>Not dissatisfied, not motivated</a:t>
            </a:r>
          </a:p>
        </p:txBody>
      </p:sp>
      <p:sp>
        <p:nvSpPr>
          <p:cNvPr id="6" name="Rectangle 5">
            <a:extLst>
              <a:ext uri="{FF2B5EF4-FFF2-40B4-BE49-F238E27FC236}">
                <a16:creationId xmlns:a16="http://schemas.microsoft.com/office/drawing/2014/main" id="{FB25C295-B2FC-C63F-6939-13E2C2D992F0}"/>
              </a:ext>
            </a:extLst>
          </p:cNvPr>
          <p:cNvSpPr/>
          <p:nvPr/>
        </p:nvSpPr>
        <p:spPr>
          <a:xfrm>
            <a:off x="7962900" y="1422400"/>
            <a:ext cx="3721100" cy="508000"/>
          </a:xfrm>
          <a:prstGeom prst="rect">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500" b="1">
                <a:solidFill>
                  <a:srgbClr val="FFFFFF"/>
                </a:solidFill>
                <a:latin typeface="Calibri" panose="020F0502020204030204" pitchFamily="34" charset="0"/>
              </a:rPr>
              <a:t>Motivated</a:t>
            </a:r>
          </a:p>
        </p:txBody>
      </p:sp>
      <p:sp>
        <p:nvSpPr>
          <p:cNvPr id="7" name="Rectangle: Rounded Corners 6">
            <a:extLst>
              <a:ext uri="{FF2B5EF4-FFF2-40B4-BE49-F238E27FC236}">
                <a16:creationId xmlns:a16="http://schemas.microsoft.com/office/drawing/2014/main" id="{AD39EDDF-8D6B-8657-967A-60422D04DCCA}"/>
              </a:ext>
            </a:extLst>
          </p:cNvPr>
          <p:cNvSpPr/>
          <p:nvPr/>
        </p:nvSpPr>
        <p:spPr>
          <a:xfrm>
            <a:off x="508000" y="2133600"/>
            <a:ext cx="5461000" cy="2997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D44282A-C6A7-ACC1-5F9C-1EBA7CAC3BA7}"/>
              </a:ext>
            </a:extLst>
          </p:cNvPr>
          <p:cNvSpPr txBox="1"/>
          <p:nvPr/>
        </p:nvSpPr>
        <p:spPr>
          <a:xfrm>
            <a:off x="736600" y="2311400"/>
            <a:ext cx="5003800" cy="2717800"/>
          </a:xfrm>
          <a:prstGeom prst="rect">
            <a:avLst/>
          </a:prstGeom>
          <a:noFill/>
        </p:spPr>
        <p:txBody>
          <a:bodyPr vert="horz" wrap="square" lIns="0" tIns="0" rIns="0" bIns="0" rtlCol="0" anchor="t">
            <a:noAutofit/>
          </a:bodyPr>
          <a:lstStyle/>
          <a:p>
            <a:pPr>
              <a:spcAft>
                <a:spcPts val="200"/>
              </a:spcAft>
            </a:pPr>
            <a:r>
              <a:rPr lang="en-US" b="1">
                <a:solidFill>
                  <a:srgbClr val="A84A2E"/>
                </a:solidFill>
                <a:latin typeface="Calibri" panose="020F0502020204030204" pitchFamily="34" charset="0"/>
              </a:rPr>
              <a:t>Hygiene factors (extrinsic)</a:t>
            </a:r>
          </a:p>
          <a:p>
            <a:pPr>
              <a:spcAft>
                <a:spcPts val="800"/>
              </a:spcAft>
            </a:pPr>
            <a:r>
              <a:rPr lang="en-US" sz="1400" i="1">
                <a:solidFill>
                  <a:srgbClr val="5B6475"/>
                </a:solidFill>
                <a:latin typeface="Calibri" panose="020F0502020204030204" pitchFamily="34" charset="0"/>
              </a:rPr>
              <a:t>Missing: people are dissatisfied. Present: no complaints, but no extra drive.</a:t>
            </a:r>
          </a:p>
          <a:p>
            <a:pPr marL="203200" indent="-203200">
              <a:spcAft>
                <a:spcPts val="200"/>
              </a:spcAft>
              <a:buClr>
                <a:srgbClr val="A84A2E"/>
              </a:buClr>
              <a:buFont typeface="+mj-lt"/>
              <a:buChar char="•"/>
            </a:pPr>
            <a:r>
              <a:rPr lang="en-US" sz="1400">
                <a:solidFill>
                  <a:srgbClr val="1F2937"/>
                </a:solidFill>
                <a:latin typeface="Calibri" panose="020F0502020204030204" pitchFamily="34" charset="0"/>
              </a:rPr>
              <a:t>Company policies and administration</a:t>
            </a:r>
          </a:p>
          <a:p>
            <a:pPr marL="203200" indent="-203200">
              <a:spcAft>
                <a:spcPts val="200"/>
              </a:spcAft>
              <a:buClr>
                <a:srgbClr val="A84A2E"/>
              </a:buClr>
              <a:buFont typeface="+mj-lt"/>
              <a:buChar char="•"/>
            </a:pPr>
            <a:r>
              <a:rPr lang="en-US" sz="1400">
                <a:solidFill>
                  <a:srgbClr val="1F2937"/>
                </a:solidFill>
                <a:latin typeface="Calibri" panose="020F0502020204030204" pitchFamily="34" charset="0"/>
              </a:rPr>
              <a:t>Supervision</a:t>
            </a:r>
          </a:p>
          <a:p>
            <a:pPr marL="203200" indent="-203200">
              <a:spcAft>
                <a:spcPts val="200"/>
              </a:spcAft>
              <a:buClr>
                <a:srgbClr val="A84A2E"/>
              </a:buClr>
              <a:buFont typeface="+mj-lt"/>
              <a:buChar char="•"/>
            </a:pPr>
            <a:r>
              <a:rPr lang="en-US" sz="1400">
                <a:solidFill>
                  <a:srgbClr val="1F2937"/>
                </a:solidFill>
                <a:latin typeface="Calibri" panose="020F0502020204030204" pitchFamily="34" charset="0"/>
              </a:rPr>
              <a:t>Relationships with managers and peers</a:t>
            </a:r>
          </a:p>
          <a:p>
            <a:pPr marL="203200" indent="-203200">
              <a:spcAft>
                <a:spcPts val="200"/>
              </a:spcAft>
              <a:buClr>
                <a:srgbClr val="A84A2E"/>
              </a:buClr>
              <a:buFont typeface="+mj-lt"/>
              <a:buChar char="•"/>
            </a:pPr>
            <a:r>
              <a:rPr lang="en-US" sz="1400">
                <a:solidFill>
                  <a:srgbClr val="1F2937"/>
                </a:solidFill>
                <a:latin typeface="Calibri" panose="020F0502020204030204" pitchFamily="34" charset="0"/>
              </a:rPr>
              <a:t>Working conditions</a:t>
            </a:r>
          </a:p>
          <a:p>
            <a:pPr marL="203200" indent="-203200">
              <a:spcAft>
                <a:spcPts val="200"/>
              </a:spcAft>
              <a:buClr>
                <a:srgbClr val="A84A2E"/>
              </a:buClr>
              <a:buFont typeface="+mj-lt"/>
              <a:buChar char="•"/>
            </a:pPr>
            <a:r>
              <a:rPr lang="en-US" sz="1400">
                <a:solidFill>
                  <a:srgbClr val="1F2937"/>
                </a:solidFill>
                <a:latin typeface="Calibri" panose="020F0502020204030204" pitchFamily="34" charset="0"/>
              </a:rPr>
              <a:t>Salary</a:t>
            </a:r>
          </a:p>
          <a:p>
            <a:pPr marL="203200" indent="-203200">
              <a:spcAft>
                <a:spcPts val="200"/>
              </a:spcAft>
              <a:buClr>
                <a:srgbClr val="A84A2E"/>
              </a:buClr>
              <a:buFont typeface="+mj-lt"/>
              <a:buChar char="•"/>
            </a:pPr>
            <a:r>
              <a:rPr lang="en-US" sz="1400">
                <a:solidFill>
                  <a:srgbClr val="1F2937"/>
                </a:solidFill>
                <a:latin typeface="Calibri" panose="020F0502020204030204" pitchFamily="34" charset="0"/>
              </a:rPr>
              <a:t>Status</a:t>
            </a:r>
          </a:p>
          <a:p>
            <a:pPr marL="203200" indent="-203200">
              <a:spcAft>
                <a:spcPts val="200"/>
              </a:spcAft>
              <a:buClr>
                <a:srgbClr val="A84A2E"/>
              </a:buClr>
              <a:buFont typeface="+mj-lt"/>
              <a:buChar char="•"/>
            </a:pPr>
            <a:r>
              <a:rPr lang="en-US" sz="1400">
                <a:solidFill>
                  <a:srgbClr val="1F2937"/>
                </a:solidFill>
                <a:latin typeface="Calibri" panose="020F0502020204030204" pitchFamily="34" charset="0"/>
              </a:rPr>
              <a:t>Job security</a:t>
            </a:r>
          </a:p>
        </p:txBody>
      </p:sp>
      <p:sp>
        <p:nvSpPr>
          <p:cNvPr id="9" name="Rectangle: Rounded Corners 8">
            <a:extLst>
              <a:ext uri="{FF2B5EF4-FFF2-40B4-BE49-F238E27FC236}">
                <a16:creationId xmlns:a16="http://schemas.microsoft.com/office/drawing/2014/main" id="{AAF108CD-DE05-6D18-D843-10A413336646}"/>
              </a:ext>
            </a:extLst>
          </p:cNvPr>
          <p:cNvSpPr/>
          <p:nvPr/>
        </p:nvSpPr>
        <p:spPr>
          <a:xfrm>
            <a:off x="6223000" y="2133600"/>
            <a:ext cx="5461000" cy="29972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9F7D042-1BB9-F082-E358-08C2B25936B5}"/>
              </a:ext>
            </a:extLst>
          </p:cNvPr>
          <p:cNvSpPr txBox="1"/>
          <p:nvPr/>
        </p:nvSpPr>
        <p:spPr>
          <a:xfrm>
            <a:off x="6451600" y="2311400"/>
            <a:ext cx="5003800" cy="2717800"/>
          </a:xfrm>
          <a:prstGeom prst="rect">
            <a:avLst/>
          </a:prstGeom>
          <a:noFill/>
        </p:spPr>
        <p:txBody>
          <a:bodyPr vert="horz" wrap="square" lIns="0" tIns="0" rIns="0" bIns="0" rtlCol="0" anchor="t">
            <a:noAutofit/>
          </a:bodyPr>
          <a:lstStyle/>
          <a:p>
            <a:pPr>
              <a:spcAft>
                <a:spcPts val="200"/>
              </a:spcAft>
            </a:pPr>
            <a:r>
              <a:rPr lang="en-US" b="1">
                <a:solidFill>
                  <a:srgbClr val="0F7C80"/>
                </a:solidFill>
                <a:latin typeface="Calibri" panose="020F0502020204030204" pitchFamily="34" charset="0"/>
              </a:rPr>
              <a:t>Motivators (intrinsic)</a:t>
            </a:r>
          </a:p>
          <a:p>
            <a:pPr>
              <a:spcAft>
                <a:spcPts val="800"/>
              </a:spcAft>
            </a:pPr>
            <a:r>
              <a:rPr lang="en-US" sz="1400" i="1">
                <a:solidFill>
                  <a:srgbClr val="5B6475"/>
                </a:solidFill>
                <a:latin typeface="Calibri" panose="020F0502020204030204" pitchFamily="34" charset="0"/>
              </a:rPr>
              <a:t>Present: people are satisfied and motivated to do more.</a:t>
            </a:r>
          </a:p>
          <a:p>
            <a:pPr marL="203200" indent="-203200">
              <a:spcAft>
                <a:spcPts val="200"/>
              </a:spcAft>
              <a:buClr>
                <a:srgbClr val="0F7C80"/>
              </a:buClr>
              <a:buFont typeface="+mj-lt"/>
              <a:buChar char="•"/>
            </a:pPr>
            <a:r>
              <a:rPr lang="en-US" sz="1400">
                <a:solidFill>
                  <a:srgbClr val="1F2937"/>
                </a:solidFill>
                <a:latin typeface="Calibri" panose="020F0502020204030204" pitchFamily="34" charset="0"/>
              </a:rPr>
              <a:t>Achievement</a:t>
            </a:r>
          </a:p>
          <a:p>
            <a:pPr marL="203200" indent="-203200">
              <a:spcAft>
                <a:spcPts val="200"/>
              </a:spcAft>
              <a:buClr>
                <a:srgbClr val="0F7C80"/>
              </a:buClr>
              <a:buFont typeface="+mj-lt"/>
              <a:buChar char="•"/>
            </a:pPr>
            <a:r>
              <a:rPr lang="en-US" sz="1400">
                <a:solidFill>
                  <a:srgbClr val="1F2937"/>
                </a:solidFill>
                <a:latin typeface="Calibri" panose="020F0502020204030204" pitchFamily="34" charset="0"/>
              </a:rPr>
              <a:t>Recognition</a:t>
            </a:r>
          </a:p>
          <a:p>
            <a:pPr marL="203200" indent="-203200">
              <a:spcAft>
                <a:spcPts val="200"/>
              </a:spcAft>
              <a:buClr>
                <a:srgbClr val="0F7C80"/>
              </a:buClr>
              <a:buFont typeface="+mj-lt"/>
              <a:buChar char="•"/>
            </a:pPr>
            <a:r>
              <a:rPr lang="en-US" sz="1400">
                <a:solidFill>
                  <a:srgbClr val="1F2937"/>
                </a:solidFill>
                <a:latin typeface="Calibri" panose="020F0502020204030204" pitchFamily="34" charset="0"/>
              </a:rPr>
              <a:t>The work itself</a:t>
            </a:r>
          </a:p>
          <a:p>
            <a:pPr marL="203200" indent="-203200">
              <a:spcAft>
                <a:spcPts val="200"/>
              </a:spcAft>
              <a:buClr>
                <a:srgbClr val="0F7C80"/>
              </a:buClr>
              <a:buFont typeface="+mj-lt"/>
              <a:buChar char="•"/>
            </a:pPr>
            <a:r>
              <a:rPr lang="en-US" sz="1400">
                <a:solidFill>
                  <a:srgbClr val="1F2937"/>
                </a:solidFill>
                <a:latin typeface="Calibri" panose="020F0502020204030204" pitchFamily="34" charset="0"/>
              </a:rPr>
              <a:t>Responsibility</a:t>
            </a:r>
          </a:p>
          <a:p>
            <a:pPr marL="203200" indent="-203200">
              <a:spcAft>
                <a:spcPts val="200"/>
              </a:spcAft>
              <a:buClr>
                <a:srgbClr val="0F7C80"/>
              </a:buClr>
              <a:buFont typeface="+mj-lt"/>
              <a:buChar char="•"/>
            </a:pPr>
            <a:r>
              <a:rPr lang="en-US" sz="1400">
                <a:solidFill>
                  <a:srgbClr val="1F2937"/>
                </a:solidFill>
                <a:latin typeface="Calibri" panose="020F0502020204030204" pitchFamily="34" charset="0"/>
              </a:rPr>
              <a:t>Advancement</a:t>
            </a:r>
          </a:p>
          <a:p>
            <a:pPr marL="203200" indent="-203200">
              <a:spcAft>
                <a:spcPts val="200"/>
              </a:spcAft>
              <a:buClr>
                <a:srgbClr val="0F7C80"/>
              </a:buClr>
              <a:buFont typeface="+mj-lt"/>
              <a:buChar char="•"/>
            </a:pPr>
            <a:r>
              <a:rPr lang="en-US" sz="1400">
                <a:solidFill>
                  <a:srgbClr val="1F2937"/>
                </a:solidFill>
                <a:latin typeface="Calibri" panose="020F0502020204030204" pitchFamily="34" charset="0"/>
              </a:rPr>
              <a:t>Personal growth</a:t>
            </a:r>
          </a:p>
        </p:txBody>
      </p:sp>
      <p:sp>
        <p:nvSpPr>
          <p:cNvPr id="11" name="TextBox 10">
            <a:extLst>
              <a:ext uri="{FF2B5EF4-FFF2-40B4-BE49-F238E27FC236}">
                <a16:creationId xmlns:a16="http://schemas.microsoft.com/office/drawing/2014/main" id="{118BEB66-AB92-1ADB-A05B-81F7C5313F42}"/>
              </a:ext>
            </a:extLst>
          </p:cNvPr>
          <p:cNvSpPr txBox="1"/>
          <p:nvPr/>
        </p:nvSpPr>
        <p:spPr>
          <a:xfrm>
            <a:off x="508000" y="5334000"/>
            <a:ext cx="11176000" cy="558800"/>
          </a:xfrm>
          <a:prstGeom prst="rect">
            <a:avLst/>
          </a:prstGeom>
          <a:noFill/>
        </p:spPr>
        <p:txBody>
          <a:bodyPr vert="horz" wrap="square" lIns="0" tIns="0" rIns="0" bIns="0" rtlCol="0" anchor="t">
            <a:noAutofit/>
          </a:bodyPr>
          <a:lstStyle/>
          <a:p>
            <a:r>
              <a:rPr lang="en-US" sz="1500" i="1">
                <a:solidFill>
                  <a:srgbClr val="14213D"/>
                </a:solidFill>
                <a:latin typeface="Calibri" panose="020F0502020204030204" pitchFamily="34" charset="0"/>
              </a:rPr>
              <a:t>Exam tip: pay and perks are hygiene factors. Raising them removes dissatisfaction but does not, by itself, create motivation.</a:t>
            </a:r>
          </a:p>
        </p:txBody>
      </p:sp>
      <p:sp>
        <p:nvSpPr>
          <p:cNvPr id="12" name="Footer">
            <a:extLst>
              <a:ext uri="{FF2B5EF4-FFF2-40B4-BE49-F238E27FC236}">
                <a16:creationId xmlns:a16="http://schemas.microsoft.com/office/drawing/2014/main" id="{4989AF24-2511-3E92-68CE-EE0A6D490754}"/>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Frederick Herzberg, The Motivation to Work (1959)</a:t>
            </a:r>
          </a:p>
        </p:txBody>
      </p:sp>
      <p:sp>
        <p:nvSpPr>
          <p:cNvPr id="13" name="SlideNum">
            <a:extLst>
              <a:ext uri="{FF2B5EF4-FFF2-40B4-BE49-F238E27FC236}">
                <a16:creationId xmlns:a16="http://schemas.microsoft.com/office/drawing/2014/main" id="{F6FB3E4E-4C3E-9A77-24B1-41075B1A2DE2}"/>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18</a:t>
            </a:r>
          </a:p>
        </p:txBody>
      </p:sp>
      <p:sp>
        <p:nvSpPr>
          <p:cNvPr id="14"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454175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FDB3FF66-628E-6373-08FC-6BC2B694EABA}"/>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Management by objectives (MBO)</a:t>
            </a:r>
          </a:p>
        </p:txBody>
      </p:sp>
      <p:sp>
        <p:nvSpPr>
          <p:cNvPr id="3" name="Tag">
            <a:extLst>
              <a:ext uri="{FF2B5EF4-FFF2-40B4-BE49-F238E27FC236}">
                <a16:creationId xmlns:a16="http://schemas.microsoft.com/office/drawing/2014/main" id="{49E4D6FB-5BE7-63E7-65A6-D930C884FF8E}"/>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0F7C80"/>
                </a:solidFill>
                <a:latin typeface="Calibri" panose="020F0502020204030204" pitchFamily="34" charset="0"/>
              </a:rPr>
              <a:t>People deep dive · Supports People Task 3 · Lead the project team (establish expectations at the team level)</a:t>
            </a:r>
          </a:p>
        </p:txBody>
      </p:sp>
      <p:sp>
        <p:nvSpPr>
          <p:cNvPr id="4" name="Oval 3">
            <a:extLst>
              <a:ext uri="{FF2B5EF4-FFF2-40B4-BE49-F238E27FC236}">
                <a16:creationId xmlns:a16="http://schemas.microsoft.com/office/drawing/2014/main" id="{F4920CDA-C399-1A55-1EFE-80B7ABFC9734}"/>
              </a:ext>
            </a:extLst>
          </p:cNvPr>
          <p:cNvSpPr/>
          <p:nvPr/>
        </p:nvSpPr>
        <p:spPr>
          <a:xfrm>
            <a:off x="3175000" y="2794000"/>
            <a:ext cx="2032000" cy="2032000"/>
          </a:xfrm>
          <a:prstGeom prst="ellipse">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700" b="1">
                <a:solidFill>
                  <a:srgbClr val="FFFFFF"/>
                </a:solidFill>
                <a:latin typeface="Calibri" panose="020F0502020204030204" pitchFamily="34" charset="0"/>
              </a:rPr>
              <a:t>Management</a:t>
            </a:r>
          </a:p>
          <a:p>
            <a:pPr algn="ctr"/>
            <a:r>
              <a:rPr lang="en-US" sz="1700" b="1">
                <a:solidFill>
                  <a:srgbClr val="FFFFFF"/>
                </a:solidFill>
                <a:latin typeface="Calibri" panose="020F0502020204030204" pitchFamily="34" charset="0"/>
              </a:rPr>
              <a:t>by objectives</a:t>
            </a:r>
          </a:p>
        </p:txBody>
      </p:sp>
      <p:cxnSp>
        <p:nvCxnSpPr>
          <p:cNvPr id="5" name="Straight Connector 4">
            <a:extLst>
              <a:ext uri="{FF2B5EF4-FFF2-40B4-BE49-F238E27FC236}">
                <a16:creationId xmlns:a16="http://schemas.microsoft.com/office/drawing/2014/main" id="{AB474BEE-0E69-F7E7-1316-81F326F0E374}"/>
              </a:ext>
            </a:extLst>
          </p:cNvPr>
          <p:cNvCxnSpPr/>
          <p:nvPr/>
        </p:nvCxnSpPr>
        <p:spPr>
          <a:xfrm>
            <a:off x="5295900" y="2424186"/>
            <a:ext cx="647700" cy="1121849"/>
          </a:xfrm>
          <a:prstGeom prst="line">
            <a:avLst/>
          </a:prstGeom>
          <a:ln w="38100">
            <a:solidFill>
              <a:srgbClr val="E3A63B"/>
            </a:solidFill>
            <a:tailEnd type="triangle"/>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7D479479-5CDD-9489-D2C1-0041DCA48455}"/>
              </a:ext>
            </a:extLst>
          </p:cNvPr>
          <p:cNvCxnSpPr/>
          <p:nvPr/>
        </p:nvCxnSpPr>
        <p:spPr>
          <a:xfrm flipH="1">
            <a:off x="5295900" y="4073965"/>
            <a:ext cx="647700" cy="1121849"/>
          </a:xfrm>
          <a:prstGeom prst="line">
            <a:avLst/>
          </a:prstGeom>
          <a:ln w="38100">
            <a:solidFill>
              <a:srgbClr val="E3A63B"/>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D21DCFDB-5A06-5264-6AF2-CC75C0F129BA}"/>
              </a:ext>
            </a:extLst>
          </p:cNvPr>
          <p:cNvCxnSpPr/>
          <p:nvPr/>
        </p:nvCxnSpPr>
        <p:spPr>
          <a:xfrm flipH="1">
            <a:off x="3543300" y="5459778"/>
            <a:ext cx="1295400" cy="0"/>
          </a:xfrm>
          <a:prstGeom prst="line">
            <a:avLst/>
          </a:prstGeom>
          <a:ln w="38100">
            <a:solidFill>
              <a:srgbClr val="E3A63B"/>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1FD399D0-D8B1-FE3D-C4FE-439EE2BA3C47}"/>
              </a:ext>
            </a:extLst>
          </p:cNvPr>
          <p:cNvCxnSpPr/>
          <p:nvPr/>
        </p:nvCxnSpPr>
        <p:spPr>
          <a:xfrm flipH="1" flipV="1">
            <a:off x="2438400" y="4073965"/>
            <a:ext cx="647700" cy="1121849"/>
          </a:xfrm>
          <a:prstGeom prst="line">
            <a:avLst/>
          </a:prstGeom>
          <a:ln w="38100">
            <a:solidFill>
              <a:srgbClr val="E3A63B"/>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18E0E715-7239-9B57-8981-4FBF517352D4}"/>
              </a:ext>
            </a:extLst>
          </p:cNvPr>
          <p:cNvCxnSpPr/>
          <p:nvPr/>
        </p:nvCxnSpPr>
        <p:spPr>
          <a:xfrm flipV="1">
            <a:off x="2438400" y="2424186"/>
            <a:ext cx="647700" cy="1121849"/>
          </a:xfrm>
          <a:prstGeom prst="line">
            <a:avLst/>
          </a:prstGeom>
          <a:ln w="38100">
            <a:solidFill>
              <a:srgbClr val="E3A63B"/>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0EBBA42-0569-351D-6F3E-1349857DA17E}"/>
              </a:ext>
            </a:extLst>
          </p:cNvPr>
          <p:cNvCxnSpPr/>
          <p:nvPr/>
        </p:nvCxnSpPr>
        <p:spPr>
          <a:xfrm>
            <a:off x="3543300" y="2160222"/>
            <a:ext cx="1295400" cy="0"/>
          </a:xfrm>
          <a:prstGeom prst="line">
            <a:avLst/>
          </a:prstGeom>
          <a:ln w="38100">
            <a:solidFill>
              <a:srgbClr val="E3A63B"/>
            </a:solidFill>
            <a:tailEnd type="triangle"/>
          </a:ln>
        </p:spPr>
        <p:style>
          <a:lnRef idx="2">
            <a:schemeClr val="accent1"/>
          </a:lnRef>
          <a:fillRef idx="0">
            <a:schemeClr val="accent1"/>
          </a:fillRef>
          <a:effectRef idx="1">
            <a:schemeClr val="accent1"/>
          </a:effectRef>
          <a:fontRef idx="minor">
            <a:schemeClr val="tx1"/>
          </a:fontRef>
        </p:style>
      </p:cxnSp>
      <p:sp>
        <p:nvSpPr>
          <p:cNvPr id="11" name="Oval 10">
            <a:extLst>
              <a:ext uri="{FF2B5EF4-FFF2-40B4-BE49-F238E27FC236}">
                <a16:creationId xmlns:a16="http://schemas.microsoft.com/office/drawing/2014/main" id="{D59ADCC8-3A41-EA51-97A8-6241708D6B92}"/>
              </a:ext>
            </a:extLst>
          </p:cNvPr>
          <p:cNvSpPr/>
          <p:nvPr/>
        </p:nvSpPr>
        <p:spPr>
          <a:xfrm>
            <a:off x="4914900" y="1931622"/>
            <a:ext cx="457200" cy="457200"/>
          </a:xfrm>
          <a:prstGeom prst="ellipse">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400" b="1">
                <a:solidFill>
                  <a:srgbClr val="FFFFFF"/>
                </a:solidFill>
                <a:latin typeface="Calibri" panose="020F0502020204030204" pitchFamily="34" charset="0"/>
              </a:rPr>
              <a:t>1</a:t>
            </a:r>
          </a:p>
        </p:txBody>
      </p:sp>
      <p:sp>
        <p:nvSpPr>
          <p:cNvPr id="12" name="TextBox 11">
            <a:extLst>
              <a:ext uri="{FF2B5EF4-FFF2-40B4-BE49-F238E27FC236}">
                <a16:creationId xmlns:a16="http://schemas.microsoft.com/office/drawing/2014/main" id="{C42B0018-4F2E-9A3D-E2A9-71EE7447E1E9}"/>
              </a:ext>
            </a:extLst>
          </p:cNvPr>
          <p:cNvSpPr txBox="1"/>
          <p:nvPr/>
        </p:nvSpPr>
        <p:spPr>
          <a:xfrm>
            <a:off x="5448300" y="1804622"/>
            <a:ext cx="1473200" cy="711200"/>
          </a:xfrm>
          <a:prstGeom prst="rect">
            <a:avLst/>
          </a:prstGeom>
          <a:noFill/>
        </p:spPr>
        <p:txBody>
          <a:bodyPr vert="horz" wrap="square" lIns="0" tIns="0" rIns="0" bIns="0" rtlCol="0" anchor="ctr">
            <a:noAutofit/>
          </a:bodyPr>
          <a:lstStyle/>
          <a:p>
            <a:r>
              <a:rPr lang="en-US" sz="1400" b="1">
                <a:solidFill>
                  <a:srgbClr val="14213D"/>
                </a:solidFill>
                <a:latin typeface="Calibri" panose="020F0502020204030204" pitchFamily="34" charset="0"/>
              </a:rPr>
              <a:t>Define organization goals</a:t>
            </a:r>
          </a:p>
        </p:txBody>
      </p:sp>
      <p:sp>
        <p:nvSpPr>
          <p:cNvPr id="13" name="Oval 12">
            <a:extLst>
              <a:ext uri="{FF2B5EF4-FFF2-40B4-BE49-F238E27FC236}">
                <a16:creationId xmlns:a16="http://schemas.microsoft.com/office/drawing/2014/main" id="{D38DA53C-7F62-800D-2B72-89B2148175BC}"/>
              </a:ext>
            </a:extLst>
          </p:cNvPr>
          <p:cNvSpPr/>
          <p:nvPr/>
        </p:nvSpPr>
        <p:spPr>
          <a:xfrm>
            <a:off x="5867400" y="3581400"/>
            <a:ext cx="457200" cy="457200"/>
          </a:xfrm>
          <a:prstGeom prst="ellipse">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400" b="1">
                <a:solidFill>
                  <a:srgbClr val="FFFFFF"/>
                </a:solidFill>
                <a:latin typeface="Calibri" panose="020F0502020204030204" pitchFamily="34" charset="0"/>
              </a:rPr>
              <a:t>2</a:t>
            </a:r>
          </a:p>
        </p:txBody>
      </p:sp>
      <p:sp>
        <p:nvSpPr>
          <p:cNvPr id="14" name="TextBox 13">
            <a:extLst>
              <a:ext uri="{FF2B5EF4-FFF2-40B4-BE49-F238E27FC236}">
                <a16:creationId xmlns:a16="http://schemas.microsoft.com/office/drawing/2014/main" id="{BF1427B2-5383-7145-04C7-C728FAE885CC}"/>
              </a:ext>
            </a:extLst>
          </p:cNvPr>
          <p:cNvSpPr txBox="1"/>
          <p:nvPr/>
        </p:nvSpPr>
        <p:spPr>
          <a:xfrm>
            <a:off x="6400800" y="3454400"/>
            <a:ext cx="1473200" cy="711200"/>
          </a:xfrm>
          <a:prstGeom prst="rect">
            <a:avLst/>
          </a:prstGeom>
          <a:noFill/>
        </p:spPr>
        <p:txBody>
          <a:bodyPr vert="horz" wrap="square" lIns="0" tIns="0" rIns="0" bIns="0" rtlCol="0" anchor="ctr">
            <a:noAutofit/>
          </a:bodyPr>
          <a:lstStyle/>
          <a:p>
            <a:r>
              <a:rPr lang="en-US" sz="1400" b="1">
                <a:solidFill>
                  <a:srgbClr val="14213D"/>
                </a:solidFill>
                <a:latin typeface="Calibri" panose="020F0502020204030204" pitchFamily="34" charset="0"/>
              </a:rPr>
              <a:t>Define employee objectives</a:t>
            </a:r>
          </a:p>
        </p:txBody>
      </p:sp>
      <p:sp>
        <p:nvSpPr>
          <p:cNvPr id="15" name="Oval 14">
            <a:extLst>
              <a:ext uri="{FF2B5EF4-FFF2-40B4-BE49-F238E27FC236}">
                <a16:creationId xmlns:a16="http://schemas.microsoft.com/office/drawing/2014/main" id="{EA1D8BE0-DC14-34DC-9C09-51BDE12364A8}"/>
              </a:ext>
            </a:extLst>
          </p:cNvPr>
          <p:cNvSpPr/>
          <p:nvPr/>
        </p:nvSpPr>
        <p:spPr>
          <a:xfrm>
            <a:off x="4914900" y="5231178"/>
            <a:ext cx="457200" cy="457200"/>
          </a:xfrm>
          <a:prstGeom prst="ellipse">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400" b="1">
                <a:solidFill>
                  <a:srgbClr val="FFFFFF"/>
                </a:solidFill>
                <a:latin typeface="Calibri" panose="020F0502020204030204" pitchFamily="34" charset="0"/>
              </a:rPr>
              <a:t>3</a:t>
            </a:r>
          </a:p>
        </p:txBody>
      </p:sp>
      <p:sp>
        <p:nvSpPr>
          <p:cNvPr id="16" name="TextBox 15">
            <a:extLst>
              <a:ext uri="{FF2B5EF4-FFF2-40B4-BE49-F238E27FC236}">
                <a16:creationId xmlns:a16="http://schemas.microsoft.com/office/drawing/2014/main" id="{95166197-8A89-6402-26E5-F9A37142D45F}"/>
              </a:ext>
            </a:extLst>
          </p:cNvPr>
          <p:cNvSpPr txBox="1"/>
          <p:nvPr/>
        </p:nvSpPr>
        <p:spPr>
          <a:xfrm>
            <a:off x="5448300" y="5104178"/>
            <a:ext cx="1473200" cy="711200"/>
          </a:xfrm>
          <a:prstGeom prst="rect">
            <a:avLst/>
          </a:prstGeom>
          <a:noFill/>
        </p:spPr>
        <p:txBody>
          <a:bodyPr vert="horz" wrap="square" lIns="0" tIns="0" rIns="0" bIns="0" rtlCol="0" anchor="ctr">
            <a:noAutofit/>
          </a:bodyPr>
          <a:lstStyle/>
          <a:p>
            <a:r>
              <a:rPr lang="en-US" sz="1400" b="1">
                <a:solidFill>
                  <a:srgbClr val="14213D"/>
                </a:solidFill>
                <a:latin typeface="Calibri" panose="020F0502020204030204" pitchFamily="34" charset="0"/>
              </a:rPr>
              <a:t>Monitor performance and progress</a:t>
            </a:r>
          </a:p>
        </p:txBody>
      </p:sp>
      <p:sp>
        <p:nvSpPr>
          <p:cNvPr id="17" name="Oval 16">
            <a:extLst>
              <a:ext uri="{FF2B5EF4-FFF2-40B4-BE49-F238E27FC236}">
                <a16:creationId xmlns:a16="http://schemas.microsoft.com/office/drawing/2014/main" id="{3ED94D4D-9954-EE0B-A4EF-2AA10287966D}"/>
              </a:ext>
            </a:extLst>
          </p:cNvPr>
          <p:cNvSpPr/>
          <p:nvPr/>
        </p:nvSpPr>
        <p:spPr>
          <a:xfrm>
            <a:off x="3009900" y="5231178"/>
            <a:ext cx="457200" cy="457200"/>
          </a:xfrm>
          <a:prstGeom prst="ellipse">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400" b="1">
                <a:solidFill>
                  <a:srgbClr val="FFFFFF"/>
                </a:solidFill>
                <a:latin typeface="Calibri" panose="020F0502020204030204" pitchFamily="34" charset="0"/>
              </a:rPr>
              <a:t>4</a:t>
            </a:r>
          </a:p>
        </p:txBody>
      </p:sp>
      <p:sp>
        <p:nvSpPr>
          <p:cNvPr id="18" name="TextBox 17">
            <a:extLst>
              <a:ext uri="{FF2B5EF4-FFF2-40B4-BE49-F238E27FC236}">
                <a16:creationId xmlns:a16="http://schemas.microsoft.com/office/drawing/2014/main" id="{E7184292-C05C-493B-5802-2B15E3B38410}"/>
              </a:ext>
            </a:extLst>
          </p:cNvPr>
          <p:cNvSpPr txBox="1"/>
          <p:nvPr/>
        </p:nvSpPr>
        <p:spPr>
          <a:xfrm>
            <a:off x="1460500" y="5104178"/>
            <a:ext cx="1473200" cy="711200"/>
          </a:xfrm>
          <a:prstGeom prst="rect">
            <a:avLst/>
          </a:prstGeom>
          <a:noFill/>
        </p:spPr>
        <p:txBody>
          <a:bodyPr vert="horz" wrap="square" lIns="0" tIns="0" rIns="0" bIns="0" rtlCol="0" anchor="ctr">
            <a:noAutofit/>
          </a:bodyPr>
          <a:lstStyle/>
          <a:p>
            <a:pPr algn="r"/>
            <a:r>
              <a:rPr lang="en-US" sz="1400" b="1">
                <a:solidFill>
                  <a:srgbClr val="14213D"/>
                </a:solidFill>
                <a:latin typeface="Calibri" panose="020F0502020204030204" pitchFamily="34" charset="0"/>
              </a:rPr>
              <a:t>Provide feedback</a:t>
            </a:r>
          </a:p>
        </p:txBody>
      </p:sp>
      <p:sp>
        <p:nvSpPr>
          <p:cNvPr id="19" name="Oval 18">
            <a:extLst>
              <a:ext uri="{FF2B5EF4-FFF2-40B4-BE49-F238E27FC236}">
                <a16:creationId xmlns:a16="http://schemas.microsoft.com/office/drawing/2014/main" id="{0F9B3CB2-420B-F218-8C95-3A73EAEB5315}"/>
              </a:ext>
            </a:extLst>
          </p:cNvPr>
          <p:cNvSpPr/>
          <p:nvPr/>
        </p:nvSpPr>
        <p:spPr>
          <a:xfrm>
            <a:off x="2057400" y="3581400"/>
            <a:ext cx="457200" cy="457200"/>
          </a:xfrm>
          <a:prstGeom prst="ellipse">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400" b="1">
                <a:solidFill>
                  <a:srgbClr val="FFFFFF"/>
                </a:solidFill>
                <a:latin typeface="Calibri" panose="020F0502020204030204" pitchFamily="34" charset="0"/>
              </a:rPr>
              <a:t>5</a:t>
            </a:r>
          </a:p>
        </p:txBody>
      </p:sp>
      <p:sp>
        <p:nvSpPr>
          <p:cNvPr id="20" name="TextBox 19">
            <a:extLst>
              <a:ext uri="{FF2B5EF4-FFF2-40B4-BE49-F238E27FC236}">
                <a16:creationId xmlns:a16="http://schemas.microsoft.com/office/drawing/2014/main" id="{9D1AC667-BFA4-A471-9023-2AE03A412110}"/>
              </a:ext>
            </a:extLst>
          </p:cNvPr>
          <p:cNvSpPr txBox="1"/>
          <p:nvPr/>
        </p:nvSpPr>
        <p:spPr>
          <a:xfrm>
            <a:off x="508000" y="3454400"/>
            <a:ext cx="1473200" cy="711200"/>
          </a:xfrm>
          <a:prstGeom prst="rect">
            <a:avLst/>
          </a:prstGeom>
          <a:noFill/>
        </p:spPr>
        <p:txBody>
          <a:bodyPr vert="horz" wrap="square" lIns="0" tIns="0" rIns="0" bIns="0" rtlCol="0" anchor="ctr">
            <a:noAutofit/>
          </a:bodyPr>
          <a:lstStyle/>
          <a:p>
            <a:pPr algn="r"/>
            <a:r>
              <a:rPr lang="en-US" sz="1400" b="1">
                <a:solidFill>
                  <a:srgbClr val="14213D"/>
                </a:solidFill>
                <a:latin typeface="Calibri" panose="020F0502020204030204" pitchFamily="34" charset="0"/>
              </a:rPr>
              <a:t>Performance appraisal</a:t>
            </a:r>
          </a:p>
        </p:txBody>
      </p:sp>
      <p:sp>
        <p:nvSpPr>
          <p:cNvPr id="21" name="Oval 20">
            <a:extLst>
              <a:ext uri="{FF2B5EF4-FFF2-40B4-BE49-F238E27FC236}">
                <a16:creationId xmlns:a16="http://schemas.microsoft.com/office/drawing/2014/main" id="{E5778FD3-EAC6-964F-C323-377F79810F52}"/>
              </a:ext>
            </a:extLst>
          </p:cNvPr>
          <p:cNvSpPr/>
          <p:nvPr/>
        </p:nvSpPr>
        <p:spPr>
          <a:xfrm>
            <a:off x="3009900" y="1931622"/>
            <a:ext cx="457200" cy="457200"/>
          </a:xfrm>
          <a:prstGeom prst="ellipse">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400" b="1">
                <a:solidFill>
                  <a:srgbClr val="FFFFFF"/>
                </a:solidFill>
                <a:latin typeface="Calibri" panose="020F0502020204030204" pitchFamily="34" charset="0"/>
              </a:rPr>
              <a:t>6</a:t>
            </a:r>
          </a:p>
        </p:txBody>
      </p:sp>
      <p:sp>
        <p:nvSpPr>
          <p:cNvPr id="22" name="TextBox 21">
            <a:extLst>
              <a:ext uri="{FF2B5EF4-FFF2-40B4-BE49-F238E27FC236}">
                <a16:creationId xmlns:a16="http://schemas.microsoft.com/office/drawing/2014/main" id="{601DAAFF-5777-E4A2-7D7A-57C91515A987}"/>
              </a:ext>
            </a:extLst>
          </p:cNvPr>
          <p:cNvSpPr txBox="1"/>
          <p:nvPr/>
        </p:nvSpPr>
        <p:spPr>
          <a:xfrm>
            <a:off x="1460500" y="1804622"/>
            <a:ext cx="1473200" cy="711200"/>
          </a:xfrm>
          <a:prstGeom prst="rect">
            <a:avLst/>
          </a:prstGeom>
          <a:noFill/>
        </p:spPr>
        <p:txBody>
          <a:bodyPr vert="horz" wrap="square" lIns="0" tIns="0" rIns="0" bIns="0" rtlCol="0" anchor="ctr">
            <a:noAutofit/>
          </a:bodyPr>
          <a:lstStyle/>
          <a:p>
            <a:pPr algn="r"/>
            <a:r>
              <a:rPr lang="en-US" sz="1400" b="1">
                <a:solidFill>
                  <a:srgbClr val="14213D"/>
                </a:solidFill>
                <a:latin typeface="Calibri" panose="020F0502020204030204" pitchFamily="34" charset="0"/>
              </a:rPr>
              <a:t>Performance evaluation</a:t>
            </a:r>
          </a:p>
        </p:txBody>
      </p:sp>
      <p:sp>
        <p:nvSpPr>
          <p:cNvPr id="23" name="Rectangle: Rounded Corners 22">
            <a:extLst>
              <a:ext uri="{FF2B5EF4-FFF2-40B4-BE49-F238E27FC236}">
                <a16:creationId xmlns:a16="http://schemas.microsoft.com/office/drawing/2014/main" id="{E1CAD376-F4D3-09BA-87C9-5A16ACEA40E1}"/>
              </a:ext>
            </a:extLst>
          </p:cNvPr>
          <p:cNvSpPr/>
          <p:nvPr/>
        </p:nvSpPr>
        <p:spPr>
          <a:xfrm>
            <a:off x="8128000" y="1397000"/>
            <a:ext cx="3556000" cy="23622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6707420C-67DF-83EF-A768-43194E4C35BE}"/>
              </a:ext>
            </a:extLst>
          </p:cNvPr>
          <p:cNvSpPr txBox="1"/>
          <p:nvPr/>
        </p:nvSpPr>
        <p:spPr>
          <a:xfrm>
            <a:off x="8331200" y="1600200"/>
            <a:ext cx="3149600" cy="1955800"/>
          </a:xfrm>
          <a:prstGeom prst="rect">
            <a:avLst/>
          </a:prstGeom>
          <a:noFill/>
        </p:spPr>
        <p:txBody>
          <a:bodyPr vert="horz" wrap="square" lIns="0" tIns="0" rIns="0" bIns="0" rtlCol="0" anchor="t">
            <a:noAutofit/>
          </a:bodyPr>
          <a:lstStyle/>
          <a:p>
            <a:pPr>
              <a:spcAft>
                <a:spcPts val="600"/>
              </a:spcAft>
            </a:pPr>
            <a:r>
              <a:rPr lang="en-US" sz="1700" b="1">
                <a:solidFill>
                  <a:srgbClr val="14213D"/>
                </a:solidFill>
                <a:latin typeface="Calibri" panose="020F0502020204030204" pitchFamily="34" charset="0"/>
              </a:rPr>
              <a:t>How it works</a:t>
            </a:r>
          </a:p>
          <a:p>
            <a:r>
              <a:rPr lang="en-US" sz="1400">
                <a:solidFill>
                  <a:srgbClr val="1F2937"/>
                </a:solidFill>
                <a:latin typeface="Calibri" panose="020F0502020204030204" pitchFamily="34" charset="0"/>
              </a:rPr>
              <a:t>Organization goals cascade into objectives each person agrees with their manager. Progress is tracked, feedback given, and performance appraised against those objectives.</a:t>
            </a:r>
          </a:p>
        </p:txBody>
      </p:sp>
      <p:sp>
        <p:nvSpPr>
          <p:cNvPr id="25" name="Rectangle: Rounded Corners 24">
            <a:extLst>
              <a:ext uri="{FF2B5EF4-FFF2-40B4-BE49-F238E27FC236}">
                <a16:creationId xmlns:a16="http://schemas.microsoft.com/office/drawing/2014/main" id="{8E595B58-A9B8-C5F7-184C-AD35AE021E9B}"/>
              </a:ext>
            </a:extLst>
          </p:cNvPr>
          <p:cNvSpPr/>
          <p:nvPr/>
        </p:nvSpPr>
        <p:spPr>
          <a:xfrm>
            <a:off x="8128000" y="3937000"/>
            <a:ext cx="3556000" cy="22606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4BED91F4-B237-372F-F080-82F8C18F14F5}"/>
              </a:ext>
            </a:extLst>
          </p:cNvPr>
          <p:cNvSpPr txBox="1"/>
          <p:nvPr/>
        </p:nvSpPr>
        <p:spPr>
          <a:xfrm>
            <a:off x="8331200" y="4140200"/>
            <a:ext cx="3149600" cy="1854200"/>
          </a:xfrm>
          <a:prstGeom prst="rect">
            <a:avLst/>
          </a:prstGeom>
          <a:noFill/>
        </p:spPr>
        <p:txBody>
          <a:bodyPr vert="horz" wrap="square" lIns="0" tIns="0" rIns="0" bIns="0" rtlCol="0" anchor="t">
            <a:noAutofit/>
          </a:bodyPr>
          <a:lstStyle/>
          <a:p>
            <a:pPr>
              <a:spcAft>
                <a:spcPts val="600"/>
              </a:spcAft>
            </a:pPr>
            <a:r>
              <a:rPr lang="en-US" sz="1700" b="1">
                <a:solidFill>
                  <a:srgbClr val="0F7C80"/>
                </a:solidFill>
                <a:latin typeface="Calibri" panose="020F0502020204030204" pitchFamily="34" charset="0"/>
              </a:rPr>
              <a:t>Why it matters</a:t>
            </a:r>
          </a:p>
          <a:p>
            <a:r>
              <a:rPr lang="en-US" sz="1400">
                <a:solidFill>
                  <a:srgbClr val="1F2937"/>
                </a:solidFill>
                <a:latin typeface="Calibri" panose="020F0502020204030204" pitchFamily="34" charset="0"/>
              </a:rPr>
              <a:t>It ties each person’s work to strategy and gives a fair basis for appraisal against agreed KPIs.</a:t>
            </a:r>
          </a:p>
        </p:txBody>
      </p:sp>
      <p:sp>
        <p:nvSpPr>
          <p:cNvPr id="27" name="Footer">
            <a:extLst>
              <a:ext uri="{FF2B5EF4-FFF2-40B4-BE49-F238E27FC236}">
                <a16:creationId xmlns:a16="http://schemas.microsoft.com/office/drawing/2014/main" id="{E9A032AD-D93C-4BA8-0C68-B0B7636E22B0}"/>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Peter Drucker, The Practice of Management (1954)</a:t>
            </a:r>
          </a:p>
        </p:txBody>
      </p:sp>
      <p:sp>
        <p:nvSpPr>
          <p:cNvPr id="28" name="SlideNum">
            <a:extLst>
              <a:ext uri="{FF2B5EF4-FFF2-40B4-BE49-F238E27FC236}">
                <a16:creationId xmlns:a16="http://schemas.microsoft.com/office/drawing/2014/main" id="{B184086A-3FB4-1AC5-2358-2FD044D92E02}"/>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19</a:t>
            </a:r>
          </a:p>
        </p:txBody>
      </p:sp>
      <p:sp>
        <p:nvSpPr>
          <p:cNvPr id="29"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964228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960486C8-92D9-BC09-345F-8B2C72B366DE}"/>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Team performance assessments</a:t>
            </a:r>
          </a:p>
        </p:txBody>
      </p:sp>
      <p:sp>
        <p:nvSpPr>
          <p:cNvPr id="3" name="Tag">
            <a:extLst>
              <a:ext uri="{FF2B5EF4-FFF2-40B4-BE49-F238E27FC236}">
                <a16:creationId xmlns:a16="http://schemas.microsoft.com/office/drawing/2014/main" id="{32166E86-1A58-2F45-30CA-F74DD2902ECE}"/>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0F7C80"/>
                </a:solidFill>
                <a:latin typeface="Calibri" panose="020F0502020204030204" pitchFamily="34" charset="0"/>
              </a:rPr>
              <a:t>People deep dive · Supports People Task 3 (Lead the project team: establish expectations, solve problems)</a:t>
            </a:r>
          </a:p>
        </p:txBody>
      </p:sp>
      <p:sp>
        <p:nvSpPr>
          <p:cNvPr id="4" name="Rectangle: Rounded Corners 3">
            <a:extLst>
              <a:ext uri="{FF2B5EF4-FFF2-40B4-BE49-F238E27FC236}">
                <a16:creationId xmlns:a16="http://schemas.microsoft.com/office/drawing/2014/main" id="{2BB59019-95E8-EC78-C8B1-0B74C044BA0A}"/>
              </a:ext>
            </a:extLst>
          </p:cNvPr>
          <p:cNvSpPr/>
          <p:nvPr/>
        </p:nvSpPr>
        <p:spPr>
          <a:xfrm>
            <a:off x="508000" y="1320800"/>
            <a:ext cx="2108200" cy="12954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C9CA8BF-135A-362C-FC2D-76FB763F63CC}"/>
              </a:ext>
            </a:extLst>
          </p:cNvPr>
          <p:cNvSpPr txBox="1"/>
          <p:nvPr/>
        </p:nvSpPr>
        <p:spPr>
          <a:xfrm>
            <a:off x="635000" y="1447800"/>
            <a:ext cx="1854200" cy="1041400"/>
          </a:xfrm>
          <a:prstGeom prst="rect">
            <a:avLst/>
          </a:prstGeom>
          <a:noFill/>
        </p:spPr>
        <p:txBody>
          <a:bodyPr vert="horz" wrap="square" lIns="0" tIns="0" rIns="0" bIns="0" rtlCol="0" anchor="t">
            <a:noAutofit/>
          </a:bodyPr>
          <a:lstStyle/>
          <a:p>
            <a:pPr>
              <a:spcAft>
                <a:spcPts val="600"/>
              </a:spcAft>
            </a:pPr>
            <a:r>
              <a:rPr lang="en-US" sz="1300" b="1">
                <a:solidFill>
                  <a:srgbClr val="0F7C80"/>
                </a:solidFill>
                <a:latin typeface="Calibri" panose="020F0502020204030204" pitchFamily="34" charset="0"/>
              </a:rPr>
              <a:t>1  Compare to goals</a:t>
            </a:r>
          </a:p>
          <a:p>
            <a:r>
              <a:rPr lang="en-US" sz="1200">
                <a:solidFill>
                  <a:srgbClr val="1F2937"/>
                </a:solidFill>
                <a:latin typeface="Calibri" panose="020F0502020204030204" pitchFamily="34" charset="0"/>
              </a:rPr>
              <a:t>Measure performance against agreed objectives and KPIs.</a:t>
            </a:r>
          </a:p>
        </p:txBody>
      </p:sp>
      <p:sp>
        <p:nvSpPr>
          <p:cNvPr id="6" name="Rectangle: Rounded Corners 5">
            <a:extLst>
              <a:ext uri="{FF2B5EF4-FFF2-40B4-BE49-F238E27FC236}">
                <a16:creationId xmlns:a16="http://schemas.microsoft.com/office/drawing/2014/main" id="{6A998898-7C90-71DF-2601-7B8C738DC12F}"/>
              </a:ext>
            </a:extLst>
          </p:cNvPr>
          <p:cNvSpPr/>
          <p:nvPr/>
        </p:nvSpPr>
        <p:spPr>
          <a:xfrm>
            <a:off x="2743200" y="1320800"/>
            <a:ext cx="2108200" cy="12954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F8ECC10-EF4F-EE60-2363-D17F7A2727F0}"/>
              </a:ext>
            </a:extLst>
          </p:cNvPr>
          <p:cNvSpPr txBox="1"/>
          <p:nvPr/>
        </p:nvSpPr>
        <p:spPr>
          <a:xfrm>
            <a:off x="2870200" y="1447800"/>
            <a:ext cx="1854200" cy="1041400"/>
          </a:xfrm>
          <a:prstGeom prst="rect">
            <a:avLst/>
          </a:prstGeom>
          <a:noFill/>
        </p:spPr>
        <p:txBody>
          <a:bodyPr vert="horz" wrap="square" lIns="0" tIns="0" rIns="0" bIns="0" rtlCol="0" anchor="t">
            <a:noAutofit/>
          </a:bodyPr>
          <a:lstStyle/>
          <a:p>
            <a:pPr>
              <a:spcAft>
                <a:spcPts val="600"/>
              </a:spcAft>
            </a:pPr>
            <a:r>
              <a:rPr lang="en-US" sz="1300" b="1">
                <a:solidFill>
                  <a:srgbClr val="0F7C80"/>
                </a:solidFill>
                <a:latin typeface="Calibri" panose="020F0502020204030204" pitchFamily="34" charset="0"/>
              </a:rPr>
              <a:t>2  Reclarify roles</a:t>
            </a:r>
          </a:p>
          <a:p>
            <a:r>
              <a:rPr lang="en-US" sz="1200">
                <a:solidFill>
                  <a:srgbClr val="1F2937"/>
                </a:solidFill>
                <a:latin typeface="Calibri" panose="020F0502020204030204" pitchFamily="34" charset="0"/>
              </a:rPr>
              <a:t>Confirm roles and responsibilities.</a:t>
            </a:r>
          </a:p>
        </p:txBody>
      </p:sp>
      <p:sp>
        <p:nvSpPr>
          <p:cNvPr id="8" name="Rectangle: Rounded Corners 7">
            <a:extLst>
              <a:ext uri="{FF2B5EF4-FFF2-40B4-BE49-F238E27FC236}">
                <a16:creationId xmlns:a16="http://schemas.microsoft.com/office/drawing/2014/main" id="{4EE9624D-2D64-D0DD-0B59-C2B25D985A6B}"/>
              </a:ext>
            </a:extLst>
          </p:cNvPr>
          <p:cNvSpPr/>
          <p:nvPr/>
        </p:nvSpPr>
        <p:spPr>
          <a:xfrm>
            <a:off x="4978400" y="1320800"/>
            <a:ext cx="2108200" cy="12954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48DE3E4-53DC-0BF1-C2B2-E0CFDA2F7319}"/>
              </a:ext>
            </a:extLst>
          </p:cNvPr>
          <p:cNvSpPr txBox="1"/>
          <p:nvPr/>
        </p:nvSpPr>
        <p:spPr>
          <a:xfrm>
            <a:off x="5105400" y="1447800"/>
            <a:ext cx="1854200" cy="1041400"/>
          </a:xfrm>
          <a:prstGeom prst="rect">
            <a:avLst/>
          </a:prstGeom>
          <a:noFill/>
        </p:spPr>
        <p:txBody>
          <a:bodyPr vert="horz" wrap="square" lIns="0" tIns="0" rIns="0" bIns="0" rtlCol="0" anchor="t">
            <a:noAutofit/>
          </a:bodyPr>
          <a:lstStyle/>
          <a:p>
            <a:pPr>
              <a:spcAft>
                <a:spcPts val="600"/>
              </a:spcAft>
            </a:pPr>
            <a:r>
              <a:rPr lang="en-US" sz="1300" b="1">
                <a:solidFill>
                  <a:srgbClr val="0F7C80"/>
                </a:solidFill>
                <a:latin typeface="Calibri" panose="020F0502020204030204" pitchFamily="34" charset="0"/>
              </a:rPr>
              <a:t>3  Give feedback</a:t>
            </a:r>
          </a:p>
          <a:p>
            <a:r>
              <a:rPr lang="en-US" sz="1200">
                <a:solidFill>
                  <a:srgbClr val="1F2937"/>
                </a:solidFill>
                <a:latin typeface="Calibri" panose="020F0502020204030204" pitchFamily="34" charset="0"/>
              </a:rPr>
              <a:t>Positive as well as negative.</a:t>
            </a:r>
          </a:p>
        </p:txBody>
      </p:sp>
      <p:sp>
        <p:nvSpPr>
          <p:cNvPr id="10" name="Rectangle: Rounded Corners 9">
            <a:extLst>
              <a:ext uri="{FF2B5EF4-FFF2-40B4-BE49-F238E27FC236}">
                <a16:creationId xmlns:a16="http://schemas.microsoft.com/office/drawing/2014/main" id="{2203F87C-E015-3893-169B-AB978621FCDC}"/>
              </a:ext>
            </a:extLst>
          </p:cNvPr>
          <p:cNvSpPr/>
          <p:nvPr/>
        </p:nvSpPr>
        <p:spPr>
          <a:xfrm>
            <a:off x="508000" y="2743200"/>
            <a:ext cx="2108200" cy="12954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B0FEEDC-2A12-3C6A-53E2-34350DAF421B}"/>
              </a:ext>
            </a:extLst>
          </p:cNvPr>
          <p:cNvSpPr txBox="1"/>
          <p:nvPr/>
        </p:nvSpPr>
        <p:spPr>
          <a:xfrm>
            <a:off x="635000" y="2870200"/>
            <a:ext cx="1854200" cy="1041400"/>
          </a:xfrm>
          <a:prstGeom prst="rect">
            <a:avLst/>
          </a:prstGeom>
          <a:noFill/>
        </p:spPr>
        <p:txBody>
          <a:bodyPr vert="horz" wrap="square" lIns="0" tIns="0" rIns="0" bIns="0" rtlCol="0" anchor="t">
            <a:noAutofit/>
          </a:bodyPr>
          <a:lstStyle/>
          <a:p>
            <a:pPr>
              <a:spcAft>
                <a:spcPts val="600"/>
              </a:spcAft>
            </a:pPr>
            <a:r>
              <a:rPr lang="en-US" sz="1300" b="1">
                <a:solidFill>
                  <a:srgbClr val="0F7C80"/>
                </a:solidFill>
                <a:latin typeface="Calibri" panose="020F0502020204030204" pitchFamily="34" charset="0"/>
              </a:rPr>
              <a:t>4  Surface issues</a:t>
            </a:r>
          </a:p>
          <a:p>
            <a:r>
              <a:rPr lang="en-US" sz="1200">
                <a:solidFill>
                  <a:srgbClr val="1F2937"/>
                </a:solidFill>
                <a:latin typeface="Calibri" panose="020F0502020204030204" pitchFamily="34" charset="0"/>
              </a:rPr>
              <a:t>Discover unknown or unresolved problems.</a:t>
            </a:r>
          </a:p>
        </p:txBody>
      </p:sp>
      <p:sp>
        <p:nvSpPr>
          <p:cNvPr id="12" name="Rectangle: Rounded Corners 11">
            <a:extLst>
              <a:ext uri="{FF2B5EF4-FFF2-40B4-BE49-F238E27FC236}">
                <a16:creationId xmlns:a16="http://schemas.microsoft.com/office/drawing/2014/main" id="{D779BEF4-D6BC-1895-0E4D-509BE1653902}"/>
              </a:ext>
            </a:extLst>
          </p:cNvPr>
          <p:cNvSpPr/>
          <p:nvPr/>
        </p:nvSpPr>
        <p:spPr>
          <a:xfrm>
            <a:off x="2743200" y="2743200"/>
            <a:ext cx="2108200" cy="12954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DB81838-0FBB-7262-4098-6BBC9B5765B5}"/>
              </a:ext>
            </a:extLst>
          </p:cNvPr>
          <p:cNvSpPr txBox="1"/>
          <p:nvPr/>
        </p:nvSpPr>
        <p:spPr>
          <a:xfrm>
            <a:off x="2870200" y="2870200"/>
            <a:ext cx="1854200" cy="1041400"/>
          </a:xfrm>
          <a:prstGeom prst="rect">
            <a:avLst/>
          </a:prstGeom>
          <a:noFill/>
        </p:spPr>
        <p:txBody>
          <a:bodyPr vert="horz" wrap="square" lIns="0" tIns="0" rIns="0" bIns="0" rtlCol="0" anchor="t">
            <a:noAutofit/>
          </a:bodyPr>
          <a:lstStyle/>
          <a:p>
            <a:pPr>
              <a:spcAft>
                <a:spcPts val="600"/>
              </a:spcAft>
            </a:pPr>
            <a:r>
              <a:rPr lang="en-US" sz="1300" b="1">
                <a:solidFill>
                  <a:srgbClr val="0F7C80"/>
                </a:solidFill>
                <a:latin typeface="Calibri" panose="020F0502020204030204" pitchFamily="34" charset="0"/>
              </a:rPr>
              <a:t>5  Plan training</a:t>
            </a:r>
          </a:p>
          <a:p>
            <a:r>
              <a:rPr lang="en-US" sz="1200">
                <a:solidFill>
                  <a:srgbClr val="1F2937"/>
                </a:solidFill>
                <a:latin typeface="Calibri" panose="020F0502020204030204" pitchFamily="34" charset="0"/>
              </a:rPr>
              <a:t>Create and monitor individual training plans.</a:t>
            </a:r>
          </a:p>
        </p:txBody>
      </p:sp>
      <p:sp>
        <p:nvSpPr>
          <p:cNvPr id="14" name="Rectangle: Rounded Corners 13">
            <a:extLst>
              <a:ext uri="{FF2B5EF4-FFF2-40B4-BE49-F238E27FC236}">
                <a16:creationId xmlns:a16="http://schemas.microsoft.com/office/drawing/2014/main" id="{F79CEB12-2762-523D-CD3C-4B1F5E090A1D}"/>
              </a:ext>
            </a:extLst>
          </p:cNvPr>
          <p:cNvSpPr/>
          <p:nvPr/>
        </p:nvSpPr>
        <p:spPr>
          <a:xfrm>
            <a:off x="4978400" y="2743200"/>
            <a:ext cx="2108200" cy="12954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EB788C8-7115-FDF6-E391-352C29F34E73}"/>
              </a:ext>
            </a:extLst>
          </p:cNvPr>
          <p:cNvSpPr txBox="1"/>
          <p:nvPr/>
        </p:nvSpPr>
        <p:spPr>
          <a:xfrm>
            <a:off x="5105400" y="2870200"/>
            <a:ext cx="1854200" cy="1041400"/>
          </a:xfrm>
          <a:prstGeom prst="rect">
            <a:avLst/>
          </a:prstGeom>
          <a:noFill/>
        </p:spPr>
        <p:txBody>
          <a:bodyPr vert="horz" wrap="square" lIns="0" tIns="0" rIns="0" bIns="0" rtlCol="0" anchor="t">
            <a:noAutofit/>
          </a:bodyPr>
          <a:lstStyle/>
          <a:p>
            <a:pPr>
              <a:spcAft>
                <a:spcPts val="600"/>
              </a:spcAft>
            </a:pPr>
            <a:r>
              <a:rPr lang="en-US" sz="1300" b="1">
                <a:solidFill>
                  <a:srgbClr val="0F7C80"/>
                </a:solidFill>
                <a:latin typeface="Calibri" panose="020F0502020204030204" pitchFamily="34" charset="0"/>
              </a:rPr>
              <a:t>6  Set future goals</a:t>
            </a:r>
          </a:p>
          <a:p>
            <a:r>
              <a:rPr lang="en-US" sz="1200">
                <a:solidFill>
                  <a:srgbClr val="1F2937"/>
                </a:solidFill>
                <a:latin typeface="Calibri" panose="020F0502020204030204" pitchFamily="34" charset="0"/>
              </a:rPr>
              <a:t>Agree what comes next.</a:t>
            </a:r>
          </a:p>
        </p:txBody>
      </p:sp>
      <p:sp>
        <p:nvSpPr>
          <p:cNvPr id="16" name="Rectangle: Rounded Corners 15">
            <a:extLst>
              <a:ext uri="{FF2B5EF4-FFF2-40B4-BE49-F238E27FC236}">
                <a16:creationId xmlns:a16="http://schemas.microsoft.com/office/drawing/2014/main" id="{631400B2-0675-D91A-60A5-915AC1BF99FC}"/>
              </a:ext>
            </a:extLst>
          </p:cNvPr>
          <p:cNvSpPr/>
          <p:nvPr/>
        </p:nvSpPr>
        <p:spPr>
          <a:xfrm>
            <a:off x="7366000" y="1320800"/>
            <a:ext cx="4318000" cy="17272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69D0229-E96D-1A94-74EF-050C6A0746CE}"/>
              </a:ext>
            </a:extLst>
          </p:cNvPr>
          <p:cNvSpPr txBox="1"/>
          <p:nvPr/>
        </p:nvSpPr>
        <p:spPr>
          <a:xfrm>
            <a:off x="7543800" y="1498600"/>
            <a:ext cx="3962400" cy="1371600"/>
          </a:xfrm>
          <a:prstGeom prst="rect">
            <a:avLst/>
          </a:prstGeom>
          <a:noFill/>
        </p:spPr>
        <p:txBody>
          <a:bodyPr vert="horz" wrap="square" lIns="0" tIns="0" rIns="0" bIns="0" rtlCol="0" anchor="t">
            <a:noAutofit/>
          </a:bodyPr>
          <a:lstStyle/>
          <a:p>
            <a:pPr>
              <a:spcAft>
                <a:spcPts val="600"/>
              </a:spcAft>
            </a:pPr>
            <a:r>
              <a:rPr lang="en-US" sz="1500" b="1">
                <a:solidFill>
                  <a:srgbClr val="A86F0E"/>
                </a:solidFill>
                <a:latin typeface="Calibri" panose="020F0502020204030204" pitchFamily="34" charset="0"/>
              </a:rPr>
              <a:t>Adaptive teams</a:t>
            </a:r>
          </a:p>
          <a:p>
            <a:pPr marL="203200" indent="-203200">
              <a:spcAft>
                <a:spcPts val="400"/>
              </a:spcAft>
              <a:buClr>
                <a:srgbClr val="A86F0E"/>
              </a:buClr>
              <a:buFont typeface="+mj-lt"/>
              <a:buChar char="•"/>
            </a:pPr>
            <a:r>
              <a:rPr lang="en-US" sz="1200">
                <a:solidFill>
                  <a:srgbClr val="1F2937"/>
                </a:solidFill>
                <a:latin typeface="Calibri" panose="020F0502020204030204" pitchFamily="34" charset="0"/>
              </a:rPr>
              <a:t>Self-organizing teams in psychologically safe environments assess and regulate their own performance.</a:t>
            </a:r>
          </a:p>
          <a:p>
            <a:pPr marL="203200" indent="-203200">
              <a:spcAft>
                <a:spcPts val="400"/>
              </a:spcAft>
              <a:buClr>
                <a:srgbClr val="A86F0E"/>
              </a:buClr>
              <a:buFont typeface="+mj-lt"/>
              <a:buChar char="•"/>
            </a:pPr>
            <a:r>
              <a:rPr lang="en-US" sz="1200">
                <a:solidFill>
                  <a:srgbClr val="1F2937"/>
                </a:solidFill>
                <a:latin typeface="Calibri" panose="020F0502020204030204" pitchFamily="34" charset="0"/>
              </a:rPr>
              <a:t>The focus is on the team rather than on individuals.</a:t>
            </a:r>
          </a:p>
          <a:p>
            <a:pPr marL="203200" indent="-203200">
              <a:spcAft>
                <a:spcPts val="400"/>
              </a:spcAft>
              <a:buClr>
                <a:srgbClr val="A86F0E"/>
              </a:buClr>
              <a:buFont typeface="+mj-lt"/>
              <a:buChar char="•"/>
            </a:pPr>
            <a:r>
              <a:rPr lang="en-US" sz="1200">
                <a:solidFill>
                  <a:srgbClr val="1F2937"/>
                </a:solidFill>
                <a:latin typeface="Calibri" panose="020F0502020204030204" pitchFamily="34" charset="0"/>
              </a:rPr>
              <a:t>Retrospectives are the main tool; the project manager coaches and removes impediments.</a:t>
            </a:r>
          </a:p>
        </p:txBody>
      </p:sp>
      <p:sp>
        <p:nvSpPr>
          <p:cNvPr id="18" name="Rectangle: Rounded Corners 17">
            <a:extLst>
              <a:ext uri="{FF2B5EF4-FFF2-40B4-BE49-F238E27FC236}">
                <a16:creationId xmlns:a16="http://schemas.microsoft.com/office/drawing/2014/main" id="{5147A8F6-D087-EB0E-82E8-986CA593070B}"/>
              </a:ext>
            </a:extLst>
          </p:cNvPr>
          <p:cNvSpPr/>
          <p:nvPr/>
        </p:nvSpPr>
        <p:spPr>
          <a:xfrm>
            <a:off x="508000" y="4191000"/>
            <a:ext cx="5461000" cy="1168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94D0DBD-C9E0-5F66-BF5D-5491BF7897A2}"/>
              </a:ext>
            </a:extLst>
          </p:cNvPr>
          <p:cNvSpPr txBox="1"/>
          <p:nvPr/>
        </p:nvSpPr>
        <p:spPr>
          <a:xfrm>
            <a:off x="660400" y="4343400"/>
            <a:ext cx="5156200" cy="8636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How to assess</a:t>
            </a:r>
          </a:p>
          <a:p>
            <a:r>
              <a:rPr lang="en-US" sz="1200">
                <a:solidFill>
                  <a:srgbClr val="1F2937"/>
                </a:solidFill>
                <a:latin typeface="Calibri" panose="020F0502020204030204" pitchFamily="34" charset="0"/>
              </a:rPr>
              <a:t>Use formal methods (appraisals, 360-degree feedback, skills tests) and informal ones (observation, conversations).</a:t>
            </a:r>
          </a:p>
        </p:txBody>
      </p:sp>
      <p:sp>
        <p:nvSpPr>
          <p:cNvPr id="20" name="Rectangle: Rounded Corners 19">
            <a:extLst>
              <a:ext uri="{FF2B5EF4-FFF2-40B4-BE49-F238E27FC236}">
                <a16:creationId xmlns:a16="http://schemas.microsoft.com/office/drawing/2014/main" id="{064BFCBF-E9FE-DE7E-842E-0ABAFC063DA8}"/>
              </a:ext>
            </a:extLst>
          </p:cNvPr>
          <p:cNvSpPr/>
          <p:nvPr/>
        </p:nvSpPr>
        <p:spPr>
          <a:xfrm>
            <a:off x="6223000" y="4191000"/>
            <a:ext cx="5461000" cy="1168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60C20018-0908-99BF-D270-5F23C6FCD19D}"/>
              </a:ext>
            </a:extLst>
          </p:cNvPr>
          <p:cNvSpPr txBox="1"/>
          <p:nvPr/>
        </p:nvSpPr>
        <p:spPr>
          <a:xfrm>
            <a:off x="6375400" y="4343400"/>
            <a:ext cx="5156200" cy="8636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When to assess</a:t>
            </a:r>
          </a:p>
          <a:p>
            <a:r>
              <a:rPr lang="en-US" sz="1200">
                <a:solidFill>
                  <a:srgbClr val="1F2937"/>
                </a:solidFill>
                <a:latin typeface="Calibri" panose="020F0502020204030204" pitchFamily="34" charset="0"/>
              </a:rPr>
              <a:t>When members join, then monitor progress. Identify strengths, weaknesses, aspirations, preferences, and opportunities to improve.</a:t>
            </a:r>
          </a:p>
        </p:txBody>
      </p:sp>
      <p:sp>
        <p:nvSpPr>
          <p:cNvPr id="22" name="Rectangle: Rounded Corners 21">
            <a:extLst>
              <a:ext uri="{FF2B5EF4-FFF2-40B4-BE49-F238E27FC236}">
                <a16:creationId xmlns:a16="http://schemas.microsoft.com/office/drawing/2014/main" id="{7EFC900A-820C-C15C-3BDB-709709EE8C8B}"/>
              </a:ext>
            </a:extLst>
          </p:cNvPr>
          <p:cNvSpPr/>
          <p:nvPr/>
        </p:nvSpPr>
        <p:spPr>
          <a:xfrm>
            <a:off x="508000" y="5486400"/>
            <a:ext cx="11176000" cy="8382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297FE9A-68CB-3306-2101-25F3F5142A8E}"/>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in predictive settings the project manager appraises against agreed goals; agile teams assess themselves, and the focus is the whole team.</a:t>
            </a:r>
          </a:p>
        </p:txBody>
      </p:sp>
      <p:sp>
        <p:nvSpPr>
          <p:cNvPr id="24" name="Footer">
            <a:extLst>
              <a:ext uri="{FF2B5EF4-FFF2-40B4-BE49-F238E27FC236}">
                <a16:creationId xmlns:a16="http://schemas.microsoft.com/office/drawing/2014/main" id="{E84EE686-1EBF-4AE8-2620-252B697788D3}"/>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9.4 (Develop Team); Seventh Edition, Team Performance Domain; adapted from PMI course material</a:t>
            </a:r>
          </a:p>
        </p:txBody>
      </p:sp>
      <p:sp>
        <p:nvSpPr>
          <p:cNvPr id="25" name="SlideNum">
            <a:extLst>
              <a:ext uri="{FF2B5EF4-FFF2-40B4-BE49-F238E27FC236}">
                <a16:creationId xmlns:a16="http://schemas.microsoft.com/office/drawing/2014/main" id="{E7674B4F-D5BA-9888-5D2B-A30340F5F206}"/>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20</a:t>
            </a:r>
          </a:p>
        </p:txBody>
      </p:sp>
      <p:sp>
        <p:nvSpPr>
          <p:cNvPr id="26" name="Rectangle: Rounded Corners 25">
            <a:extLst>
              <a:ext uri="{FF2B5EF4-FFF2-40B4-BE49-F238E27FC236}">
                <a16:creationId xmlns:a16="http://schemas.microsoft.com/office/drawing/2014/main" id="{D262305A-1342-5627-43F1-18A8A4F943A8}"/>
              </a:ext>
            </a:extLst>
          </p:cNvPr>
          <p:cNvSpPr/>
          <p:nvPr/>
        </p:nvSpPr>
        <p:spPr>
          <a:xfrm>
            <a:off x="7366000" y="3175000"/>
            <a:ext cx="4318000" cy="8636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1BAC762D-5BCF-77D3-F91E-36E807C98B2E}"/>
              </a:ext>
            </a:extLst>
          </p:cNvPr>
          <p:cNvSpPr txBox="1"/>
          <p:nvPr/>
        </p:nvSpPr>
        <p:spPr>
          <a:xfrm>
            <a:off x="7493000" y="3302000"/>
            <a:ext cx="4064000" cy="609600"/>
          </a:xfrm>
          <a:prstGeom prst="rect">
            <a:avLst/>
          </a:prstGeom>
          <a:noFill/>
        </p:spPr>
        <p:txBody>
          <a:bodyPr vert="horz" wrap="square" lIns="0" tIns="0" rIns="0" bIns="0" rtlCol="0" anchor="t">
            <a:noAutofit/>
          </a:bodyPr>
          <a:lstStyle/>
          <a:p>
            <a:pPr>
              <a:spcAft>
                <a:spcPts val="600"/>
              </a:spcAft>
            </a:pPr>
            <a:r>
              <a:rPr lang="en-US" sz="1300" b="1">
                <a:solidFill>
                  <a:srgbClr val="0F7C80"/>
                </a:solidFill>
                <a:latin typeface="Calibri" panose="020F0502020204030204" pitchFamily="34" charset="0"/>
              </a:rPr>
              <a:t>Signs the team is improving</a:t>
            </a:r>
          </a:p>
          <a:p>
            <a:r>
              <a:rPr lang="en-US" sz="1100">
                <a:solidFill>
                  <a:srgbClr val="1F2937"/>
                </a:solidFill>
                <a:latin typeface="Calibri" panose="020F0502020204030204" pitchFamily="34" charset="0"/>
              </a:rPr>
              <a:t>Better skills and competencies, lower turnover, and stronger cohesion.</a:t>
            </a:r>
          </a:p>
        </p:txBody>
      </p:sp>
      <p:sp>
        <p:nvSpPr>
          <p:cNvPr id="28"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8141508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2DAA905-C015-FEAD-FFDE-12EB5311CC8B}"/>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Five levels of conflict, from problem to war</a:t>
            </a:r>
          </a:p>
        </p:txBody>
      </p:sp>
      <p:sp>
        <p:nvSpPr>
          <p:cNvPr id="3" name="Tag">
            <a:extLst>
              <a:ext uri="{FF2B5EF4-FFF2-40B4-BE49-F238E27FC236}">
                <a16:creationId xmlns:a16="http://schemas.microsoft.com/office/drawing/2014/main" id="{A9C7DEF8-110F-239F-B935-91B813677D69}"/>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0F7C80"/>
                </a:solidFill>
                <a:latin typeface="Calibri" panose="020F0502020204030204" pitchFamily="34" charset="0"/>
              </a:rPr>
              <a:t>People deep dive · Supports People Task 2 · Manage conflicts (identify conflict sources; analyze the context)</a:t>
            </a:r>
          </a:p>
        </p:txBody>
      </p:sp>
      <p:sp>
        <p:nvSpPr>
          <p:cNvPr id="4" name="Rectangle 3">
            <a:extLst>
              <a:ext uri="{FF2B5EF4-FFF2-40B4-BE49-F238E27FC236}">
                <a16:creationId xmlns:a16="http://schemas.microsoft.com/office/drawing/2014/main" id="{9AE4F473-5151-5736-D779-5D44FB98C898}"/>
              </a:ext>
            </a:extLst>
          </p:cNvPr>
          <p:cNvSpPr/>
          <p:nvPr/>
        </p:nvSpPr>
        <p:spPr>
          <a:xfrm>
            <a:off x="508000" y="2438400"/>
            <a:ext cx="2108200" cy="431800"/>
          </a:xfrm>
          <a:prstGeom prst="rect">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b"/>
          <a:lstStyle/>
          <a:p>
            <a:pPr algn="ctr"/>
            <a:r>
              <a:rPr lang="en-US" sz="1400" b="1">
                <a:solidFill>
                  <a:srgbClr val="FFFFFF"/>
                </a:solidFill>
                <a:latin typeface="Calibri" panose="020F0502020204030204" pitchFamily="34" charset="0"/>
              </a:rPr>
              <a:t>Level 1</a:t>
            </a:r>
          </a:p>
        </p:txBody>
      </p:sp>
      <p:sp>
        <p:nvSpPr>
          <p:cNvPr id="5" name="TextBox 4">
            <a:extLst>
              <a:ext uri="{FF2B5EF4-FFF2-40B4-BE49-F238E27FC236}">
                <a16:creationId xmlns:a16="http://schemas.microsoft.com/office/drawing/2014/main" id="{D2591C85-0193-233D-6609-4251D9184BD7}"/>
              </a:ext>
            </a:extLst>
          </p:cNvPr>
          <p:cNvSpPr txBox="1"/>
          <p:nvPr/>
        </p:nvSpPr>
        <p:spPr>
          <a:xfrm>
            <a:off x="508000" y="3022600"/>
            <a:ext cx="2108200" cy="2489200"/>
          </a:xfrm>
          <a:prstGeom prst="rect">
            <a:avLst/>
          </a:prstGeom>
          <a:noFill/>
        </p:spPr>
        <p:txBody>
          <a:bodyPr vert="horz" wrap="square" lIns="0" tIns="0" rIns="0" bIns="0" rtlCol="0" anchor="t">
            <a:noAutofit/>
          </a:bodyPr>
          <a:lstStyle/>
          <a:p>
            <a:pPr>
              <a:spcAft>
                <a:spcPts val="400"/>
              </a:spcAft>
            </a:pPr>
            <a:r>
              <a:rPr lang="en-US" b="1">
                <a:solidFill>
                  <a:srgbClr val="0F7C80"/>
                </a:solidFill>
                <a:latin typeface="Calibri" panose="020F0502020204030204" pitchFamily="34" charset="0"/>
              </a:rPr>
              <a:t>Problem to solve</a:t>
            </a:r>
          </a:p>
          <a:p>
            <a:r>
              <a:rPr lang="en-US" sz="1400">
                <a:solidFill>
                  <a:srgbClr val="1F2937"/>
                </a:solidFill>
                <a:latin typeface="Calibri" panose="020F0502020204030204" pitchFamily="34" charset="0"/>
              </a:rPr>
              <a:t>Shared goal; people exchange information openly and focus on the issue.</a:t>
            </a:r>
          </a:p>
          <a:p>
            <a:pPr>
              <a:spcBef>
                <a:spcPts val="800"/>
              </a:spcBef>
            </a:pPr>
            <a:r>
              <a:rPr lang="en-US" sz="1400" b="1">
                <a:solidFill>
                  <a:srgbClr val="14213D"/>
                </a:solidFill>
                <a:latin typeface="Calibri" panose="020F0502020204030204" pitchFamily="34" charset="0"/>
              </a:rPr>
              <a:t>Respond:</a:t>
            </a:r>
            <a:r>
              <a:rPr lang="en-US" sz="1400">
                <a:solidFill>
                  <a:srgbClr val="14213D"/>
                </a:solidFill>
                <a:latin typeface="Calibri" panose="020F0502020204030204" pitchFamily="34" charset="0"/>
              </a:rPr>
              <a:t> Collaborate</a:t>
            </a:r>
          </a:p>
        </p:txBody>
      </p:sp>
      <p:sp>
        <p:nvSpPr>
          <p:cNvPr id="6" name="Rectangle 5">
            <a:extLst>
              <a:ext uri="{FF2B5EF4-FFF2-40B4-BE49-F238E27FC236}">
                <a16:creationId xmlns:a16="http://schemas.microsoft.com/office/drawing/2014/main" id="{EFC679C6-F220-B9F1-C8F6-03D1ADB98916}"/>
              </a:ext>
            </a:extLst>
          </p:cNvPr>
          <p:cNvSpPr/>
          <p:nvPr/>
        </p:nvSpPr>
        <p:spPr>
          <a:xfrm>
            <a:off x="2768600" y="2184400"/>
            <a:ext cx="2108200" cy="685800"/>
          </a:xfrm>
          <a:prstGeom prst="rect">
            <a:avLst/>
          </a:prstGeom>
          <a:solidFill>
            <a:srgbClr val="4F8A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b"/>
          <a:lstStyle/>
          <a:p>
            <a:pPr algn="ctr"/>
            <a:r>
              <a:rPr lang="en-US" sz="1400" b="1">
                <a:solidFill>
                  <a:srgbClr val="FFFFFF"/>
                </a:solidFill>
                <a:latin typeface="Calibri" panose="020F0502020204030204" pitchFamily="34" charset="0"/>
              </a:rPr>
              <a:t>Level 2</a:t>
            </a:r>
          </a:p>
        </p:txBody>
      </p:sp>
      <p:sp>
        <p:nvSpPr>
          <p:cNvPr id="7" name="TextBox 6">
            <a:extLst>
              <a:ext uri="{FF2B5EF4-FFF2-40B4-BE49-F238E27FC236}">
                <a16:creationId xmlns:a16="http://schemas.microsoft.com/office/drawing/2014/main" id="{00379970-A88D-0248-3231-FCE768FC31FD}"/>
              </a:ext>
            </a:extLst>
          </p:cNvPr>
          <p:cNvSpPr txBox="1"/>
          <p:nvPr/>
        </p:nvSpPr>
        <p:spPr>
          <a:xfrm>
            <a:off x="2768600" y="3022600"/>
            <a:ext cx="2108200" cy="2489200"/>
          </a:xfrm>
          <a:prstGeom prst="rect">
            <a:avLst/>
          </a:prstGeom>
          <a:noFill/>
        </p:spPr>
        <p:txBody>
          <a:bodyPr vert="horz" wrap="square" lIns="0" tIns="0" rIns="0" bIns="0" rtlCol="0" anchor="t">
            <a:noAutofit/>
          </a:bodyPr>
          <a:lstStyle/>
          <a:p>
            <a:pPr>
              <a:spcAft>
                <a:spcPts val="400"/>
              </a:spcAft>
            </a:pPr>
            <a:r>
              <a:rPr lang="en-US" b="1">
                <a:solidFill>
                  <a:srgbClr val="4F8A7A"/>
                </a:solidFill>
                <a:latin typeface="Calibri" panose="020F0502020204030204" pitchFamily="34" charset="0"/>
              </a:rPr>
              <a:t>Disagreement</a:t>
            </a:r>
          </a:p>
          <a:p>
            <a:r>
              <a:rPr lang="en-US" sz="1400">
                <a:solidFill>
                  <a:srgbClr val="1F2937"/>
                </a:solidFill>
                <a:latin typeface="Calibri" panose="020F0502020204030204" pitchFamily="34" charset="0"/>
              </a:rPr>
              <a:t>Self-protection creeps in; language turns guarded and talk moves offline.</a:t>
            </a:r>
          </a:p>
          <a:p>
            <a:pPr>
              <a:spcBef>
                <a:spcPts val="800"/>
              </a:spcBef>
            </a:pPr>
            <a:r>
              <a:rPr lang="en-US" sz="1400" b="1">
                <a:solidFill>
                  <a:srgbClr val="14213D"/>
                </a:solidFill>
                <a:latin typeface="Calibri" panose="020F0502020204030204" pitchFamily="34" charset="0"/>
              </a:rPr>
              <a:t>Respond:</a:t>
            </a:r>
            <a:r>
              <a:rPr lang="en-US" sz="1400">
                <a:solidFill>
                  <a:srgbClr val="14213D"/>
                </a:solidFill>
                <a:latin typeface="Calibri" panose="020F0502020204030204" pitchFamily="34" charset="0"/>
              </a:rPr>
              <a:t> Support and empower the parties</a:t>
            </a:r>
          </a:p>
        </p:txBody>
      </p:sp>
      <p:sp>
        <p:nvSpPr>
          <p:cNvPr id="8" name="Rectangle 7">
            <a:extLst>
              <a:ext uri="{FF2B5EF4-FFF2-40B4-BE49-F238E27FC236}">
                <a16:creationId xmlns:a16="http://schemas.microsoft.com/office/drawing/2014/main" id="{01EDE942-B508-F17E-1497-F32458ED0240}"/>
              </a:ext>
            </a:extLst>
          </p:cNvPr>
          <p:cNvSpPr/>
          <p:nvPr/>
        </p:nvSpPr>
        <p:spPr>
          <a:xfrm>
            <a:off x="5029200" y="1930400"/>
            <a:ext cx="2108200" cy="939800"/>
          </a:xfrm>
          <a:prstGeom prst="rect">
            <a:avLst/>
          </a:prstGeom>
          <a:solidFill>
            <a:srgbClr val="B89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b"/>
          <a:lstStyle/>
          <a:p>
            <a:pPr algn="ctr"/>
            <a:r>
              <a:rPr lang="en-US" sz="1400" b="1">
                <a:solidFill>
                  <a:srgbClr val="FFFFFF"/>
                </a:solidFill>
                <a:latin typeface="Calibri" panose="020F0502020204030204" pitchFamily="34" charset="0"/>
              </a:rPr>
              <a:t>Level 3</a:t>
            </a:r>
          </a:p>
        </p:txBody>
      </p:sp>
      <p:sp>
        <p:nvSpPr>
          <p:cNvPr id="9" name="TextBox 8">
            <a:extLst>
              <a:ext uri="{FF2B5EF4-FFF2-40B4-BE49-F238E27FC236}">
                <a16:creationId xmlns:a16="http://schemas.microsoft.com/office/drawing/2014/main" id="{1E5F7E56-527E-B82E-BF70-8048655D3662}"/>
              </a:ext>
            </a:extLst>
          </p:cNvPr>
          <p:cNvSpPr txBox="1"/>
          <p:nvPr/>
        </p:nvSpPr>
        <p:spPr>
          <a:xfrm>
            <a:off x="5029200" y="3022600"/>
            <a:ext cx="2108200" cy="2489200"/>
          </a:xfrm>
          <a:prstGeom prst="rect">
            <a:avLst/>
          </a:prstGeom>
          <a:noFill/>
        </p:spPr>
        <p:txBody>
          <a:bodyPr vert="horz" wrap="square" lIns="0" tIns="0" rIns="0" bIns="0" rtlCol="0" anchor="t">
            <a:noAutofit/>
          </a:bodyPr>
          <a:lstStyle/>
          <a:p>
            <a:pPr>
              <a:spcAft>
                <a:spcPts val="400"/>
              </a:spcAft>
            </a:pPr>
            <a:r>
              <a:rPr lang="en-US" b="1">
                <a:solidFill>
                  <a:srgbClr val="B8912F"/>
                </a:solidFill>
                <a:latin typeface="Calibri" panose="020F0502020204030204" pitchFamily="34" charset="0"/>
              </a:rPr>
              <a:t>Contest</a:t>
            </a:r>
          </a:p>
          <a:p>
            <a:r>
              <a:rPr lang="en-US" sz="1400">
                <a:solidFill>
                  <a:srgbClr val="1F2937"/>
                </a:solidFill>
                <a:latin typeface="Calibri" panose="020F0502020204030204" pitchFamily="34" charset="0"/>
              </a:rPr>
              <a:t>Winning matters more than solving; personal attacks and keeping score.</a:t>
            </a:r>
          </a:p>
          <a:p>
            <a:pPr>
              <a:spcBef>
                <a:spcPts val="800"/>
              </a:spcBef>
            </a:pPr>
            <a:r>
              <a:rPr lang="en-US" sz="1400" b="1">
                <a:solidFill>
                  <a:srgbClr val="14213D"/>
                </a:solidFill>
                <a:latin typeface="Calibri" panose="020F0502020204030204" pitchFamily="34" charset="0"/>
              </a:rPr>
              <a:t>Respond:</a:t>
            </a:r>
            <a:r>
              <a:rPr lang="en-US" sz="1400">
                <a:solidFill>
                  <a:srgbClr val="14213D"/>
                </a:solidFill>
                <a:latin typeface="Calibri" panose="020F0502020204030204" pitchFamily="34" charset="0"/>
              </a:rPr>
              <a:t> Accommodate, negotiate, refocus on facts</a:t>
            </a:r>
          </a:p>
        </p:txBody>
      </p:sp>
      <p:sp>
        <p:nvSpPr>
          <p:cNvPr id="10" name="Rectangle 9">
            <a:extLst>
              <a:ext uri="{FF2B5EF4-FFF2-40B4-BE49-F238E27FC236}">
                <a16:creationId xmlns:a16="http://schemas.microsoft.com/office/drawing/2014/main" id="{1A9F0B77-2331-418F-2D2A-CE7D408092E3}"/>
              </a:ext>
            </a:extLst>
          </p:cNvPr>
          <p:cNvSpPr/>
          <p:nvPr/>
        </p:nvSpPr>
        <p:spPr>
          <a:xfrm>
            <a:off x="7289800" y="1676400"/>
            <a:ext cx="2108200" cy="1193800"/>
          </a:xfrm>
          <a:prstGeom prst="rect">
            <a:avLst/>
          </a:prstGeom>
          <a:solidFill>
            <a:srgbClr val="C76A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b"/>
          <a:lstStyle/>
          <a:p>
            <a:pPr algn="ctr"/>
            <a:r>
              <a:rPr lang="en-US" sz="1400" b="1">
                <a:solidFill>
                  <a:srgbClr val="FFFFFF"/>
                </a:solidFill>
                <a:latin typeface="Calibri" panose="020F0502020204030204" pitchFamily="34" charset="0"/>
              </a:rPr>
              <a:t>Level 4</a:t>
            </a:r>
          </a:p>
        </p:txBody>
      </p:sp>
      <p:sp>
        <p:nvSpPr>
          <p:cNvPr id="11" name="TextBox 10">
            <a:extLst>
              <a:ext uri="{FF2B5EF4-FFF2-40B4-BE49-F238E27FC236}">
                <a16:creationId xmlns:a16="http://schemas.microsoft.com/office/drawing/2014/main" id="{100F983B-136D-1CE2-C8FB-9470378F2370}"/>
              </a:ext>
            </a:extLst>
          </p:cNvPr>
          <p:cNvSpPr txBox="1"/>
          <p:nvPr/>
        </p:nvSpPr>
        <p:spPr>
          <a:xfrm>
            <a:off x="7289800" y="3022600"/>
            <a:ext cx="2108200" cy="2489200"/>
          </a:xfrm>
          <a:prstGeom prst="rect">
            <a:avLst/>
          </a:prstGeom>
          <a:noFill/>
        </p:spPr>
        <p:txBody>
          <a:bodyPr vert="horz" wrap="square" lIns="0" tIns="0" rIns="0" bIns="0" rtlCol="0" anchor="t">
            <a:noAutofit/>
          </a:bodyPr>
          <a:lstStyle/>
          <a:p>
            <a:pPr>
              <a:spcAft>
                <a:spcPts val="400"/>
              </a:spcAft>
            </a:pPr>
            <a:r>
              <a:rPr lang="en-US" b="1">
                <a:solidFill>
                  <a:srgbClr val="C76A2C"/>
                </a:solidFill>
                <a:latin typeface="Calibri" panose="020F0502020204030204" pitchFamily="34" charset="0"/>
              </a:rPr>
              <a:t>Crusade</a:t>
            </a:r>
          </a:p>
          <a:p>
            <a:r>
              <a:rPr lang="en-US" sz="1400">
                <a:solidFill>
                  <a:srgbClr val="1F2937"/>
                </a:solidFill>
                <a:latin typeface="Calibri" panose="020F0502020204030204" pitchFamily="34" charset="0"/>
              </a:rPr>
              <a:t>Protecting one’s own group; positions harden into ideology.</a:t>
            </a:r>
          </a:p>
          <a:p>
            <a:pPr>
              <a:spcBef>
                <a:spcPts val="800"/>
              </a:spcBef>
            </a:pPr>
            <a:r>
              <a:rPr lang="en-US" sz="1400" b="1">
                <a:solidFill>
                  <a:srgbClr val="14213D"/>
                </a:solidFill>
                <a:latin typeface="Calibri" panose="020F0502020204030204" pitchFamily="34" charset="0"/>
              </a:rPr>
              <a:t>Respond:</a:t>
            </a:r>
            <a:r>
              <a:rPr lang="en-US" sz="1400">
                <a:solidFill>
                  <a:srgbClr val="14213D"/>
                </a:solidFill>
                <a:latin typeface="Calibri" panose="020F0502020204030204" pitchFamily="34" charset="0"/>
              </a:rPr>
              <a:t> Diplomacy and de-escalation</a:t>
            </a:r>
          </a:p>
        </p:txBody>
      </p:sp>
      <p:sp>
        <p:nvSpPr>
          <p:cNvPr id="12" name="Rectangle 11">
            <a:extLst>
              <a:ext uri="{FF2B5EF4-FFF2-40B4-BE49-F238E27FC236}">
                <a16:creationId xmlns:a16="http://schemas.microsoft.com/office/drawing/2014/main" id="{707B3D5E-1C1C-4161-E492-5294B872D16E}"/>
              </a:ext>
            </a:extLst>
          </p:cNvPr>
          <p:cNvSpPr/>
          <p:nvPr/>
        </p:nvSpPr>
        <p:spPr>
          <a:xfrm>
            <a:off x="9550400" y="1422400"/>
            <a:ext cx="2108200" cy="1447800"/>
          </a:xfrm>
          <a:prstGeom prst="rect">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b"/>
          <a:lstStyle/>
          <a:p>
            <a:pPr algn="ctr"/>
            <a:r>
              <a:rPr lang="en-US" sz="1400" b="1">
                <a:solidFill>
                  <a:srgbClr val="FFFFFF"/>
                </a:solidFill>
                <a:latin typeface="Calibri" panose="020F0502020204030204" pitchFamily="34" charset="0"/>
              </a:rPr>
              <a:t>Level 5</a:t>
            </a:r>
          </a:p>
        </p:txBody>
      </p:sp>
      <p:sp>
        <p:nvSpPr>
          <p:cNvPr id="13" name="TextBox 12">
            <a:extLst>
              <a:ext uri="{FF2B5EF4-FFF2-40B4-BE49-F238E27FC236}">
                <a16:creationId xmlns:a16="http://schemas.microsoft.com/office/drawing/2014/main" id="{FA3803C7-1751-F2CB-4FB4-CA0E3B9E38F4}"/>
              </a:ext>
            </a:extLst>
          </p:cNvPr>
          <p:cNvSpPr txBox="1"/>
          <p:nvPr/>
        </p:nvSpPr>
        <p:spPr>
          <a:xfrm>
            <a:off x="9550400" y="3022600"/>
            <a:ext cx="2108200" cy="2489200"/>
          </a:xfrm>
          <a:prstGeom prst="rect">
            <a:avLst/>
          </a:prstGeom>
          <a:noFill/>
        </p:spPr>
        <p:txBody>
          <a:bodyPr vert="horz" wrap="square" lIns="0" tIns="0" rIns="0" bIns="0" rtlCol="0" anchor="t">
            <a:noAutofit/>
          </a:bodyPr>
          <a:lstStyle/>
          <a:p>
            <a:pPr>
              <a:spcAft>
                <a:spcPts val="400"/>
              </a:spcAft>
            </a:pPr>
            <a:r>
              <a:rPr lang="en-US" b="1">
                <a:solidFill>
                  <a:srgbClr val="A84A2E"/>
                </a:solidFill>
                <a:latin typeface="Calibri" panose="020F0502020204030204" pitchFamily="34" charset="0"/>
              </a:rPr>
              <a:t>World war</a:t>
            </a:r>
          </a:p>
          <a:p>
            <a:r>
              <a:rPr lang="en-US" sz="1400">
                <a:solidFill>
                  <a:srgbClr val="1F2937"/>
                </a:solidFill>
                <a:latin typeface="Calibri" panose="020F0502020204030204" pitchFamily="34" charset="0"/>
              </a:rPr>
              <a:t>Destroying the other side is the goal; no constructive outcome.</a:t>
            </a:r>
          </a:p>
          <a:p>
            <a:pPr>
              <a:spcBef>
                <a:spcPts val="800"/>
              </a:spcBef>
            </a:pPr>
            <a:r>
              <a:rPr lang="en-US" sz="1400" b="1">
                <a:solidFill>
                  <a:srgbClr val="14213D"/>
                </a:solidFill>
                <a:latin typeface="Calibri" panose="020F0502020204030204" pitchFamily="34" charset="0"/>
              </a:rPr>
              <a:t>Respond:</a:t>
            </a:r>
            <a:r>
              <a:rPr lang="en-US" sz="1400">
                <a:solidFill>
                  <a:srgbClr val="14213D"/>
                </a:solidFill>
                <a:latin typeface="Calibri" panose="020F0502020204030204" pitchFamily="34" charset="0"/>
              </a:rPr>
              <a:t> Do whatever prevents harm</a:t>
            </a:r>
          </a:p>
        </p:txBody>
      </p:sp>
      <p:sp>
        <p:nvSpPr>
          <p:cNvPr id="14" name="Rectangle: Rounded Corners 13">
            <a:extLst>
              <a:ext uri="{FF2B5EF4-FFF2-40B4-BE49-F238E27FC236}">
                <a16:creationId xmlns:a16="http://schemas.microsoft.com/office/drawing/2014/main" id="{7AEE2A04-A20B-4F29-9446-00AE6A2D31FE}"/>
              </a:ext>
            </a:extLst>
          </p:cNvPr>
          <p:cNvSpPr/>
          <p:nvPr/>
        </p:nvSpPr>
        <p:spPr>
          <a:xfrm>
            <a:off x="508000" y="5080000"/>
            <a:ext cx="11176000" cy="660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B51240A-0B5C-04C1-63E8-7C22780C981A}"/>
              </a:ext>
            </a:extLst>
          </p:cNvPr>
          <p:cNvSpPr txBox="1"/>
          <p:nvPr/>
        </p:nvSpPr>
        <p:spPr>
          <a:xfrm>
            <a:off x="736600" y="5080000"/>
            <a:ext cx="10718800" cy="660400"/>
          </a:xfrm>
          <a:prstGeom prst="rect">
            <a:avLst/>
          </a:prstGeom>
          <a:noFill/>
        </p:spPr>
        <p:txBody>
          <a:bodyPr vert="horz" wrap="square" lIns="0" tIns="0" rIns="0" bIns="0" rtlCol="0" anchor="ctr">
            <a:noAutofit/>
          </a:bodyPr>
          <a:lstStyle/>
          <a:p>
            <a:r>
              <a:rPr lang="en-US" sz="1500" i="1">
                <a:solidFill>
                  <a:srgbClr val="14213D"/>
                </a:solidFill>
                <a:latin typeface="Calibri" panose="020F0502020204030204" pitchFamily="34" charset="0"/>
              </a:rPr>
              <a:t>Goal: diagnose the level from the language people use, then de-escalate toward Levels 1–2, where problem-solving works.</a:t>
            </a:r>
          </a:p>
        </p:txBody>
      </p:sp>
      <p:sp>
        <p:nvSpPr>
          <p:cNvPr id="16" name="Footer">
            <a:extLst>
              <a:ext uri="{FF2B5EF4-FFF2-40B4-BE49-F238E27FC236}">
                <a16:creationId xmlns:a16="http://schemas.microsoft.com/office/drawing/2014/main" id="{AD857CC9-2A5A-1404-3D2D-96FB30FA2206}"/>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Speed B. Leas, Moving Your Church Through Conflict (1985); Lyssa Adkins, Coaching Agile Teams (2010)</a:t>
            </a:r>
          </a:p>
        </p:txBody>
      </p:sp>
      <p:sp>
        <p:nvSpPr>
          <p:cNvPr id="17" name="SlideNum">
            <a:extLst>
              <a:ext uri="{FF2B5EF4-FFF2-40B4-BE49-F238E27FC236}">
                <a16:creationId xmlns:a16="http://schemas.microsoft.com/office/drawing/2014/main" id="{CEE389DA-DDAD-53A1-097C-1B2DA0BC828B}"/>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21</a:t>
            </a:r>
          </a:p>
        </p:txBody>
      </p:sp>
      <p:sp>
        <p:nvSpPr>
          <p:cNvPr id="18"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4238081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7CC2DFA-F103-94E4-C87E-9A20E051D64E}"/>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Stakeholder management is a six-step cycle</a:t>
            </a:r>
          </a:p>
        </p:txBody>
      </p:sp>
      <p:sp>
        <p:nvSpPr>
          <p:cNvPr id="3" name="Tag">
            <a:extLst>
              <a:ext uri="{FF2B5EF4-FFF2-40B4-BE49-F238E27FC236}">
                <a16:creationId xmlns:a16="http://schemas.microsoft.com/office/drawing/2014/main" id="{7DD1B339-2C33-261F-F797-3A630BBEA525}"/>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0F7C80"/>
                </a:solidFill>
                <a:latin typeface="Calibri" panose="020F0502020204030204" pitchFamily="34" charset="0"/>
              </a:rPr>
              <a:t>People deep dive · Supports People Tasks 4–6 (Engage stakeholders; align and manage expectations)</a:t>
            </a:r>
          </a:p>
        </p:txBody>
      </p:sp>
      <p:sp>
        <p:nvSpPr>
          <p:cNvPr id="4" name="Arrow: Pentagon 3">
            <a:extLst>
              <a:ext uri="{FF2B5EF4-FFF2-40B4-BE49-F238E27FC236}">
                <a16:creationId xmlns:a16="http://schemas.microsoft.com/office/drawing/2014/main" id="{F1889BD2-3225-D027-9979-FBE8C98B98BF}"/>
              </a:ext>
            </a:extLst>
          </p:cNvPr>
          <p:cNvSpPr/>
          <p:nvPr/>
        </p:nvSpPr>
        <p:spPr>
          <a:xfrm>
            <a:off x="508000" y="1473200"/>
            <a:ext cx="2006600" cy="787400"/>
          </a:xfrm>
          <a:prstGeom prst="homePlate">
            <a:avLst/>
          </a:prstGeom>
          <a:solidFill>
            <a:srgbClr val="0B5E6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25400" rIns="127000" bIns="25400" rtlCol="0" anchor="ctr"/>
          <a:lstStyle/>
          <a:p>
            <a:pPr algn="ctr"/>
            <a:r>
              <a:rPr lang="en-US" sz="1400" b="1">
                <a:solidFill>
                  <a:srgbClr val="FFFFFF"/>
                </a:solidFill>
                <a:latin typeface="Calibri" panose="020F0502020204030204" pitchFamily="34" charset="0"/>
              </a:rPr>
              <a:t>Identify</a:t>
            </a:r>
          </a:p>
        </p:txBody>
      </p:sp>
      <p:sp>
        <p:nvSpPr>
          <p:cNvPr id="5" name="TextBox 4">
            <a:extLst>
              <a:ext uri="{FF2B5EF4-FFF2-40B4-BE49-F238E27FC236}">
                <a16:creationId xmlns:a16="http://schemas.microsoft.com/office/drawing/2014/main" id="{A04A728C-C827-077C-9F4C-12A669A82E7E}"/>
              </a:ext>
            </a:extLst>
          </p:cNvPr>
          <p:cNvSpPr txBox="1"/>
          <p:nvPr/>
        </p:nvSpPr>
        <p:spPr>
          <a:xfrm>
            <a:off x="584200" y="2489200"/>
            <a:ext cx="1727200" cy="1905000"/>
          </a:xfrm>
          <a:prstGeom prst="rect">
            <a:avLst/>
          </a:prstGeom>
          <a:noFill/>
        </p:spPr>
        <p:txBody>
          <a:bodyPr vert="horz" wrap="square" lIns="0" tIns="0" rIns="0" bIns="0" rtlCol="0" anchor="t">
            <a:noAutofit/>
          </a:bodyPr>
          <a:lstStyle/>
          <a:p>
            <a:pPr>
              <a:spcAft>
                <a:spcPts val="400"/>
              </a:spcAft>
            </a:pPr>
            <a:r>
              <a:rPr lang="en-US" sz="1200" b="1">
                <a:solidFill>
                  <a:srgbClr val="0B5E61"/>
                </a:solidFill>
                <a:latin typeface="Calibri" panose="020F0502020204030204" pitchFamily="34" charset="0"/>
              </a:rPr>
              <a:t>Step 1</a:t>
            </a:r>
          </a:p>
          <a:p>
            <a:r>
              <a:rPr lang="en-US" sz="1500">
                <a:solidFill>
                  <a:srgbClr val="1F2937"/>
                </a:solidFill>
                <a:latin typeface="Calibri" panose="020F0502020204030204" pitchFamily="34" charset="0"/>
              </a:rPr>
              <a:t>Find everyone who affects, or is affected by, the project.</a:t>
            </a:r>
          </a:p>
        </p:txBody>
      </p:sp>
      <p:sp>
        <p:nvSpPr>
          <p:cNvPr id="6" name="Arrow: Chevron 5">
            <a:extLst>
              <a:ext uri="{FF2B5EF4-FFF2-40B4-BE49-F238E27FC236}">
                <a16:creationId xmlns:a16="http://schemas.microsoft.com/office/drawing/2014/main" id="{F870B339-E616-F9B6-C05A-A3C58DB653B0}"/>
              </a:ext>
            </a:extLst>
          </p:cNvPr>
          <p:cNvSpPr/>
          <p:nvPr/>
        </p:nvSpPr>
        <p:spPr>
          <a:xfrm>
            <a:off x="2362200" y="1473200"/>
            <a:ext cx="2006600" cy="787400"/>
          </a:xfrm>
          <a:prstGeom prst="chevron">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25400" rIns="127000" bIns="25400" rtlCol="0" anchor="ctr"/>
          <a:lstStyle/>
          <a:p>
            <a:pPr algn="ctr"/>
            <a:r>
              <a:rPr lang="en-US" sz="1400" b="1">
                <a:solidFill>
                  <a:srgbClr val="FFFFFF"/>
                </a:solidFill>
                <a:latin typeface="Calibri" panose="020F0502020204030204" pitchFamily="34" charset="0"/>
              </a:rPr>
              <a:t>Understand</a:t>
            </a:r>
          </a:p>
        </p:txBody>
      </p:sp>
      <p:sp>
        <p:nvSpPr>
          <p:cNvPr id="7" name="TextBox 6">
            <a:extLst>
              <a:ext uri="{FF2B5EF4-FFF2-40B4-BE49-F238E27FC236}">
                <a16:creationId xmlns:a16="http://schemas.microsoft.com/office/drawing/2014/main" id="{CEE2FE40-3D39-6139-2C1B-E417300D3B58}"/>
              </a:ext>
            </a:extLst>
          </p:cNvPr>
          <p:cNvSpPr txBox="1"/>
          <p:nvPr/>
        </p:nvSpPr>
        <p:spPr>
          <a:xfrm>
            <a:off x="2438400" y="2489200"/>
            <a:ext cx="1727200" cy="1905000"/>
          </a:xfrm>
          <a:prstGeom prst="rect">
            <a:avLst/>
          </a:prstGeom>
          <a:noFill/>
        </p:spPr>
        <p:txBody>
          <a:bodyPr vert="horz" wrap="square" lIns="0" tIns="0" rIns="0" bIns="0" rtlCol="0" anchor="t">
            <a:noAutofit/>
          </a:bodyPr>
          <a:lstStyle/>
          <a:p>
            <a:pPr>
              <a:spcAft>
                <a:spcPts val="400"/>
              </a:spcAft>
            </a:pPr>
            <a:r>
              <a:rPr lang="en-US" sz="1200" b="1">
                <a:solidFill>
                  <a:srgbClr val="0F7C80"/>
                </a:solidFill>
                <a:latin typeface="Calibri" panose="020F0502020204030204" pitchFamily="34" charset="0"/>
              </a:rPr>
              <a:t>Step 2</a:t>
            </a:r>
          </a:p>
          <a:p>
            <a:r>
              <a:rPr lang="en-US" sz="1500">
                <a:solidFill>
                  <a:srgbClr val="1F2937"/>
                </a:solidFill>
                <a:latin typeface="Calibri" panose="020F0502020204030204" pitchFamily="34" charset="0"/>
              </a:rPr>
              <a:t>Learn their feelings, beliefs, interests, and values.</a:t>
            </a:r>
          </a:p>
        </p:txBody>
      </p:sp>
      <p:sp>
        <p:nvSpPr>
          <p:cNvPr id="8" name="Arrow: Chevron 7">
            <a:extLst>
              <a:ext uri="{FF2B5EF4-FFF2-40B4-BE49-F238E27FC236}">
                <a16:creationId xmlns:a16="http://schemas.microsoft.com/office/drawing/2014/main" id="{43400C77-AD8C-73D4-AA20-D557B43CC3E8}"/>
              </a:ext>
            </a:extLst>
          </p:cNvPr>
          <p:cNvSpPr/>
          <p:nvPr/>
        </p:nvSpPr>
        <p:spPr>
          <a:xfrm>
            <a:off x="4216400" y="1473200"/>
            <a:ext cx="2006600" cy="787400"/>
          </a:xfrm>
          <a:prstGeom prst="chevron">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25400" rIns="127000" bIns="25400" rtlCol="0" anchor="ctr"/>
          <a:lstStyle/>
          <a:p>
            <a:pPr algn="ctr"/>
            <a:r>
              <a:rPr lang="en-US" sz="1400" b="1">
                <a:solidFill>
                  <a:srgbClr val="FFFFFF"/>
                </a:solidFill>
                <a:latin typeface="Calibri" panose="020F0502020204030204" pitchFamily="34" charset="0"/>
              </a:rPr>
              <a:t>Analyze</a:t>
            </a:r>
          </a:p>
        </p:txBody>
      </p:sp>
      <p:sp>
        <p:nvSpPr>
          <p:cNvPr id="9" name="TextBox 8">
            <a:extLst>
              <a:ext uri="{FF2B5EF4-FFF2-40B4-BE49-F238E27FC236}">
                <a16:creationId xmlns:a16="http://schemas.microsoft.com/office/drawing/2014/main" id="{57374620-067B-E22A-EE69-3BB08479C107}"/>
              </a:ext>
            </a:extLst>
          </p:cNvPr>
          <p:cNvSpPr txBox="1"/>
          <p:nvPr/>
        </p:nvSpPr>
        <p:spPr>
          <a:xfrm>
            <a:off x="4292600" y="2489200"/>
            <a:ext cx="1727200" cy="1905000"/>
          </a:xfrm>
          <a:prstGeom prst="rect">
            <a:avLst/>
          </a:prstGeom>
          <a:noFill/>
        </p:spPr>
        <p:txBody>
          <a:bodyPr vert="horz" wrap="square" lIns="0" tIns="0" rIns="0" bIns="0" rtlCol="0" anchor="t">
            <a:noAutofit/>
          </a:bodyPr>
          <a:lstStyle/>
          <a:p>
            <a:pPr>
              <a:spcAft>
                <a:spcPts val="400"/>
              </a:spcAft>
            </a:pPr>
            <a:r>
              <a:rPr lang="en-US" sz="1200" b="1">
                <a:solidFill>
                  <a:srgbClr val="34509A"/>
                </a:solidFill>
                <a:latin typeface="Calibri" panose="020F0502020204030204" pitchFamily="34" charset="0"/>
              </a:rPr>
              <a:t>Step 3</a:t>
            </a:r>
          </a:p>
          <a:p>
            <a:r>
              <a:rPr lang="en-US" sz="1500">
                <a:solidFill>
                  <a:srgbClr val="1F2937"/>
                </a:solidFill>
                <a:latin typeface="Calibri" panose="020F0502020204030204" pitchFamily="34" charset="0"/>
              </a:rPr>
              <a:t>Assess each one’s power, impact, attitude, and expectations.</a:t>
            </a:r>
          </a:p>
        </p:txBody>
      </p:sp>
      <p:sp>
        <p:nvSpPr>
          <p:cNvPr id="10" name="Arrow: Chevron 9">
            <a:extLst>
              <a:ext uri="{FF2B5EF4-FFF2-40B4-BE49-F238E27FC236}">
                <a16:creationId xmlns:a16="http://schemas.microsoft.com/office/drawing/2014/main" id="{9D1C2FF0-1A58-1D8D-3E63-A669E672C8A3}"/>
              </a:ext>
            </a:extLst>
          </p:cNvPr>
          <p:cNvSpPr/>
          <p:nvPr/>
        </p:nvSpPr>
        <p:spPr>
          <a:xfrm>
            <a:off x="6070600" y="1473200"/>
            <a:ext cx="2006600" cy="787400"/>
          </a:xfrm>
          <a:prstGeom prst="chevron">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25400" rIns="127000" bIns="25400" rtlCol="0" anchor="ctr"/>
          <a:lstStyle/>
          <a:p>
            <a:pPr algn="ctr"/>
            <a:r>
              <a:rPr lang="en-US" sz="1400" b="1">
                <a:solidFill>
                  <a:srgbClr val="FFFFFF"/>
                </a:solidFill>
                <a:latin typeface="Calibri" panose="020F0502020204030204" pitchFamily="34" charset="0"/>
              </a:rPr>
              <a:t>Prioritize</a:t>
            </a:r>
          </a:p>
        </p:txBody>
      </p:sp>
      <p:sp>
        <p:nvSpPr>
          <p:cNvPr id="11" name="TextBox 10">
            <a:extLst>
              <a:ext uri="{FF2B5EF4-FFF2-40B4-BE49-F238E27FC236}">
                <a16:creationId xmlns:a16="http://schemas.microsoft.com/office/drawing/2014/main" id="{E928E3CD-CF0A-2B90-55CE-5074732B94AE}"/>
              </a:ext>
            </a:extLst>
          </p:cNvPr>
          <p:cNvSpPr txBox="1"/>
          <p:nvPr/>
        </p:nvSpPr>
        <p:spPr>
          <a:xfrm>
            <a:off x="6146800" y="2489200"/>
            <a:ext cx="1727200" cy="1905000"/>
          </a:xfrm>
          <a:prstGeom prst="rect">
            <a:avLst/>
          </a:prstGeom>
          <a:noFill/>
        </p:spPr>
        <p:txBody>
          <a:bodyPr vert="horz" wrap="square" lIns="0" tIns="0" rIns="0" bIns="0" rtlCol="0" anchor="t">
            <a:noAutofit/>
          </a:bodyPr>
          <a:lstStyle/>
          <a:p>
            <a:pPr>
              <a:spcAft>
                <a:spcPts val="400"/>
              </a:spcAft>
            </a:pPr>
            <a:r>
              <a:rPr lang="en-US" sz="1200" b="1">
                <a:solidFill>
                  <a:srgbClr val="14213D"/>
                </a:solidFill>
                <a:latin typeface="Calibri" panose="020F0502020204030204" pitchFamily="34" charset="0"/>
              </a:rPr>
              <a:t>Step 4</a:t>
            </a:r>
          </a:p>
          <a:p>
            <a:r>
              <a:rPr lang="en-US" sz="1500">
                <a:solidFill>
                  <a:srgbClr val="1F2937"/>
                </a:solidFill>
                <a:latin typeface="Calibri" panose="020F0502020204030204" pitchFamily="34" charset="0"/>
              </a:rPr>
              <a:t>Focus attention on those with the most influence and interest.</a:t>
            </a:r>
          </a:p>
        </p:txBody>
      </p:sp>
      <p:sp>
        <p:nvSpPr>
          <p:cNvPr id="12" name="Arrow: Chevron 11">
            <a:extLst>
              <a:ext uri="{FF2B5EF4-FFF2-40B4-BE49-F238E27FC236}">
                <a16:creationId xmlns:a16="http://schemas.microsoft.com/office/drawing/2014/main" id="{33F81743-9E52-08ED-E554-F0DD6B6CE932}"/>
              </a:ext>
            </a:extLst>
          </p:cNvPr>
          <p:cNvSpPr/>
          <p:nvPr/>
        </p:nvSpPr>
        <p:spPr>
          <a:xfrm>
            <a:off x="7924800" y="1473200"/>
            <a:ext cx="2006600" cy="787400"/>
          </a:xfrm>
          <a:prstGeom prst="chevron">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25400" rIns="127000" bIns="25400" rtlCol="0" anchor="ctr"/>
          <a:lstStyle/>
          <a:p>
            <a:pPr algn="ctr"/>
            <a:r>
              <a:rPr lang="en-US" sz="1400" b="1">
                <a:solidFill>
                  <a:srgbClr val="FFFFFF"/>
                </a:solidFill>
                <a:latin typeface="Calibri" panose="020F0502020204030204" pitchFamily="34" charset="0"/>
              </a:rPr>
              <a:t>Engage</a:t>
            </a:r>
          </a:p>
        </p:txBody>
      </p:sp>
      <p:sp>
        <p:nvSpPr>
          <p:cNvPr id="13" name="TextBox 12">
            <a:extLst>
              <a:ext uri="{FF2B5EF4-FFF2-40B4-BE49-F238E27FC236}">
                <a16:creationId xmlns:a16="http://schemas.microsoft.com/office/drawing/2014/main" id="{B96714D3-BDEC-EE35-70FA-C12628A87C86}"/>
              </a:ext>
            </a:extLst>
          </p:cNvPr>
          <p:cNvSpPr txBox="1"/>
          <p:nvPr/>
        </p:nvSpPr>
        <p:spPr>
          <a:xfrm>
            <a:off x="8001000" y="2489200"/>
            <a:ext cx="1727200" cy="1905000"/>
          </a:xfrm>
          <a:prstGeom prst="rect">
            <a:avLst/>
          </a:prstGeom>
          <a:noFill/>
        </p:spPr>
        <p:txBody>
          <a:bodyPr vert="horz" wrap="square" lIns="0" tIns="0" rIns="0" bIns="0" rtlCol="0" anchor="t">
            <a:noAutofit/>
          </a:bodyPr>
          <a:lstStyle/>
          <a:p>
            <a:pPr>
              <a:spcAft>
                <a:spcPts val="400"/>
              </a:spcAft>
            </a:pPr>
            <a:r>
              <a:rPr lang="en-US" sz="1200" b="1">
                <a:solidFill>
                  <a:srgbClr val="A84A2E"/>
                </a:solidFill>
                <a:latin typeface="Calibri" panose="020F0502020204030204" pitchFamily="34" charset="0"/>
              </a:rPr>
              <a:t>Step 5</a:t>
            </a:r>
          </a:p>
          <a:p>
            <a:r>
              <a:rPr lang="en-US" sz="1500">
                <a:solidFill>
                  <a:srgbClr val="1F2937"/>
                </a:solidFill>
                <a:latin typeface="Calibri" panose="020F0502020204030204" pitchFamily="34" charset="0"/>
              </a:rPr>
              <a:t>Communicate and collaborate to build support for the work.</a:t>
            </a:r>
          </a:p>
        </p:txBody>
      </p:sp>
      <p:sp>
        <p:nvSpPr>
          <p:cNvPr id="14" name="Arrow: Chevron 13">
            <a:extLst>
              <a:ext uri="{FF2B5EF4-FFF2-40B4-BE49-F238E27FC236}">
                <a16:creationId xmlns:a16="http://schemas.microsoft.com/office/drawing/2014/main" id="{DD2B1813-E68B-DA98-0BA7-90D3C6507A30}"/>
              </a:ext>
            </a:extLst>
          </p:cNvPr>
          <p:cNvSpPr/>
          <p:nvPr/>
        </p:nvSpPr>
        <p:spPr>
          <a:xfrm>
            <a:off x="9779000" y="1473200"/>
            <a:ext cx="2006600" cy="787400"/>
          </a:xfrm>
          <a:prstGeom prst="chevron">
            <a:avLst/>
          </a:prstGeom>
          <a:solidFill>
            <a:srgbClr val="C76A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25400" rIns="127000" bIns="25400" rtlCol="0" anchor="ctr"/>
          <a:lstStyle/>
          <a:p>
            <a:pPr algn="ctr"/>
            <a:r>
              <a:rPr lang="en-US" sz="1400" b="1">
                <a:solidFill>
                  <a:srgbClr val="FFFFFF"/>
                </a:solidFill>
                <a:latin typeface="Calibri" panose="020F0502020204030204" pitchFamily="34" charset="0"/>
              </a:rPr>
              <a:t>Monitor</a:t>
            </a:r>
          </a:p>
        </p:txBody>
      </p:sp>
      <p:sp>
        <p:nvSpPr>
          <p:cNvPr id="15" name="TextBox 14">
            <a:extLst>
              <a:ext uri="{FF2B5EF4-FFF2-40B4-BE49-F238E27FC236}">
                <a16:creationId xmlns:a16="http://schemas.microsoft.com/office/drawing/2014/main" id="{420AAA69-2EFE-23E9-AB76-BBA64244C9B3}"/>
              </a:ext>
            </a:extLst>
          </p:cNvPr>
          <p:cNvSpPr txBox="1"/>
          <p:nvPr/>
        </p:nvSpPr>
        <p:spPr>
          <a:xfrm>
            <a:off x="9855200" y="2489200"/>
            <a:ext cx="1727200" cy="1905000"/>
          </a:xfrm>
          <a:prstGeom prst="rect">
            <a:avLst/>
          </a:prstGeom>
          <a:noFill/>
        </p:spPr>
        <p:txBody>
          <a:bodyPr vert="horz" wrap="square" lIns="0" tIns="0" rIns="0" bIns="0" rtlCol="0" anchor="t">
            <a:noAutofit/>
          </a:bodyPr>
          <a:lstStyle/>
          <a:p>
            <a:pPr>
              <a:spcAft>
                <a:spcPts val="400"/>
              </a:spcAft>
            </a:pPr>
            <a:r>
              <a:rPr lang="en-US" sz="1200" b="1">
                <a:solidFill>
                  <a:srgbClr val="C76A2C"/>
                </a:solidFill>
                <a:latin typeface="Calibri" panose="020F0502020204030204" pitchFamily="34" charset="0"/>
              </a:rPr>
              <a:t>Step 6</a:t>
            </a:r>
          </a:p>
          <a:p>
            <a:r>
              <a:rPr lang="en-US" sz="1500">
                <a:solidFill>
                  <a:srgbClr val="1F2937"/>
                </a:solidFill>
                <a:latin typeface="Calibri" panose="020F0502020204030204" pitchFamily="34" charset="0"/>
              </a:rPr>
              <a:t>Track changes in stakeholders and their attitudes; adjust.</a:t>
            </a:r>
          </a:p>
        </p:txBody>
      </p:sp>
      <p:sp>
        <p:nvSpPr>
          <p:cNvPr id="16" name="Rectangle: Rounded Corners 15">
            <a:extLst>
              <a:ext uri="{FF2B5EF4-FFF2-40B4-BE49-F238E27FC236}">
                <a16:creationId xmlns:a16="http://schemas.microsoft.com/office/drawing/2014/main" id="{6B7B6CDD-CBBB-57C1-5733-77D2CECE53AD}"/>
              </a:ext>
            </a:extLst>
          </p:cNvPr>
          <p:cNvSpPr/>
          <p:nvPr/>
        </p:nvSpPr>
        <p:spPr>
          <a:xfrm>
            <a:off x="508000" y="4572000"/>
            <a:ext cx="11176000" cy="1422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29634C4-796F-26C3-F71A-3C32D6CD87A5}"/>
              </a:ext>
            </a:extLst>
          </p:cNvPr>
          <p:cNvSpPr txBox="1"/>
          <p:nvPr/>
        </p:nvSpPr>
        <p:spPr>
          <a:xfrm>
            <a:off x="762000" y="4724400"/>
            <a:ext cx="10668000" cy="1168400"/>
          </a:xfrm>
          <a:prstGeom prst="rect">
            <a:avLst/>
          </a:prstGeom>
          <a:noFill/>
        </p:spPr>
        <p:txBody>
          <a:bodyPr vert="horz" wrap="square" lIns="0" tIns="0" rIns="0" bIns="0" rtlCol="0" anchor="t">
            <a:noAutofit/>
          </a:bodyPr>
          <a:lstStyle/>
          <a:p>
            <a:pPr>
              <a:spcAft>
                <a:spcPts val="400"/>
              </a:spcAft>
            </a:pPr>
            <a:r>
              <a:rPr lang="en-US" sz="1700" b="1">
                <a:solidFill>
                  <a:srgbClr val="14213D"/>
                </a:solidFill>
                <a:latin typeface="Calibri" panose="020F0502020204030204" pitchFamily="34" charset="0"/>
              </a:rPr>
              <a:t>It is a cycle, not a checklist</a:t>
            </a:r>
          </a:p>
          <a:p>
            <a:r>
              <a:rPr lang="en-US" sz="1500">
                <a:solidFill>
                  <a:srgbClr val="14213D"/>
                </a:solidFill>
                <a:latin typeface="Calibri" panose="020F0502020204030204" pitchFamily="34" charset="0"/>
              </a:rPr>
              <a:t>Stakeholders join, leave, and change their views as the project runs, so loop back from Monitor to Identify throughout. In the outline this shows up as analyzing, categorizing, and engaging stakeholders by category.</a:t>
            </a:r>
          </a:p>
        </p:txBody>
      </p:sp>
      <p:sp>
        <p:nvSpPr>
          <p:cNvPr id="18" name="Footer">
            <a:extLst>
              <a:ext uri="{FF2B5EF4-FFF2-40B4-BE49-F238E27FC236}">
                <a16:creationId xmlns:a16="http://schemas.microsoft.com/office/drawing/2014/main" id="{4F6E6F88-BC39-0D31-8A11-E197768051F6}"/>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PMBOK® Guide — Seventh Edition, Stakeholder Performance Domain</a:t>
            </a:r>
          </a:p>
        </p:txBody>
      </p:sp>
      <p:sp>
        <p:nvSpPr>
          <p:cNvPr id="19" name="SlideNum">
            <a:extLst>
              <a:ext uri="{FF2B5EF4-FFF2-40B4-BE49-F238E27FC236}">
                <a16:creationId xmlns:a16="http://schemas.microsoft.com/office/drawing/2014/main" id="{C8CBAD92-48C9-DA84-8FED-35DD5E83BF8C}"/>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22</a:t>
            </a:r>
          </a:p>
        </p:txBody>
      </p:sp>
      <p:sp>
        <p:nvSpPr>
          <p:cNvPr id="20"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41369258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C3202AE-7909-1EEA-B976-621615C1C69A}"/>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Monitoring stakeholders: the power/interest grid</a:t>
            </a:r>
          </a:p>
        </p:txBody>
      </p:sp>
      <p:sp>
        <p:nvSpPr>
          <p:cNvPr id="3" name="Tag">
            <a:extLst>
              <a:ext uri="{FF2B5EF4-FFF2-40B4-BE49-F238E27FC236}">
                <a16:creationId xmlns:a16="http://schemas.microsoft.com/office/drawing/2014/main" id="{F544F193-B8D9-90A9-7966-A73B521B937F}"/>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0F7C80"/>
                </a:solidFill>
                <a:latin typeface="Calibri" panose="020F0502020204030204" pitchFamily="34" charset="0"/>
              </a:rPr>
              <a:t>People deep dive · Supports People Tasks 4 and 5 (Engage stakeholders; categorize stakeholders)</a:t>
            </a:r>
          </a:p>
        </p:txBody>
      </p:sp>
      <p:sp>
        <p:nvSpPr>
          <p:cNvPr id="4" name="Rectangle 3">
            <a:extLst>
              <a:ext uri="{FF2B5EF4-FFF2-40B4-BE49-F238E27FC236}">
                <a16:creationId xmlns:a16="http://schemas.microsoft.com/office/drawing/2014/main" id="{DBCB6F92-E6E7-C74A-D03F-53F3318B5185}"/>
              </a:ext>
            </a:extLst>
          </p:cNvPr>
          <p:cNvSpPr/>
          <p:nvPr/>
        </p:nvSpPr>
        <p:spPr>
          <a:xfrm>
            <a:off x="889000" y="1320800"/>
            <a:ext cx="2336800" cy="177800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25400" rIns="127000" bIns="25400" rtlCol="0" anchor="ctr"/>
          <a:lstStyle/>
          <a:p>
            <a:pPr algn="ctr"/>
            <a:r>
              <a:rPr lang="en-US" sz="1700" b="1">
                <a:solidFill>
                  <a:srgbClr val="FFFFFF"/>
                </a:solidFill>
                <a:latin typeface="Calibri" panose="020F0502020204030204" pitchFamily="34" charset="0"/>
              </a:rPr>
              <a:t>Keep satisfied</a:t>
            </a:r>
          </a:p>
          <a:p>
            <a:pPr algn="ctr"/>
            <a:r>
              <a:rPr lang="en-US" sz="1200">
                <a:solidFill>
                  <a:srgbClr val="FFFFFF"/>
                </a:solidFill>
                <a:latin typeface="Calibri" panose="020F0502020204030204" pitchFamily="34" charset="0"/>
              </a:rPr>
              <a:t>High power, low interest</a:t>
            </a:r>
          </a:p>
        </p:txBody>
      </p:sp>
      <p:sp>
        <p:nvSpPr>
          <p:cNvPr id="5" name="Rectangle 4">
            <a:extLst>
              <a:ext uri="{FF2B5EF4-FFF2-40B4-BE49-F238E27FC236}">
                <a16:creationId xmlns:a16="http://schemas.microsoft.com/office/drawing/2014/main" id="{11A6DBC0-B736-6465-BB1B-4CA10345AE8A}"/>
              </a:ext>
            </a:extLst>
          </p:cNvPr>
          <p:cNvSpPr/>
          <p:nvPr/>
        </p:nvSpPr>
        <p:spPr>
          <a:xfrm>
            <a:off x="3302000" y="1320800"/>
            <a:ext cx="2336800" cy="1778000"/>
          </a:xfrm>
          <a:prstGeom prst="rect">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25400" rIns="127000" bIns="25400" rtlCol="0" anchor="ctr"/>
          <a:lstStyle/>
          <a:p>
            <a:pPr algn="ctr"/>
            <a:r>
              <a:rPr lang="en-US" sz="1700" b="1">
                <a:solidFill>
                  <a:srgbClr val="FFFFFF"/>
                </a:solidFill>
                <a:latin typeface="Calibri" panose="020F0502020204030204" pitchFamily="34" charset="0"/>
              </a:rPr>
              <a:t>Manage closely</a:t>
            </a:r>
          </a:p>
          <a:p>
            <a:pPr algn="ctr"/>
            <a:r>
              <a:rPr lang="en-US" sz="1200">
                <a:solidFill>
                  <a:srgbClr val="FFFFFF"/>
                </a:solidFill>
                <a:latin typeface="Calibri" panose="020F0502020204030204" pitchFamily="34" charset="0"/>
              </a:rPr>
              <a:t>High power, high interest</a:t>
            </a:r>
          </a:p>
        </p:txBody>
      </p:sp>
      <p:sp>
        <p:nvSpPr>
          <p:cNvPr id="6" name="Rectangle 5">
            <a:extLst>
              <a:ext uri="{FF2B5EF4-FFF2-40B4-BE49-F238E27FC236}">
                <a16:creationId xmlns:a16="http://schemas.microsoft.com/office/drawing/2014/main" id="{4A7E55A0-E9FC-9C26-D9E4-8DFD018FEBAF}"/>
              </a:ext>
            </a:extLst>
          </p:cNvPr>
          <p:cNvSpPr/>
          <p:nvPr/>
        </p:nvSpPr>
        <p:spPr>
          <a:xfrm>
            <a:off x="889000" y="3175000"/>
            <a:ext cx="2336800" cy="1778000"/>
          </a:xfrm>
          <a:prstGeom prst="rect">
            <a:avLst/>
          </a:prstGeom>
          <a:solidFill>
            <a:srgbClr val="D5DCE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25400" rIns="127000" bIns="25400" rtlCol="0" anchor="ctr"/>
          <a:lstStyle/>
          <a:p>
            <a:pPr algn="ctr"/>
            <a:r>
              <a:rPr lang="en-US" sz="1700" b="1">
                <a:solidFill>
                  <a:srgbClr val="14213D"/>
                </a:solidFill>
                <a:latin typeface="Calibri" panose="020F0502020204030204" pitchFamily="34" charset="0"/>
              </a:rPr>
              <a:t>Monitor</a:t>
            </a:r>
          </a:p>
          <a:p>
            <a:pPr algn="ctr"/>
            <a:r>
              <a:rPr lang="en-US" sz="1200">
                <a:solidFill>
                  <a:srgbClr val="14213D"/>
                </a:solidFill>
                <a:latin typeface="Calibri" panose="020F0502020204030204" pitchFamily="34" charset="0"/>
              </a:rPr>
              <a:t>Low power, low interest: minimum effort</a:t>
            </a:r>
          </a:p>
        </p:txBody>
      </p:sp>
      <p:sp>
        <p:nvSpPr>
          <p:cNvPr id="7" name="Rectangle 6">
            <a:extLst>
              <a:ext uri="{FF2B5EF4-FFF2-40B4-BE49-F238E27FC236}">
                <a16:creationId xmlns:a16="http://schemas.microsoft.com/office/drawing/2014/main" id="{B5784226-6789-DA2C-9B17-8C35609F234B}"/>
              </a:ext>
            </a:extLst>
          </p:cNvPr>
          <p:cNvSpPr/>
          <p:nvPr/>
        </p:nvSpPr>
        <p:spPr>
          <a:xfrm>
            <a:off x="3302000" y="3175000"/>
            <a:ext cx="2336800" cy="1778000"/>
          </a:xfrm>
          <a:prstGeom prst="rect">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25400" rIns="127000" bIns="25400" rtlCol="0" anchor="ctr"/>
          <a:lstStyle/>
          <a:p>
            <a:pPr algn="ctr"/>
            <a:r>
              <a:rPr lang="en-US" sz="1700" b="1">
                <a:solidFill>
                  <a:srgbClr val="FFFFFF"/>
                </a:solidFill>
                <a:latin typeface="Calibri" panose="020F0502020204030204" pitchFamily="34" charset="0"/>
              </a:rPr>
              <a:t>Keep informed</a:t>
            </a:r>
          </a:p>
          <a:p>
            <a:pPr algn="ctr"/>
            <a:r>
              <a:rPr lang="en-US" sz="1200">
                <a:solidFill>
                  <a:srgbClr val="FFFFFF"/>
                </a:solidFill>
                <a:latin typeface="Calibri" panose="020F0502020204030204" pitchFamily="34" charset="0"/>
              </a:rPr>
              <a:t>Low power, high interest</a:t>
            </a:r>
          </a:p>
        </p:txBody>
      </p:sp>
      <p:cxnSp>
        <p:nvCxnSpPr>
          <p:cNvPr id="8" name="Straight Connector 7">
            <a:extLst>
              <a:ext uri="{FF2B5EF4-FFF2-40B4-BE49-F238E27FC236}">
                <a16:creationId xmlns:a16="http://schemas.microsoft.com/office/drawing/2014/main" id="{B4674112-2945-1E1E-50CB-50A5A66D59F0}"/>
              </a:ext>
            </a:extLst>
          </p:cNvPr>
          <p:cNvCxnSpPr/>
          <p:nvPr/>
        </p:nvCxnSpPr>
        <p:spPr>
          <a:xfrm>
            <a:off x="812800" y="5029200"/>
            <a:ext cx="4902200" cy="0"/>
          </a:xfrm>
          <a:prstGeom prst="line">
            <a:avLst/>
          </a:prstGeom>
          <a:ln w="25400">
            <a:solidFill>
              <a:srgbClr val="14213D"/>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13DF83A5-48A4-82B0-66EE-B2B811DBAC98}"/>
              </a:ext>
            </a:extLst>
          </p:cNvPr>
          <p:cNvCxnSpPr/>
          <p:nvPr/>
        </p:nvCxnSpPr>
        <p:spPr>
          <a:xfrm flipV="1">
            <a:off x="812800" y="1270000"/>
            <a:ext cx="0" cy="3759200"/>
          </a:xfrm>
          <a:prstGeom prst="line">
            <a:avLst/>
          </a:prstGeom>
          <a:ln w="25400">
            <a:solidFill>
              <a:srgbClr val="14213D"/>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23AD7280-2F78-32EB-D0CC-E44AF6751C5F}"/>
              </a:ext>
            </a:extLst>
          </p:cNvPr>
          <p:cNvSpPr txBox="1"/>
          <p:nvPr/>
        </p:nvSpPr>
        <p:spPr>
          <a:xfrm>
            <a:off x="889000" y="5080000"/>
            <a:ext cx="4749800" cy="203200"/>
          </a:xfrm>
          <a:prstGeom prst="rect">
            <a:avLst/>
          </a:prstGeom>
          <a:noFill/>
        </p:spPr>
        <p:txBody>
          <a:bodyPr vert="horz" wrap="square" lIns="0" tIns="0" rIns="0" bIns="0" rtlCol="0" anchor="t">
            <a:noAutofit/>
          </a:bodyPr>
          <a:lstStyle/>
          <a:p>
            <a:pPr algn="ctr"/>
            <a:r>
              <a:rPr lang="en-US" sz="1200" b="1">
                <a:solidFill>
                  <a:srgbClr val="14213D"/>
                </a:solidFill>
                <a:latin typeface="Calibri" panose="020F0502020204030204" pitchFamily="34" charset="0"/>
              </a:rPr>
              <a:t>Interest →</a:t>
            </a:r>
          </a:p>
        </p:txBody>
      </p:sp>
      <p:sp>
        <p:nvSpPr>
          <p:cNvPr id="11" name="TextBox 10">
            <a:extLst>
              <a:ext uri="{FF2B5EF4-FFF2-40B4-BE49-F238E27FC236}">
                <a16:creationId xmlns:a16="http://schemas.microsoft.com/office/drawing/2014/main" id="{021F6975-A3F8-416D-F016-DE449002C038}"/>
              </a:ext>
            </a:extLst>
          </p:cNvPr>
          <p:cNvSpPr txBox="1"/>
          <p:nvPr/>
        </p:nvSpPr>
        <p:spPr>
          <a:xfrm rot="16200000">
            <a:off x="-457200" y="3022600"/>
            <a:ext cx="1778000" cy="228600"/>
          </a:xfrm>
          <a:prstGeom prst="rect">
            <a:avLst/>
          </a:prstGeom>
          <a:noFill/>
        </p:spPr>
        <p:txBody>
          <a:bodyPr vert="horz" wrap="square" lIns="0" tIns="0" rIns="0" bIns="0" rtlCol="0" anchor="t">
            <a:noAutofit/>
          </a:bodyPr>
          <a:lstStyle/>
          <a:p>
            <a:pPr algn="ctr"/>
            <a:r>
              <a:rPr lang="en-US" sz="1200" b="1">
                <a:solidFill>
                  <a:srgbClr val="14213D"/>
                </a:solidFill>
                <a:latin typeface="Calibri" panose="020F0502020204030204" pitchFamily="34" charset="0"/>
              </a:rPr>
              <a:t>Power →</a:t>
            </a:r>
          </a:p>
        </p:txBody>
      </p:sp>
      <p:sp>
        <p:nvSpPr>
          <p:cNvPr id="12" name="Rectangle: Rounded Corners 11">
            <a:extLst>
              <a:ext uri="{FF2B5EF4-FFF2-40B4-BE49-F238E27FC236}">
                <a16:creationId xmlns:a16="http://schemas.microsoft.com/office/drawing/2014/main" id="{A5ED2B60-CC0A-9A56-BEA5-4447C795D612}"/>
              </a:ext>
            </a:extLst>
          </p:cNvPr>
          <p:cNvSpPr/>
          <p:nvPr/>
        </p:nvSpPr>
        <p:spPr>
          <a:xfrm>
            <a:off x="6096000" y="1320800"/>
            <a:ext cx="5588000" cy="2667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405D2BF-C180-5084-DFAD-2B6DDF5B4C9E}"/>
              </a:ext>
            </a:extLst>
          </p:cNvPr>
          <p:cNvSpPr txBox="1"/>
          <p:nvPr/>
        </p:nvSpPr>
        <p:spPr>
          <a:xfrm>
            <a:off x="6273800" y="1498600"/>
            <a:ext cx="5232400" cy="23114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Monitoring the grid</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Update the grid at key intervals; stakeholders move.</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Use stakeholder analysis and expert judgment.</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Record why each stakeholder was placed, so later moves can be explained.</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Tailor strategies to each person, not only to the quadrant.</a:t>
            </a:r>
          </a:p>
        </p:txBody>
      </p:sp>
      <p:sp>
        <p:nvSpPr>
          <p:cNvPr id="14" name="Rectangle: Rounded Corners 13">
            <a:extLst>
              <a:ext uri="{FF2B5EF4-FFF2-40B4-BE49-F238E27FC236}">
                <a16:creationId xmlns:a16="http://schemas.microsoft.com/office/drawing/2014/main" id="{2860D376-C656-F0ED-4998-B7019231B75E}"/>
              </a:ext>
            </a:extLst>
          </p:cNvPr>
          <p:cNvSpPr/>
          <p:nvPr/>
        </p:nvSpPr>
        <p:spPr>
          <a:xfrm>
            <a:off x="6096000" y="4140200"/>
            <a:ext cx="5588000" cy="1219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9D11FDB-1622-657B-8CF4-254293523561}"/>
              </a:ext>
            </a:extLst>
          </p:cNvPr>
          <p:cNvSpPr txBox="1"/>
          <p:nvPr/>
        </p:nvSpPr>
        <p:spPr>
          <a:xfrm>
            <a:off x="6273800" y="4318000"/>
            <a:ext cx="5232400" cy="863600"/>
          </a:xfrm>
          <a:prstGeom prst="rect">
            <a:avLst/>
          </a:prstGeom>
          <a:noFill/>
        </p:spPr>
        <p:txBody>
          <a:bodyPr vert="horz" wrap="square" lIns="0" tIns="0" rIns="0" bIns="0" rtlCol="0" anchor="t">
            <a:noAutofit/>
          </a:bodyPr>
          <a:lstStyle/>
          <a:p>
            <a:pPr>
              <a:spcAft>
                <a:spcPts val="600"/>
              </a:spcAft>
            </a:pPr>
            <a:r>
              <a:rPr lang="en-US" sz="1500" b="1">
                <a:solidFill>
                  <a:srgbClr val="A84A2E"/>
                </a:solidFill>
                <a:latin typeface="Calibri" panose="020F0502020204030204" pitchFamily="34" charset="0"/>
              </a:rPr>
              <a:t>Keep it confidential</a:t>
            </a:r>
          </a:p>
          <a:p>
            <a:r>
              <a:rPr lang="en-US" sz="1300">
                <a:solidFill>
                  <a:srgbClr val="1F2937"/>
                </a:solidFill>
                <a:latin typeface="Calibri" panose="020F0502020204030204" pitchFamily="34" charset="0"/>
              </a:rPr>
              <a:t>Never put names on a power/interest or power/influence grid that others will see; stakeholder analysis is sensitive.</a:t>
            </a:r>
          </a:p>
        </p:txBody>
      </p:sp>
      <p:sp>
        <p:nvSpPr>
          <p:cNvPr id="16" name="Rectangle: Rounded Corners 15">
            <a:extLst>
              <a:ext uri="{FF2B5EF4-FFF2-40B4-BE49-F238E27FC236}">
                <a16:creationId xmlns:a16="http://schemas.microsoft.com/office/drawing/2014/main" id="{6AE5899F-49BF-8237-FCBD-A422D729CCA3}"/>
              </a:ext>
            </a:extLst>
          </p:cNvPr>
          <p:cNvSpPr/>
          <p:nvPr/>
        </p:nvSpPr>
        <p:spPr>
          <a:xfrm>
            <a:off x="508000" y="5486400"/>
            <a:ext cx="11176000" cy="838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D7B69EF-787D-C3E5-5656-13F291B55082}"/>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high power and high interest means manage closely. Revisit the grid as the project moves, because engagement changes over time.</a:t>
            </a:r>
          </a:p>
        </p:txBody>
      </p:sp>
      <p:sp>
        <p:nvSpPr>
          <p:cNvPr id="18" name="Footer">
            <a:extLst>
              <a:ext uri="{FF2B5EF4-FFF2-40B4-BE49-F238E27FC236}">
                <a16:creationId xmlns:a16="http://schemas.microsoft.com/office/drawing/2014/main" id="{123CC206-DDFA-7472-339D-05BC5EFB88E3}"/>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13.1.2.4 (power/interest grid) and 13.4 (Monitor Stakeholder Engagement); A. Mendelow (1991); adapted from PMI course material</a:t>
            </a:r>
          </a:p>
        </p:txBody>
      </p:sp>
      <p:sp>
        <p:nvSpPr>
          <p:cNvPr id="19" name="SlideNum">
            <a:extLst>
              <a:ext uri="{FF2B5EF4-FFF2-40B4-BE49-F238E27FC236}">
                <a16:creationId xmlns:a16="http://schemas.microsoft.com/office/drawing/2014/main" id="{5742A4C3-F0F8-1976-47C4-7D15CBC144EA}"/>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23</a:t>
            </a:r>
          </a:p>
        </p:txBody>
      </p:sp>
      <p:sp>
        <p:nvSpPr>
          <p:cNvPr id="20"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3000933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0104ACC-0668-E36F-61E0-D95445D5DF4C}"/>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Beyond the grid: salience and engagement</a:t>
            </a:r>
          </a:p>
        </p:txBody>
      </p:sp>
      <p:sp>
        <p:nvSpPr>
          <p:cNvPr id="3" name="Tag">
            <a:extLst>
              <a:ext uri="{FF2B5EF4-FFF2-40B4-BE49-F238E27FC236}">
                <a16:creationId xmlns:a16="http://schemas.microsoft.com/office/drawing/2014/main" id="{CD7411B4-3381-EE3A-6C79-F50310E9A976}"/>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0F7C80"/>
                </a:solidFill>
                <a:latin typeface="Calibri" panose="020F0502020204030204" pitchFamily="34" charset="0"/>
              </a:rPr>
              <a:t>People deep dive · Supports People Tasks 4 and 5 (analyze, categorize, and engage stakeholders)</a:t>
            </a:r>
          </a:p>
        </p:txBody>
      </p:sp>
      <p:sp>
        <p:nvSpPr>
          <p:cNvPr id="4" name="TextBox 3">
            <a:extLst>
              <a:ext uri="{FF2B5EF4-FFF2-40B4-BE49-F238E27FC236}">
                <a16:creationId xmlns:a16="http://schemas.microsoft.com/office/drawing/2014/main" id="{24A866F8-9A46-52DC-B242-83F4BFB75D37}"/>
              </a:ext>
            </a:extLst>
          </p:cNvPr>
          <p:cNvSpPr txBox="1"/>
          <p:nvPr/>
        </p:nvSpPr>
        <p:spPr>
          <a:xfrm>
            <a:off x="508000" y="1320800"/>
            <a:ext cx="5080000" cy="254000"/>
          </a:xfrm>
          <a:prstGeom prst="rect">
            <a:avLst/>
          </a:prstGeom>
          <a:noFill/>
        </p:spPr>
        <p:txBody>
          <a:bodyPr vert="horz" wrap="square" lIns="0" tIns="0" rIns="0" bIns="0" rtlCol="0" anchor="t">
            <a:noAutofit/>
          </a:bodyPr>
          <a:lstStyle/>
          <a:p>
            <a:r>
              <a:rPr lang="en-US" sz="1500" b="1">
                <a:solidFill>
                  <a:srgbClr val="34509A"/>
                </a:solidFill>
                <a:latin typeface="Calibri" panose="020F0502020204030204" pitchFamily="34" charset="0"/>
              </a:rPr>
              <a:t>Salience model</a:t>
            </a:r>
          </a:p>
        </p:txBody>
      </p:sp>
      <p:sp>
        <p:nvSpPr>
          <p:cNvPr id="5" name="Oval 4">
            <a:extLst>
              <a:ext uri="{FF2B5EF4-FFF2-40B4-BE49-F238E27FC236}">
                <a16:creationId xmlns:a16="http://schemas.microsoft.com/office/drawing/2014/main" id="{20058221-0973-E407-A7F2-04AF7EC898A5}"/>
              </a:ext>
            </a:extLst>
          </p:cNvPr>
          <p:cNvSpPr/>
          <p:nvPr/>
        </p:nvSpPr>
        <p:spPr>
          <a:xfrm>
            <a:off x="889000" y="1651000"/>
            <a:ext cx="1905000" cy="1905000"/>
          </a:xfrm>
          <a:prstGeom prst="ellipse">
            <a:avLst/>
          </a:prstGeom>
          <a:solidFill>
            <a:srgbClr val="34509A">
              <a:alpha val="45000"/>
            </a:srgb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01A5774D-947C-93DC-9625-A3F27BD5430A}"/>
              </a:ext>
            </a:extLst>
          </p:cNvPr>
          <p:cNvSpPr/>
          <p:nvPr/>
        </p:nvSpPr>
        <p:spPr>
          <a:xfrm>
            <a:off x="2413000" y="1651000"/>
            <a:ext cx="1905000" cy="1905000"/>
          </a:xfrm>
          <a:prstGeom prst="ellipse">
            <a:avLst/>
          </a:prstGeom>
          <a:solidFill>
            <a:srgbClr val="0F7C80">
              <a:alpha val="45000"/>
            </a:srgb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28CA8102-8CE5-1AC3-2C38-939CFB5FD511}"/>
              </a:ext>
            </a:extLst>
          </p:cNvPr>
          <p:cNvSpPr/>
          <p:nvPr/>
        </p:nvSpPr>
        <p:spPr>
          <a:xfrm>
            <a:off x="1651000" y="2819400"/>
            <a:ext cx="1905000" cy="1905000"/>
          </a:xfrm>
          <a:prstGeom prst="ellipse">
            <a:avLst/>
          </a:prstGeom>
          <a:solidFill>
            <a:srgbClr val="A84A2E">
              <a:alpha val="45000"/>
            </a:srgb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7F360E1-18B3-9E75-F30D-4CFEE68F2328}"/>
              </a:ext>
            </a:extLst>
          </p:cNvPr>
          <p:cNvSpPr txBox="1"/>
          <p:nvPr/>
        </p:nvSpPr>
        <p:spPr>
          <a:xfrm>
            <a:off x="939800" y="2133600"/>
            <a:ext cx="1143000" cy="228600"/>
          </a:xfrm>
          <a:prstGeom prst="rect">
            <a:avLst/>
          </a:prstGeom>
          <a:noFill/>
        </p:spPr>
        <p:txBody>
          <a:bodyPr vert="horz" wrap="square" lIns="0" tIns="0" rIns="0" bIns="0" rtlCol="0" anchor="t">
            <a:noAutofit/>
          </a:bodyPr>
          <a:lstStyle/>
          <a:p>
            <a:r>
              <a:rPr lang="en-US" sz="1200" b="1">
                <a:solidFill>
                  <a:srgbClr val="14213D"/>
                </a:solidFill>
                <a:latin typeface="Calibri" panose="020F0502020204030204" pitchFamily="34" charset="0"/>
              </a:rPr>
              <a:t>Power</a:t>
            </a:r>
          </a:p>
        </p:txBody>
      </p:sp>
      <p:sp>
        <p:nvSpPr>
          <p:cNvPr id="9" name="TextBox 8">
            <a:extLst>
              <a:ext uri="{FF2B5EF4-FFF2-40B4-BE49-F238E27FC236}">
                <a16:creationId xmlns:a16="http://schemas.microsoft.com/office/drawing/2014/main" id="{6246BBB9-4513-A28E-A270-A7C5FE67E743}"/>
              </a:ext>
            </a:extLst>
          </p:cNvPr>
          <p:cNvSpPr txBox="1"/>
          <p:nvPr/>
        </p:nvSpPr>
        <p:spPr>
          <a:xfrm>
            <a:off x="3200400" y="2133600"/>
            <a:ext cx="1092200" cy="228600"/>
          </a:xfrm>
          <a:prstGeom prst="rect">
            <a:avLst/>
          </a:prstGeom>
          <a:noFill/>
        </p:spPr>
        <p:txBody>
          <a:bodyPr vert="horz" wrap="square" lIns="0" tIns="0" rIns="0" bIns="0" rtlCol="0" anchor="t">
            <a:noAutofit/>
          </a:bodyPr>
          <a:lstStyle/>
          <a:p>
            <a:pPr algn="r"/>
            <a:r>
              <a:rPr lang="en-US" sz="1200" b="1">
                <a:solidFill>
                  <a:srgbClr val="14213D"/>
                </a:solidFill>
                <a:latin typeface="Calibri" panose="020F0502020204030204" pitchFamily="34" charset="0"/>
              </a:rPr>
              <a:t>Legitimacy</a:t>
            </a:r>
          </a:p>
        </p:txBody>
      </p:sp>
      <p:sp>
        <p:nvSpPr>
          <p:cNvPr id="10" name="TextBox 9">
            <a:extLst>
              <a:ext uri="{FF2B5EF4-FFF2-40B4-BE49-F238E27FC236}">
                <a16:creationId xmlns:a16="http://schemas.microsoft.com/office/drawing/2014/main" id="{2927CE17-E376-C09D-CA0B-C9E95EA27731}"/>
              </a:ext>
            </a:extLst>
          </p:cNvPr>
          <p:cNvSpPr txBox="1"/>
          <p:nvPr/>
        </p:nvSpPr>
        <p:spPr>
          <a:xfrm>
            <a:off x="2032000" y="4191000"/>
            <a:ext cx="1143000" cy="228600"/>
          </a:xfrm>
          <a:prstGeom prst="rect">
            <a:avLst/>
          </a:prstGeom>
          <a:noFill/>
        </p:spPr>
        <p:txBody>
          <a:bodyPr vert="horz" wrap="square" lIns="0" tIns="0" rIns="0" bIns="0" rtlCol="0" anchor="t">
            <a:noAutofit/>
          </a:bodyPr>
          <a:lstStyle/>
          <a:p>
            <a:pPr algn="ctr"/>
            <a:r>
              <a:rPr lang="en-US" sz="1200" b="1">
                <a:solidFill>
                  <a:srgbClr val="14213D"/>
                </a:solidFill>
                <a:latin typeface="Calibri" panose="020F0502020204030204" pitchFamily="34" charset="0"/>
              </a:rPr>
              <a:t>Urgency</a:t>
            </a:r>
          </a:p>
        </p:txBody>
      </p:sp>
      <p:sp>
        <p:nvSpPr>
          <p:cNvPr id="11" name="TextBox 10">
            <a:extLst>
              <a:ext uri="{FF2B5EF4-FFF2-40B4-BE49-F238E27FC236}">
                <a16:creationId xmlns:a16="http://schemas.microsoft.com/office/drawing/2014/main" id="{67EC5025-2607-900E-C93D-BFF506907F9D}"/>
              </a:ext>
            </a:extLst>
          </p:cNvPr>
          <p:cNvSpPr txBox="1"/>
          <p:nvPr/>
        </p:nvSpPr>
        <p:spPr>
          <a:xfrm>
            <a:off x="2032000" y="2971800"/>
            <a:ext cx="1143000" cy="228600"/>
          </a:xfrm>
          <a:prstGeom prst="rect">
            <a:avLst/>
          </a:prstGeom>
          <a:noFill/>
        </p:spPr>
        <p:txBody>
          <a:bodyPr vert="horz" wrap="square" lIns="0" tIns="0" rIns="0" bIns="0" rtlCol="0" anchor="t">
            <a:noAutofit/>
          </a:bodyPr>
          <a:lstStyle/>
          <a:p>
            <a:pPr algn="ctr"/>
            <a:r>
              <a:rPr lang="en-US" sz="1200" b="1">
                <a:solidFill>
                  <a:srgbClr val="FFFFFF"/>
                </a:solidFill>
                <a:latin typeface="Calibri" panose="020F0502020204030204" pitchFamily="34" charset="0"/>
              </a:rPr>
              <a:t>Definitive</a:t>
            </a:r>
          </a:p>
        </p:txBody>
      </p:sp>
      <p:sp>
        <p:nvSpPr>
          <p:cNvPr id="12" name="TextBox 11">
            <a:extLst>
              <a:ext uri="{FF2B5EF4-FFF2-40B4-BE49-F238E27FC236}">
                <a16:creationId xmlns:a16="http://schemas.microsoft.com/office/drawing/2014/main" id="{9ADE7E5D-B545-7A27-BCFA-9B4167350183}"/>
              </a:ext>
            </a:extLst>
          </p:cNvPr>
          <p:cNvSpPr txBox="1"/>
          <p:nvPr/>
        </p:nvSpPr>
        <p:spPr>
          <a:xfrm>
            <a:off x="508000" y="4775200"/>
            <a:ext cx="5080000" cy="508000"/>
          </a:xfrm>
          <a:prstGeom prst="rect">
            <a:avLst/>
          </a:prstGeom>
          <a:noFill/>
        </p:spPr>
        <p:txBody>
          <a:bodyPr vert="horz" wrap="square" lIns="0" tIns="0" rIns="0" bIns="0" rtlCol="0" anchor="t">
            <a:noAutofit/>
          </a:bodyPr>
          <a:lstStyle/>
          <a:p>
            <a:r>
              <a:rPr lang="en-US" sz="1200" i="1">
                <a:solidFill>
                  <a:srgbClr val="5B6475"/>
                </a:solidFill>
                <a:latin typeface="Calibri" panose="020F0502020204030204" pitchFamily="34" charset="0"/>
              </a:rPr>
              <a:t>Stakeholders with power, legitimacy, and urgency are definitive: give them the most attention.</a:t>
            </a:r>
          </a:p>
        </p:txBody>
      </p:sp>
      <p:sp>
        <p:nvSpPr>
          <p:cNvPr id="13" name="TextBox 12">
            <a:extLst>
              <a:ext uri="{FF2B5EF4-FFF2-40B4-BE49-F238E27FC236}">
                <a16:creationId xmlns:a16="http://schemas.microsoft.com/office/drawing/2014/main" id="{61B17F5B-A235-9879-70F3-78DCF265CEEB}"/>
              </a:ext>
            </a:extLst>
          </p:cNvPr>
          <p:cNvSpPr txBox="1"/>
          <p:nvPr/>
        </p:nvSpPr>
        <p:spPr>
          <a:xfrm>
            <a:off x="5842000" y="1320800"/>
            <a:ext cx="5842000" cy="254000"/>
          </a:xfrm>
          <a:prstGeom prst="rect">
            <a:avLst/>
          </a:prstGeom>
          <a:noFill/>
        </p:spPr>
        <p:txBody>
          <a:bodyPr vert="horz" wrap="square" lIns="0" tIns="0" rIns="0" bIns="0" rtlCol="0" anchor="t">
            <a:noAutofit/>
          </a:bodyPr>
          <a:lstStyle/>
          <a:p>
            <a:r>
              <a:rPr lang="en-US" sz="1500" b="1">
                <a:solidFill>
                  <a:srgbClr val="34509A"/>
                </a:solidFill>
                <a:latin typeface="Calibri" panose="020F0502020204030204" pitchFamily="34" charset="0"/>
              </a:rPr>
              <a:t>Stakeholder engagement assessment matrix</a:t>
            </a:r>
          </a:p>
        </p:txBody>
      </p:sp>
      <p:graphicFrame>
        <p:nvGraphicFramePr>
          <p:cNvPr id="14" name="Table">
            <a:extLst>
              <a:ext uri="{FF2B5EF4-FFF2-40B4-BE49-F238E27FC236}">
                <a16:creationId xmlns:a16="http://schemas.microsoft.com/office/drawing/2014/main" id="{AF607F08-70B7-5784-EA23-F79518F029C2}"/>
              </a:ext>
            </a:extLst>
          </p:cNvPr>
          <p:cNvGraphicFramePr>
            <a:graphicFrameLocks noGrp="1"/>
          </p:cNvGraphicFramePr>
          <p:nvPr>
            <p:extLst>
              <p:ext uri="{D42A27DB-BD31-4B8C-83A1-F6EECF244321}">
                <p14:modId xmlns:p14="http://schemas.microsoft.com/office/powerpoint/2010/main" val="2924857551"/>
              </p:ext>
            </p:extLst>
          </p:nvPr>
        </p:nvGraphicFramePr>
        <p:xfrm>
          <a:off x="5842000" y="1651000"/>
          <a:ext cx="5842000" cy="1905000"/>
        </p:xfrm>
        <a:graphic>
          <a:graphicData uri="http://schemas.openxmlformats.org/drawingml/2006/table">
            <a:tbl>
              <a:tblPr firstRow="1" bandRow="1">
                <a:tableStyleId>{2D5ABB26-0587-4C30-8999-92F81FD0307C}</a:tableStyleId>
              </a:tblPr>
              <a:tblGrid>
                <a:gridCol w="1397000">
                  <a:extLst>
                    <a:ext uri="{9D8B030D-6E8A-4147-A177-3AD203B41FA5}">
                      <a16:colId xmlns:a16="http://schemas.microsoft.com/office/drawing/2014/main" val="1342997031"/>
                    </a:ext>
                  </a:extLst>
                </a:gridCol>
                <a:gridCol w="889000">
                  <a:extLst>
                    <a:ext uri="{9D8B030D-6E8A-4147-A177-3AD203B41FA5}">
                      <a16:colId xmlns:a16="http://schemas.microsoft.com/office/drawing/2014/main" val="2011759002"/>
                    </a:ext>
                  </a:extLst>
                </a:gridCol>
                <a:gridCol w="889000">
                  <a:extLst>
                    <a:ext uri="{9D8B030D-6E8A-4147-A177-3AD203B41FA5}">
                      <a16:colId xmlns:a16="http://schemas.microsoft.com/office/drawing/2014/main" val="1044123301"/>
                    </a:ext>
                  </a:extLst>
                </a:gridCol>
                <a:gridCol w="889000">
                  <a:extLst>
                    <a:ext uri="{9D8B030D-6E8A-4147-A177-3AD203B41FA5}">
                      <a16:colId xmlns:a16="http://schemas.microsoft.com/office/drawing/2014/main" val="662404784"/>
                    </a:ext>
                  </a:extLst>
                </a:gridCol>
                <a:gridCol w="889000">
                  <a:extLst>
                    <a:ext uri="{9D8B030D-6E8A-4147-A177-3AD203B41FA5}">
                      <a16:colId xmlns:a16="http://schemas.microsoft.com/office/drawing/2014/main" val="2844632177"/>
                    </a:ext>
                  </a:extLst>
                </a:gridCol>
                <a:gridCol w="889000">
                  <a:extLst>
                    <a:ext uri="{9D8B030D-6E8A-4147-A177-3AD203B41FA5}">
                      <a16:colId xmlns:a16="http://schemas.microsoft.com/office/drawing/2014/main" val="3127318488"/>
                    </a:ext>
                  </a:extLst>
                </a:gridCol>
              </a:tblGrid>
              <a:tr h="381000">
                <a:tc>
                  <a:txBody>
                    <a:bodyPr/>
                    <a:lstStyle/>
                    <a:p>
                      <a:r>
                        <a:rPr lang="en-US" sz="1100" b="1">
                          <a:solidFill>
                            <a:srgbClr val="FFFFFF"/>
                          </a:solidFill>
                          <a:latin typeface="Calibri" panose="020F0502020204030204" pitchFamily="34" charset="0"/>
                        </a:rPr>
                        <a:t>Stakeholder</a:t>
                      </a:r>
                    </a:p>
                  </a:txBody>
                  <a:tcPr marL="127000" marR="101600" marT="63500" marB="63500" anchor="ctr">
                    <a:solidFill>
                      <a:srgbClr val="14213D"/>
                    </a:solidFill>
                  </a:tcPr>
                </a:tc>
                <a:tc>
                  <a:txBody>
                    <a:bodyPr/>
                    <a:lstStyle/>
                    <a:p>
                      <a:r>
                        <a:rPr lang="en-US" sz="1100" b="1">
                          <a:solidFill>
                            <a:srgbClr val="FFFFFF"/>
                          </a:solidFill>
                          <a:latin typeface="Calibri" panose="020F0502020204030204" pitchFamily="34" charset="0"/>
                        </a:rPr>
                        <a:t>Unaware</a:t>
                      </a:r>
                    </a:p>
                  </a:txBody>
                  <a:tcPr marL="127000" marR="101600" marT="63500" marB="63500" anchor="ctr">
                    <a:solidFill>
                      <a:srgbClr val="14213D"/>
                    </a:solidFill>
                  </a:tcPr>
                </a:tc>
                <a:tc>
                  <a:txBody>
                    <a:bodyPr/>
                    <a:lstStyle/>
                    <a:p>
                      <a:r>
                        <a:rPr lang="en-US" sz="1100" b="1">
                          <a:solidFill>
                            <a:srgbClr val="FFFFFF"/>
                          </a:solidFill>
                          <a:latin typeface="Calibri" panose="020F0502020204030204" pitchFamily="34" charset="0"/>
                        </a:rPr>
                        <a:t>Resistant</a:t>
                      </a:r>
                    </a:p>
                  </a:txBody>
                  <a:tcPr marL="127000" marR="101600" marT="63500" marB="63500" anchor="ctr">
                    <a:solidFill>
                      <a:srgbClr val="14213D"/>
                    </a:solidFill>
                  </a:tcPr>
                </a:tc>
                <a:tc>
                  <a:txBody>
                    <a:bodyPr/>
                    <a:lstStyle/>
                    <a:p>
                      <a:r>
                        <a:rPr lang="en-US" sz="1100" b="1">
                          <a:solidFill>
                            <a:srgbClr val="FFFFFF"/>
                          </a:solidFill>
                          <a:latin typeface="Calibri" panose="020F0502020204030204" pitchFamily="34" charset="0"/>
                        </a:rPr>
                        <a:t>Neutral</a:t>
                      </a:r>
                    </a:p>
                  </a:txBody>
                  <a:tcPr marL="127000" marR="101600" marT="63500" marB="63500" anchor="ctr">
                    <a:solidFill>
                      <a:srgbClr val="14213D"/>
                    </a:solidFill>
                  </a:tcPr>
                </a:tc>
                <a:tc>
                  <a:txBody>
                    <a:bodyPr/>
                    <a:lstStyle/>
                    <a:p>
                      <a:r>
                        <a:rPr lang="en-US" sz="1100" b="1">
                          <a:solidFill>
                            <a:srgbClr val="FFFFFF"/>
                          </a:solidFill>
                          <a:latin typeface="Calibri" panose="020F0502020204030204" pitchFamily="34" charset="0"/>
                        </a:rPr>
                        <a:t>Supportive</a:t>
                      </a:r>
                    </a:p>
                  </a:txBody>
                  <a:tcPr marL="127000" marR="101600" marT="63500" marB="63500" anchor="ctr">
                    <a:solidFill>
                      <a:srgbClr val="14213D"/>
                    </a:solidFill>
                  </a:tcPr>
                </a:tc>
                <a:tc>
                  <a:txBody>
                    <a:bodyPr/>
                    <a:lstStyle/>
                    <a:p>
                      <a:r>
                        <a:rPr lang="en-US" sz="1100" b="1">
                          <a:solidFill>
                            <a:srgbClr val="FFFFFF"/>
                          </a:solidFill>
                          <a:latin typeface="Calibri" panose="020F0502020204030204" pitchFamily="34" charset="0"/>
                        </a:rPr>
                        <a:t>Leading</a:t>
                      </a:r>
                    </a:p>
                  </a:txBody>
                  <a:tcPr marL="127000" marR="101600" marT="63500" marB="63500" anchor="ctr">
                    <a:solidFill>
                      <a:srgbClr val="14213D"/>
                    </a:solidFill>
                  </a:tcPr>
                </a:tc>
                <a:extLst>
                  <a:ext uri="{0D108BD9-81ED-4DB2-BD59-A6C34878D82A}">
                    <a16:rowId xmlns:a16="http://schemas.microsoft.com/office/drawing/2014/main" val="1893804339"/>
                  </a:ext>
                </a:extLst>
              </a:tr>
              <a:tr h="381000">
                <a:tc>
                  <a:txBody>
                    <a:bodyPr/>
                    <a:lstStyle/>
                    <a:p>
                      <a:r>
                        <a:rPr lang="en-US" sz="1100" b="1">
                          <a:solidFill>
                            <a:srgbClr val="14213D"/>
                          </a:solidFill>
                          <a:latin typeface="Calibri" panose="020F0502020204030204" pitchFamily="34" charset="0"/>
                        </a:rPr>
                        <a:t>Sponsor</a:t>
                      </a:r>
                    </a:p>
                  </a:txBody>
                  <a:tcPr marL="127000" marR="101600" marT="63500" marB="63500" anchor="ctr">
                    <a:solidFill>
                      <a:srgbClr val="FFFFFF"/>
                    </a:solidFill>
                  </a:tcPr>
                </a:tc>
                <a:tc>
                  <a:txBody>
                    <a:bodyPr/>
                    <a:lstStyle/>
                    <a:p>
                      <a:endParaRPr lang="en-US" sz="1100">
                        <a:solidFill>
                          <a:srgbClr val="1F2937"/>
                        </a:solidFill>
                        <a:latin typeface="Calibri" panose="020F0502020204030204" pitchFamily="34" charset="0"/>
                      </a:endParaRPr>
                    </a:p>
                  </a:txBody>
                  <a:tcPr marL="127000" marR="101600" marT="63500" marB="63500" anchor="ctr">
                    <a:solidFill>
                      <a:srgbClr val="FFFFFF"/>
                    </a:solidFill>
                  </a:tcPr>
                </a:tc>
                <a:tc>
                  <a:txBody>
                    <a:bodyPr/>
                    <a:lstStyle/>
                    <a:p>
                      <a:endParaRPr lang="en-US" sz="1100">
                        <a:solidFill>
                          <a:srgbClr val="1F2937"/>
                        </a:solidFill>
                        <a:latin typeface="Calibri" panose="020F0502020204030204" pitchFamily="34" charset="0"/>
                      </a:endParaRPr>
                    </a:p>
                  </a:txBody>
                  <a:tcPr marL="127000" marR="101600" marT="63500" marB="63500" anchor="ctr">
                    <a:solidFill>
                      <a:srgbClr val="FFFFFF"/>
                    </a:solidFill>
                  </a:tcPr>
                </a:tc>
                <a:tc>
                  <a:txBody>
                    <a:bodyPr/>
                    <a:lstStyle/>
                    <a:p>
                      <a:endParaRPr lang="en-US" sz="1100">
                        <a:solidFill>
                          <a:srgbClr val="1F2937"/>
                        </a:solidFill>
                        <a:latin typeface="Calibri" panose="020F0502020204030204" pitchFamily="34" charset="0"/>
                      </a:endParaRPr>
                    </a:p>
                  </a:txBody>
                  <a:tcPr marL="127000" marR="101600" marT="63500" marB="63500" anchor="ctr">
                    <a:solidFill>
                      <a:srgbClr val="FFFFFF"/>
                    </a:solidFill>
                  </a:tcPr>
                </a:tc>
                <a:tc>
                  <a:txBody>
                    <a:bodyPr/>
                    <a:lstStyle/>
                    <a:p>
                      <a:r>
                        <a:rPr lang="en-US" sz="1100">
                          <a:solidFill>
                            <a:srgbClr val="1F2937"/>
                          </a:solidFill>
                          <a:latin typeface="Calibri" panose="020F0502020204030204" pitchFamily="34" charset="0"/>
                        </a:rPr>
                        <a:t>C</a:t>
                      </a:r>
                    </a:p>
                  </a:txBody>
                  <a:tcPr marL="127000" marR="101600" marT="63500" marB="63500" anchor="ctr">
                    <a:solidFill>
                      <a:srgbClr val="FFFFFF"/>
                    </a:solidFill>
                  </a:tcPr>
                </a:tc>
                <a:tc>
                  <a:txBody>
                    <a:bodyPr/>
                    <a:lstStyle/>
                    <a:p>
                      <a:r>
                        <a:rPr lang="en-US" sz="1100">
                          <a:solidFill>
                            <a:srgbClr val="1F2937"/>
                          </a:solidFill>
                          <a:latin typeface="Calibri" panose="020F0502020204030204" pitchFamily="34" charset="0"/>
                        </a:rPr>
                        <a:t>D</a:t>
                      </a:r>
                    </a:p>
                  </a:txBody>
                  <a:tcPr marL="127000" marR="101600" marT="63500" marB="63500" anchor="ctr">
                    <a:solidFill>
                      <a:srgbClr val="FFFFFF"/>
                    </a:solidFill>
                  </a:tcPr>
                </a:tc>
                <a:extLst>
                  <a:ext uri="{0D108BD9-81ED-4DB2-BD59-A6C34878D82A}">
                    <a16:rowId xmlns:a16="http://schemas.microsoft.com/office/drawing/2014/main" val="1369930340"/>
                  </a:ext>
                </a:extLst>
              </a:tr>
              <a:tr h="381000">
                <a:tc>
                  <a:txBody>
                    <a:bodyPr/>
                    <a:lstStyle/>
                    <a:p>
                      <a:r>
                        <a:rPr lang="en-US" sz="1100" b="1">
                          <a:solidFill>
                            <a:srgbClr val="14213D"/>
                          </a:solidFill>
                          <a:latin typeface="Calibri" panose="020F0502020204030204" pitchFamily="34" charset="0"/>
                        </a:rPr>
                        <a:t>Operations lead</a:t>
                      </a:r>
                    </a:p>
                  </a:txBody>
                  <a:tcPr marL="127000" marR="101600" marT="63500" marB="63500" anchor="ctr">
                    <a:solidFill>
                      <a:srgbClr val="F3F5F8"/>
                    </a:solidFill>
                  </a:tcPr>
                </a:tc>
                <a:tc>
                  <a:txBody>
                    <a:bodyPr/>
                    <a:lstStyle/>
                    <a:p>
                      <a:endParaRPr lang="en-US" sz="1100">
                        <a:solidFill>
                          <a:srgbClr val="1F2937"/>
                        </a:solidFill>
                        <a:latin typeface="Calibri" panose="020F0502020204030204" pitchFamily="34" charset="0"/>
                      </a:endParaRPr>
                    </a:p>
                  </a:txBody>
                  <a:tcPr marL="127000" marR="101600" marT="63500" marB="63500" anchor="ctr">
                    <a:solidFill>
                      <a:srgbClr val="F3F5F8"/>
                    </a:solidFill>
                  </a:tcPr>
                </a:tc>
                <a:tc>
                  <a:txBody>
                    <a:bodyPr/>
                    <a:lstStyle/>
                    <a:p>
                      <a:r>
                        <a:rPr lang="en-US" sz="1100">
                          <a:solidFill>
                            <a:srgbClr val="1F2937"/>
                          </a:solidFill>
                          <a:latin typeface="Calibri" panose="020F0502020204030204" pitchFamily="34" charset="0"/>
                        </a:rPr>
                        <a:t>C</a:t>
                      </a:r>
                    </a:p>
                  </a:txBody>
                  <a:tcPr marL="127000" marR="101600" marT="63500" marB="63500" anchor="ctr">
                    <a:solidFill>
                      <a:srgbClr val="F3F5F8"/>
                    </a:solidFill>
                  </a:tcPr>
                </a:tc>
                <a:tc>
                  <a:txBody>
                    <a:bodyPr/>
                    <a:lstStyle/>
                    <a:p>
                      <a:endParaRPr lang="en-US" sz="1100">
                        <a:solidFill>
                          <a:srgbClr val="1F2937"/>
                        </a:solidFill>
                        <a:latin typeface="Calibri" panose="020F0502020204030204" pitchFamily="34" charset="0"/>
                      </a:endParaRPr>
                    </a:p>
                  </a:txBody>
                  <a:tcPr marL="127000" marR="101600" marT="63500" marB="63500" anchor="ctr">
                    <a:solidFill>
                      <a:srgbClr val="F3F5F8"/>
                    </a:solidFill>
                  </a:tcPr>
                </a:tc>
                <a:tc>
                  <a:txBody>
                    <a:bodyPr/>
                    <a:lstStyle/>
                    <a:p>
                      <a:r>
                        <a:rPr lang="en-US" sz="1100">
                          <a:solidFill>
                            <a:srgbClr val="1F2937"/>
                          </a:solidFill>
                          <a:latin typeface="Calibri" panose="020F0502020204030204" pitchFamily="34" charset="0"/>
                        </a:rPr>
                        <a:t>D</a:t>
                      </a:r>
                    </a:p>
                  </a:txBody>
                  <a:tcPr marL="127000" marR="101600" marT="63500" marB="63500" anchor="ctr">
                    <a:solidFill>
                      <a:srgbClr val="F3F5F8"/>
                    </a:solidFill>
                  </a:tcPr>
                </a:tc>
                <a:tc>
                  <a:txBody>
                    <a:bodyPr/>
                    <a:lstStyle/>
                    <a:p>
                      <a:endParaRPr lang="en-US" sz="1100">
                        <a:solidFill>
                          <a:srgbClr val="1F2937"/>
                        </a:solidFill>
                        <a:latin typeface="Calibri" panose="020F0502020204030204" pitchFamily="34" charset="0"/>
                      </a:endParaRPr>
                    </a:p>
                  </a:txBody>
                  <a:tcPr marL="127000" marR="101600" marT="63500" marB="63500" anchor="ctr">
                    <a:solidFill>
                      <a:srgbClr val="F3F5F8"/>
                    </a:solidFill>
                  </a:tcPr>
                </a:tc>
                <a:extLst>
                  <a:ext uri="{0D108BD9-81ED-4DB2-BD59-A6C34878D82A}">
                    <a16:rowId xmlns:a16="http://schemas.microsoft.com/office/drawing/2014/main" val="2135148073"/>
                  </a:ext>
                </a:extLst>
              </a:tr>
              <a:tr h="381000">
                <a:tc>
                  <a:txBody>
                    <a:bodyPr/>
                    <a:lstStyle/>
                    <a:p>
                      <a:r>
                        <a:rPr lang="en-US" sz="1100" b="1">
                          <a:solidFill>
                            <a:srgbClr val="14213D"/>
                          </a:solidFill>
                          <a:latin typeface="Calibri" panose="020F0502020204030204" pitchFamily="34" charset="0"/>
                        </a:rPr>
                        <a:t>End users</a:t>
                      </a:r>
                    </a:p>
                  </a:txBody>
                  <a:tcPr marL="127000" marR="101600" marT="63500" marB="63500" anchor="ctr">
                    <a:solidFill>
                      <a:srgbClr val="FFFFFF"/>
                    </a:solidFill>
                  </a:tcPr>
                </a:tc>
                <a:tc>
                  <a:txBody>
                    <a:bodyPr/>
                    <a:lstStyle/>
                    <a:p>
                      <a:r>
                        <a:rPr lang="en-US" sz="1100">
                          <a:solidFill>
                            <a:srgbClr val="1F2937"/>
                          </a:solidFill>
                          <a:latin typeface="Calibri" panose="020F0502020204030204" pitchFamily="34" charset="0"/>
                        </a:rPr>
                        <a:t>C</a:t>
                      </a:r>
                    </a:p>
                  </a:txBody>
                  <a:tcPr marL="127000" marR="101600" marT="63500" marB="63500" anchor="ctr">
                    <a:solidFill>
                      <a:srgbClr val="FFFFFF"/>
                    </a:solidFill>
                  </a:tcPr>
                </a:tc>
                <a:tc>
                  <a:txBody>
                    <a:bodyPr/>
                    <a:lstStyle/>
                    <a:p>
                      <a:endParaRPr lang="en-US" sz="1100">
                        <a:solidFill>
                          <a:srgbClr val="1F2937"/>
                        </a:solidFill>
                        <a:latin typeface="Calibri" panose="020F0502020204030204" pitchFamily="34" charset="0"/>
                      </a:endParaRPr>
                    </a:p>
                  </a:txBody>
                  <a:tcPr marL="127000" marR="101600" marT="63500" marB="63500" anchor="ctr">
                    <a:solidFill>
                      <a:srgbClr val="FFFFFF"/>
                    </a:solidFill>
                  </a:tcPr>
                </a:tc>
                <a:tc>
                  <a:txBody>
                    <a:bodyPr/>
                    <a:lstStyle/>
                    <a:p>
                      <a:endParaRPr lang="en-US" sz="1100">
                        <a:solidFill>
                          <a:srgbClr val="1F2937"/>
                        </a:solidFill>
                        <a:latin typeface="Calibri" panose="020F0502020204030204" pitchFamily="34" charset="0"/>
                      </a:endParaRPr>
                    </a:p>
                  </a:txBody>
                  <a:tcPr marL="127000" marR="101600" marT="63500" marB="63500" anchor="ctr">
                    <a:solidFill>
                      <a:srgbClr val="FFFFFF"/>
                    </a:solidFill>
                  </a:tcPr>
                </a:tc>
                <a:tc>
                  <a:txBody>
                    <a:bodyPr/>
                    <a:lstStyle/>
                    <a:p>
                      <a:r>
                        <a:rPr lang="en-US" sz="1100">
                          <a:solidFill>
                            <a:srgbClr val="1F2937"/>
                          </a:solidFill>
                          <a:latin typeface="Calibri" panose="020F0502020204030204" pitchFamily="34" charset="0"/>
                        </a:rPr>
                        <a:t>D</a:t>
                      </a:r>
                    </a:p>
                  </a:txBody>
                  <a:tcPr marL="127000" marR="101600" marT="63500" marB="63500" anchor="ctr">
                    <a:solidFill>
                      <a:srgbClr val="FFFFFF"/>
                    </a:solidFill>
                  </a:tcPr>
                </a:tc>
                <a:tc>
                  <a:txBody>
                    <a:bodyPr/>
                    <a:lstStyle/>
                    <a:p>
                      <a:endParaRPr lang="en-US" sz="1100">
                        <a:solidFill>
                          <a:srgbClr val="1F2937"/>
                        </a:solidFill>
                        <a:latin typeface="Calibri" panose="020F0502020204030204" pitchFamily="34" charset="0"/>
                      </a:endParaRPr>
                    </a:p>
                  </a:txBody>
                  <a:tcPr marL="127000" marR="101600" marT="63500" marB="63500" anchor="ctr">
                    <a:solidFill>
                      <a:srgbClr val="FFFFFF"/>
                    </a:solidFill>
                  </a:tcPr>
                </a:tc>
                <a:extLst>
                  <a:ext uri="{0D108BD9-81ED-4DB2-BD59-A6C34878D82A}">
                    <a16:rowId xmlns:a16="http://schemas.microsoft.com/office/drawing/2014/main" val="1864173899"/>
                  </a:ext>
                </a:extLst>
              </a:tr>
              <a:tr h="381000">
                <a:tc>
                  <a:txBody>
                    <a:bodyPr/>
                    <a:lstStyle/>
                    <a:p>
                      <a:r>
                        <a:rPr lang="en-US" sz="1100" b="1">
                          <a:solidFill>
                            <a:srgbClr val="14213D"/>
                          </a:solidFill>
                          <a:latin typeface="Calibri" panose="020F0502020204030204" pitchFamily="34" charset="0"/>
                        </a:rPr>
                        <a:t>Vendor</a:t>
                      </a:r>
                    </a:p>
                  </a:txBody>
                  <a:tcPr marL="127000" marR="101600" marT="63500" marB="63500" anchor="ctr">
                    <a:solidFill>
                      <a:srgbClr val="F3F5F8"/>
                    </a:solidFill>
                  </a:tcPr>
                </a:tc>
                <a:tc>
                  <a:txBody>
                    <a:bodyPr/>
                    <a:lstStyle/>
                    <a:p>
                      <a:endParaRPr lang="en-US" sz="1100">
                        <a:solidFill>
                          <a:srgbClr val="1F2937"/>
                        </a:solidFill>
                        <a:latin typeface="Calibri" panose="020F0502020204030204" pitchFamily="34" charset="0"/>
                      </a:endParaRPr>
                    </a:p>
                  </a:txBody>
                  <a:tcPr marL="127000" marR="101600" marT="63500" marB="63500" anchor="ctr">
                    <a:solidFill>
                      <a:srgbClr val="F3F5F8"/>
                    </a:solidFill>
                  </a:tcPr>
                </a:tc>
                <a:tc>
                  <a:txBody>
                    <a:bodyPr/>
                    <a:lstStyle/>
                    <a:p>
                      <a:endParaRPr lang="en-US" sz="1100">
                        <a:solidFill>
                          <a:srgbClr val="1F2937"/>
                        </a:solidFill>
                        <a:latin typeface="Calibri" panose="020F0502020204030204" pitchFamily="34" charset="0"/>
                      </a:endParaRPr>
                    </a:p>
                  </a:txBody>
                  <a:tcPr marL="127000" marR="101600" marT="63500" marB="63500" anchor="ctr">
                    <a:solidFill>
                      <a:srgbClr val="F3F5F8"/>
                    </a:solidFill>
                  </a:tcPr>
                </a:tc>
                <a:tc>
                  <a:txBody>
                    <a:bodyPr/>
                    <a:lstStyle/>
                    <a:p>
                      <a:r>
                        <a:rPr lang="en-US" sz="1100">
                          <a:solidFill>
                            <a:srgbClr val="1F2937"/>
                          </a:solidFill>
                          <a:latin typeface="Calibri" panose="020F0502020204030204" pitchFamily="34" charset="0"/>
                        </a:rPr>
                        <a:t>C D</a:t>
                      </a:r>
                    </a:p>
                  </a:txBody>
                  <a:tcPr marL="127000" marR="101600" marT="63500" marB="63500" anchor="ctr">
                    <a:solidFill>
                      <a:srgbClr val="F3F5F8"/>
                    </a:solidFill>
                  </a:tcPr>
                </a:tc>
                <a:tc>
                  <a:txBody>
                    <a:bodyPr/>
                    <a:lstStyle/>
                    <a:p>
                      <a:endParaRPr lang="en-US" sz="1100">
                        <a:solidFill>
                          <a:srgbClr val="1F2937"/>
                        </a:solidFill>
                        <a:latin typeface="Calibri" panose="020F0502020204030204" pitchFamily="34" charset="0"/>
                      </a:endParaRPr>
                    </a:p>
                  </a:txBody>
                  <a:tcPr marL="127000" marR="101600" marT="63500" marB="63500" anchor="ctr">
                    <a:solidFill>
                      <a:srgbClr val="F3F5F8"/>
                    </a:solidFill>
                  </a:tcPr>
                </a:tc>
                <a:tc>
                  <a:txBody>
                    <a:bodyPr/>
                    <a:lstStyle/>
                    <a:p>
                      <a:endParaRPr lang="en-US" sz="1100">
                        <a:solidFill>
                          <a:srgbClr val="1F2937"/>
                        </a:solidFill>
                        <a:latin typeface="Calibri" panose="020F0502020204030204" pitchFamily="34" charset="0"/>
                      </a:endParaRPr>
                    </a:p>
                  </a:txBody>
                  <a:tcPr marL="127000" marR="101600" marT="63500" marB="63500" anchor="ctr">
                    <a:solidFill>
                      <a:srgbClr val="F3F5F8"/>
                    </a:solidFill>
                  </a:tcPr>
                </a:tc>
                <a:extLst>
                  <a:ext uri="{0D108BD9-81ED-4DB2-BD59-A6C34878D82A}">
                    <a16:rowId xmlns:a16="http://schemas.microsoft.com/office/drawing/2014/main" val="299922393"/>
                  </a:ext>
                </a:extLst>
              </a:tr>
            </a:tbl>
          </a:graphicData>
        </a:graphic>
      </p:graphicFrame>
      <p:sp>
        <p:nvSpPr>
          <p:cNvPr id="15" name="TextBox 14">
            <a:extLst>
              <a:ext uri="{FF2B5EF4-FFF2-40B4-BE49-F238E27FC236}">
                <a16:creationId xmlns:a16="http://schemas.microsoft.com/office/drawing/2014/main" id="{0A716AFF-4D7B-1C31-FAD7-1A82B9FF1494}"/>
              </a:ext>
            </a:extLst>
          </p:cNvPr>
          <p:cNvSpPr txBox="1"/>
          <p:nvPr/>
        </p:nvSpPr>
        <p:spPr>
          <a:xfrm>
            <a:off x="5842000" y="3606800"/>
            <a:ext cx="5842000" cy="431800"/>
          </a:xfrm>
          <a:prstGeom prst="rect">
            <a:avLst/>
          </a:prstGeom>
          <a:noFill/>
        </p:spPr>
        <p:txBody>
          <a:bodyPr vert="horz" wrap="square" lIns="0" tIns="0" rIns="0" bIns="0" rtlCol="0" anchor="t">
            <a:noAutofit/>
          </a:bodyPr>
          <a:lstStyle/>
          <a:p>
            <a:r>
              <a:rPr lang="en-US" sz="1100" i="1">
                <a:solidFill>
                  <a:srgbClr val="5B6475"/>
                </a:solidFill>
                <a:latin typeface="Calibri" panose="020F0502020204030204" pitchFamily="34" charset="0"/>
              </a:rPr>
              <a:t>C = current engagement, D = desired. The gap drives the stakeholder engagement plan; C D together means no change is needed.</a:t>
            </a:r>
          </a:p>
        </p:txBody>
      </p:sp>
      <p:sp>
        <p:nvSpPr>
          <p:cNvPr id="16" name="Rectangle: Rounded Corners 15">
            <a:extLst>
              <a:ext uri="{FF2B5EF4-FFF2-40B4-BE49-F238E27FC236}">
                <a16:creationId xmlns:a16="http://schemas.microsoft.com/office/drawing/2014/main" id="{0C9CF953-29C4-3D64-D701-254A864FB3A8}"/>
              </a:ext>
            </a:extLst>
          </p:cNvPr>
          <p:cNvSpPr/>
          <p:nvPr/>
        </p:nvSpPr>
        <p:spPr>
          <a:xfrm>
            <a:off x="5842000" y="4089400"/>
            <a:ext cx="5842000" cy="1270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26C3002B-EA22-A0DF-8B2F-2F2681702F8F}"/>
              </a:ext>
            </a:extLst>
          </p:cNvPr>
          <p:cNvSpPr txBox="1"/>
          <p:nvPr/>
        </p:nvSpPr>
        <p:spPr>
          <a:xfrm>
            <a:off x="5969000" y="4216400"/>
            <a:ext cx="5588000" cy="1016000"/>
          </a:xfrm>
          <a:prstGeom prst="rect">
            <a:avLst/>
          </a:prstGeom>
          <a:noFill/>
        </p:spPr>
        <p:txBody>
          <a:bodyPr vert="horz" wrap="square" lIns="0" tIns="0" rIns="0" bIns="0" rtlCol="0" anchor="t">
            <a:noAutofit/>
          </a:bodyPr>
          <a:lstStyle/>
          <a:p>
            <a:pPr>
              <a:spcAft>
                <a:spcPts val="600"/>
              </a:spcAft>
            </a:pPr>
            <a:r>
              <a:rPr lang="en-US" sz="1300" b="1">
                <a:solidFill>
                  <a:srgbClr val="34509A"/>
                </a:solidFill>
                <a:latin typeface="Calibri" panose="020F0502020204030204" pitchFamily="34" charset="0"/>
              </a:rPr>
              <a:t>Other ways to classify stakeholders</a:t>
            </a:r>
          </a:p>
          <a:p>
            <a:pPr marL="203200" indent="-203200">
              <a:spcAft>
                <a:spcPts val="400"/>
              </a:spcAft>
              <a:buClr>
                <a:srgbClr val="34509A"/>
              </a:buClr>
              <a:buFont typeface="+mj-lt"/>
              <a:buChar char="•"/>
            </a:pPr>
            <a:r>
              <a:rPr lang="en-US" sz="1100">
                <a:solidFill>
                  <a:srgbClr val="1F2937"/>
                </a:solidFill>
                <a:latin typeface="Calibri" panose="020F0502020204030204" pitchFamily="34" charset="0"/>
              </a:rPr>
              <a:t>Power/influence and impact/influence grids</a:t>
            </a:r>
          </a:p>
          <a:p>
            <a:pPr marL="203200" indent="-203200">
              <a:spcAft>
                <a:spcPts val="400"/>
              </a:spcAft>
              <a:buClr>
                <a:srgbClr val="34509A"/>
              </a:buClr>
              <a:buFont typeface="+mj-lt"/>
              <a:buChar char="•"/>
            </a:pPr>
            <a:r>
              <a:rPr lang="en-US" sz="1100">
                <a:solidFill>
                  <a:srgbClr val="1F2937"/>
                </a:solidFill>
                <a:latin typeface="Calibri" panose="020F0502020204030204" pitchFamily="34" charset="0"/>
              </a:rPr>
              <a:t>Stakeholder cube: the grid dimensions in 3D</a:t>
            </a:r>
          </a:p>
          <a:p>
            <a:pPr marL="203200" indent="-203200">
              <a:spcAft>
                <a:spcPts val="400"/>
              </a:spcAft>
              <a:buClr>
                <a:srgbClr val="34509A"/>
              </a:buClr>
              <a:buFont typeface="+mj-lt"/>
              <a:buChar char="•"/>
            </a:pPr>
            <a:r>
              <a:rPr lang="en-US" sz="1100">
                <a:solidFill>
                  <a:srgbClr val="1F2937"/>
                </a:solidFill>
                <a:latin typeface="Calibri" panose="020F0502020204030204" pitchFamily="34" charset="0"/>
              </a:rPr>
              <a:t>Direction of influence: upward, downward, outward, sideward</a:t>
            </a:r>
          </a:p>
        </p:txBody>
      </p:sp>
      <p:sp>
        <p:nvSpPr>
          <p:cNvPr id="18" name="Rectangle: Rounded Corners 17">
            <a:extLst>
              <a:ext uri="{FF2B5EF4-FFF2-40B4-BE49-F238E27FC236}">
                <a16:creationId xmlns:a16="http://schemas.microsoft.com/office/drawing/2014/main" id="{FC56BD77-96D1-3057-02E6-21DE3BB50E87}"/>
              </a:ext>
            </a:extLst>
          </p:cNvPr>
          <p:cNvSpPr/>
          <p:nvPr/>
        </p:nvSpPr>
        <p:spPr>
          <a:xfrm>
            <a:off x="508000" y="5486400"/>
            <a:ext cx="11176000" cy="838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7FD112E6-97F9-ADAD-F643-6F353D4766C7}"/>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if a key stakeholder is resistant, compare current with desired engagement and plan targeted actions; prioritize stakeholders with power, legitimacy, and urgency.</a:t>
            </a:r>
          </a:p>
        </p:txBody>
      </p:sp>
      <p:sp>
        <p:nvSpPr>
          <p:cNvPr id="20" name="Footer">
            <a:extLst>
              <a:ext uri="{FF2B5EF4-FFF2-40B4-BE49-F238E27FC236}">
                <a16:creationId xmlns:a16="http://schemas.microsoft.com/office/drawing/2014/main" id="{4D9D857F-8C0C-486F-1536-D562E67A8425}"/>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13.1.2.4 and 13.2.2.5; R. Mitchell, B. Agle, and D. Wood (1997)</a:t>
            </a:r>
          </a:p>
        </p:txBody>
      </p:sp>
      <p:sp>
        <p:nvSpPr>
          <p:cNvPr id="21" name="SlideNum">
            <a:extLst>
              <a:ext uri="{FF2B5EF4-FFF2-40B4-BE49-F238E27FC236}">
                <a16:creationId xmlns:a16="http://schemas.microsoft.com/office/drawing/2014/main" id="{98A53D78-A50C-79E0-6A3E-6CCD53C7C411}"/>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24</a:t>
            </a:r>
          </a:p>
        </p:txBody>
      </p:sp>
      <p:sp>
        <p:nvSpPr>
          <p:cNvPr id="22"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1934501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B370C77-3A91-87FE-4949-C4868FA0D454}"/>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fr-FR" sz="3400" b="1">
                <a:solidFill>
                  <a:srgbClr val="14213D"/>
                </a:solidFill>
                <a:latin typeface="Cambria" panose="02040503050406030204" pitchFamily="18" charset="0"/>
              </a:rPr>
              <a:t>Communication channels: n(n − 1) / 2</a:t>
            </a:r>
            <a:endParaRPr lang="en-US" sz="3400" b="1">
              <a:solidFill>
                <a:srgbClr val="14213D"/>
              </a:solidFill>
              <a:latin typeface="Cambria" panose="02040503050406030204" pitchFamily="18" charset="0"/>
            </a:endParaRPr>
          </a:p>
        </p:txBody>
      </p:sp>
      <p:sp>
        <p:nvSpPr>
          <p:cNvPr id="3" name="Tag">
            <a:extLst>
              <a:ext uri="{FF2B5EF4-FFF2-40B4-BE49-F238E27FC236}">
                <a16:creationId xmlns:a16="http://schemas.microsoft.com/office/drawing/2014/main" id="{6914FA46-8CA1-2DDC-429D-CF1323A3D81B}"/>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0F7C80"/>
                </a:solidFill>
                <a:latin typeface="Calibri" panose="020F0502020204030204" pitchFamily="34" charset="0"/>
              </a:rPr>
              <a:t>People deep dive · Supports People Task 8 (Plan and manage communication) and Task 4 (Engage stakeholders)</a:t>
            </a:r>
          </a:p>
        </p:txBody>
      </p:sp>
      <p:sp>
        <p:nvSpPr>
          <p:cNvPr id="4" name="Rectangle: Rounded Corners 3">
            <a:extLst>
              <a:ext uri="{FF2B5EF4-FFF2-40B4-BE49-F238E27FC236}">
                <a16:creationId xmlns:a16="http://schemas.microsoft.com/office/drawing/2014/main" id="{4F389985-1B67-5DDA-8923-002486A6B263}"/>
              </a:ext>
            </a:extLst>
          </p:cNvPr>
          <p:cNvSpPr/>
          <p:nvPr/>
        </p:nvSpPr>
        <p:spPr>
          <a:xfrm>
            <a:off x="508000" y="1320800"/>
            <a:ext cx="5080000" cy="1905000"/>
          </a:xfrm>
          <a:prstGeom prst="roundRect">
            <a:avLst>
              <a:gd name="adj" fmla="val 8000"/>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C1805DC-3B58-E385-B6B6-9E05EFCB2685}"/>
              </a:ext>
            </a:extLst>
          </p:cNvPr>
          <p:cNvSpPr txBox="1"/>
          <p:nvPr/>
        </p:nvSpPr>
        <p:spPr>
          <a:xfrm>
            <a:off x="762000" y="1473200"/>
            <a:ext cx="4572000" cy="889000"/>
          </a:xfrm>
          <a:prstGeom prst="rect">
            <a:avLst/>
          </a:prstGeom>
          <a:noFill/>
        </p:spPr>
        <p:txBody>
          <a:bodyPr vert="horz" wrap="square" lIns="0" tIns="0" rIns="0" bIns="0" rtlCol="0" anchor="ctr">
            <a:noAutofit/>
          </a:bodyPr>
          <a:lstStyle/>
          <a:p>
            <a:r>
              <a:rPr lang="en-US" sz="4400" b="1">
                <a:solidFill>
                  <a:srgbClr val="FFFFFF"/>
                </a:solidFill>
                <a:latin typeface="Cambria" panose="02040503050406030204" pitchFamily="18" charset="0"/>
              </a:rPr>
              <a:t>n (n − 1) / 2</a:t>
            </a:r>
          </a:p>
        </p:txBody>
      </p:sp>
      <p:sp>
        <p:nvSpPr>
          <p:cNvPr id="6" name="Rectangle 5">
            <a:extLst>
              <a:ext uri="{FF2B5EF4-FFF2-40B4-BE49-F238E27FC236}">
                <a16:creationId xmlns:a16="http://schemas.microsoft.com/office/drawing/2014/main" id="{292EAB83-B8EC-788B-B3C8-F0B72E707651}"/>
              </a:ext>
            </a:extLst>
          </p:cNvPr>
          <p:cNvSpPr/>
          <p:nvPr/>
        </p:nvSpPr>
        <p:spPr>
          <a:xfrm>
            <a:off x="762000" y="2489200"/>
            <a:ext cx="609600" cy="50800"/>
          </a:xfrm>
          <a:prstGeom prst="rect">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10E9E20-E47D-CA0A-7D99-8A5874F25437}"/>
              </a:ext>
            </a:extLst>
          </p:cNvPr>
          <p:cNvSpPr txBox="1"/>
          <p:nvPr/>
        </p:nvSpPr>
        <p:spPr>
          <a:xfrm>
            <a:off x="762000" y="2641600"/>
            <a:ext cx="4572000" cy="508000"/>
          </a:xfrm>
          <a:prstGeom prst="rect">
            <a:avLst/>
          </a:prstGeom>
          <a:noFill/>
        </p:spPr>
        <p:txBody>
          <a:bodyPr vert="horz" wrap="square" lIns="0" tIns="0" rIns="0" bIns="0" rtlCol="0" anchor="t">
            <a:noAutofit/>
          </a:bodyPr>
          <a:lstStyle/>
          <a:p>
            <a:r>
              <a:rPr lang="en-US" sz="1500">
                <a:solidFill>
                  <a:srgbClr val="C9D6EA"/>
                </a:solidFill>
                <a:latin typeface="Calibri" panose="020F0502020204030204" pitchFamily="34" charset="0"/>
              </a:rPr>
              <a:t>n = number of people involved, including the project manager</a:t>
            </a:r>
          </a:p>
        </p:txBody>
      </p:sp>
      <p:graphicFrame>
        <p:nvGraphicFramePr>
          <p:cNvPr id="8" name="Table">
            <a:extLst>
              <a:ext uri="{FF2B5EF4-FFF2-40B4-BE49-F238E27FC236}">
                <a16:creationId xmlns:a16="http://schemas.microsoft.com/office/drawing/2014/main" id="{79E89B22-C8E8-C7BA-3535-E5C82B3D6851}"/>
              </a:ext>
            </a:extLst>
          </p:cNvPr>
          <p:cNvGraphicFramePr>
            <a:graphicFrameLocks noGrp="1"/>
          </p:cNvGraphicFramePr>
          <p:nvPr>
            <p:extLst>
              <p:ext uri="{D42A27DB-BD31-4B8C-83A1-F6EECF244321}">
                <p14:modId xmlns:p14="http://schemas.microsoft.com/office/powerpoint/2010/main" val="4121547564"/>
              </p:ext>
            </p:extLst>
          </p:nvPr>
        </p:nvGraphicFramePr>
        <p:xfrm>
          <a:off x="508000" y="3403600"/>
          <a:ext cx="5080000" cy="2438400"/>
        </p:xfrm>
        <a:graphic>
          <a:graphicData uri="http://schemas.openxmlformats.org/drawingml/2006/table">
            <a:tbl>
              <a:tblPr firstRow="1" bandRow="1">
                <a:tableStyleId>{2D5ABB26-0587-4C30-8999-92F81FD0307C}</a:tableStyleId>
              </a:tblPr>
              <a:tblGrid>
                <a:gridCol w="2540000">
                  <a:extLst>
                    <a:ext uri="{9D8B030D-6E8A-4147-A177-3AD203B41FA5}">
                      <a16:colId xmlns:a16="http://schemas.microsoft.com/office/drawing/2014/main" val="795619162"/>
                    </a:ext>
                  </a:extLst>
                </a:gridCol>
                <a:gridCol w="2540000">
                  <a:extLst>
                    <a:ext uri="{9D8B030D-6E8A-4147-A177-3AD203B41FA5}">
                      <a16:colId xmlns:a16="http://schemas.microsoft.com/office/drawing/2014/main" val="3653861952"/>
                    </a:ext>
                  </a:extLst>
                </a:gridCol>
              </a:tblGrid>
              <a:tr h="406400">
                <a:tc>
                  <a:txBody>
                    <a:bodyPr/>
                    <a:lstStyle/>
                    <a:p>
                      <a:r>
                        <a:rPr lang="en-US" sz="1500" b="1">
                          <a:solidFill>
                            <a:srgbClr val="FFFFFF"/>
                          </a:solidFill>
                          <a:latin typeface="Calibri" panose="020F0502020204030204" pitchFamily="34" charset="0"/>
                        </a:rPr>
                        <a:t>People (n)</a:t>
                      </a:r>
                    </a:p>
                  </a:txBody>
                  <a:tcPr marL="127000" marR="101600" marT="63500" marB="63500" anchor="ctr">
                    <a:solidFill>
                      <a:srgbClr val="14213D"/>
                    </a:solidFill>
                  </a:tcPr>
                </a:tc>
                <a:tc>
                  <a:txBody>
                    <a:bodyPr/>
                    <a:lstStyle/>
                    <a:p>
                      <a:r>
                        <a:rPr lang="en-US" sz="1500" b="1">
                          <a:solidFill>
                            <a:srgbClr val="FFFFFF"/>
                          </a:solidFill>
                          <a:latin typeface="Calibri" panose="020F0502020204030204" pitchFamily="34" charset="0"/>
                        </a:rPr>
                        <a:t>Channels</a:t>
                      </a:r>
                    </a:p>
                  </a:txBody>
                  <a:tcPr marL="127000" marR="101600" marT="63500" marB="63500" anchor="ctr">
                    <a:solidFill>
                      <a:srgbClr val="14213D"/>
                    </a:solidFill>
                  </a:tcPr>
                </a:tc>
                <a:extLst>
                  <a:ext uri="{0D108BD9-81ED-4DB2-BD59-A6C34878D82A}">
                    <a16:rowId xmlns:a16="http://schemas.microsoft.com/office/drawing/2014/main" val="2655526717"/>
                  </a:ext>
                </a:extLst>
              </a:tr>
              <a:tr h="406400">
                <a:tc>
                  <a:txBody>
                    <a:bodyPr/>
                    <a:lstStyle/>
                    <a:p>
                      <a:r>
                        <a:rPr lang="en-US" sz="1500" b="1">
                          <a:solidFill>
                            <a:srgbClr val="14213D"/>
                          </a:solidFill>
                          <a:latin typeface="Calibri" panose="020F0502020204030204" pitchFamily="34" charset="0"/>
                        </a:rPr>
                        <a:t>3</a:t>
                      </a:r>
                    </a:p>
                  </a:txBody>
                  <a:tcPr marL="127000" marR="101600" marT="63500" marB="63500" anchor="ctr">
                    <a:solidFill>
                      <a:srgbClr val="FFFFFF"/>
                    </a:solidFill>
                  </a:tcPr>
                </a:tc>
                <a:tc>
                  <a:txBody>
                    <a:bodyPr/>
                    <a:lstStyle/>
                    <a:p>
                      <a:r>
                        <a:rPr lang="en-US" sz="1500">
                          <a:solidFill>
                            <a:srgbClr val="1F2937"/>
                          </a:solidFill>
                          <a:latin typeface="Calibri" panose="020F0502020204030204" pitchFamily="34" charset="0"/>
                        </a:rPr>
                        <a:t>3</a:t>
                      </a:r>
                    </a:p>
                  </a:txBody>
                  <a:tcPr marL="127000" marR="101600" marT="63500" marB="63500" anchor="ctr">
                    <a:solidFill>
                      <a:srgbClr val="FFFFFF"/>
                    </a:solidFill>
                  </a:tcPr>
                </a:tc>
                <a:extLst>
                  <a:ext uri="{0D108BD9-81ED-4DB2-BD59-A6C34878D82A}">
                    <a16:rowId xmlns:a16="http://schemas.microsoft.com/office/drawing/2014/main" val="1105500497"/>
                  </a:ext>
                </a:extLst>
              </a:tr>
              <a:tr h="406400">
                <a:tc>
                  <a:txBody>
                    <a:bodyPr/>
                    <a:lstStyle/>
                    <a:p>
                      <a:r>
                        <a:rPr lang="en-US" sz="1500" b="1">
                          <a:solidFill>
                            <a:srgbClr val="14213D"/>
                          </a:solidFill>
                          <a:latin typeface="Calibri" panose="020F0502020204030204" pitchFamily="34" charset="0"/>
                        </a:rPr>
                        <a:t>5</a:t>
                      </a:r>
                    </a:p>
                  </a:txBody>
                  <a:tcPr marL="127000" marR="101600" marT="63500" marB="63500" anchor="ctr">
                    <a:solidFill>
                      <a:srgbClr val="F3F5F8"/>
                    </a:solidFill>
                  </a:tcPr>
                </a:tc>
                <a:tc>
                  <a:txBody>
                    <a:bodyPr/>
                    <a:lstStyle/>
                    <a:p>
                      <a:r>
                        <a:rPr lang="en-US" sz="1500">
                          <a:solidFill>
                            <a:srgbClr val="1F2937"/>
                          </a:solidFill>
                          <a:latin typeface="Calibri" panose="020F0502020204030204" pitchFamily="34" charset="0"/>
                        </a:rPr>
                        <a:t>10</a:t>
                      </a:r>
                    </a:p>
                  </a:txBody>
                  <a:tcPr marL="127000" marR="101600" marT="63500" marB="63500" anchor="ctr">
                    <a:solidFill>
                      <a:srgbClr val="F3F5F8"/>
                    </a:solidFill>
                  </a:tcPr>
                </a:tc>
                <a:extLst>
                  <a:ext uri="{0D108BD9-81ED-4DB2-BD59-A6C34878D82A}">
                    <a16:rowId xmlns:a16="http://schemas.microsoft.com/office/drawing/2014/main" val="3731574252"/>
                  </a:ext>
                </a:extLst>
              </a:tr>
              <a:tr h="406400">
                <a:tc>
                  <a:txBody>
                    <a:bodyPr/>
                    <a:lstStyle/>
                    <a:p>
                      <a:r>
                        <a:rPr lang="en-US" sz="1500" b="1">
                          <a:solidFill>
                            <a:srgbClr val="14213D"/>
                          </a:solidFill>
                          <a:latin typeface="Calibri" panose="020F0502020204030204" pitchFamily="34" charset="0"/>
                        </a:rPr>
                        <a:t>10</a:t>
                      </a:r>
                    </a:p>
                  </a:txBody>
                  <a:tcPr marL="127000" marR="101600" marT="63500" marB="63500" anchor="ctr">
                    <a:solidFill>
                      <a:srgbClr val="FFFFFF"/>
                    </a:solidFill>
                  </a:tcPr>
                </a:tc>
                <a:tc>
                  <a:txBody>
                    <a:bodyPr/>
                    <a:lstStyle/>
                    <a:p>
                      <a:r>
                        <a:rPr lang="en-US" sz="1500">
                          <a:solidFill>
                            <a:srgbClr val="1F2937"/>
                          </a:solidFill>
                          <a:latin typeface="Calibri" panose="020F0502020204030204" pitchFamily="34" charset="0"/>
                        </a:rPr>
                        <a:t>45</a:t>
                      </a:r>
                    </a:p>
                  </a:txBody>
                  <a:tcPr marL="127000" marR="101600" marT="63500" marB="63500" anchor="ctr">
                    <a:solidFill>
                      <a:srgbClr val="FFFFFF"/>
                    </a:solidFill>
                  </a:tcPr>
                </a:tc>
                <a:extLst>
                  <a:ext uri="{0D108BD9-81ED-4DB2-BD59-A6C34878D82A}">
                    <a16:rowId xmlns:a16="http://schemas.microsoft.com/office/drawing/2014/main" val="2021325130"/>
                  </a:ext>
                </a:extLst>
              </a:tr>
              <a:tr h="406400">
                <a:tc>
                  <a:txBody>
                    <a:bodyPr/>
                    <a:lstStyle/>
                    <a:p>
                      <a:r>
                        <a:rPr lang="en-US" sz="1500" b="1">
                          <a:solidFill>
                            <a:srgbClr val="14213D"/>
                          </a:solidFill>
                          <a:latin typeface="Calibri" panose="020F0502020204030204" pitchFamily="34" charset="0"/>
                        </a:rPr>
                        <a:t>12</a:t>
                      </a:r>
                    </a:p>
                  </a:txBody>
                  <a:tcPr marL="127000" marR="101600" marT="63500" marB="63500" anchor="ctr">
                    <a:solidFill>
                      <a:srgbClr val="F3F5F8"/>
                    </a:solidFill>
                  </a:tcPr>
                </a:tc>
                <a:tc>
                  <a:txBody>
                    <a:bodyPr/>
                    <a:lstStyle/>
                    <a:p>
                      <a:r>
                        <a:rPr lang="en-US" sz="1500">
                          <a:solidFill>
                            <a:srgbClr val="1F2937"/>
                          </a:solidFill>
                          <a:latin typeface="Calibri" panose="020F0502020204030204" pitchFamily="34" charset="0"/>
                        </a:rPr>
                        <a:t>66</a:t>
                      </a:r>
                    </a:p>
                  </a:txBody>
                  <a:tcPr marL="127000" marR="101600" marT="63500" marB="63500" anchor="ctr">
                    <a:solidFill>
                      <a:srgbClr val="F3F5F8"/>
                    </a:solidFill>
                  </a:tcPr>
                </a:tc>
                <a:extLst>
                  <a:ext uri="{0D108BD9-81ED-4DB2-BD59-A6C34878D82A}">
                    <a16:rowId xmlns:a16="http://schemas.microsoft.com/office/drawing/2014/main" val="824231139"/>
                  </a:ext>
                </a:extLst>
              </a:tr>
              <a:tr h="406400">
                <a:tc>
                  <a:txBody>
                    <a:bodyPr/>
                    <a:lstStyle/>
                    <a:p>
                      <a:r>
                        <a:rPr lang="en-US" sz="1500" b="1">
                          <a:solidFill>
                            <a:srgbClr val="14213D"/>
                          </a:solidFill>
                          <a:latin typeface="Calibri" panose="020F0502020204030204" pitchFamily="34" charset="0"/>
                        </a:rPr>
                        <a:t>20</a:t>
                      </a:r>
                    </a:p>
                  </a:txBody>
                  <a:tcPr marL="127000" marR="101600" marT="63500" marB="63500" anchor="ctr">
                    <a:solidFill>
                      <a:srgbClr val="FFFFFF"/>
                    </a:solidFill>
                  </a:tcPr>
                </a:tc>
                <a:tc>
                  <a:txBody>
                    <a:bodyPr/>
                    <a:lstStyle/>
                    <a:p>
                      <a:r>
                        <a:rPr lang="en-US" sz="1500">
                          <a:solidFill>
                            <a:srgbClr val="1F2937"/>
                          </a:solidFill>
                          <a:latin typeface="Calibri" panose="020F0502020204030204" pitchFamily="34" charset="0"/>
                        </a:rPr>
                        <a:t>190</a:t>
                      </a:r>
                    </a:p>
                  </a:txBody>
                  <a:tcPr marL="127000" marR="101600" marT="63500" marB="63500" anchor="ctr">
                    <a:solidFill>
                      <a:srgbClr val="FFFFFF"/>
                    </a:solidFill>
                  </a:tcPr>
                </a:tc>
                <a:extLst>
                  <a:ext uri="{0D108BD9-81ED-4DB2-BD59-A6C34878D82A}">
                    <a16:rowId xmlns:a16="http://schemas.microsoft.com/office/drawing/2014/main" val="127894332"/>
                  </a:ext>
                </a:extLst>
              </a:tr>
            </a:tbl>
          </a:graphicData>
        </a:graphic>
      </p:graphicFrame>
      <p:cxnSp>
        <p:nvCxnSpPr>
          <p:cNvPr id="9" name="Straight Connector 8">
            <a:extLst>
              <a:ext uri="{FF2B5EF4-FFF2-40B4-BE49-F238E27FC236}">
                <a16:creationId xmlns:a16="http://schemas.microsoft.com/office/drawing/2014/main" id="{89BF6F5B-DADB-D6C8-5689-2AACF0F32DE9}"/>
              </a:ext>
            </a:extLst>
          </p:cNvPr>
          <p:cNvCxnSpPr/>
          <p:nvPr/>
        </p:nvCxnSpPr>
        <p:spPr>
          <a:xfrm>
            <a:off x="7366000" y="1549400"/>
            <a:ext cx="942117" cy="684488"/>
          </a:xfrm>
          <a:prstGeom prst="line">
            <a:avLst/>
          </a:prstGeom>
          <a:ln w="2222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602217D6-D3CC-A7D7-B556-82ACFC0BE69B}"/>
              </a:ext>
            </a:extLst>
          </p:cNvPr>
          <p:cNvCxnSpPr/>
          <p:nvPr/>
        </p:nvCxnSpPr>
        <p:spPr>
          <a:xfrm>
            <a:off x="7366000" y="1549400"/>
            <a:ext cx="582260" cy="1792012"/>
          </a:xfrm>
          <a:prstGeom prst="line">
            <a:avLst/>
          </a:prstGeom>
          <a:ln w="2222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7A64E55-73B4-86E4-B86E-F7EEFA5C6349}"/>
              </a:ext>
            </a:extLst>
          </p:cNvPr>
          <p:cNvCxnSpPr/>
          <p:nvPr/>
        </p:nvCxnSpPr>
        <p:spPr>
          <a:xfrm flipH="1">
            <a:off x="6783740" y="1549400"/>
            <a:ext cx="582260" cy="1792012"/>
          </a:xfrm>
          <a:prstGeom prst="line">
            <a:avLst/>
          </a:prstGeom>
          <a:ln w="2222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348A57B-B6D6-F0BC-F9EB-0BDC7EA2D0B3}"/>
              </a:ext>
            </a:extLst>
          </p:cNvPr>
          <p:cNvCxnSpPr/>
          <p:nvPr/>
        </p:nvCxnSpPr>
        <p:spPr>
          <a:xfrm flipH="1">
            <a:off x="6423883" y="1549400"/>
            <a:ext cx="942117" cy="684488"/>
          </a:xfrm>
          <a:prstGeom prst="line">
            <a:avLst/>
          </a:prstGeom>
          <a:ln w="2222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B7A4B86-E29F-8E82-FE88-6F54EC26F0E9}"/>
              </a:ext>
            </a:extLst>
          </p:cNvPr>
          <p:cNvCxnSpPr/>
          <p:nvPr/>
        </p:nvCxnSpPr>
        <p:spPr>
          <a:xfrm flipH="1">
            <a:off x="7948260" y="2233888"/>
            <a:ext cx="359857" cy="1107524"/>
          </a:xfrm>
          <a:prstGeom prst="line">
            <a:avLst/>
          </a:prstGeom>
          <a:ln w="2222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D3DD9453-487B-2D41-60EF-75A1D9A8E685}"/>
              </a:ext>
            </a:extLst>
          </p:cNvPr>
          <p:cNvCxnSpPr/>
          <p:nvPr/>
        </p:nvCxnSpPr>
        <p:spPr>
          <a:xfrm flipH="1">
            <a:off x="6783740" y="2233888"/>
            <a:ext cx="1524377" cy="1107524"/>
          </a:xfrm>
          <a:prstGeom prst="line">
            <a:avLst/>
          </a:prstGeom>
          <a:ln w="2222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FA0F9172-3208-D77A-FEDE-0F8AC25CE227}"/>
              </a:ext>
            </a:extLst>
          </p:cNvPr>
          <p:cNvCxnSpPr/>
          <p:nvPr/>
        </p:nvCxnSpPr>
        <p:spPr>
          <a:xfrm flipH="1">
            <a:off x="6423883" y="2233888"/>
            <a:ext cx="1884234" cy="0"/>
          </a:xfrm>
          <a:prstGeom prst="line">
            <a:avLst/>
          </a:prstGeom>
          <a:ln w="2222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16987B62-11C6-0EBA-14A7-06890AF24F69}"/>
              </a:ext>
            </a:extLst>
          </p:cNvPr>
          <p:cNvCxnSpPr/>
          <p:nvPr/>
        </p:nvCxnSpPr>
        <p:spPr>
          <a:xfrm flipH="1">
            <a:off x="6783740" y="3341412"/>
            <a:ext cx="1164520" cy="0"/>
          </a:xfrm>
          <a:prstGeom prst="line">
            <a:avLst/>
          </a:prstGeom>
          <a:ln w="2222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7A8EFC22-4B00-2468-1C70-77A1A8DBF0BC}"/>
              </a:ext>
            </a:extLst>
          </p:cNvPr>
          <p:cNvCxnSpPr/>
          <p:nvPr/>
        </p:nvCxnSpPr>
        <p:spPr>
          <a:xfrm flipH="1" flipV="1">
            <a:off x="6423883" y="2233888"/>
            <a:ext cx="1524377" cy="1107524"/>
          </a:xfrm>
          <a:prstGeom prst="line">
            <a:avLst/>
          </a:prstGeom>
          <a:ln w="2222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FF065760-C269-537F-7E8E-4CD8DD9827CF}"/>
              </a:ext>
            </a:extLst>
          </p:cNvPr>
          <p:cNvCxnSpPr/>
          <p:nvPr/>
        </p:nvCxnSpPr>
        <p:spPr>
          <a:xfrm flipH="1" flipV="1">
            <a:off x="6423883" y="2233888"/>
            <a:ext cx="359857" cy="1107524"/>
          </a:xfrm>
          <a:prstGeom prst="line">
            <a:avLst/>
          </a:prstGeom>
          <a:ln w="22225">
            <a:solidFill>
              <a:srgbClr val="9AA8CC"/>
            </a:solidFill>
          </a:ln>
        </p:spPr>
        <p:style>
          <a:lnRef idx="2">
            <a:schemeClr val="accent1"/>
          </a:lnRef>
          <a:fillRef idx="0">
            <a:schemeClr val="accent1"/>
          </a:fillRef>
          <a:effectRef idx="1">
            <a:schemeClr val="accent1"/>
          </a:effectRef>
          <a:fontRef idx="minor">
            <a:schemeClr val="tx1"/>
          </a:fontRef>
        </p:style>
      </p:cxnSp>
      <p:sp>
        <p:nvSpPr>
          <p:cNvPr id="19" name="Oval 18">
            <a:extLst>
              <a:ext uri="{FF2B5EF4-FFF2-40B4-BE49-F238E27FC236}">
                <a16:creationId xmlns:a16="http://schemas.microsoft.com/office/drawing/2014/main" id="{9D8E1DF8-6872-88D0-49A8-6509FC8B6D0A}"/>
              </a:ext>
            </a:extLst>
          </p:cNvPr>
          <p:cNvSpPr/>
          <p:nvPr/>
        </p:nvSpPr>
        <p:spPr>
          <a:xfrm>
            <a:off x="7188200" y="1371600"/>
            <a:ext cx="355600" cy="355600"/>
          </a:xfrm>
          <a:prstGeom prst="ellipse">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900" b="1">
                <a:solidFill>
                  <a:srgbClr val="14213D"/>
                </a:solidFill>
                <a:latin typeface="Calibri" panose="020F0502020204030204" pitchFamily="34" charset="0"/>
              </a:rPr>
              <a:t>PM</a:t>
            </a:r>
          </a:p>
        </p:txBody>
      </p:sp>
      <p:sp>
        <p:nvSpPr>
          <p:cNvPr id="20" name="Oval 19">
            <a:extLst>
              <a:ext uri="{FF2B5EF4-FFF2-40B4-BE49-F238E27FC236}">
                <a16:creationId xmlns:a16="http://schemas.microsoft.com/office/drawing/2014/main" id="{08E0A2ED-AE08-C960-7EFB-3FAC81ABF2C0}"/>
              </a:ext>
            </a:extLst>
          </p:cNvPr>
          <p:cNvSpPr/>
          <p:nvPr/>
        </p:nvSpPr>
        <p:spPr>
          <a:xfrm>
            <a:off x="8130317" y="2056088"/>
            <a:ext cx="355600" cy="3556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endParaRPr lang="en-US" sz="900" b="1">
              <a:solidFill>
                <a:srgbClr val="14213D"/>
              </a:solidFill>
              <a:latin typeface="Calibri" panose="020F0502020204030204" pitchFamily="34" charset="0"/>
            </a:endParaRPr>
          </a:p>
        </p:txBody>
      </p:sp>
      <p:sp>
        <p:nvSpPr>
          <p:cNvPr id="21" name="Oval 20">
            <a:extLst>
              <a:ext uri="{FF2B5EF4-FFF2-40B4-BE49-F238E27FC236}">
                <a16:creationId xmlns:a16="http://schemas.microsoft.com/office/drawing/2014/main" id="{0504332C-DA1C-48C6-90F2-A4108247C489}"/>
              </a:ext>
            </a:extLst>
          </p:cNvPr>
          <p:cNvSpPr/>
          <p:nvPr/>
        </p:nvSpPr>
        <p:spPr>
          <a:xfrm>
            <a:off x="7770460" y="3163612"/>
            <a:ext cx="355600" cy="3556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endParaRPr lang="en-US" sz="900" b="1">
              <a:solidFill>
                <a:srgbClr val="14213D"/>
              </a:solidFill>
              <a:latin typeface="Calibri" panose="020F0502020204030204" pitchFamily="34" charset="0"/>
            </a:endParaRPr>
          </a:p>
        </p:txBody>
      </p:sp>
      <p:sp>
        <p:nvSpPr>
          <p:cNvPr id="22" name="Oval 21">
            <a:extLst>
              <a:ext uri="{FF2B5EF4-FFF2-40B4-BE49-F238E27FC236}">
                <a16:creationId xmlns:a16="http://schemas.microsoft.com/office/drawing/2014/main" id="{56418437-95FA-6168-079E-00ABFBDEFBB7}"/>
              </a:ext>
            </a:extLst>
          </p:cNvPr>
          <p:cNvSpPr/>
          <p:nvPr/>
        </p:nvSpPr>
        <p:spPr>
          <a:xfrm>
            <a:off x="6605940" y="3163612"/>
            <a:ext cx="355600" cy="3556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endParaRPr lang="en-US" sz="900" b="1">
              <a:solidFill>
                <a:srgbClr val="14213D"/>
              </a:solidFill>
              <a:latin typeface="Calibri" panose="020F0502020204030204" pitchFamily="34" charset="0"/>
            </a:endParaRPr>
          </a:p>
        </p:txBody>
      </p:sp>
      <p:sp>
        <p:nvSpPr>
          <p:cNvPr id="23" name="Oval 22">
            <a:extLst>
              <a:ext uri="{FF2B5EF4-FFF2-40B4-BE49-F238E27FC236}">
                <a16:creationId xmlns:a16="http://schemas.microsoft.com/office/drawing/2014/main" id="{7A882E02-2C2D-38A5-6605-FA43434C1DAC}"/>
              </a:ext>
            </a:extLst>
          </p:cNvPr>
          <p:cNvSpPr/>
          <p:nvPr/>
        </p:nvSpPr>
        <p:spPr>
          <a:xfrm>
            <a:off x="6246083" y="2056088"/>
            <a:ext cx="355601" cy="3556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endParaRPr lang="en-US" sz="900" b="1">
              <a:solidFill>
                <a:srgbClr val="14213D"/>
              </a:solidFill>
              <a:latin typeface="Calibri" panose="020F0502020204030204" pitchFamily="34" charset="0"/>
            </a:endParaRPr>
          </a:p>
        </p:txBody>
      </p:sp>
      <p:sp>
        <p:nvSpPr>
          <p:cNvPr id="24" name="TextBox 23">
            <a:extLst>
              <a:ext uri="{FF2B5EF4-FFF2-40B4-BE49-F238E27FC236}">
                <a16:creationId xmlns:a16="http://schemas.microsoft.com/office/drawing/2014/main" id="{C09DB488-25F5-C5DE-D32A-BDC68827AB10}"/>
              </a:ext>
            </a:extLst>
          </p:cNvPr>
          <p:cNvSpPr txBox="1"/>
          <p:nvPr/>
        </p:nvSpPr>
        <p:spPr>
          <a:xfrm>
            <a:off x="5969000" y="3759200"/>
            <a:ext cx="2794000" cy="279400"/>
          </a:xfrm>
          <a:prstGeom prst="rect">
            <a:avLst/>
          </a:prstGeom>
          <a:noFill/>
        </p:spPr>
        <p:txBody>
          <a:bodyPr vert="horz" wrap="square" lIns="0" tIns="0" rIns="0" bIns="0" rtlCol="0" anchor="t">
            <a:noAutofit/>
          </a:bodyPr>
          <a:lstStyle/>
          <a:p>
            <a:pPr algn="ctr"/>
            <a:r>
              <a:rPr lang="en-US" sz="1500" b="1">
                <a:solidFill>
                  <a:srgbClr val="14213D"/>
                </a:solidFill>
                <a:latin typeface="Calibri" panose="020F0502020204030204" pitchFamily="34" charset="0"/>
              </a:rPr>
              <a:t>5 people → 10 channels</a:t>
            </a:r>
          </a:p>
        </p:txBody>
      </p:sp>
      <p:sp>
        <p:nvSpPr>
          <p:cNvPr id="25" name="Rectangle: Rounded Corners 24">
            <a:extLst>
              <a:ext uri="{FF2B5EF4-FFF2-40B4-BE49-F238E27FC236}">
                <a16:creationId xmlns:a16="http://schemas.microsoft.com/office/drawing/2014/main" id="{170655E0-4C86-3444-B908-1BAF8F9C207C}"/>
              </a:ext>
            </a:extLst>
          </p:cNvPr>
          <p:cNvSpPr/>
          <p:nvPr/>
        </p:nvSpPr>
        <p:spPr>
          <a:xfrm>
            <a:off x="9017000" y="1320800"/>
            <a:ext cx="2667000" cy="2794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1090A58E-2C82-1DAE-98CB-F1C6162BDF49}"/>
              </a:ext>
            </a:extLst>
          </p:cNvPr>
          <p:cNvSpPr txBox="1"/>
          <p:nvPr/>
        </p:nvSpPr>
        <p:spPr>
          <a:xfrm>
            <a:off x="9169400" y="1473200"/>
            <a:ext cx="2362200" cy="24892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Exam pattern</a:t>
            </a:r>
          </a:p>
          <a:p>
            <a:r>
              <a:rPr lang="en-US" sz="1300">
                <a:solidFill>
                  <a:srgbClr val="1F2937"/>
                </a:solidFill>
                <a:latin typeface="Calibri" panose="020F0502020204030204" pitchFamily="34" charset="0"/>
              </a:rPr>
              <a:t>The team grows from 10 to 12. How many more channels?</a:t>
            </a:r>
          </a:p>
          <a:p>
            <a:pPr>
              <a:spcBef>
                <a:spcPts val="600"/>
              </a:spcBef>
              <a:spcAft>
                <a:spcPts val="600"/>
              </a:spcAft>
            </a:pPr>
            <a:r>
              <a:rPr lang="en-US" sz="2000" b="1">
                <a:solidFill>
                  <a:srgbClr val="34509A"/>
                </a:solidFill>
                <a:latin typeface="Calibri" panose="020F0502020204030204" pitchFamily="34" charset="0"/>
              </a:rPr>
              <a:t>66 − 45 = 21</a:t>
            </a:r>
          </a:p>
          <a:p>
            <a:r>
              <a:rPr lang="en-US" sz="1300">
                <a:solidFill>
                  <a:srgbClr val="1F2937"/>
                </a:solidFill>
                <a:latin typeface="Calibri" panose="020F0502020204030204" pitchFamily="34" charset="0"/>
              </a:rPr>
              <a:t>Traps: forgetting to count yourself, and giving the new total instead of the change.</a:t>
            </a:r>
          </a:p>
        </p:txBody>
      </p:sp>
      <p:sp>
        <p:nvSpPr>
          <p:cNvPr id="27" name="Rectangle: Rounded Corners 26">
            <a:extLst>
              <a:ext uri="{FF2B5EF4-FFF2-40B4-BE49-F238E27FC236}">
                <a16:creationId xmlns:a16="http://schemas.microsoft.com/office/drawing/2014/main" id="{D11EB970-9D18-9394-DBDD-A59801A4495C}"/>
              </a:ext>
            </a:extLst>
          </p:cNvPr>
          <p:cNvSpPr/>
          <p:nvPr/>
        </p:nvSpPr>
        <p:spPr>
          <a:xfrm>
            <a:off x="5969000" y="4292600"/>
            <a:ext cx="5715000" cy="16002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D84AA168-441B-2E52-F4F2-409EBC0A7E38}"/>
              </a:ext>
            </a:extLst>
          </p:cNvPr>
          <p:cNvSpPr txBox="1"/>
          <p:nvPr/>
        </p:nvSpPr>
        <p:spPr>
          <a:xfrm>
            <a:off x="6121400" y="4445000"/>
            <a:ext cx="5410200" cy="1295400"/>
          </a:xfrm>
          <a:prstGeom prst="rect">
            <a:avLst/>
          </a:prstGeom>
          <a:noFill/>
        </p:spPr>
        <p:txBody>
          <a:bodyPr vert="horz" wrap="square" lIns="0" tIns="0" rIns="0" bIns="0" rtlCol="0" anchor="t">
            <a:noAutofit/>
          </a:bodyPr>
          <a:lstStyle/>
          <a:p>
            <a:pPr>
              <a:spcAft>
                <a:spcPts val="600"/>
              </a:spcAft>
            </a:pPr>
            <a:r>
              <a:rPr lang="en-US" sz="1500" b="1">
                <a:solidFill>
                  <a:srgbClr val="14213D"/>
                </a:solidFill>
                <a:latin typeface="Calibri" panose="020F0502020204030204" pitchFamily="34" charset="0"/>
              </a:rPr>
              <a:t>Communication methods</a:t>
            </a:r>
          </a:p>
          <a:p>
            <a:pPr>
              <a:spcAft>
                <a:spcPts val="300"/>
              </a:spcAft>
            </a:pPr>
            <a:r>
              <a:rPr lang="en-US" sz="1300" b="1">
                <a:solidFill>
                  <a:srgbClr val="1F2937"/>
                </a:solidFill>
                <a:latin typeface="Calibri" panose="020F0502020204030204" pitchFamily="34" charset="0"/>
              </a:rPr>
              <a:t>Interactive:</a:t>
            </a:r>
            <a:r>
              <a:rPr lang="en-US" sz="1300">
                <a:solidFill>
                  <a:srgbClr val="1F2937"/>
                </a:solidFill>
                <a:latin typeface="Calibri" panose="020F0502020204030204" pitchFamily="34" charset="0"/>
              </a:rPr>
              <a:t> two-way, in real time (meetings, calls, video).</a:t>
            </a:r>
          </a:p>
          <a:p>
            <a:pPr>
              <a:spcAft>
                <a:spcPts val="300"/>
              </a:spcAft>
            </a:pPr>
            <a:r>
              <a:rPr lang="en-US" sz="1300" b="1">
                <a:solidFill>
                  <a:srgbClr val="1F2937"/>
                </a:solidFill>
                <a:latin typeface="Calibri" panose="020F0502020204030204" pitchFamily="34" charset="0"/>
              </a:rPr>
              <a:t>Push:</a:t>
            </a:r>
            <a:r>
              <a:rPr lang="en-US" sz="1300">
                <a:solidFill>
                  <a:srgbClr val="1F2937"/>
                </a:solidFill>
                <a:latin typeface="Calibri" panose="020F0502020204030204" pitchFamily="34" charset="0"/>
              </a:rPr>
              <a:t> sent to specific people (emails, memos, reports).</a:t>
            </a:r>
          </a:p>
          <a:p>
            <a:pPr>
              <a:spcAft>
                <a:spcPts val="300"/>
              </a:spcAft>
            </a:pPr>
            <a:r>
              <a:rPr lang="en-US" sz="1300" b="1">
                <a:solidFill>
                  <a:srgbClr val="1F2937"/>
                </a:solidFill>
                <a:latin typeface="Calibri" panose="020F0502020204030204" pitchFamily="34" charset="0"/>
              </a:rPr>
              <a:t>Pull:</a:t>
            </a:r>
            <a:r>
              <a:rPr lang="en-US" sz="1300">
                <a:solidFill>
                  <a:srgbClr val="1F2937"/>
                </a:solidFill>
                <a:latin typeface="Calibri" panose="020F0502020204030204" pitchFamily="34" charset="0"/>
              </a:rPr>
              <a:t> people access it when they need it (portals, repositories, e-learning).</a:t>
            </a:r>
          </a:p>
        </p:txBody>
      </p:sp>
      <p:sp>
        <p:nvSpPr>
          <p:cNvPr id="29" name="Footer">
            <a:extLst>
              <a:ext uri="{FF2B5EF4-FFF2-40B4-BE49-F238E27FC236}">
                <a16:creationId xmlns:a16="http://schemas.microsoft.com/office/drawing/2014/main" id="{48532C0D-A990-4792-160D-82B630FA49CC}"/>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fr-FR" sz="1000">
                <a:solidFill>
                  <a:srgbClr val="5B6475"/>
                </a:solidFill>
                <a:latin typeface="Calibri" panose="020F0502020204030204" pitchFamily="34" charset="0"/>
              </a:rPr>
              <a:t>Source: PMI, PMBOK® Guide — Sixth Edition, Section 10.1 (Plan Communications Management)</a:t>
            </a:r>
            <a:endParaRPr lang="en-US" sz="1000">
              <a:solidFill>
                <a:srgbClr val="5B6475"/>
              </a:solidFill>
              <a:latin typeface="Calibri" panose="020F0502020204030204" pitchFamily="34" charset="0"/>
            </a:endParaRPr>
          </a:p>
        </p:txBody>
      </p:sp>
      <p:sp>
        <p:nvSpPr>
          <p:cNvPr id="30" name="SlideNum">
            <a:extLst>
              <a:ext uri="{FF2B5EF4-FFF2-40B4-BE49-F238E27FC236}">
                <a16:creationId xmlns:a16="http://schemas.microsoft.com/office/drawing/2014/main" id="{EFFD1675-0135-DC9F-3093-43117138B8FC}"/>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25</a:t>
            </a:r>
          </a:p>
        </p:txBody>
      </p:sp>
      <p:sp>
        <p:nvSpPr>
          <p:cNvPr id="31"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0429000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5A65D94-E475-44DD-3BCC-B2311925BFD9}"/>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Knowledge transfer and customer satisfaction</a:t>
            </a:r>
          </a:p>
        </p:txBody>
      </p:sp>
      <p:sp>
        <p:nvSpPr>
          <p:cNvPr id="3" name="Tag">
            <a:extLst>
              <a:ext uri="{FF2B5EF4-FFF2-40B4-BE49-F238E27FC236}">
                <a16:creationId xmlns:a16="http://schemas.microsoft.com/office/drawing/2014/main" id="{C5735A28-DA0D-3FC1-1791-AA4215D76F67}"/>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0F7C80"/>
                </a:solidFill>
                <a:latin typeface="Calibri" panose="020F0502020204030204" pitchFamily="34" charset="0"/>
              </a:rPr>
              <a:t>People deep dive · Supports People Task 7 (Help ensure knowledge transfer) and Task 6 (Manage stakeholder expectations)</a:t>
            </a:r>
          </a:p>
        </p:txBody>
      </p:sp>
      <p:sp>
        <p:nvSpPr>
          <p:cNvPr id="4" name="TextBox 3">
            <a:extLst>
              <a:ext uri="{FF2B5EF4-FFF2-40B4-BE49-F238E27FC236}">
                <a16:creationId xmlns:a16="http://schemas.microsoft.com/office/drawing/2014/main" id="{64378CF3-C54C-6A4A-B9C4-5FA71035EEF8}"/>
              </a:ext>
            </a:extLst>
          </p:cNvPr>
          <p:cNvSpPr txBox="1"/>
          <p:nvPr/>
        </p:nvSpPr>
        <p:spPr>
          <a:xfrm>
            <a:off x="508000" y="1320800"/>
            <a:ext cx="5461000" cy="254000"/>
          </a:xfrm>
          <a:prstGeom prst="rect">
            <a:avLst/>
          </a:prstGeom>
          <a:noFill/>
        </p:spPr>
        <p:txBody>
          <a:bodyPr vert="horz" wrap="square" lIns="0" tIns="0" rIns="0" bIns="0" rtlCol="0" anchor="t">
            <a:noAutofit/>
          </a:bodyPr>
          <a:lstStyle/>
          <a:p>
            <a:r>
              <a:rPr lang="en-US" sz="1500" b="1">
                <a:solidFill>
                  <a:srgbClr val="0F7C80"/>
                </a:solidFill>
                <a:latin typeface="Calibri" panose="020F0502020204030204" pitchFamily="34" charset="0"/>
              </a:rPr>
              <a:t>Knowledge transfer</a:t>
            </a:r>
          </a:p>
        </p:txBody>
      </p:sp>
      <p:sp>
        <p:nvSpPr>
          <p:cNvPr id="5" name="TextBox 4">
            <a:extLst>
              <a:ext uri="{FF2B5EF4-FFF2-40B4-BE49-F238E27FC236}">
                <a16:creationId xmlns:a16="http://schemas.microsoft.com/office/drawing/2014/main" id="{C58BCD31-D940-6D72-6E70-05B88EFDAA45}"/>
              </a:ext>
            </a:extLst>
          </p:cNvPr>
          <p:cNvSpPr txBox="1"/>
          <p:nvPr/>
        </p:nvSpPr>
        <p:spPr>
          <a:xfrm>
            <a:off x="6223000" y="1320800"/>
            <a:ext cx="5461000" cy="254000"/>
          </a:xfrm>
          <a:prstGeom prst="rect">
            <a:avLst/>
          </a:prstGeom>
          <a:noFill/>
        </p:spPr>
        <p:txBody>
          <a:bodyPr vert="horz" wrap="square" lIns="0" tIns="0" rIns="0" bIns="0" rtlCol="0" anchor="t">
            <a:noAutofit/>
          </a:bodyPr>
          <a:lstStyle/>
          <a:p>
            <a:r>
              <a:rPr lang="en-US" sz="1500" b="1">
                <a:solidFill>
                  <a:srgbClr val="0F7C80"/>
                </a:solidFill>
                <a:latin typeface="Calibri" panose="020F0502020204030204" pitchFamily="34" charset="0"/>
              </a:rPr>
              <a:t>Customer satisfaction</a:t>
            </a:r>
          </a:p>
        </p:txBody>
      </p:sp>
      <p:sp>
        <p:nvSpPr>
          <p:cNvPr id="6" name="Rectangle: Rounded Corners 5">
            <a:extLst>
              <a:ext uri="{FF2B5EF4-FFF2-40B4-BE49-F238E27FC236}">
                <a16:creationId xmlns:a16="http://schemas.microsoft.com/office/drawing/2014/main" id="{4BC022A5-5886-3F9C-2280-997A069F429F}"/>
              </a:ext>
            </a:extLst>
          </p:cNvPr>
          <p:cNvSpPr/>
          <p:nvPr/>
        </p:nvSpPr>
        <p:spPr>
          <a:xfrm>
            <a:off x="508000" y="1651000"/>
            <a:ext cx="1752600" cy="584200"/>
          </a:xfrm>
          <a:prstGeom prst="roundRect">
            <a:avLst>
              <a:gd name="adj" fmla="val 8000"/>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200" b="1">
                <a:solidFill>
                  <a:srgbClr val="FFFFFF"/>
                </a:solidFill>
                <a:latin typeface="Calibri" panose="020F0502020204030204" pitchFamily="34" charset="0"/>
              </a:rPr>
              <a:t>1  Identify critical knowledge</a:t>
            </a:r>
          </a:p>
        </p:txBody>
      </p:sp>
      <p:sp>
        <p:nvSpPr>
          <p:cNvPr id="7" name="Rectangle: Rounded Corners 6">
            <a:extLst>
              <a:ext uri="{FF2B5EF4-FFF2-40B4-BE49-F238E27FC236}">
                <a16:creationId xmlns:a16="http://schemas.microsoft.com/office/drawing/2014/main" id="{4CB5D47B-2969-63AB-D081-D5FA7BC4DAD0}"/>
              </a:ext>
            </a:extLst>
          </p:cNvPr>
          <p:cNvSpPr/>
          <p:nvPr/>
        </p:nvSpPr>
        <p:spPr>
          <a:xfrm>
            <a:off x="6223000" y="1651000"/>
            <a:ext cx="1752600" cy="584200"/>
          </a:xfrm>
          <a:prstGeom prst="roundRect">
            <a:avLst>
              <a:gd name="adj" fmla="val 8000"/>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200" b="1">
                <a:solidFill>
                  <a:srgbClr val="FFFFFF"/>
                </a:solidFill>
                <a:latin typeface="Calibri" panose="020F0502020204030204" pitchFamily="34" charset="0"/>
              </a:rPr>
              <a:t>1  Identify internal and external expectations</a:t>
            </a:r>
          </a:p>
        </p:txBody>
      </p:sp>
      <p:sp>
        <p:nvSpPr>
          <p:cNvPr id="8" name="Rectangle: Rounded Corners 7">
            <a:extLst>
              <a:ext uri="{FF2B5EF4-FFF2-40B4-BE49-F238E27FC236}">
                <a16:creationId xmlns:a16="http://schemas.microsoft.com/office/drawing/2014/main" id="{BAEF20C5-F117-1660-F4FA-33696EAD223E}"/>
              </a:ext>
            </a:extLst>
          </p:cNvPr>
          <p:cNvSpPr/>
          <p:nvPr/>
        </p:nvSpPr>
        <p:spPr>
          <a:xfrm>
            <a:off x="2349500" y="1651000"/>
            <a:ext cx="1752600" cy="584200"/>
          </a:xfrm>
          <a:prstGeom prst="roundRect">
            <a:avLst>
              <a:gd name="adj" fmla="val 8000"/>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200" b="1">
                <a:solidFill>
                  <a:srgbClr val="FFFFFF"/>
                </a:solidFill>
                <a:latin typeface="Calibri" panose="020F0502020204030204" pitchFamily="34" charset="0"/>
              </a:rPr>
              <a:t>2  Gather it</a:t>
            </a:r>
          </a:p>
        </p:txBody>
      </p:sp>
      <p:sp>
        <p:nvSpPr>
          <p:cNvPr id="9" name="Rectangle: Rounded Corners 8">
            <a:extLst>
              <a:ext uri="{FF2B5EF4-FFF2-40B4-BE49-F238E27FC236}">
                <a16:creationId xmlns:a16="http://schemas.microsoft.com/office/drawing/2014/main" id="{0CCEBD29-58E2-9AB5-08D7-EDCB12DC2E36}"/>
              </a:ext>
            </a:extLst>
          </p:cNvPr>
          <p:cNvSpPr/>
          <p:nvPr/>
        </p:nvSpPr>
        <p:spPr>
          <a:xfrm>
            <a:off x="8064500" y="1651000"/>
            <a:ext cx="1752600" cy="584200"/>
          </a:xfrm>
          <a:prstGeom prst="roundRect">
            <a:avLst>
              <a:gd name="adj" fmla="val 8000"/>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200" b="1">
                <a:solidFill>
                  <a:srgbClr val="FFFFFF"/>
                </a:solidFill>
                <a:latin typeface="Calibri" panose="020F0502020204030204" pitchFamily="34" charset="0"/>
              </a:rPr>
              <a:t>2  Align outcomes to them</a:t>
            </a:r>
          </a:p>
        </p:txBody>
      </p:sp>
      <p:sp>
        <p:nvSpPr>
          <p:cNvPr id="10" name="Rectangle: Rounded Corners 9">
            <a:extLst>
              <a:ext uri="{FF2B5EF4-FFF2-40B4-BE49-F238E27FC236}">
                <a16:creationId xmlns:a16="http://schemas.microsoft.com/office/drawing/2014/main" id="{C7C4A008-7E71-9710-4E1E-C9095B1A8203}"/>
              </a:ext>
            </a:extLst>
          </p:cNvPr>
          <p:cNvSpPr/>
          <p:nvPr/>
        </p:nvSpPr>
        <p:spPr>
          <a:xfrm>
            <a:off x="4191000" y="1651000"/>
            <a:ext cx="1752600" cy="584200"/>
          </a:xfrm>
          <a:prstGeom prst="roundRect">
            <a:avLst>
              <a:gd name="adj" fmla="val 8000"/>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200" b="1">
                <a:solidFill>
                  <a:srgbClr val="FFFFFF"/>
                </a:solidFill>
                <a:latin typeface="Calibri" panose="020F0502020204030204" pitchFamily="34" charset="0"/>
              </a:rPr>
              <a:t>3  Foster an environment for sharing</a:t>
            </a:r>
          </a:p>
        </p:txBody>
      </p:sp>
      <p:sp>
        <p:nvSpPr>
          <p:cNvPr id="11" name="Rectangle: Rounded Corners 10">
            <a:extLst>
              <a:ext uri="{FF2B5EF4-FFF2-40B4-BE49-F238E27FC236}">
                <a16:creationId xmlns:a16="http://schemas.microsoft.com/office/drawing/2014/main" id="{C722FEC8-E898-1522-2883-8F8EB3BDF6E6}"/>
              </a:ext>
            </a:extLst>
          </p:cNvPr>
          <p:cNvSpPr/>
          <p:nvPr/>
        </p:nvSpPr>
        <p:spPr>
          <a:xfrm>
            <a:off x="9906000" y="1651000"/>
            <a:ext cx="1752600" cy="584200"/>
          </a:xfrm>
          <a:prstGeom prst="roundRect">
            <a:avLst>
              <a:gd name="adj" fmla="val 8000"/>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200" b="1">
                <a:solidFill>
                  <a:srgbClr val="FFFFFF"/>
                </a:solidFill>
                <a:latin typeface="Calibri" panose="020F0502020204030204" pitchFamily="34" charset="0"/>
              </a:rPr>
              <a:t>3  Monitor satisfaction and respond</a:t>
            </a:r>
          </a:p>
        </p:txBody>
      </p:sp>
      <p:sp>
        <p:nvSpPr>
          <p:cNvPr id="12" name="Rectangle: Rounded Corners 11">
            <a:extLst>
              <a:ext uri="{FF2B5EF4-FFF2-40B4-BE49-F238E27FC236}">
                <a16:creationId xmlns:a16="http://schemas.microsoft.com/office/drawing/2014/main" id="{5F57A9F9-D2C6-00A8-62F0-642B3C137EF5}"/>
              </a:ext>
            </a:extLst>
          </p:cNvPr>
          <p:cNvSpPr/>
          <p:nvPr/>
        </p:nvSpPr>
        <p:spPr>
          <a:xfrm>
            <a:off x="508000" y="2362200"/>
            <a:ext cx="2667000" cy="18796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EAA6050-5571-7459-4191-AD2EFC06C3E5}"/>
              </a:ext>
            </a:extLst>
          </p:cNvPr>
          <p:cNvSpPr txBox="1"/>
          <p:nvPr/>
        </p:nvSpPr>
        <p:spPr>
          <a:xfrm>
            <a:off x="660400" y="2514600"/>
            <a:ext cx="2362200" cy="1574800"/>
          </a:xfrm>
          <a:prstGeom prst="rect">
            <a:avLst/>
          </a:prstGeom>
          <a:noFill/>
        </p:spPr>
        <p:txBody>
          <a:bodyPr vert="horz" wrap="square" lIns="0" tIns="0" rIns="0" bIns="0" rtlCol="0" anchor="t">
            <a:noAutofit/>
          </a:bodyPr>
          <a:lstStyle/>
          <a:p>
            <a:pPr>
              <a:spcAft>
                <a:spcPts val="600"/>
              </a:spcAft>
            </a:pPr>
            <a:r>
              <a:rPr lang="en-US" sz="1400" b="1">
                <a:solidFill>
                  <a:srgbClr val="0F7C80"/>
                </a:solidFill>
                <a:latin typeface="Calibri" panose="020F0502020204030204" pitchFamily="34" charset="0"/>
              </a:rPr>
              <a:t>Explicit knowledge</a:t>
            </a:r>
          </a:p>
          <a:p>
            <a:r>
              <a:rPr lang="en-US" sz="1200">
                <a:solidFill>
                  <a:srgbClr val="1F2937"/>
                </a:solidFill>
                <a:latin typeface="Calibri" panose="020F0502020204030204" pitchFamily="34" charset="0"/>
              </a:rPr>
              <a:t>Written down: plans, procedures, the lessons learned register, wikis.</a:t>
            </a:r>
          </a:p>
          <a:p>
            <a:r>
              <a:rPr lang="en-US" sz="1200">
                <a:solidFill>
                  <a:srgbClr val="1F2937"/>
                </a:solidFill>
                <a:latin typeface="Calibri" panose="020F0502020204030204" pitchFamily="34" charset="0"/>
              </a:rPr>
              <a:t>Share it through repositories and documentation.</a:t>
            </a:r>
          </a:p>
          <a:p>
            <a:r>
              <a:rPr lang="en-US" sz="1200">
                <a:solidFill>
                  <a:srgbClr val="1F2937"/>
                </a:solidFill>
                <a:latin typeface="Calibri" panose="020F0502020204030204" pitchFamily="34" charset="0"/>
              </a:rPr>
              <a:t>Example: the written recipe.</a:t>
            </a:r>
          </a:p>
        </p:txBody>
      </p:sp>
      <p:sp>
        <p:nvSpPr>
          <p:cNvPr id="14" name="Rectangle: Rounded Corners 13">
            <a:extLst>
              <a:ext uri="{FF2B5EF4-FFF2-40B4-BE49-F238E27FC236}">
                <a16:creationId xmlns:a16="http://schemas.microsoft.com/office/drawing/2014/main" id="{20A8F8D4-69D1-EF3E-C4B3-0335DDA7BBE7}"/>
              </a:ext>
            </a:extLst>
          </p:cNvPr>
          <p:cNvSpPr/>
          <p:nvPr/>
        </p:nvSpPr>
        <p:spPr>
          <a:xfrm>
            <a:off x="3302000" y="2362200"/>
            <a:ext cx="2667000" cy="18796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5FDA2E8-C634-5FD7-4105-C66046D8D6E8}"/>
              </a:ext>
            </a:extLst>
          </p:cNvPr>
          <p:cNvSpPr txBox="1"/>
          <p:nvPr/>
        </p:nvSpPr>
        <p:spPr>
          <a:xfrm>
            <a:off x="3454400" y="2514600"/>
            <a:ext cx="2362200" cy="1574800"/>
          </a:xfrm>
          <a:prstGeom prst="rect">
            <a:avLst/>
          </a:prstGeom>
          <a:noFill/>
        </p:spPr>
        <p:txBody>
          <a:bodyPr vert="horz" wrap="square" lIns="0" tIns="0" rIns="0" bIns="0" rtlCol="0" anchor="t">
            <a:noAutofit/>
          </a:bodyPr>
          <a:lstStyle/>
          <a:p>
            <a:pPr>
              <a:spcAft>
                <a:spcPts val="600"/>
              </a:spcAft>
            </a:pPr>
            <a:r>
              <a:rPr lang="en-US" sz="1400" b="1">
                <a:solidFill>
                  <a:srgbClr val="0F7C80"/>
                </a:solidFill>
                <a:latin typeface="Calibri" panose="020F0502020204030204" pitchFamily="34" charset="0"/>
              </a:rPr>
              <a:t>Tacit knowledge</a:t>
            </a:r>
          </a:p>
          <a:p>
            <a:r>
              <a:rPr lang="en-US" sz="1200">
                <a:solidFill>
                  <a:srgbClr val="1F2937"/>
                </a:solidFill>
                <a:latin typeface="Calibri" panose="020F0502020204030204" pitchFamily="34" charset="0"/>
              </a:rPr>
              <a:t>In people’s heads: experience, judgment, relationships.</a:t>
            </a:r>
          </a:p>
          <a:p>
            <a:r>
              <a:rPr lang="en-US" sz="1200">
                <a:solidFill>
                  <a:srgbClr val="1F2937"/>
                </a:solidFill>
                <a:latin typeface="Calibri" panose="020F0502020204030204" pitchFamily="34" charset="0"/>
              </a:rPr>
              <a:t>Share it through conversation, pairing, mentoring, and job shadowing.</a:t>
            </a:r>
          </a:p>
          <a:p>
            <a:r>
              <a:rPr lang="en-US" sz="1200">
                <a:solidFill>
                  <a:srgbClr val="1F2937"/>
                </a:solidFill>
                <a:latin typeface="Calibri" panose="020F0502020204030204" pitchFamily="34" charset="0"/>
              </a:rPr>
              <a:t>Example: the cook’s feel for when it’s done.</a:t>
            </a:r>
          </a:p>
        </p:txBody>
      </p:sp>
      <p:sp>
        <p:nvSpPr>
          <p:cNvPr id="16" name="Rectangle: Rounded Corners 15">
            <a:extLst>
              <a:ext uri="{FF2B5EF4-FFF2-40B4-BE49-F238E27FC236}">
                <a16:creationId xmlns:a16="http://schemas.microsoft.com/office/drawing/2014/main" id="{0515704A-ECCF-11A1-39CD-08E6649BBAEF}"/>
              </a:ext>
            </a:extLst>
          </p:cNvPr>
          <p:cNvSpPr/>
          <p:nvPr/>
        </p:nvSpPr>
        <p:spPr>
          <a:xfrm>
            <a:off x="6223000" y="2362200"/>
            <a:ext cx="5461000" cy="18796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0A7915A-C8BA-7E02-F124-42CE9706DA62}"/>
              </a:ext>
            </a:extLst>
          </p:cNvPr>
          <p:cNvSpPr txBox="1"/>
          <p:nvPr/>
        </p:nvSpPr>
        <p:spPr>
          <a:xfrm>
            <a:off x="6375400" y="2514600"/>
            <a:ext cx="5156200" cy="1574800"/>
          </a:xfrm>
          <a:prstGeom prst="rect">
            <a:avLst/>
          </a:prstGeom>
          <a:noFill/>
        </p:spPr>
        <p:txBody>
          <a:bodyPr vert="horz" wrap="square" lIns="0" tIns="0" rIns="0" bIns="0" rtlCol="0" anchor="t">
            <a:noAutofit/>
          </a:bodyPr>
          <a:lstStyle/>
          <a:p>
            <a:pPr>
              <a:spcAft>
                <a:spcPts val="600"/>
              </a:spcAft>
            </a:pPr>
            <a:r>
              <a:rPr lang="en-US" sz="1400" b="1">
                <a:solidFill>
                  <a:srgbClr val="0F7C80"/>
                </a:solidFill>
                <a:latin typeface="Calibri" panose="020F0502020204030204" pitchFamily="34" charset="0"/>
              </a:rPr>
              <a:t>How to monitor and respond</a:t>
            </a:r>
          </a:p>
          <a:p>
            <a:r>
              <a:rPr lang="en-US" sz="1200">
                <a:solidFill>
                  <a:srgbClr val="1F2937"/>
                </a:solidFill>
                <a:latin typeface="Calibri" panose="020F0502020204030204" pitchFamily="34" charset="0"/>
              </a:rPr>
              <a:t>Reviews and demos, surveys, feedback loops, and acceptance against agreed criteria; watch trends in complaints and change requests.</a:t>
            </a:r>
          </a:p>
          <a:p>
            <a:r>
              <a:rPr lang="en-US" sz="1200">
                <a:solidFill>
                  <a:srgbClr val="1F2937"/>
                </a:solidFill>
                <a:latin typeface="Calibri" panose="020F0502020204030204" pitchFamily="34" charset="0"/>
              </a:rPr>
              <a:t>Satisfaction means meeting agreed expectations; gold plating (unrequested extras) is not the goal.</a:t>
            </a:r>
          </a:p>
        </p:txBody>
      </p:sp>
      <p:sp>
        <p:nvSpPr>
          <p:cNvPr id="18" name="Rectangle: Rounded Corners 17">
            <a:extLst>
              <a:ext uri="{FF2B5EF4-FFF2-40B4-BE49-F238E27FC236}">
                <a16:creationId xmlns:a16="http://schemas.microsoft.com/office/drawing/2014/main" id="{74181B8B-A948-448E-825D-745F2AEEE9C3}"/>
              </a:ext>
            </a:extLst>
          </p:cNvPr>
          <p:cNvSpPr/>
          <p:nvPr/>
        </p:nvSpPr>
        <p:spPr>
          <a:xfrm>
            <a:off x="508000" y="4343400"/>
            <a:ext cx="11176000" cy="10414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04D77B8-50A9-A376-9572-1EE2D599F0D2}"/>
              </a:ext>
            </a:extLst>
          </p:cNvPr>
          <p:cNvSpPr txBox="1"/>
          <p:nvPr/>
        </p:nvSpPr>
        <p:spPr>
          <a:xfrm>
            <a:off x="660400" y="4495800"/>
            <a:ext cx="10871200" cy="736600"/>
          </a:xfrm>
          <a:prstGeom prst="rect">
            <a:avLst/>
          </a:prstGeom>
          <a:noFill/>
        </p:spPr>
        <p:txBody>
          <a:bodyPr vert="horz" wrap="square" lIns="0" tIns="0" rIns="0" bIns="0" rtlCol="0" anchor="t">
            <a:noAutofit/>
          </a:bodyPr>
          <a:lstStyle/>
          <a:p>
            <a:pPr>
              <a:spcAft>
                <a:spcPts val="600"/>
              </a:spcAft>
            </a:pPr>
            <a:r>
              <a:rPr lang="en-US" sz="1400" b="1">
                <a:solidFill>
                  <a:srgbClr val="A86F0E"/>
                </a:solidFill>
                <a:latin typeface="Calibri" panose="020F0502020204030204" pitchFamily="34" charset="0"/>
              </a:rPr>
              <a:t>Before someone leaves the project</a:t>
            </a:r>
          </a:p>
          <a:p>
            <a:r>
              <a:rPr lang="en-US" sz="1200">
                <a:solidFill>
                  <a:srgbClr val="1F2937"/>
                </a:solidFill>
                <a:latin typeface="Calibri" panose="020F0502020204030204" pitchFamily="34" charset="0"/>
              </a:rPr>
              <a:t>Pair them with a successor, record key decisions and contacts, and update the lessons learned register. Mentoring opportunities (People Task 5) are a natural channel for tacit knowledge.</a:t>
            </a:r>
          </a:p>
        </p:txBody>
      </p:sp>
      <p:sp>
        <p:nvSpPr>
          <p:cNvPr id="20" name="Rectangle: Rounded Corners 19">
            <a:extLst>
              <a:ext uri="{FF2B5EF4-FFF2-40B4-BE49-F238E27FC236}">
                <a16:creationId xmlns:a16="http://schemas.microsoft.com/office/drawing/2014/main" id="{EDF14DF3-113C-614F-E5E3-A4E3A4D7889C}"/>
              </a:ext>
            </a:extLst>
          </p:cNvPr>
          <p:cNvSpPr/>
          <p:nvPr/>
        </p:nvSpPr>
        <p:spPr>
          <a:xfrm>
            <a:off x="508000" y="5486400"/>
            <a:ext cx="11176000" cy="8382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780DD0D-D114-6B1C-89D2-23A5A6A91D8C}"/>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tacit knowledge transfers through people, not documents. Measure customer satisfaction against agreed expectations and acceptance criteria.</a:t>
            </a:r>
          </a:p>
        </p:txBody>
      </p:sp>
      <p:sp>
        <p:nvSpPr>
          <p:cNvPr id="22" name="Footer">
            <a:extLst>
              <a:ext uri="{FF2B5EF4-FFF2-40B4-BE49-F238E27FC236}">
                <a16:creationId xmlns:a16="http://schemas.microsoft.com/office/drawing/2014/main" id="{42843036-8428-7CB7-EEBF-4D345FC91FE7}"/>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4.4 (Manage Project Knowledge) and 13.4; I. Nonaka and H. Takeuchi, The Knowledge-Creating Company (1995)</a:t>
            </a:r>
          </a:p>
        </p:txBody>
      </p:sp>
      <p:sp>
        <p:nvSpPr>
          <p:cNvPr id="23" name="SlideNum">
            <a:extLst>
              <a:ext uri="{FF2B5EF4-FFF2-40B4-BE49-F238E27FC236}">
                <a16:creationId xmlns:a16="http://schemas.microsoft.com/office/drawing/2014/main" id="{02605F3C-2997-FE1F-2BD7-CF8AF4C01387}"/>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26</a:t>
            </a:r>
          </a:p>
        </p:txBody>
      </p:sp>
      <p:sp>
        <p:nvSpPr>
          <p:cNvPr id="24"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431696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34509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8BF85F-EB8D-1FEF-6DBD-8D71AECA30CD}"/>
              </a:ext>
            </a:extLst>
          </p:cNvPr>
          <p:cNvSpPr txBox="1"/>
          <p:nvPr/>
        </p:nvSpPr>
        <p:spPr>
          <a:xfrm>
            <a:off x="508000" y="1905000"/>
            <a:ext cx="6350000" cy="381000"/>
          </a:xfrm>
          <a:prstGeom prst="rect">
            <a:avLst/>
          </a:prstGeom>
          <a:noFill/>
        </p:spPr>
        <p:txBody>
          <a:bodyPr vert="horz" wrap="square" lIns="0" tIns="0" rIns="0" bIns="0" rtlCol="0" anchor="t">
            <a:noAutofit/>
          </a:bodyPr>
          <a:lstStyle/>
          <a:p>
            <a:r>
              <a:rPr lang="en-US" sz="2200" b="1">
                <a:solidFill>
                  <a:srgbClr val="E8EEF6"/>
                </a:solidFill>
                <a:latin typeface="Calibri" panose="020F0502020204030204" pitchFamily="34" charset="0"/>
              </a:rPr>
              <a:t>Domain II</a:t>
            </a:r>
          </a:p>
        </p:txBody>
      </p:sp>
      <p:sp>
        <p:nvSpPr>
          <p:cNvPr id="3" name="TextBox 2">
            <a:extLst>
              <a:ext uri="{FF2B5EF4-FFF2-40B4-BE49-F238E27FC236}">
                <a16:creationId xmlns:a16="http://schemas.microsoft.com/office/drawing/2014/main" id="{DF8444EE-2C48-7C6E-FBA4-B698B270BF9E}"/>
              </a:ext>
            </a:extLst>
          </p:cNvPr>
          <p:cNvSpPr txBox="1"/>
          <p:nvPr/>
        </p:nvSpPr>
        <p:spPr>
          <a:xfrm>
            <a:off x="508000" y="2349500"/>
            <a:ext cx="7874000" cy="1905000"/>
          </a:xfrm>
          <a:prstGeom prst="rect">
            <a:avLst/>
          </a:prstGeom>
          <a:noFill/>
        </p:spPr>
        <p:txBody>
          <a:bodyPr vert="horz" wrap="square" lIns="0" tIns="0" rIns="0" bIns="0" rtlCol="0" anchor="t">
            <a:noAutofit/>
          </a:bodyPr>
          <a:lstStyle/>
          <a:p>
            <a:r>
              <a:rPr lang="en-US" sz="5800" b="1">
                <a:solidFill>
                  <a:srgbClr val="FFFFFF"/>
                </a:solidFill>
                <a:latin typeface="Cambria" panose="02040503050406030204" pitchFamily="18" charset="0"/>
              </a:rPr>
              <a:t>Process</a:t>
            </a:r>
          </a:p>
        </p:txBody>
      </p:sp>
      <p:sp>
        <p:nvSpPr>
          <p:cNvPr id="4" name="TextBox 3">
            <a:extLst>
              <a:ext uri="{FF2B5EF4-FFF2-40B4-BE49-F238E27FC236}">
                <a16:creationId xmlns:a16="http://schemas.microsoft.com/office/drawing/2014/main" id="{9CF9DC6A-7938-92F3-F171-0688A77B0130}"/>
              </a:ext>
            </a:extLst>
          </p:cNvPr>
          <p:cNvSpPr txBox="1"/>
          <p:nvPr/>
        </p:nvSpPr>
        <p:spPr>
          <a:xfrm>
            <a:off x="508000" y="4381500"/>
            <a:ext cx="7620000" cy="381000"/>
          </a:xfrm>
          <a:prstGeom prst="rect">
            <a:avLst/>
          </a:prstGeom>
          <a:noFill/>
        </p:spPr>
        <p:txBody>
          <a:bodyPr vert="horz" wrap="square" lIns="0" tIns="0" rIns="0" bIns="0" rtlCol="0" anchor="t">
            <a:noAutofit/>
          </a:bodyPr>
          <a:lstStyle/>
          <a:p>
            <a:r>
              <a:rPr lang="en-US" sz="2200">
                <a:solidFill>
                  <a:srgbClr val="FFFFFF"/>
                </a:solidFill>
                <a:latin typeface="Calibri" panose="020F0502020204030204" pitchFamily="34" charset="0"/>
              </a:rPr>
              <a:t>41% of exam questions · 10 tasks</a:t>
            </a:r>
          </a:p>
        </p:txBody>
      </p:sp>
      <p:sp>
        <p:nvSpPr>
          <p:cNvPr id="5" name="TextBox 4">
            <a:extLst>
              <a:ext uri="{FF2B5EF4-FFF2-40B4-BE49-F238E27FC236}">
                <a16:creationId xmlns:a16="http://schemas.microsoft.com/office/drawing/2014/main" id="{73B058D4-0FC4-9E34-0BB6-D4362A5CB000}"/>
              </a:ext>
            </a:extLst>
          </p:cNvPr>
          <p:cNvSpPr txBox="1"/>
          <p:nvPr/>
        </p:nvSpPr>
        <p:spPr>
          <a:xfrm>
            <a:off x="508000" y="4889500"/>
            <a:ext cx="7112000" cy="762000"/>
          </a:xfrm>
          <a:prstGeom prst="rect">
            <a:avLst/>
          </a:prstGeom>
          <a:noFill/>
        </p:spPr>
        <p:txBody>
          <a:bodyPr vert="horz" wrap="square" lIns="0" tIns="0" rIns="0" bIns="0" rtlCol="0" anchor="t">
            <a:noAutofit/>
          </a:bodyPr>
          <a:lstStyle/>
          <a:p>
            <a:r>
              <a:rPr lang="en-US" i="1">
                <a:solidFill>
                  <a:srgbClr val="E8EEF6"/>
                </a:solidFill>
                <a:latin typeface="Calibri" panose="020F0502020204030204" pitchFamily="34" charset="0"/>
              </a:rPr>
              <a:t>Planning, scope, value, resources, procurement, finance, quality, schedule, status, and closure</a:t>
            </a:r>
          </a:p>
        </p:txBody>
      </p:sp>
      <p:sp>
        <p:nvSpPr>
          <p:cNvPr id="6" name="TextBox 5">
            <a:extLst>
              <a:ext uri="{FF2B5EF4-FFF2-40B4-BE49-F238E27FC236}">
                <a16:creationId xmlns:a16="http://schemas.microsoft.com/office/drawing/2014/main" id="{8AA5E7DB-0A75-5CAC-62D4-295480C4CC61}"/>
              </a:ext>
            </a:extLst>
          </p:cNvPr>
          <p:cNvSpPr txBox="1"/>
          <p:nvPr/>
        </p:nvSpPr>
        <p:spPr>
          <a:xfrm>
            <a:off x="7620000" y="1524000"/>
            <a:ext cx="4064000" cy="2794000"/>
          </a:xfrm>
          <a:prstGeom prst="rect">
            <a:avLst/>
          </a:prstGeom>
          <a:noFill/>
        </p:spPr>
        <p:txBody>
          <a:bodyPr vert="horz" wrap="square" lIns="0" tIns="0" rIns="0" bIns="0" rtlCol="0" anchor="ctr">
            <a:noAutofit/>
          </a:bodyPr>
          <a:lstStyle/>
          <a:p>
            <a:pPr algn="r"/>
            <a:r>
              <a:rPr lang="en-US" sz="13000" b="1">
                <a:solidFill>
                  <a:srgbClr val="FFFFFF">
                    <a:alpha val="25000"/>
                  </a:srgbClr>
                </a:solidFill>
                <a:latin typeface="Cambria" panose="02040503050406030204" pitchFamily="18" charset="0"/>
              </a:rPr>
              <a:t>41%</a:t>
            </a:r>
          </a:p>
        </p:txBody>
      </p:sp>
      <p:sp>
        <p:nvSpPr>
          <p:cNvPr id="7" name="Footer">
            <a:extLst>
              <a:ext uri="{FF2B5EF4-FFF2-40B4-BE49-F238E27FC236}">
                <a16:creationId xmlns:a16="http://schemas.microsoft.com/office/drawing/2014/main" id="{B66B38D8-CF78-80F5-2DCB-A564F9615D2F}"/>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C9D6EA"/>
                </a:solidFill>
                <a:latin typeface="Calibri" panose="020F0502020204030204" pitchFamily="34" charset="0"/>
              </a:rPr>
              <a:t>Source: PMI, PMP® Examination Content Outline (July 2026)</a:t>
            </a:r>
          </a:p>
        </p:txBody>
      </p:sp>
      <p:sp>
        <p:nvSpPr>
          <p:cNvPr id="8"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40019016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omainChip">
            <a:extLst>
              <a:ext uri="{FF2B5EF4-FFF2-40B4-BE49-F238E27FC236}">
                <a16:creationId xmlns:a16="http://schemas.microsoft.com/office/drawing/2014/main" id="{59E242E5-BEF2-0284-44D3-3DBC2F41845C}"/>
              </a:ext>
            </a:extLst>
          </p:cNvPr>
          <p:cNvSpPr/>
          <p:nvPr/>
        </p:nvSpPr>
        <p:spPr>
          <a:xfrm>
            <a:off x="508000" y="444500"/>
            <a:ext cx="558800" cy="5588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b="1">
                <a:solidFill>
                  <a:srgbClr val="FFFFFF"/>
                </a:solidFill>
                <a:latin typeface="Calibri" panose="020F0502020204030204" pitchFamily="34" charset="0"/>
              </a:rPr>
              <a:t>II</a:t>
            </a:r>
          </a:p>
        </p:txBody>
      </p:sp>
      <p:sp>
        <p:nvSpPr>
          <p:cNvPr id="3" name="Title">
            <a:extLst>
              <a:ext uri="{FF2B5EF4-FFF2-40B4-BE49-F238E27FC236}">
                <a16:creationId xmlns:a16="http://schemas.microsoft.com/office/drawing/2014/main" id="{D63BB7AA-F86B-5154-A7F2-600F58C6908D}"/>
              </a:ext>
            </a:extLst>
          </p:cNvPr>
          <p:cNvSpPr txBox="1"/>
          <p:nvPr/>
        </p:nvSpPr>
        <p:spPr>
          <a:xfrm>
            <a:off x="1219200" y="381000"/>
            <a:ext cx="104648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Process: 10 tasks at a glance</a:t>
            </a:r>
          </a:p>
        </p:txBody>
      </p:sp>
      <p:sp>
        <p:nvSpPr>
          <p:cNvPr id="4" name="Oval 3">
            <a:extLst>
              <a:ext uri="{FF2B5EF4-FFF2-40B4-BE49-F238E27FC236}">
                <a16:creationId xmlns:a16="http://schemas.microsoft.com/office/drawing/2014/main" id="{55B7656F-6C5F-78BB-3C7B-15C50191078A}"/>
              </a:ext>
            </a:extLst>
          </p:cNvPr>
          <p:cNvSpPr/>
          <p:nvPr/>
        </p:nvSpPr>
        <p:spPr>
          <a:xfrm>
            <a:off x="508000" y="1651000"/>
            <a:ext cx="381000" cy="3810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1</a:t>
            </a:r>
          </a:p>
        </p:txBody>
      </p:sp>
      <p:sp>
        <p:nvSpPr>
          <p:cNvPr id="5" name="TextBox 4">
            <a:extLst>
              <a:ext uri="{FF2B5EF4-FFF2-40B4-BE49-F238E27FC236}">
                <a16:creationId xmlns:a16="http://schemas.microsoft.com/office/drawing/2014/main" id="{ABF5ED47-BA66-83D6-CD75-D22EAB8A4CF4}"/>
              </a:ext>
            </a:extLst>
          </p:cNvPr>
          <p:cNvSpPr txBox="1"/>
          <p:nvPr/>
        </p:nvSpPr>
        <p:spPr>
          <a:xfrm>
            <a:off x="1041400" y="1346200"/>
            <a:ext cx="4927600" cy="990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Develop an integrated project management plan and plan delivery</a:t>
            </a:r>
          </a:p>
        </p:txBody>
      </p:sp>
      <p:sp>
        <p:nvSpPr>
          <p:cNvPr id="6" name="Oval 5">
            <a:extLst>
              <a:ext uri="{FF2B5EF4-FFF2-40B4-BE49-F238E27FC236}">
                <a16:creationId xmlns:a16="http://schemas.microsoft.com/office/drawing/2014/main" id="{A7F4CAC6-DBF7-F113-3868-6C7EA68C96C0}"/>
              </a:ext>
            </a:extLst>
          </p:cNvPr>
          <p:cNvSpPr/>
          <p:nvPr/>
        </p:nvSpPr>
        <p:spPr>
          <a:xfrm>
            <a:off x="508000" y="2641600"/>
            <a:ext cx="381000" cy="3810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2</a:t>
            </a:r>
          </a:p>
        </p:txBody>
      </p:sp>
      <p:sp>
        <p:nvSpPr>
          <p:cNvPr id="7" name="TextBox 6">
            <a:extLst>
              <a:ext uri="{FF2B5EF4-FFF2-40B4-BE49-F238E27FC236}">
                <a16:creationId xmlns:a16="http://schemas.microsoft.com/office/drawing/2014/main" id="{150CA952-15DC-443C-8190-83BAED122B40}"/>
              </a:ext>
            </a:extLst>
          </p:cNvPr>
          <p:cNvSpPr txBox="1"/>
          <p:nvPr/>
        </p:nvSpPr>
        <p:spPr>
          <a:xfrm>
            <a:off x="1041400" y="2336800"/>
            <a:ext cx="4927600" cy="990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Develop and manage project scope</a:t>
            </a:r>
          </a:p>
        </p:txBody>
      </p:sp>
      <p:sp>
        <p:nvSpPr>
          <p:cNvPr id="8" name="Oval 7">
            <a:extLst>
              <a:ext uri="{FF2B5EF4-FFF2-40B4-BE49-F238E27FC236}">
                <a16:creationId xmlns:a16="http://schemas.microsoft.com/office/drawing/2014/main" id="{EA370E3A-81BA-73F9-FA59-ACF5E26FDC3C}"/>
              </a:ext>
            </a:extLst>
          </p:cNvPr>
          <p:cNvSpPr/>
          <p:nvPr/>
        </p:nvSpPr>
        <p:spPr>
          <a:xfrm>
            <a:off x="508000" y="3632200"/>
            <a:ext cx="381000" cy="3810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3</a:t>
            </a:r>
          </a:p>
        </p:txBody>
      </p:sp>
      <p:sp>
        <p:nvSpPr>
          <p:cNvPr id="9" name="TextBox 8">
            <a:extLst>
              <a:ext uri="{FF2B5EF4-FFF2-40B4-BE49-F238E27FC236}">
                <a16:creationId xmlns:a16="http://schemas.microsoft.com/office/drawing/2014/main" id="{BA3AAD39-11C5-5B2C-70BA-007FC469481A}"/>
              </a:ext>
            </a:extLst>
          </p:cNvPr>
          <p:cNvSpPr txBox="1"/>
          <p:nvPr/>
        </p:nvSpPr>
        <p:spPr>
          <a:xfrm>
            <a:off x="1041400" y="3327400"/>
            <a:ext cx="4927600" cy="990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Help ensure value-based delivery</a:t>
            </a:r>
          </a:p>
        </p:txBody>
      </p:sp>
      <p:sp>
        <p:nvSpPr>
          <p:cNvPr id="10" name="Oval 9">
            <a:extLst>
              <a:ext uri="{FF2B5EF4-FFF2-40B4-BE49-F238E27FC236}">
                <a16:creationId xmlns:a16="http://schemas.microsoft.com/office/drawing/2014/main" id="{F02A9D54-5785-D580-7EF1-4CB87754E29C}"/>
              </a:ext>
            </a:extLst>
          </p:cNvPr>
          <p:cNvSpPr/>
          <p:nvPr/>
        </p:nvSpPr>
        <p:spPr>
          <a:xfrm>
            <a:off x="508000" y="4622800"/>
            <a:ext cx="381000" cy="3810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4</a:t>
            </a:r>
          </a:p>
        </p:txBody>
      </p:sp>
      <p:sp>
        <p:nvSpPr>
          <p:cNvPr id="11" name="TextBox 10">
            <a:extLst>
              <a:ext uri="{FF2B5EF4-FFF2-40B4-BE49-F238E27FC236}">
                <a16:creationId xmlns:a16="http://schemas.microsoft.com/office/drawing/2014/main" id="{C5F139EF-AA5B-6E33-C439-95DC934586EF}"/>
              </a:ext>
            </a:extLst>
          </p:cNvPr>
          <p:cNvSpPr txBox="1"/>
          <p:nvPr/>
        </p:nvSpPr>
        <p:spPr>
          <a:xfrm>
            <a:off x="1041400" y="4318000"/>
            <a:ext cx="4927600" cy="990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Plan and manage resources</a:t>
            </a:r>
          </a:p>
        </p:txBody>
      </p:sp>
      <p:sp>
        <p:nvSpPr>
          <p:cNvPr id="12" name="Oval 11">
            <a:extLst>
              <a:ext uri="{FF2B5EF4-FFF2-40B4-BE49-F238E27FC236}">
                <a16:creationId xmlns:a16="http://schemas.microsoft.com/office/drawing/2014/main" id="{1ECE72DD-5FEA-B585-FDD8-9FD5C869B02B}"/>
              </a:ext>
            </a:extLst>
          </p:cNvPr>
          <p:cNvSpPr/>
          <p:nvPr/>
        </p:nvSpPr>
        <p:spPr>
          <a:xfrm>
            <a:off x="508000" y="5613400"/>
            <a:ext cx="381000" cy="3810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5</a:t>
            </a:r>
          </a:p>
        </p:txBody>
      </p:sp>
      <p:sp>
        <p:nvSpPr>
          <p:cNvPr id="13" name="TextBox 12">
            <a:extLst>
              <a:ext uri="{FF2B5EF4-FFF2-40B4-BE49-F238E27FC236}">
                <a16:creationId xmlns:a16="http://schemas.microsoft.com/office/drawing/2014/main" id="{4C8A1870-616A-57A4-082D-F8C0DF22FD74}"/>
              </a:ext>
            </a:extLst>
          </p:cNvPr>
          <p:cNvSpPr txBox="1"/>
          <p:nvPr/>
        </p:nvSpPr>
        <p:spPr>
          <a:xfrm>
            <a:off x="1041400" y="5308600"/>
            <a:ext cx="4927600" cy="990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Plan and manage procurement</a:t>
            </a:r>
          </a:p>
        </p:txBody>
      </p:sp>
      <p:sp>
        <p:nvSpPr>
          <p:cNvPr id="14" name="Oval 13">
            <a:extLst>
              <a:ext uri="{FF2B5EF4-FFF2-40B4-BE49-F238E27FC236}">
                <a16:creationId xmlns:a16="http://schemas.microsoft.com/office/drawing/2014/main" id="{2EFC2AB2-A9D8-0F13-7CC9-FC3820C84AEA}"/>
              </a:ext>
            </a:extLst>
          </p:cNvPr>
          <p:cNvSpPr/>
          <p:nvPr/>
        </p:nvSpPr>
        <p:spPr>
          <a:xfrm>
            <a:off x="6223000" y="1651000"/>
            <a:ext cx="381000" cy="3810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6</a:t>
            </a:r>
          </a:p>
        </p:txBody>
      </p:sp>
      <p:sp>
        <p:nvSpPr>
          <p:cNvPr id="15" name="TextBox 14">
            <a:extLst>
              <a:ext uri="{FF2B5EF4-FFF2-40B4-BE49-F238E27FC236}">
                <a16:creationId xmlns:a16="http://schemas.microsoft.com/office/drawing/2014/main" id="{BB871391-8364-D601-06C0-AC4D1C7F03F3}"/>
              </a:ext>
            </a:extLst>
          </p:cNvPr>
          <p:cNvSpPr txBox="1"/>
          <p:nvPr/>
        </p:nvSpPr>
        <p:spPr>
          <a:xfrm>
            <a:off x="6756400" y="1346200"/>
            <a:ext cx="4927600" cy="990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Plan and manage finance</a:t>
            </a:r>
          </a:p>
        </p:txBody>
      </p:sp>
      <p:sp>
        <p:nvSpPr>
          <p:cNvPr id="16" name="Oval 15">
            <a:extLst>
              <a:ext uri="{FF2B5EF4-FFF2-40B4-BE49-F238E27FC236}">
                <a16:creationId xmlns:a16="http://schemas.microsoft.com/office/drawing/2014/main" id="{3353CFD9-509A-EDA4-CBB7-9A60DCB1C86A}"/>
              </a:ext>
            </a:extLst>
          </p:cNvPr>
          <p:cNvSpPr/>
          <p:nvPr/>
        </p:nvSpPr>
        <p:spPr>
          <a:xfrm>
            <a:off x="6223000" y="2641600"/>
            <a:ext cx="381000" cy="3810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7</a:t>
            </a:r>
          </a:p>
        </p:txBody>
      </p:sp>
      <p:sp>
        <p:nvSpPr>
          <p:cNvPr id="17" name="TextBox 16">
            <a:extLst>
              <a:ext uri="{FF2B5EF4-FFF2-40B4-BE49-F238E27FC236}">
                <a16:creationId xmlns:a16="http://schemas.microsoft.com/office/drawing/2014/main" id="{5B513D33-67B4-CAC7-BF3C-451763E8C419}"/>
              </a:ext>
            </a:extLst>
          </p:cNvPr>
          <p:cNvSpPr txBox="1"/>
          <p:nvPr/>
        </p:nvSpPr>
        <p:spPr>
          <a:xfrm>
            <a:off x="6756400" y="2336800"/>
            <a:ext cx="4927600" cy="990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Plan and optimize quality of products/deliverables</a:t>
            </a:r>
          </a:p>
        </p:txBody>
      </p:sp>
      <p:sp>
        <p:nvSpPr>
          <p:cNvPr id="18" name="Oval 17">
            <a:extLst>
              <a:ext uri="{FF2B5EF4-FFF2-40B4-BE49-F238E27FC236}">
                <a16:creationId xmlns:a16="http://schemas.microsoft.com/office/drawing/2014/main" id="{8747A87F-D428-D4EC-2470-69FD392BEDB8}"/>
              </a:ext>
            </a:extLst>
          </p:cNvPr>
          <p:cNvSpPr/>
          <p:nvPr/>
        </p:nvSpPr>
        <p:spPr>
          <a:xfrm>
            <a:off x="6223000" y="3632200"/>
            <a:ext cx="381000" cy="3810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8</a:t>
            </a:r>
          </a:p>
        </p:txBody>
      </p:sp>
      <p:sp>
        <p:nvSpPr>
          <p:cNvPr id="19" name="TextBox 18">
            <a:extLst>
              <a:ext uri="{FF2B5EF4-FFF2-40B4-BE49-F238E27FC236}">
                <a16:creationId xmlns:a16="http://schemas.microsoft.com/office/drawing/2014/main" id="{74D4BDCD-87B7-5F50-B70B-B0577F11D40B}"/>
              </a:ext>
            </a:extLst>
          </p:cNvPr>
          <p:cNvSpPr txBox="1"/>
          <p:nvPr/>
        </p:nvSpPr>
        <p:spPr>
          <a:xfrm>
            <a:off x="6756400" y="3327400"/>
            <a:ext cx="4927600" cy="990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Plan and manage schedule</a:t>
            </a:r>
          </a:p>
        </p:txBody>
      </p:sp>
      <p:sp>
        <p:nvSpPr>
          <p:cNvPr id="20" name="Oval 19">
            <a:extLst>
              <a:ext uri="{FF2B5EF4-FFF2-40B4-BE49-F238E27FC236}">
                <a16:creationId xmlns:a16="http://schemas.microsoft.com/office/drawing/2014/main" id="{7B989A05-F650-9AFF-8202-B80157952D43}"/>
              </a:ext>
            </a:extLst>
          </p:cNvPr>
          <p:cNvSpPr/>
          <p:nvPr/>
        </p:nvSpPr>
        <p:spPr>
          <a:xfrm>
            <a:off x="6223000" y="4622800"/>
            <a:ext cx="381000" cy="3810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9</a:t>
            </a:r>
          </a:p>
        </p:txBody>
      </p:sp>
      <p:sp>
        <p:nvSpPr>
          <p:cNvPr id="21" name="TextBox 20">
            <a:extLst>
              <a:ext uri="{FF2B5EF4-FFF2-40B4-BE49-F238E27FC236}">
                <a16:creationId xmlns:a16="http://schemas.microsoft.com/office/drawing/2014/main" id="{DD936520-B895-0C81-1B0E-EADFF917D90A}"/>
              </a:ext>
            </a:extLst>
          </p:cNvPr>
          <p:cNvSpPr txBox="1"/>
          <p:nvPr/>
        </p:nvSpPr>
        <p:spPr>
          <a:xfrm>
            <a:off x="6756400" y="4318000"/>
            <a:ext cx="4927600" cy="990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Evaluate project status</a:t>
            </a:r>
          </a:p>
        </p:txBody>
      </p:sp>
      <p:sp>
        <p:nvSpPr>
          <p:cNvPr id="22" name="Oval 21">
            <a:extLst>
              <a:ext uri="{FF2B5EF4-FFF2-40B4-BE49-F238E27FC236}">
                <a16:creationId xmlns:a16="http://schemas.microsoft.com/office/drawing/2014/main" id="{0D5B0462-BFD5-2A01-7F67-7BF10CD9FD8C}"/>
              </a:ext>
            </a:extLst>
          </p:cNvPr>
          <p:cNvSpPr/>
          <p:nvPr/>
        </p:nvSpPr>
        <p:spPr>
          <a:xfrm>
            <a:off x="6223000" y="5613400"/>
            <a:ext cx="381000" cy="3810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10</a:t>
            </a:r>
          </a:p>
        </p:txBody>
      </p:sp>
      <p:sp>
        <p:nvSpPr>
          <p:cNvPr id="23" name="TextBox 22">
            <a:extLst>
              <a:ext uri="{FF2B5EF4-FFF2-40B4-BE49-F238E27FC236}">
                <a16:creationId xmlns:a16="http://schemas.microsoft.com/office/drawing/2014/main" id="{FDFB2ACB-EDEC-627B-27FD-B28413E88F9B}"/>
              </a:ext>
            </a:extLst>
          </p:cNvPr>
          <p:cNvSpPr txBox="1"/>
          <p:nvPr/>
        </p:nvSpPr>
        <p:spPr>
          <a:xfrm>
            <a:off x="6756400" y="5308600"/>
            <a:ext cx="4927600" cy="990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Manage project closure</a:t>
            </a:r>
          </a:p>
        </p:txBody>
      </p:sp>
      <p:sp>
        <p:nvSpPr>
          <p:cNvPr id="24" name="Footer">
            <a:extLst>
              <a:ext uri="{FF2B5EF4-FFF2-40B4-BE49-F238E27FC236}">
                <a16:creationId xmlns:a16="http://schemas.microsoft.com/office/drawing/2014/main" id="{B5EFFFCA-1D85-5314-0AF7-14473FE7DE47}"/>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PMP® Examination Content Outline (July 2026)</a:t>
            </a:r>
          </a:p>
        </p:txBody>
      </p:sp>
      <p:sp>
        <p:nvSpPr>
          <p:cNvPr id="25" name="SlideNum">
            <a:extLst>
              <a:ext uri="{FF2B5EF4-FFF2-40B4-BE49-F238E27FC236}">
                <a16:creationId xmlns:a16="http://schemas.microsoft.com/office/drawing/2014/main" id="{3EC48EE1-281F-4D5D-261B-9638BF0DF4CD}"/>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28</a:t>
            </a:r>
          </a:p>
        </p:txBody>
      </p:sp>
      <p:sp>
        <p:nvSpPr>
          <p:cNvPr id="26"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5910238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omainChip">
            <a:extLst>
              <a:ext uri="{FF2B5EF4-FFF2-40B4-BE49-F238E27FC236}">
                <a16:creationId xmlns:a16="http://schemas.microsoft.com/office/drawing/2014/main" id="{481BBBFC-8F82-2436-FAB9-6E5865AEBD03}"/>
              </a:ext>
            </a:extLst>
          </p:cNvPr>
          <p:cNvSpPr/>
          <p:nvPr/>
        </p:nvSpPr>
        <p:spPr>
          <a:xfrm>
            <a:off x="508000" y="444500"/>
            <a:ext cx="558800" cy="5588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b="1">
                <a:solidFill>
                  <a:srgbClr val="FFFFFF"/>
                </a:solidFill>
                <a:latin typeface="Calibri" panose="020F0502020204030204" pitchFamily="34" charset="0"/>
              </a:rPr>
              <a:t>II</a:t>
            </a:r>
          </a:p>
        </p:txBody>
      </p:sp>
      <p:sp>
        <p:nvSpPr>
          <p:cNvPr id="3" name="Title">
            <a:extLst>
              <a:ext uri="{FF2B5EF4-FFF2-40B4-BE49-F238E27FC236}">
                <a16:creationId xmlns:a16="http://schemas.microsoft.com/office/drawing/2014/main" id="{654B7119-E771-E7EF-FC7A-43EA0C9E11E0}"/>
              </a:ext>
            </a:extLst>
          </p:cNvPr>
          <p:cNvSpPr txBox="1"/>
          <p:nvPr/>
        </p:nvSpPr>
        <p:spPr>
          <a:xfrm>
            <a:off x="1219200" y="381000"/>
            <a:ext cx="104648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Process tasks 1–4</a:t>
            </a:r>
          </a:p>
        </p:txBody>
      </p:sp>
      <p:sp>
        <p:nvSpPr>
          <p:cNvPr id="4" name="TaskColumn">
            <a:extLst>
              <a:ext uri="{FF2B5EF4-FFF2-40B4-BE49-F238E27FC236}">
                <a16:creationId xmlns:a16="http://schemas.microsoft.com/office/drawing/2014/main" id="{F18A8208-743A-D79C-8D47-0FAB237E42FB}"/>
              </a:ext>
            </a:extLst>
          </p:cNvPr>
          <p:cNvSpPr txBox="1"/>
          <p:nvPr/>
        </p:nvSpPr>
        <p:spPr>
          <a:xfrm>
            <a:off x="508000" y="1371600"/>
            <a:ext cx="5435600" cy="4927600"/>
          </a:xfrm>
          <a:prstGeom prst="rect">
            <a:avLst/>
          </a:prstGeom>
          <a:noFill/>
        </p:spPr>
        <p:txBody>
          <a:bodyPr vert="horz" wrap="square" lIns="0" tIns="0" rIns="0" bIns="0" rtlCol="0">
            <a:noAutofit/>
          </a:bodyPr>
          <a:lstStyle/>
          <a:p>
            <a:pPr>
              <a:spcAft>
                <a:spcPts val="400"/>
              </a:spcAft>
            </a:pPr>
            <a:r>
              <a:rPr lang="en-US" sz="1600" b="1">
                <a:solidFill>
                  <a:srgbClr val="34509A"/>
                </a:solidFill>
                <a:latin typeface="Calibri" panose="020F0502020204030204" pitchFamily="34" charset="0"/>
              </a:rPr>
              <a:t>Task 1</a:t>
            </a:r>
            <a:r>
              <a:rPr lang="en-US" sz="1600" b="1">
                <a:solidFill>
                  <a:srgbClr val="14213D"/>
                </a:solidFill>
                <a:latin typeface="Calibri" panose="020F0502020204030204" pitchFamily="34" charset="0"/>
              </a:rPr>
              <a:t> Develop an integrated project management plan and plan delivery</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Assess project needs, complexity, and magnitude</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Recommend a project management development approach (i.e., predictive, adaptive/agile, or hybrid management)</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Determine critical information requirements (e.g., sustainability)</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Recommend a project execution strategy</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Create an integrated project management plan</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Estimate work effort and resource requirements</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Assess consolidated project plans for dependencies, gaps, and continued business value</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Maintain the integrated project management plan</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Collect and analyze data to make informed project decisions</a:t>
            </a:r>
          </a:p>
        </p:txBody>
      </p:sp>
      <p:sp>
        <p:nvSpPr>
          <p:cNvPr id="5" name="TaskColumn">
            <a:extLst>
              <a:ext uri="{FF2B5EF4-FFF2-40B4-BE49-F238E27FC236}">
                <a16:creationId xmlns:a16="http://schemas.microsoft.com/office/drawing/2014/main" id="{510075DB-87C2-4F55-4559-5557CF28500D}"/>
              </a:ext>
            </a:extLst>
          </p:cNvPr>
          <p:cNvSpPr txBox="1"/>
          <p:nvPr/>
        </p:nvSpPr>
        <p:spPr>
          <a:xfrm>
            <a:off x="6248400" y="1371600"/>
            <a:ext cx="5435600" cy="4927600"/>
          </a:xfrm>
          <a:prstGeom prst="rect">
            <a:avLst/>
          </a:prstGeom>
          <a:noFill/>
        </p:spPr>
        <p:txBody>
          <a:bodyPr vert="horz" wrap="square" lIns="0" tIns="0" rIns="0" bIns="0" rtlCol="0">
            <a:noAutofit/>
          </a:bodyPr>
          <a:lstStyle/>
          <a:p>
            <a:pPr>
              <a:spcAft>
                <a:spcPts val="400"/>
              </a:spcAft>
            </a:pPr>
            <a:r>
              <a:rPr lang="en-US" sz="1600" b="1">
                <a:solidFill>
                  <a:srgbClr val="34509A"/>
                </a:solidFill>
                <a:latin typeface="Calibri" panose="020F0502020204030204" pitchFamily="34" charset="0"/>
              </a:rPr>
              <a:t>Task 2</a:t>
            </a:r>
            <a:r>
              <a:rPr lang="en-US" sz="1600" b="1">
                <a:solidFill>
                  <a:srgbClr val="14213D"/>
                </a:solidFill>
                <a:latin typeface="Calibri" panose="020F0502020204030204" pitchFamily="34" charset="0"/>
              </a:rPr>
              <a:t> Develop and manage project scope</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Define scope</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Obtain stakeholder agreement on project scope</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Break down scope</a:t>
            </a:r>
          </a:p>
          <a:p>
            <a:pPr>
              <a:spcBef>
                <a:spcPts val="1400"/>
              </a:spcBef>
              <a:spcAft>
                <a:spcPts val="400"/>
              </a:spcAft>
            </a:pPr>
            <a:r>
              <a:rPr lang="en-US" sz="1600" b="1">
                <a:solidFill>
                  <a:srgbClr val="34509A"/>
                </a:solidFill>
                <a:latin typeface="Calibri" panose="020F0502020204030204" pitchFamily="34" charset="0"/>
              </a:rPr>
              <a:t>Task 3</a:t>
            </a:r>
            <a:r>
              <a:rPr lang="en-US" sz="1600" b="1">
                <a:solidFill>
                  <a:srgbClr val="14213D"/>
                </a:solidFill>
                <a:latin typeface="Calibri" panose="020F0502020204030204" pitchFamily="34" charset="0"/>
              </a:rPr>
              <a:t> Help ensure value-based delivery</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Identify value components with key stakeholders</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Prioritize work based on value and stakeholder feedback</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Assess opportunities to deliver value incrementally</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Examine the business value throughout the project</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Verify a measurement system is in place to track benefits</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Evaluate delivery options to demonstrate value</a:t>
            </a:r>
          </a:p>
          <a:p>
            <a:pPr>
              <a:spcBef>
                <a:spcPts val="1400"/>
              </a:spcBef>
              <a:spcAft>
                <a:spcPts val="400"/>
              </a:spcAft>
            </a:pPr>
            <a:r>
              <a:rPr lang="en-US" sz="1600" b="1">
                <a:solidFill>
                  <a:srgbClr val="34509A"/>
                </a:solidFill>
                <a:latin typeface="Calibri" panose="020F0502020204030204" pitchFamily="34" charset="0"/>
              </a:rPr>
              <a:t>Task 4</a:t>
            </a:r>
            <a:r>
              <a:rPr lang="en-US" sz="1600" b="1">
                <a:solidFill>
                  <a:srgbClr val="14213D"/>
                </a:solidFill>
                <a:latin typeface="Calibri" panose="020F0502020204030204" pitchFamily="34" charset="0"/>
              </a:rPr>
              <a:t> Plan and manage resources</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Define and plan resources based on requirements</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Manage and optimize resource needs and availability</a:t>
            </a:r>
          </a:p>
        </p:txBody>
      </p:sp>
      <p:sp>
        <p:nvSpPr>
          <p:cNvPr id="6" name="Footer">
            <a:extLst>
              <a:ext uri="{FF2B5EF4-FFF2-40B4-BE49-F238E27FC236}">
                <a16:creationId xmlns:a16="http://schemas.microsoft.com/office/drawing/2014/main" id="{71A7AC7E-E824-B26B-1899-7FC02B8CF7F9}"/>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PMP® Examination Content Outline (July 2026)</a:t>
            </a:r>
          </a:p>
        </p:txBody>
      </p:sp>
      <p:sp>
        <p:nvSpPr>
          <p:cNvPr id="7" name="SlideNum">
            <a:extLst>
              <a:ext uri="{FF2B5EF4-FFF2-40B4-BE49-F238E27FC236}">
                <a16:creationId xmlns:a16="http://schemas.microsoft.com/office/drawing/2014/main" id="{DD244EAD-4B66-633A-FF80-11590478D414}"/>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29</a:t>
            </a:r>
          </a:p>
        </p:txBody>
      </p:sp>
      <p:sp>
        <p:nvSpPr>
          <p:cNvPr id="8"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42145186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omainChip">
            <a:extLst>
              <a:ext uri="{FF2B5EF4-FFF2-40B4-BE49-F238E27FC236}">
                <a16:creationId xmlns:a16="http://schemas.microsoft.com/office/drawing/2014/main" id="{569CBE79-2825-4732-51B0-601059953A03}"/>
              </a:ext>
            </a:extLst>
          </p:cNvPr>
          <p:cNvSpPr/>
          <p:nvPr/>
        </p:nvSpPr>
        <p:spPr>
          <a:xfrm>
            <a:off x="508000" y="444500"/>
            <a:ext cx="558800" cy="5588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b="1">
                <a:solidFill>
                  <a:srgbClr val="FFFFFF"/>
                </a:solidFill>
                <a:latin typeface="Calibri" panose="020F0502020204030204" pitchFamily="34" charset="0"/>
              </a:rPr>
              <a:t>II</a:t>
            </a:r>
          </a:p>
        </p:txBody>
      </p:sp>
      <p:sp>
        <p:nvSpPr>
          <p:cNvPr id="3" name="Title">
            <a:extLst>
              <a:ext uri="{FF2B5EF4-FFF2-40B4-BE49-F238E27FC236}">
                <a16:creationId xmlns:a16="http://schemas.microsoft.com/office/drawing/2014/main" id="{8FF477D9-A32E-1E73-528E-607F99E8BAEA}"/>
              </a:ext>
            </a:extLst>
          </p:cNvPr>
          <p:cNvSpPr txBox="1"/>
          <p:nvPr/>
        </p:nvSpPr>
        <p:spPr>
          <a:xfrm>
            <a:off x="1219200" y="381000"/>
            <a:ext cx="104648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Process tasks 5–7</a:t>
            </a:r>
          </a:p>
        </p:txBody>
      </p:sp>
      <p:sp>
        <p:nvSpPr>
          <p:cNvPr id="4" name="TaskColumn">
            <a:extLst>
              <a:ext uri="{FF2B5EF4-FFF2-40B4-BE49-F238E27FC236}">
                <a16:creationId xmlns:a16="http://schemas.microsoft.com/office/drawing/2014/main" id="{555D1163-5B3E-11FF-C63C-660DF3D717E2}"/>
              </a:ext>
            </a:extLst>
          </p:cNvPr>
          <p:cNvSpPr txBox="1"/>
          <p:nvPr/>
        </p:nvSpPr>
        <p:spPr>
          <a:xfrm>
            <a:off x="508000" y="1371600"/>
            <a:ext cx="5435600" cy="4927600"/>
          </a:xfrm>
          <a:prstGeom prst="rect">
            <a:avLst/>
          </a:prstGeom>
          <a:noFill/>
        </p:spPr>
        <p:txBody>
          <a:bodyPr vert="horz" wrap="square" lIns="0" tIns="0" rIns="0" bIns="0" rtlCol="0">
            <a:noAutofit/>
          </a:bodyPr>
          <a:lstStyle/>
          <a:p>
            <a:pPr>
              <a:spcAft>
                <a:spcPts val="400"/>
              </a:spcAft>
            </a:pPr>
            <a:r>
              <a:rPr lang="en-US" sz="1600" b="1">
                <a:solidFill>
                  <a:srgbClr val="34509A"/>
                </a:solidFill>
                <a:latin typeface="Calibri" panose="020F0502020204030204" pitchFamily="34" charset="0"/>
              </a:rPr>
              <a:t>Task 5</a:t>
            </a:r>
            <a:r>
              <a:rPr lang="en-US" sz="1600" b="1">
                <a:solidFill>
                  <a:srgbClr val="14213D"/>
                </a:solidFill>
                <a:latin typeface="Calibri" panose="020F0502020204030204" pitchFamily="34" charset="0"/>
              </a:rPr>
              <a:t> Plan and manage procurement</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Plan procurement</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Execute a procurement management plan</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Select preferred contract types</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Evaluate vendor performance</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Verify objectives of the procurement agreement are met</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Participate in agreement negotiations</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Determine a negotiation strategy</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Manage suppliers and contracts</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Plan and manage the procurement strategy</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Develop a delivery solution</a:t>
            </a:r>
          </a:p>
        </p:txBody>
      </p:sp>
      <p:sp>
        <p:nvSpPr>
          <p:cNvPr id="5" name="TaskColumn">
            <a:extLst>
              <a:ext uri="{FF2B5EF4-FFF2-40B4-BE49-F238E27FC236}">
                <a16:creationId xmlns:a16="http://schemas.microsoft.com/office/drawing/2014/main" id="{134ADEC1-2E17-DE6C-6590-AE2C2DA60A1E}"/>
              </a:ext>
            </a:extLst>
          </p:cNvPr>
          <p:cNvSpPr txBox="1"/>
          <p:nvPr/>
        </p:nvSpPr>
        <p:spPr>
          <a:xfrm>
            <a:off x="6248400" y="1371600"/>
            <a:ext cx="5435600" cy="4927600"/>
          </a:xfrm>
          <a:prstGeom prst="rect">
            <a:avLst/>
          </a:prstGeom>
          <a:noFill/>
        </p:spPr>
        <p:txBody>
          <a:bodyPr vert="horz" wrap="square" lIns="0" tIns="0" rIns="0" bIns="0" rtlCol="0">
            <a:noAutofit/>
          </a:bodyPr>
          <a:lstStyle/>
          <a:p>
            <a:pPr>
              <a:spcAft>
                <a:spcPts val="400"/>
              </a:spcAft>
            </a:pPr>
            <a:r>
              <a:rPr lang="en-US" sz="1600" b="1">
                <a:solidFill>
                  <a:srgbClr val="34509A"/>
                </a:solidFill>
                <a:latin typeface="Calibri" panose="020F0502020204030204" pitchFamily="34" charset="0"/>
              </a:rPr>
              <a:t>Task 6</a:t>
            </a:r>
            <a:r>
              <a:rPr lang="en-US" sz="1600" b="1">
                <a:solidFill>
                  <a:srgbClr val="14213D"/>
                </a:solidFill>
                <a:latin typeface="Calibri" panose="020F0502020204030204" pitchFamily="34" charset="0"/>
              </a:rPr>
              <a:t> Plan and manage finance</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Analyze project financial needs</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Quantify risk and contingency financial allocations</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Plan spend tracking throughout the project life cycle</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Plan financial reporting</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Anticipate future finance challenges</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Monitor financial variations and work with the governance process</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Manage financial reserves</a:t>
            </a:r>
          </a:p>
          <a:p>
            <a:pPr>
              <a:spcBef>
                <a:spcPts val="1400"/>
              </a:spcBef>
              <a:spcAft>
                <a:spcPts val="400"/>
              </a:spcAft>
            </a:pPr>
            <a:r>
              <a:rPr lang="en-US" sz="1600" b="1">
                <a:solidFill>
                  <a:srgbClr val="34509A"/>
                </a:solidFill>
                <a:latin typeface="Calibri" panose="020F0502020204030204" pitchFamily="34" charset="0"/>
              </a:rPr>
              <a:t>Task 7</a:t>
            </a:r>
            <a:r>
              <a:rPr lang="en-US" sz="1600" b="1">
                <a:solidFill>
                  <a:srgbClr val="14213D"/>
                </a:solidFill>
                <a:latin typeface="Calibri" panose="020F0502020204030204" pitchFamily="34" charset="0"/>
              </a:rPr>
              <a:t> Plan and optimize quality of products/deliverables</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Gather quality requirements for project deliverables</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Plan quality processes and tools</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Execute a quality management plan</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Help ensure regulatory compliance</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Manage cost of quality (CoQ) and sustainability</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Conduct ongoing quality reviews</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Implement continuous improvement</a:t>
            </a:r>
          </a:p>
        </p:txBody>
      </p:sp>
      <p:sp>
        <p:nvSpPr>
          <p:cNvPr id="6" name="Footer">
            <a:extLst>
              <a:ext uri="{FF2B5EF4-FFF2-40B4-BE49-F238E27FC236}">
                <a16:creationId xmlns:a16="http://schemas.microsoft.com/office/drawing/2014/main" id="{DB6D3778-F667-0DEE-98F9-8FC82845C4FA}"/>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PMP® Examination Content Outline (July 2026)</a:t>
            </a:r>
          </a:p>
        </p:txBody>
      </p:sp>
      <p:sp>
        <p:nvSpPr>
          <p:cNvPr id="7" name="SlideNum">
            <a:extLst>
              <a:ext uri="{FF2B5EF4-FFF2-40B4-BE49-F238E27FC236}">
                <a16:creationId xmlns:a16="http://schemas.microsoft.com/office/drawing/2014/main" id="{60AF25ED-B5C9-E6EC-B994-D19A48D8A0B1}"/>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30</a:t>
            </a:r>
          </a:p>
        </p:txBody>
      </p:sp>
      <p:sp>
        <p:nvSpPr>
          <p:cNvPr id="8"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6436313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omainChip">
            <a:extLst>
              <a:ext uri="{FF2B5EF4-FFF2-40B4-BE49-F238E27FC236}">
                <a16:creationId xmlns:a16="http://schemas.microsoft.com/office/drawing/2014/main" id="{385C0135-B326-ADDD-65F0-A845DC43C005}"/>
              </a:ext>
            </a:extLst>
          </p:cNvPr>
          <p:cNvSpPr/>
          <p:nvPr/>
        </p:nvSpPr>
        <p:spPr>
          <a:xfrm>
            <a:off x="508000" y="444500"/>
            <a:ext cx="558800" cy="5588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b="1">
                <a:solidFill>
                  <a:srgbClr val="FFFFFF"/>
                </a:solidFill>
                <a:latin typeface="Calibri" panose="020F0502020204030204" pitchFamily="34" charset="0"/>
              </a:rPr>
              <a:t>II</a:t>
            </a:r>
          </a:p>
        </p:txBody>
      </p:sp>
      <p:sp>
        <p:nvSpPr>
          <p:cNvPr id="3" name="Title">
            <a:extLst>
              <a:ext uri="{FF2B5EF4-FFF2-40B4-BE49-F238E27FC236}">
                <a16:creationId xmlns:a16="http://schemas.microsoft.com/office/drawing/2014/main" id="{E95342AB-73D8-4F7D-1139-505835E04E18}"/>
              </a:ext>
            </a:extLst>
          </p:cNvPr>
          <p:cNvSpPr txBox="1"/>
          <p:nvPr/>
        </p:nvSpPr>
        <p:spPr>
          <a:xfrm>
            <a:off x="1219200" y="381000"/>
            <a:ext cx="104648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Process tasks 8–10</a:t>
            </a:r>
          </a:p>
        </p:txBody>
      </p:sp>
      <p:sp>
        <p:nvSpPr>
          <p:cNvPr id="4" name="TaskColumn">
            <a:extLst>
              <a:ext uri="{FF2B5EF4-FFF2-40B4-BE49-F238E27FC236}">
                <a16:creationId xmlns:a16="http://schemas.microsoft.com/office/drawing/2014/main" id="{8080B0C7-AEC4-91A3-8DC5-17725CD0AF28}"/>
              </a:ext>
            </a:extLst>
          </p:cNvPr>
          <p:cNvSpPr txBox="1"/>
          <p:nvPr/>
        </p:nvSpPr>
        <p:spPr>
          <a:xfrm>
            <a:off x="508000" y="1371600"/>
            <a:ext cx="5435600" cy="4927600"/>
          </a:xfrm>
          <a:prstGeom prst="rect">
            <a:avLst/>
          </a:prstGeom>
          <a:noFill/>
        </p:spPr>
        <p:txBody>
          <a:bodyPr vert="horz" wrap="square" lIns="0" tIns="0" rIns="0" bIns="0" rtlCol="0">
            <a:noAutofit/>
          </a:bodyPr>
          <a:lstStyle/>
          <a:p>
            <a:pPr>
              <a:spcAft>
                <a:spcPts val="400"/>
              </a:spcAft>
            </a:pPr>
            <a:r>
              <a:rPr lang="en-US" sz="1600" b="1">
                <a:solidFill>
                  <a:srgbClr val="34509A"/>
                </a:solidFill>
                <a:latin typeface="Calibri" panose="020F0502020204030204" pitchFamily="34" charset="0"/>
              </a:rPr>
              <a:t>Task 8</a:t>
            </a:r>
            <a:r>
              <a:rPr lang="en-US" sz="1600" b="1">
                <a:solidFill>
                  <a:srgbClr val="14213D"/>
                </a:solidFill>
                <a:latin typeface="Calibri" panose="020F0502020204030204" pitchFamily="34" charset="0"/>
              </a:rPr>
              <a:t> Plan and manage schedule</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Prepare a schedule based on the selected development approach</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Coordinate with other projects and operations</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Estimate project tasks (milestones, dependencies, story points)</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Utilize benchmarks and historical data</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Create a project schedule</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Baseline a project schedule</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Execute a schedule management plan</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Analyze schedule variation</a:t>
            </a:r>
          </a:p>
        </p:txBody>
      </p:sp>
      <p:sp>
        <p:nvSpPr>
          <p:cNvPr id="5" name="TaskColumn">
            <a:extLst>
              <a:ext uri="{FF2B5EF4-FFF2-40B4-BE49-F238E27FC236}">
                <a16:creationId xmlns:a16="http://schemas.microsoft.com/office/drawing/2014/main" id="{08205963-2D7A-EE15-9576-85EEF5B855C0}"/>
              </a:ext>
            </a:extLst>
          </p:cNvPr>
          <p:cNvSpPr txBox="1"/>
          <p:nvPr/>
        </p:nvSpPr>
        <p:spPr>
          <a:xfrm>
            <a:off x="6248400" y="1371600"/>
            <a:ext cx="5435600" cy="4927600"/>
          </a:xfrm>
          <a:prstGeom prst="rect">
            <a:avLst/>
          </a:prstGeom>
          <a:noFill/>
        </p:spPr>
        <p:txBody>
          <a:bodyPr vert="horz" wrap="square" lIns="0" tIns="0" rIns="0" bIns="0" rtlCol="0">
            <a:noAutofit/>
          </a:bodyPr>
          <a:lstStyle/>
          <a:p>
            <a:pPr>
              <a:spcAft>
                <a:spcPts val="400"/>
              </a:spcAft>
            </a:pPr>
            <a:r>
              <a:rPr lang="en-US" sz="1600" b="1">
                <a:solidFill>
                  <a:srgbClr val="34509A"/>
                </a:solidFill>
                <a:latin typeface="Calibri" panose="020F0502020204030204" pitchFamily="34" charset="0"/>
              </a:rPr>
              <a:t>Task 9</a:t>
            </a:r>
            <a:r>
              <a:rPr lang="en-US" sz="1600" b="1">
                <a:solidFill>
                  <a:srgbClr val="14213D"/>
                </a:solidFill>
                <a:latin typeface="Calibri" panose="020F0502020204030204" pitchFamily="34" charset="0"/>
              </a:rPr>
              <a:t> Evaluate project status</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Develop project metrics, analysis, and reconciliation</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Identify and tailor needed artifacts</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Help ensure artifacts are created, reviewed, updated, and documented</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Help ensure accessibility of artifacts</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Assess current progress</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Measure, analyze, and update project metrics</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Communicate project status</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Continually assess the effectiveness of artifact management</a:t>
            </a:r>
          </a:p>
          <a:p>
            <a:pPr>
              <a:spcBef>
                <a:spcPts val="1400"/>
              </a:spcBef>
              <a:spcAft>
                <a:spcPts val="400"/>
              </a:spcAft>
            </a:pPr>
            <a:r>
              <a:rPr lang="en-US" sz="1600" b="1">
                <a:solidFill>
                  <a:srgbClr val="34509A"/>
                </a:solidFill>
                <a:latin typeface="Calibri" panose="020F0502020204030204" pitchFamily="34" charset="0"/>
              </a:rPr>
              <a:t>Task 10</a:t>
            </a:r>
            <a:r>
              <a:rPr lang="en-US" sz="1600" b="1">
                <a:solidFill>
                  <a:srgbClr val="14213D"/>
                </a:solidFill>
                <a:latin typeface="Calibri" panose="020F0502020204030204" pitchFamily="34" charset="0"/>
              </a:rPr>
              <a:t> Manage project closure</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Obtain project stakeholder approval of project completion</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Determine criteria to successfully close the project or phase</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Validate readiness for transition (e.g., to operations team or next phase)</a:t>
            </a:r>
          </a:p>
          <a:p>
            <a:pPr marL="203200" indent="-203200">
              <a:spcAft>
                <a:spcPts val="300"/>
              </a:spcAft>
              <a:buClr>
                <a:srgbClr val="34509A"/>
              </a:buClr>
              <a:buFont typeface="+mj-lt"/>
              <a:buChar char="•"/>
            </a:pPr>
            <a:r>
              <a:rPr lang="en-US" sz="1400">
                <a:solidFill>
                  <a:srgbClr val="1F2937"/>
                </a:solidFill>
                <a:latin typeface="Calibri" panose="020F0502020204030204" pitchFamily="34" charset="0"/>
              </a:rPr>
              <a:t>Conclude activities to close the project or phase (e.g., final lessons learned, retrospectives, procurement, financials, resources)</a:t>
            </a:r>
          </a:p>
        </p:txBody>
      </p:sp>
      <p:sp>
        <p:nvSpPr>
          <p:cNvPr id="6" name="Footer">
            <a:extLst>
              <a:ext uri="{FF2B5EF4-FFF2-40B4-BE49-F238E27FC236}">
                <a16:creationId xmlns:a16="http://schemas.microsoft.com/office/drawing/2014/main" id="{25B90440-8042-3D2E-B929-50E2422642C7}"/>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PMP® Examination Content Outline (July 2026)</a:t>
            </a:r>
          </a:p>
        </p:txBody>
      </p:sp>
      <p:sp>
        <p:nvSpPr>
          <p:cNvPr id="7" name="SlideNum">
            <a:extLst>
              <a:ext uri="{FF2B5EF4-FFF2-40B4-BE49-F238E27FC236}">
                <a16:creationId xmlns:a16="http://schemas.microsoft.com/office/drawing/2014/main" id="{329AE633-F6BF-5E26-B54F-84F77C6E0A9B}"/>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31</a:t>
            </a:r>
          </a:p>
        </p:txBody>
      </p:sp>
      <p:sp>
        <p:nvSpPr>
          <p:cNvPr id="8"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8425458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70B3E509-FC1E-0EBE-6758-194D65398406}"/>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The project charter formally authorizes the project</a:t>
            </a:r>
          </a:p>
        </p:txBody>
      </p:sp>
      <p:sp>
        <p:nvSpPr>
          <p:cNvPr id="3" name="Tag">
            <a:extLst>
              <a:ext uri="{FF2B5EF4-FFF2-40B4-BE49-F238E27FC236}">
                <a16:creationId xmlns:a16="http://schemas.microsoft.com/office/drawing/2014/main" id="{A0F58A0F-7360-73A7-0283-54A7574EDD52}"/>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1 (Integrated plan) and Task 3 (Help ensure value-based delivery)</a:t>
            </a:r>
          </a:p>
        </p:txBody>
      </p:sp>
      <p:sp>
        <p:nvSpPr>
          <p:cNvPr id="4" name="Rectangle: Rounded Corners 3">
            <a:extLst>
              <a:ext uri="{FF2B5EF4-FFF2-40B4-BE49-F238E27FC236}">
                <a16:creationId xmlns:a16="http://schemas.microsoft.com/office/drawing/2014/main" id="{6B87A4F4-4751-6D63-2721-184643DD3F16}"/>
              </a:ext>
            </a:extLst>
          </p:cNvPr>
          <p:cNvSpPr/>
          <p:nvPr/>
        </p:nvSpPr>
        <p:spPr>
          <a:xfrm>
            <a:off x="508000" y="1371600"/>
            <a:ext cx="5334000" cy="2235200"/>
          </a:xfrm>
          <a:prstGeom prst="roundRect">
            <a:avLst>
              <a:gd name="adj" fmla="val 8000"/>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86CA771-3471-8B09-A278-E147015064B7}"/>
              </a:ext>
            </a:extLst>
          </p:cNvPr>
          <p:cNvSpPr txBox="1"/>
          <p:nvPr/>
        </p:nvSpPr>
        <p:spPr>
          <a:xfrm>
            <a:off x="762000" y="1549400"/>
            <a:ext cx="4826000" cy="1905000"/>
          </a:xfrm>
          <a:prstGeom prst="rect">
            <a:avLst/>
          </a:prstGeom>
          <a:noFill/>
        </p:spPr>
        <p:txBody>
          <a:bodyPr vert="horz" wrap="square" lIns="0" tIns="0" rIns="0" bIns="0" rtlCol="0" anchor="t">
            <a:noAutofit/>
          </a:bodyPr>
          <a:lstStyle/>
          <a:p>
            <a:pPr>
              <a:spcAft>
                <a:spcPts val="600"/>
              </a:spcAft>
            </a:pPr>
            <a:r>
              <a:rPr lang="en-US" sz="1300" b="1">
                <a:solidFill>
                  <a:srgbClr val="E3A63B"/>
                </a:solidFill>
                <a:latin typeface="Calibri" panose="020F0502020204030204" pitchFamily="34" charset="0"/>
              </a:rPr>
              <a:t>PROJECT CHARTER</a:t>
            </a:r>
          </a:p>
          <a:p>
            <a:r>
              <a:rPr lang="en-US" sz="1500">
                <a:solidFill>
                  <a:srgbClr val="C9D6EA"/>
                </a:solidFill>
                <a:latin typeface="Calibri" panose="020F0502020204030204" pitchFamily="34" charset="0"/>
              </a:rPr>
              <a:t>A document issued by the project initiator or sponsor that formally authorizes the existence of a project and gives the project manager authority to apply organizational resources to project activities.</a:t>
            </a:r>
          </a:p>
        </p:txBody>
      </p:sp>
      <p:sp>
        <p:nvSpPr>
          <p:cNvPr id="6" name="Rectangle: Rounded Corners 5">
            <a:extLst>
              <a:ext uri="{FF2B5EF4-FFF2-40B4-BE49-F238E27FC236}">
                <a16:creationId xmlns:a16="http://schemas.microsoft.com/office/drawing/2014/main" id="{6C8ACA63-914E-4A8E-9E6C-D1E74511024B}"/>
              </a:ext>
            </a:extLst>
          </p:cNvPr>
          <p:cNvSpPr/>
          <p:nvPr/>
        </p:nvSpPr>
        <p:spPr>
          <a:xfrm>
            <a:off x="508000" y="3784600"/>
            <a:ext cx="5334000" cy="2438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830561C-9FD2-5BAE-18A0-FDF8B4199C4A}"/>
              </a:ext>
            </a:extLst>
          </p:cNvPr>
          <p:cNvSpPr txBox="1"/>
          <p:nvPr/>
        </p:nvSpPr>
        <p:spPr>
          <a:xfrm>
            <a:off x="736600" y="3962400"/>
            <a:ext cx="4876800" cy="2133600"/>
          </a:xfrm>
          <a:prstGeom prst="rect">
            <a:avLst/>
          </a:prstGeom>
          <a:noFill/>
        </p:spPr>
        <p:txBody>
          <a:bodyPr vert="horz" wrap="square" lIns="0" tIns="0" rIns="0" bIns="0" rtlCol="0" anchor="t">
            <a:noAutofit/>
          </a:bodyPr>
          <a:lstStyle/>
          <a:p>
            <a:pPr>
              <a:spcAft>
                <a:spcPts val="600"/>
              </a:spcAft>
            </a:pPr>
            <a:r>
              <a:rPr lang="en-US" sz="1700" b="1">
                <a:solidFill>
                  <a:srgbClr val="14213D"/>
                </a:solidFill>
                <a:latin typeface="Calibri" panose="020F0502020204030204" pitchFamily="34" charset="0"/>
              </a:rPr>
              <a:t>What it does</a:t>
            </a:r>
          </a:p>
          <a:p>
            <a:pPr marL="203200" indent="-203200">
              <a:spcAft>
                <a:spcPts val="500"/>
              </a:spcAft>
              <a:buClr>
                <a:srgbClr val="34509A"/>
              </a:buClr>
              <a:buFont typeface="+mj-lt"/>
              <a:buChar char="•"/>
            </a:pPr>
            <a:r>
              <a:rPr lang="en-US" sz="1500">
                <a:solidFill>
                  <a:srgbClr val="1F2937"/>
                </a:solidFill>
                <a:latin typeface="Calibri" panose="020F0502020204030204" pitchFamily="34" charset="0"/>
              </a:rPr>
              <a:t>Enables the project manager to apply resources to project work</a:t>
            </a:r>
          </a:p>
          <a:p>
            <a:pPr marL="203200" indent="-203200">
              <a:spcAft>
                <a:spcPts val="500"/>
              </a:spcAft>
              <a:buClr>
                <a:srgbClr val="34509A"/>
              </a:buClr>
              <a:buFont typeface="+mj-lt"/>
              <a:buChar char="•"/>
            </a:pPr>
            <a:r>
              <a:rPr lang="en-US" sz="1500">
                <a:solidFill>
                  <a:srgbClr val="1F2937"/>
                </a:solidFill>
                <a:latin typeface="Calibri" panose="020F0502020204030204" pitchFamily="34" charset="0"/>
              </a:rPr>
              <a:t>Defines the rationale and business need</a:t>
            </a:r>
          </a:p>
          <a:p>
            <a:pPr marL="203200" indent="-203200">
              <a:spcAft>
                <a:spcPts val="500"/>
              </a:spcAft>
              <a:buClr>
                <a:srgbClr val="34509A"/>
              </a:buClr>
              <a:buFont typeface="+mj-lt"/>
              <a:buChar char="•"/>
            </a:pPr>
            <a:r>
              <a:rPr lang="en-US" sz="1500">
                <a:solidFill>
                  <a:srgbClr val="1F2937"/>
                </a:solidFill>
                <a:latin typeface="Calibri" panose="020F0502020204030204" pitchFamily="34" charset="0"/>
              </a:rPr>
              <a:t>Verifies alignment with strategic goals</a:t>
            </a:r>
          </a:p>
          <a:p>
            <a:pPr marL="203200" indent="-203200">
              <a:spcAft>
                <a:spcPts val="500"/>
              </a:spcAft>
              <a:buClr>
                <a:srgbClr val="34509A"/>
              </a:buClr>
              <a:buFont typeface="+mj-lt"/>
              <a:buChar char="•"/>
            </a:pPr>
            <a:r>
              <a:rPr lang="en-US" sz="1500">
                <a:solidFill>
                  <a:srgbClr val="1F2937"/>
                </a:solidFill>
                <a:latin typeface="Calibri" panose="020F0502020204030204" pitchFamily="34" charset="0"/>
              </a:rPr>
              <a:t>Keeps everyone focused on a clear project vision</a:t>
            </a:r>
          </a:p>
        </p:txBody>
      </p:sp>
      <p:sp>
        <p:nvSpPr>
          <p:cNvPr id="8" name="Rectangle: Rounded Corners 7">
            <a:extLst>
              <a:ext uri="{FF2B5EF4-FFF2-40B4-BE49-F238E27FC236}">
                <a16:creationId xmlns:a16="http://schemas.microsoft.com/office/drawing/2014/main" id="{0CAD6B41-B6A7-9EA4-B20E-41A2CFA6570C}"/>
              </a:ext>
            </a:extLst>
          </p:cNvPr>
          <p:cNvSpPr/>
          <p:nvPr/>
        </p:nvSpPr>
        <p:spPr>
          <a:xfrm>
            <a:off x="6096000" y="1371600"/>
            <a:ext cx="5588000" cy="4851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6F55386-7190-CAE3-FE55-FB32F0E43322}"/>
              </a:ext>
            </a:extLst>
          </p:cNvPr>
          <p:cNvSpPr txBox="1"/>
          <p:nvPr/>
        </p:nvSpPr>
        <p:spPr>
          <a:xfrm>
            <a:off x="6324600" y="1549400"/>
            <a:ext cx="5130800" cy="4572000"/>
          </a:xfrm>
          <a:prstGeom prst="rect">
            <a:avLst/>
          </a:prstGeom>
          <a:noFill/>
        </p:spPr>
        <p:txBody>
          <a:bodyPr vert="horz" wrap="square" lIns="0" tIns="0" rIns="0" bIns="0" rtlCol="0" anchor="t">
            <a:noAutofit/>
          </a:bodyPr>
          <a:lstStyle/>
          <a:p>
            <a:pPr>
              <a:spcAft>
                <a:spcPts val="600"/>
              </a:spcAft>
            </a:pPr>
            <a:r>
              <a:rPr lang="en-US" sz="1700" b="1">
                <a:solidFill>
                  <a:srgbClr val="14213D"/>
                </a:solidFill>
                <a:latin typeface="Calibri" panose="020F0502020204030204" pitchFamily="34" charset="0"/>
              </a:rPr>
              <a:t>What it contains</a:t>
            </a:r>
          </a:p>
          <a:p>
            <a:pPr marL="203200" indent="-203200">
              <a:spcAft>
                <a:spcPts val="500"/>
              </a:spcAft>
              <a:buClr>
                <a:srgbClr val="34509A"/>
              </a:buClr>
              <a:buFont typeface="+mj-lt"/>
              <a:buChar char="•"/>
            </a:pPr>
            <a:r>
              <a:rPr lang="en-US" sz="1600" b="1">
                <a:solidFill>
                  <a:srgbClr val="14213D"/>
                </a:solidFill>
                <a:latin typeface="Calibri" panose="020F0502020204030204" pitchFamily="34" charset="0"/>
              </a:rPr>
              <a:t>Names: </a:t>
            </a:r>
            <a:r>
              <a:rPr lang="en-US" sz="1600">
                <a:solidFill>
                  <a:srgbClr val="1F2937"/>
                </a:solidFill>
                <a:latin typeface="Calibri" panose="020F0502020204030204" pitchFamily="34" charset="0"/>
              </a:rPr>
              <a:t>project sponsor, project manager, key stakeholders</a:t>
            </a:r>
          </a:p>
          <a:p>
            <a:pPr marL="203200" indent="-203200">
              <a:spcAft>
                <a:spcPts val="500"/>
              </a:spcAft>
              <a:buClr>
                <a:srgbClr val="34509A"/>
              </a:buClr>
              <a:buFont typeface="+mj-lt"/>
              <a:buChar char="•"/>
            </a:pPr>
            <a:r>
              <a:rPr lang="en-US" sz="1600" b="1">
                <a:solidFill>
                  <a:srgbClr val="14213D"/>
                </a:solidFill>
                <a:latin typeface="Calibri" panose="020F0502020204030204" pitchFamily="34" charset="0"/>
              </a:rPr>
              <a:t>Project description, </a:t>
            </a:r>
            <a:r>
              <a:rPr lang="en-US" sz="1600">
                <a:solidFill>
                  <a:srgbClr val="1F2937"/>
                </a:solidFill>
                <a:latin typeface="Calibri" panose="020F0502020204030204" pitchFamily="34" charset="0"/>
              </a:rPr>
              <a:t>including preliminary requirements</a:t>
            </a:r>
          </a:p>
          <a:p>
            <a:pPr marL="203200" indent="-203200">
              <a:spcAft>
                <a:spcPts val="500"/>
              </a:spcAft>
              <a:buClr>
                <a:srgbClr val="34509A"/>
              </a:buClr>
              <a:buFont typeface="+mj-lt"/>
              <a:buChar char="•"/>
            </a:pPr>
            <a:r>
              <a:rPr lang="en-US" sz="1600" b="1">
                <a:solidFill>
                  <a:srgbClr val="14213D"/>
                </a:solidFill>
                <a:latin typeface="Calibri" panose="020F0502020204030204" pitchFamily="34" charset="0"/>
              </a:rPr>
              <a:t>Project objectives: </a:t>
            </a:r>
            <a:r>
              <a:rPr lang="en-US" sz="1600">
                <a:solidFill>
                  <a:srgbClr val="1F2937"/>
                </a:solidFill>
                <a:latin typeface="Calibri" panose="020F0502020204030204" pitchFamily="34" charset="0"/>
              </a:rPr>
              <a:t>the ’why’ of the project</a:t>
            </a:r>
          </a:p>
          <a:p>
            <a:pPr marL="203200" indent="-203200">
              <a:spcAft>
                <a:spcPts val="500"/>
              </a:spcAft>
              <a:buClr>
                <a:srgbClr val="34509A"/>
              </a:buClr>
              <a:buFont typeface="+mj-lt"/>
              <a:buChar char="•"/>
            </a:pPr>
            <a:r>
              <a:rPr lang="en-US" sz="1600" b="1">
                <a:solidFill>
                  <a:srgbClr val="14213D"/>
                </a:solidFill>
                <a:latin typeface="Calibri" panose="020F0502020204030204" pitchFamily="34" charset="0"/>
              </a:rPr>
              <a:t>Business needs, </a:t>
            </a:r>
            <a:r>
              <a:rPr lang="en-US" sz="1600">
                <a:solidFill>
                  <a:srgbClr val="1F2937"/>
                </a:solidFill>
                <a:latin typeface="Calibri" panose="020F0502020204030204" pitchFamily="34" charset="0"/>
              </a:rPr>
              <a:t>including financial goals or milestones</a:t>
            </a:r>
          </a:p>
          <a:p>
            <a:pPr marL="203200" indent="-203200">
              <a:spcAft>
                <a:spcPts val="500"/>
              </a:spcAft>
              <a:buClr>
                <a:srgbClr val="34509A"/>
              </a:buClr>
              <a:buFont typeface="+mj-lt"/>
              <a:buChar char="•"/>
            </a:pPr>
            <a:r>
              <a:rPr lang="en-US" sz="1600" b="1">
                <a:solidFill>
                  <a:srgbClr val="14213D"/>
                </a:solidFill>
                <a:latin typeface="Calibri" panose="020F0502020204030204" pitchFamily="34" charset="0"/>
              </a:rPr>
              <a:t>Summary schedule and cost </a:t>
            </a:r>
            <a:r>
              <a:rPr lang="en-US" sz="1600">
                <a:solidFill>
                  <a:srgbClr val="1F2937"/>
                </a:solidFill>
                <a:latin typeface="Calibri" panose="020F0502020204030204" pitchFamily="34" charset="0"/>
              </a:rPr>
              <a:t>at a high level</a:t>
            </a:r>
          </a:p>
          <a:p>
            <a:pPr marL="203200" indent="-203200">
              <a:spcAft>
                <a:spcPts val="500"/>
              </a:spcAft>
              <a:buClr>
                <a:srgbClr val="34509A"/>
              </a:buClr>
              <a:buFont typeface="+mj-lt"/>
              <a:buChar char="•"/>
            </a:pPr>
            <a:r>
              <a:rPr lang="en-US" sz="1600" b="1">
                <a:solidFill>
                  <a:srgbClr val="14213D"/>
                </a:solidFill>
                <a:latin typeface="Calibri" panose="020F0502020204030204" pitchFamily="34" charset="0"/>
              </a:rPr>
              <a:t>Assumptions, boundaries, and constraints, </a:t>
            </a:r>
            <a:r>
              <a:rPr lang="en-US" sz="1600">
                <a:solidFill>
                  <a:srgbClr val="1F2937"/>
                </a:solidFill>
                <a:latin typeface="Calibri" panose="020F0502020204030204" pitchFamily="34" charset="0"/>
              </a:rPr>
              <a:t>including overall risk, approval requirements, and approved budget</a:t>
            </a:r>
          </a:p>
        </p:txBody>
      </p:sp>
      <p:sp>
        <p:nvSpPr>
          <p:cNvPr id="10" name="Footer">
            <a:extLst>
              <a:ext uri="{FF2B5EF4-FFF2-40B4-BE49-F238E27FC236}">
                <a16:creationId xmlns:a16="http://schemas.microsoft.com/office/drawing/2014/main" id="{58FF5ADA-3452-FFE4-19A5-471D65CD9947}"/>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PMBOK® Guide — Sixth Edition, Section 4.1 (Develop Project Charter)</a:t>
            </a:r>
          </a:p>
        </p:txBody>
      </p:sp>
      <p:sp>
        <p:nvSpPr>
          <p:cNvPr id="11" name="SlideNum">
            <a:extLst>
              <a:ext uri="{FF2B5EF4-FFF2-40B4-BE49-F238E27FC236}">
                <a16:creationId xmlns:a16="http://schemas.microsoft.com/office/drawing/2014/main" id="{017E1B99-8B02-9E52-2112-0BB3A66996D9}"/>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32</a:t>
            </a:r>
          </a:p>
        </p:txBody>
      </p:sp>
      <p:sp>
        <p:nvSpPr>
          <p:cNvPr id="12"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4195087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2F8E297-091D-635A-E105-B9C14B0BD203}"/>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The integrated project management plan</a:t>
            </a:r>
          </a:p>
        </p:txBody>
      </p:sp>
      <p:sp>
        <p:nvSpPr>
          <p:cNvPr id="3" name="Tag">
            <a:extLst>
              <a:ext uri="{FF2B5EF4-FFF2-40B4-BE49-F238E27FC236}">
                <a16:creationId xmlns:a16="http://schemas.microsoft.com/office/drawing/2014/main" id="{A1496BD3-AD9F-DCDF-F794-3E0B47B74C23}"/>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1 (Develop an integrated project management plan and plan delivery)</a:t>
            </a:r>
          </a:p>
        </p:txBody>
      </p:sp>
      <p:sp>
        <p:nvSpPr>
          <p:cNvPr id="4" name="Rectangle: Rounded Corners 3">
            <a:extLst>
              <a:ext uri="{FF2B5EF4-FFF2-40B4-BE49-F238E27FC236}">
                <a16:creationId xmlns:a16="http://schemas.microsoft.com/office/drawing/2014/main" id="{1794CBE8-47E6-8C24-AC24-75492E7C71C1}"/>
              </a:ext>
            </a:extLst>
          </p:cNvPr>
          <p:cNvSpPr/>
          <p:nvPr/>
        </p:nvSpPr>
        <p:spPr>
          <a:xfrm>
            <a:off x="508000" y="1320800"/>
            <a:ext cx="3810000" cy="2895600"/>
          </a:xfrm>
          <a:prstGeom prst="roundRect">
            <a:avLst>
              <a:gd name="adj" fmla="val 8000"/>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245EC61-0142-DAC2-80CA-4AE95725208D}"/>
              </a:ext>
            </a:extLst>
          </p:cNvPr>
          <p:cNvSpPr txBox="1"/>
          <p:nvPr/>
        </p:nvSpPr>
        <p:spPr>
          <a:xfrm>
            <a:off x="736600" y="1447800"/>
            <a:ext cx="3352800" cy="254000"/>
          </a:xfrm>
          <a:prstGeom prst="rect">
            <a:avLst/>
          </a:prstGeom>
          <a:noFill/>
        </p:spPr>
        <p:txBody>
          <a:bodyPr vert="horz" wrap="square" lIns="0" tIns="0" rIns="0" bIns="0" rtlCol="0" anchor="t">
            <a:noAutofit/>
          </a:bodyPr>
          <a:lstStyle/>
          <a:p>
            <a:r>
              <a:rPr lang="en-US" sz="1500" b="1">
                <a:solidFill>
                  <a:srgbClr val="E3A63B"/>
                </a:solidFill>
                <a:latin typeface="Calibri" panose="020F0502020204030204" pitchFamily="34" charset="0"/>
              </a:rPr>
              <a:t>Project management plan</a:t>
            </a:r>
          </a:p>
        </p:txBody>
      </p:sp>
      <p:sp>
        <p:nvSpPr>
          <p:cNvPr id="6" name="Rectangle: Rounded Corners 5">
            <a:extLst>
              <a:ext uri="{FF2B5EF4-FFF2-40B4-BE49-F238E27FC236}">
                <a16:creationId xmlns:a16="http://schemas.microsoft.com/office/drawing/2014/main" id="{C9475A63-59D9-89FC-A06E-6300A1798E65}"/>
              </a:ext>
            </a:extLst>
          </p:cNvPr>
          <p:cNvSpPr/>
          <p:nvPr/>
        </p:nvSpPr>
        <p:spPr>
          <a:xfrm>
            <a:off x="736600" y="1803400"/>
            <a:ext cx="3352800" cy="4826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400" b="1">
                <a:solidFill>
                  <a:srgbClr val="14213D"/>
                </a:solidFill>
                <a:latin typeface="Calibri" panose="020F0502020204030204" pitchFamily="34" charset="0"/>
              </a:rPr>
              <a:t>Scope baseline</a:t>
            </a:r>
          </a:p>
        </p:txBody>
      </p:sp>
      <p:sp>
        <p:nvSpPr>
          <p:cNvPr id="7" name="Rectangle: Rounded Corners 6">
            <a:extLst>
              <a:ext uri="{FF2B5EF4-FFF2-40B4-BE49-F238E27FC236}">
                <a16:creationId xmlns:a16="http://schemas.microsoft.com/office/drawing/2014/main" id="{1E4C471D-4224-1BFD-9145-3D6486646485}"/>
              </a:ext>
            </a:extLst>
          </p:cNvPr>
          <p:cNvSpPr/>
          <p:nvPr/>
        </p:nvSpPr>
        <p:spPr>
          <a:xfrm>
            <a:off x="736600" y="2387600"/>
            <a:ext cx="3352800" cy="4826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400" b="1">
                <a:solidFill>
                  <a:srgbClr val="14213D"/>
                </a:solidFill>
                <a:latin typeface="Calibri" panose="020F0502020204030204" pitchFamily="34" charset="0"/>
              </a:rPr>
              <a:t>Schedule baseline</a:t>
            </a:r>
          </a:p>
        </p:txBody>
      </p:sp>
      <p:sp>
        <p:nvSpPr>
          <p:cNvPr id="8" name="Rectangle: Rounded Corners 7">
            <a:extLst>
              <a:ext uri="{FF2B5EF4-FFF2-40B4-BE49-F238E27FC236}">
                <a16:creationId xmlns:a16="http://schemas.microsoft.com/office/drawing/2014/main" id="{9726CE07-2BF6-644C-12B8-3FCAD62E98EB}"/>
              </a:ext>
            </a:extLst>
          </p:cNvPr>
          <p:cNvSpPr/>
          <p:nvPr/>
        </p:nvSpPr>
        <p:spPr>
          <a:xfrm>
            <a:off x="736600" y="2971800"/>
            <a:ext cx="3352800" cy="4826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400" b="1">
                <a:solidFill>
                  <a:srgbClr val="14213D"/>
                </a:solidFill>
                <a:latin typeface="Calibri" panose="020F0502020204030204" pitchFamily="34" charset="0"/>
              </a:rPr>
              <a:t>Cost baseline</a:t>
            </a:r>
          </a:p>
        </p:txBody>
      </p:sp>
      <p:sp>
        <p:nvSpPr>
          <p:cNvPr id="9" name="TextBox 8">
            <a:extLst>
              <a:ext uri="{FF2B5EF4-FFF2-40B4-BE49-F238E27FC236}">
                <a16:creationId xmlns:a16="http://schemas.microsoft.com/office/drawing/2014/main" id="{4B047AC1-5DAC-FA8E-1259-3188B0C3CF39}"/>
              </a:ext>
            </a:extLst>
          </p:cNvPr>
          <p:cNvSpPr txBox="1"/>
          <p:nvPr/>
        </p:nvSpPr>
        <p:spPr>
          <a:xfrm>
            <a:off x="736600" y="3581400"/>
            <a:ext cx="3352800" cy="508000"/>
          </a:xfrm>
          <a:prstGeom prst="rect">
            <a:avLst/>
          </a:prstGeom>
          <a:noFill/>
        </p:spPr>
        <p:txBody>
          <a:bodyPr vert="horz" wrap="square" lIns="0" tIns="0" rIns="0" bIns="0" rtlCol="0" anchor="t">
            <a:noAutofit/>
          </a:bodyPr>
          <a:lstStyle/>
          <a:p>
            <a:r>
              <a:rPr lang="en-US" sz="1200" i="1">
                <a:solidFill>
                  <a:srgbClr val="C9D6EA"/>
                </a:solidFill>
                <a:latin typeface="Calibri" panose="020F0502020204030204" pitchFamily="34" charset="0"/>
              </a:rPr>
              <a:t>Together they form the performance measurement baseline used for earned value.</a:t>
            </a:r>
          </a:p>
        </p:txBody>
      </p:sp>
      <p:sp>
        <p:nvSpPr>
          <p:cNvPr id="10" name="TextBox 9">
            <a:extLst>
              <a:ext uri="{FF2B5EF4-FFF2-40B4-BE49-F238E27FC236}">
                <a16:creationId xmlns:a16="http://schemas.microsoft.com/office/drawing/2014/main" id="{F8C732D7-53E8-9BC8-EDB0-BF8D75DAEDA7}"/>
              </a:ext>
            </a:extLst>
          </p:cNvPr>
          <p:cNvSpPr txBox="1"/>
          <p:nvPr/>
        </p:nvSpPr>
        <p:spPr>
          <a:xfrm>
            <a:off x="4572000" y="1320800"/>
            <a:ext cx="7112000" cy="254000"/>
          </a:xfrm>
          <a:prstGeom prst="rect">
            <a:avLst/>
          </a:prstGeom>
          <a:noFill/>
        </p:spPr>
        <p:txBody>
          <a:bodyPr vert="horz" wrap="square" lIns="0" tIns="0" rIns="0" bIns="0" rtlCol="0" anchor="t">
            <a:noAutofit/>
          </a:bodyPr>
          <a:lstStyle/>
          <a:p>
            <a:r>
              <a:rPr lang="en-US" sz="1500" b="1">
                <a:solidFill>
                  <a:srgbClr val="34509A"/>
                </a:solidFill>
                <a:latin typeface="Calibri" panose="020F0502020204030204" pitchFamily="34" charset="0"/>
              </a:rPr>
              <a:t>Subsidiary management plans</a:t>
            </a:r>
          </a:p>
        </p:txBody>
      </p:sp>
      <p:sp>
        <p:nvSpPr>
          <p:cNvPr id="11" name="Rectangle: Rounded Corners 10">
            <a:extLst>
              <a:ext uri="{FF2B5EF4-FFF2-40B4-BE49-F238E27FC236}">
                <a16:creationId xmlns:a16="http://schemas.microsoft.com/office/drawing/2014/main" id="{A32CD534-A1DA-B8B1-44D8-531FE4A476B9}"/>
              </a:ext>
            </a:extLst>
          </p:cNvPr>
          <p:cNvSpPr/>
          <p:nvPr/>
        </p:nvSpPr>
        <p:spPr>
          <a:xfrm>
            <a:off x="4572000" y="1651000"/>
            <a:ext cx="2286000" cy="533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300" b="1">
                <a:solidFill>
                  <a:srgbClr val="14213D"/>
                </a:solidFill>
                <a:latin typeface="Calibri" panose="020F0502020204030204" pitchFamily="34" charset="0"/>
              </a:rPr>
              <a:t>Scope</a:t>
            </a:r>
          </a:p>
        </p:txBody>
      </p:sp>
      <p:sp>
        <p:nvSpPr>
          <p:cNvPr id="12" name="Rectangle: Rounded Corners 11">
            <a:extLst>
              <a:ext uri="{FF2B5EF4-FFF2-40B4-BE49-F238E27FC236}">
                <a16:creationId xmlns:a16="http://schemas.microsoft.com/office/drawing/2014/main" id="{1CB1E5C9-20E2-429C-DF8C-A25AE02EC60E}"/>
              </a:ext>
            </a:extLst>
          </p:cNvPr>
          <p:cNvSpPr/>
          <p:nvPr/>
        </p:nvSpPr>
        <p:spPr>
          <a:xfrm>
            <a:off x="6985000" y="1651000"/>
            <a:ext cx="2286000" cy="533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300" b="1">
                <a:solidFill>
                  <a:srgbClr val="14213D"/>
                </a:solidFill>
                <a:latin typeface="Calibri" panose="020F0502020204030204" pitchFamily="34" charset="0"/>
              </a:rPr>
              <a:t>Requirements</a:t>
            </a:r>
          </a:p>
        </p:txBody>
      </p:sp>
      <p:sp>
        <p:nvSpPr>
          <p:cNvPr id="13" name="Rectangle: Rounded Corners 12">
            <a:extLst>
              <a:ext uri="{FF2B5EF4-FFF2-40B4-BE49-F238E27FC236}">
                <a16:creationId xmlns:a16="http://schemas.microsoft.com/office/drawing/2014/main" id="{D4D92E2B-90C0-E4A6-5D1C-043F0945846A}"/>
              </a:ext>
            </a:extLst>
          </p:cNvPr>
          <p:cNvSpPr/>
          <p:nvPr/>
        </p:nvSpPr>
        <p:spPr>
          <a:xfrm>
            <a:off x="9398000" y="1651000"/>
            <a:ext cx="2286000" cy="533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300" b="1">
                <a:solidFill>
                  <a:srgbClr val="14213D"/>
                </a:solidFill>
                <a:latin typeface="Calibri" panose="020F0502020204030204" pitchFamily="34" charset="0"/>
              </a:rPr>
              <a:t>Schedule</a:t>
            </a:r>
          </a:p>
        </p:txBody>
      </p:sp>
      <p:sp>
        <p:nvSpPr>
          <p:cNvPr id="14" name="Rectangle: Rounded Corners 13">
            <a:extLst>
              <a:ext uri="{FF2B5EF4-FFF2-40B4-BE49-F238E27FC236}">
                <a16:creationId xmlns:a16="http://schemas.microsoft.com/office/drawing/2014/main" id="{F8201C98-5F9C-B44C-0F39-6E382DC1759F}"/>
              </a:ext>
            </a:extLst>
          </p:cNvPr>
          <p:cNvSpPr/>
          <p:nvPr/>
        </p:nvSpPr>
        <p:spPr>
          <a:xfrm>
            <a:off x="4572000" y="2286000"/>
            <a:ext cx="2286000" cy="533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300" b="1">
                <a:solidFill>
                  <a:srgbClr val="14213D"/>
                </a:solidFill>
                <a:latin typeface="Calibri" panose="020F0502020204030204" pitchFamily="34" charset="0"/>
              </a:rPr>
              <a:t>Cost</a:t>
            </a:r>
          </a:p>
        </p:txBody>
      </p:sp>
      <p:sp>
        <p:nvSpPr>
          <p:cNvPr id="15" name="Rectangle: Rounded Corners 14">
            <a:extLst>
              <a:ext uri="{FF2B5EF4-FFF2-40B4-BE49-F238E27FC236}">
                <a16:creationId xmlns:a16="http://schemas.microsoft.com/office/drawing/2014/main" id="{5808E971-2183-61AC-8A38-7175E5BE9E09}"/>
              </a:ext>
            </a:extLst>
          </p:cNvPr>
          <p:cNvSpPr/>
          <p:nvPr/>
        </p:nvSpPr>
        <p:spPr>
          <a:xfrm>
            <a:off x="6985000" y="2286000"/>
            <a:ext cx="2286000" cy="533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300" b="1">
                <a:solidFill>
                  <a:srgbClr val="14213D"/>
                </a:solidFill>
                <a:latin typeface="Calibri" panose="020F0502020204030204" pitchFamily="34" charset="0"/>
              </a:rPr>
              <a:t>Quality</a:t>
            </a:r>
          </a:p>
        </p:txBody>
      </p:sp>
      <p:sp>
        <p:nvSpPr>
          <p:cNvPr id="16" name="Rectangle: Rounded Corners 15">
            <a:extLst>
              <a:ext uri="{FF2B5EF4-FFF2-40B4-BE49-F238E27FC236}">
                <a16:creationId xmlns:a16="http://schemas.microsoft.com/office/drawing/2014/main" id="{3C5CAE8D-A603-46E9-C417-D12C8E0B89B5}"/>
              </a:ext>
            </a:extLst>
          </p:cNvPr>
          <p:cNvSpPr/>
          <p:nvPr/>
        </p:nvSpPr>
        <p:spPr>
          <a:xfrm>
            <a:off x="9398000" y="2286000"/>
            <a:ext cx="2286000" cy="533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300" b="1">
                <a:solidFill>
                  <a:srgbClr val="14213D"/>
                </a:solidFill>
                <a:latin typeface="Calibri" panose="020F0502020204030204" pitchFamily="34" charset="0"/>
              </a:rPr>
              <a:t>Resource</a:t>
            </a:r>
          </a:p>
        </p:txBody>
      </p:sp>
      <p:sp>
        <p:nvSpPr>
          <p:cNvPr id="17" name="Rectangle: Rounded Corners 16">
            <a:extLst>
              <a:ext uri="{FF2B5EF4-FFF2-40B4-BE49-F238E27FC236}">
                <a16:creationId xmlns:a16="http://schemas.microsoft.com/office/drawing/2014/main" id="{C065AC57-A9DC-3C99-A4EA-BED741681675}"/>
              </a:ext>
            </a:extLst>
          </p:cNvPr>
          <p:cNvSpPr/>
          <p:nvPr/>
        </p:nvSpPr>
        <p:spPr>
          <a:xfrm>
            <a:off x="4572000" y="2921000"/>
            <a:ext cx="2286000" cy="533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300" b="1">
                <a:solidFill>
                  <a:srgbClr val="14213D"/>
                </a:solidFill>
                <a:latin typeface="Calibri" panose="020F0502020204030204" pitchFamily="34" charset="0"/>
              </a:rPr>
              <a:t>Communications</a:t>
            </a:r>
          </a:p>
        </p:txBody>
      </p:sp>
      <p:sp>
        <p:nvSpPr>
          <p:cNvPr id="18" name="Rectangle: Rounded Corners 17">
            <a:extLst>
              <a:ext uri="{FF2B5EF4-FFF2-40B4-BE49-F238E27FC236}">
                <a16:creationId xmlns:a16="http://schemas.microsoft.com/office/drawing/2014/main" id="{8BAF3571-021A-CA80-0FCD-5A750BED42F0}"/>
              </a:ext>
            </a:extLst>
          </p:cNvPr>
          <p:cNvSpPr/>
          <p:nvPr/>
        </p:nvSpPr>
        <p:spPr>
          <a:xfrm>
            <a:off x="6985000" y="2921000"/>
            <a:ext cx="2286000" cy="533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300" b="1">
                <a:solidFill>
                  <a:srgbClr val="14213D"/>
                </a:solidFill>
                <a:latin typeface="Calibri" panose="020F0502020204030204" pitchFamily="34" charset="0"/>
              </a:rPr>
              <a:t>Risk</a:t>
            </a:r>
          </a:p>
        </p:txBody>
      </p:sp>
      <p:sp>
        <p:nvSpPr>
          <p:cNvPr id="19" name="Rectangle: Rounded Corners 18">
            <a:extLst>
              <a:ext uri="{FF2B5EF4-FFF2-40B4-BE49-F238E27FC236}">
                <a16:creationId xmlns:a16="http://schemas.microsoft.com/office/drawing/2014/main" id="{0D768322-CD59-969B-225D-4DE9573A60CF}"/>
              </a:ext>
            </a:extLst>
          </p:cNvPr>
          <p:cNvSpPr/>
          <p:nvPr/>
        </p:nvSpPr>
        <p:spPr>
          <a:xfrm>
            <a:off x="9398000" y="2921000"/>
            <a:ext cx="2286000" cy="533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300" b="1">
                <a:solidFill>
                  <a:srgbClr val="14213D"/>
                </a:solidFill>
                <a:latin typeface="Calibri" panose="020F0502020204030204" pitchFamily="34" charset="0"/>
              </a:rPr>
              <a:t>Procurement</a:t>
            </a:r>
          </a:p>
        </p:txBody>
      </p:sp>
      <p:sp>
        <p:nvSpPr>
          <p:cNvPr id="20" name="Rectangle: Rounded Corners 19">
            <a:extLst>
              <a:ext uri="{FF2B5EF4-FFF2-40B4-BE49-F238E27FC236}">
                <a16:creationId xmlns:a16="http://schemas.microsoft.com/office/drawing/2014/main" id="{BECF6078-0AEB-407A-3051-368F9A6DD1E4}"/>
              </a:ext>
            </a:extLst>
          </p:cNvPr>
          <p:cNvSpPr/>
          <p:nvPr/>
        </p:nvSpPr>
        <p:spPr>
          <a:xfrm>
            <a:off x="4572000" y="3556000"/>
            <a:ext cx="2286000" cy="533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300" b="1">
                <a:solidFill>
                  <a:srgbClr val="14213D"/>
                </a:solidFill>
                <a:latin typeface="Calibri" panose="020F0502020204030204" pitchFamily="34" charset="0"/>
              </a:rPr>
              <a:t>Stakeholder engagement</a:t>
            </a:r>
          </a:p>
        </p:txBody>
      </p:sp>
      <p:sp>
        <p:nvSpPr>
          <p:cNvPr id="21" name="Rectangle: Rounded Corners 20">
            <a:extLst>
              <a:ext uri="{FF2B5EF4-FFF2-40B4-BE49-F238E27FC236}">
                <a16:creationId xmlns:a16="http://schemas.microsoft.com/office/drawing/2014/main" id="{3ACEDCD5-907B-8BC6-E9CE-B97D2CFE0F84}"/>
              </a:ext>
            </a:extLst>
          </p:cNvPr>
          <p:cNvSpPr/>
          <p:nvPr/>
        </p:nvSpPr>
        <p:spPr>
          <a:xfrm>
            <a:off x="6985000" y="3556000"/>
            <a:ext cx="2286000" cy="533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300" b="1">
                <a:solidFill>
                  <a:srgbClr val="14213D"/>
                </a:solidFill>
                <a:latin typeface="Calibri" panose="020F0502020204030204" pitchFamily="34" charset="0"/>
              </a:rPr>
              <a:t>Change management</a:t>
            </a:r>
          </a:p>
        </p:txBody>
      </p:sp>
      <p:sp>
        <p:nvSpPr>
          <p:cNvPr id="22" name="Rectangle: Rounded Corners 21">
            <a:extLst>
              <a:ext uri="{FF2B5EF4-FFF2-40B4-BE49-F238E27FC236}">
                <a16:creationId xmlns:a16="http://schemas.microsoft.com/office/drawing/2014/main" id="{4EF24FD4-4D94-3D52-E0D4-4F30673FA375}"/>
              </a:ext>
            </a:extLst>
          </p:cNvPr>
          <p:cNvSpPr/>
          <p:nvPr/>
        </p:nvSpPr>
        <p:spPr>
          <a:xfrm>
            <a:off x="9398000" y="3556000"/>
            <a:ext cx="2286000" cy="533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300" b="1">
                <a:solidFill>
                  <a:srgbClr val="14213D"/>
                </a:solidFill>
                <a:latin typeface="Calibri" panose="020F0502020204030204" pitchFamily="34" charset="0"/>
              </a:rPr>
              <a:t>Configuration management</a:t>
            </a:r>
          </a:p>
        </p:txBody>
      </p:sp>
      <p:sp>
        <p:nvSpPr>
          <p:cNvPr id="23" name="Rectangle: Rounded Corners 22">
            <a:extLst>
              <a:ext uri="{FF2B5EF4-FFF2-40B4-BE49-F238E27FC236}">
                <a16:creationId xmlns:a16="http://schemas.microsoft.com/office/drawing/2014/main" id="{B33D91E9-4D46-E0F0-292B-4ED25F51263B}"/>
              </a:ext>
            </a:extLst>
          </p:cNvPr>
          <p:cNvSpPr/>
          <p:nvPr/>
        </p:nvSpPr>
        <p:spPr>
          <a:xfrm>
            <a:off x="508000" y="4343400"/>
            <a:ext cx="5461000" cy="1016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DF0ED98-0103-11DE-7FD7-EA6830BECC41}"/>
              </a:ext>
            </a:extLst>
          </p:cNvPr>
          <p:cNvSpPr txBox="1"/>
          <p:nvPr/>
        </p:nvSpPr>
        <p:spPr>
          <a:xfrm>
            <a:off x="660400" y="4495800"/>
            <a:ext cx="5156200" cy="7112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Plan vs. project documents</a:t>
            </a:r>
          </a:p>
          <a:p>
            <a:r>
              <a:rPr lang="en-US" sz="1200">
                <a:solidFill>
                  <a:srgbClr val="1F2937"/>
                </a:solidFill>
                <a:latin typeface="Calibri" panose="020F0502020204030204" pitchFamily="34" charset="0"/>
              </a:rPr>
              <a:t>The plan says how the work will be done; project documents (registers, logs, reports) record what is happening.</a:t>
            </a:r>
          </a:p>
        </p:txBody>
      </p:sp>
      <p:sp>
        <p:nvSpPr>
          <p:cNvPr id="25" name="Rectangle: Rounded Corners 24">
            <a:extLst>
              <a:ext uri="{FF2B5EF4-FFF2-40B4-BE49-F238E27FC236}">
                <a16:creationId xmlns:a16="http://schemas.microsoft.com/office/drawing/2014/main" id="{BF35ECD3-4F3E-DC72-D215-3CFE832F512D}"/>
              </a:ext>
            </a:extLst>
          </p:cNvPr>
          <p:cNvSpPr/>
          <p:nvPr/>
        </p:nvSpPr>
        <p:spPr>
          <a:xfrm>
            <a:off x="6223000" y="4343400"/>
            <a:ext cx="5461000" cy="10160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51B70E5A-BD5C-CA53-1C1C-A8E18CF983C1}"/>
              </a:ext>
            </a:extLst>
          </p:cNvPr>
          <p:cNvSpPr txBox="1"/>
          <p:nvPr/>
        </p:nvSpPr>
        <p:spPr>
          <a:xfrm>
            <a:off x="6375400" y="4495800"/>
            <a:ext cx="5156200" cy="711200"/>
          </a:xfrm>
          <a:prstGeom prst="rect">
            <a:avLst/>
          </a:prstGeom>
          <a:noFill/>
        </p:spPr>
        <p:txBody>
          <a:bodyPr vert="horz" wrap="square" lIns="0" tIns="0" rIns="0" bIns="0" rtlCol="0" anchor="t">
            <a:noAutofit/>
          </a:bodyPr>
          <a:lstStyle/>
          <a:p>
            <a:pPr>
              <a:spcAft>
                <a:spcPts val="600"/>
              </a:spcAft>
            </a:pPr>
            <a:r>
              <a:rPr lang="en-US" sz="1400" b="1">
                <a:solidFill>
                  <a:srgbClr val="A86F0E"/>
                </a:solidFill>
                <a:latin typeface="Calibri" panose="020F0502020204030204" pitchFamily="34" charset="0"/>
              </a:rPr>
              <a:t>In adaptive projects</a:t>
            </a:r>
          </a:p>
          <a:p>
            <a:r>
              <a:rPr lang="en-US" sz="1200">
                <a:solidFill>
                  <a:srgbClr val="1F2937"/>
                </a:solidFill>
                <a:latin typeface="Calibri" panose="020F0502020204030204" pitchFamily="34" charset="0"/>
              </a:rPr>
              <a:t>Lighter, rolling plans: product vision, roadmap, release plan, and backlog, refined every iteration.</a:t>
            </a:r>
          </a:p>
        </p:txBody>
      </p:sp>
      <p:sp>
        <p:nvSpPr>
          <p:cNvPr id="27" name="Rectangle: Rounded Corners 26">
            <a:extLst>
              <a:ext uri="{FF2B5EF4-FFF2-40B4-BE49-F238E27FC236}">
                <a16:creationId xmlns:a16="http://schemas.microsoft.com/office/drawing/2014/main" id="{67AB7EBD-2E25-7F22-0D6C-37CC5B6E8738}"/>
              </a:ext>
            </a:extLst>
          </p:cNvPr>
          <p:cNvSpPr/>
          <p:nvPr/>
        </p:nvSpPr>
        <p:spPr>
          <a:xfrm>
            <a:off x="508000" y="5486400"/>
            <a:ext cx="11176000" cy="838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C0EA1572-2228-97B1-9A34-9144077BA1DE}"/>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the plan is progressively elaborated and kept current, but a baseline changes only through integrated change control.</a:t>
            </a:r>
          </a:p>
        </p:txBody>
      </p:sp>
      <p:sp>
        <p:nvSpPr>
          <p:cNvPr id="29" name="Footer">
            <a:extLst>
              <a:ext uri="{FF2B5EF4-FFF2-40B4-BE49-F238E27FC236}">
                <a16:creationId xmlns:a16="http://schemas.microsoft.com/office/drawing/2014/main" id="{82A8AC50-5430-B57C-27BC-D0C1E764F62B}"/>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4.2 (Develop Project Management Plan); PMI and Agile Alliance, Agile Practice Guide (2017)</a:t>
            </a:r>
          </a:p>
        </p:txBody>
      </p:sp>
      <p:sp>
        <p:nvSpPr>
          <p:cNvPr id="30" name="SlideNum">
            <a:extLst>
              <a:ext uri="{FF2B5EF4-FFF2-40B4-BE49-F238E27FC236}">
                <a16:creationId xmlns:a16="http://schemas.microsoft.com/office/drawing/2014/main" id="{3DA7D0FE-248F-046C-B2A5-F1FA96739B59}"/>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33</a:t>
            </a:r>
          </a:p>
        </p:txBody>
      </p:sp>
      <p:sp>
        <p:nvSpPr>
          <p:cNvPr id="31"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9893324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734395B2-A602-5161-C5A2-F7962D9DCB6F}"/>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Scope: from requirements to the scope baseline</a:t>
            </a:r>
          </a:p>
        </p:txBody>
      </p:sp>
      <p:sp>
        <p:nvSpPr>
          <p:cNvPr id="3" name="Tag">
            <a:extLst>
              <a:ext uri="{FF2B5EF4-FFF2-40B4-BE49-F238E27FC236}">
                <a16:creationId xmlns:a16="http://schemas.microsoft.com/office/drawing/2014/main" id="{29ED464C-46A3-002A-F74B-63C461C6ADD2}"/>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2 (Develop and manage project scope)</a:t>
            </a:r>
          </a:p>
        </p:txBody>
      </p:sp>
      <p:sp>
        <p:nvSpPr>
          <p:cNvPr id="4" name="Arrow: Chevron 3">
            <a:extLst>
              <a:ext uri="{FF2B5EF4-FFF2-40B4-BE49-F238E27FC236}">
                <a16:creationId xmlns:a16="http://schemas.microsoft.com/office/drawing/2014/main" id="{0B7FED03-D2E2-719E-FC0C-D979E5D4091A}"/>
              </a:ext>
            </a:extLst>
          </p:cNvPr>
          <p:cNvSpPr/>
          <p:nvPr/>
        </p:nvSpPr>
        <p:spPr>
          <a:xfrm>
            <a:off x="508000" y="1320800"/>
            <a:ext cx="2336800" cy="508000"/>
          </a:xfrm>
          <a:prstGeom prst="chevron">
            <a:avLst/>
          </a:prstGeom>
          <a:solidFill>
            <a:srgbClr val="1F346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25400" rIns="177800" bIns="25400" rtlCol="0" anchor="ctr"/>
          <a:lstStyle/>
          <a:p>
            <a:pPr algn="ctr"/>
            <a:r>
              <a:rPr lang="en-US" sz="1200" b="1">
                <a:solidFill>
                  <a:srgbClr val="FFFFFF"/>
                </a:solidFill>
                <a:latin typeface="Calibri" panose="020F0502020204030204" pitchFamily="34" charset="0"/>
              </a:rPr>
              <a:t>Collect requirements</a:t>
            </a:r>
          </a:p>
        </p:txBody>
      </p:sp>
      <p:sp>
        <p:nvSpPr>
          <p:cNvPr id="5" name="TextBox 4">
            <a:extLst>
              <a:ext uri="{FF2B5EF4-FFF2-40B4-BE49-F238E27FC236}">
                <a16:creationId xmlns:a16="http://schemas.microsoft.com/office/drawing/2014/main" id="{B4655DFD-D122-DA6A-4EBE-7B3DD0068D97}"/>
              </a:ext>
            </a:extLst>
          </p:cNvPr>
          <p:cNvSpPr txBox="1"/>
          <p:nvPr/>
        </p:nvSpPr>
        <p:spPr>
          <a:xfrm>
            <a:off x="660400" y="1905000"/>
            <a:ext cx="2032000" cy="406400"/>
          </a:xfrm>
          <a:prstGeom prst="rect">
            <a:avLst/>
          </a:prstGeom>
          <a:noFill/>
        </p:spPr>
        <p:txBody>
          <a:bodyPr vert="horz" wrap="square" lIns="0" tIns="0" rIns="0" bIns="0" rtlCol="0" anchor="t">
            <a:noAutofit/>
          </a:bodyPr>
          <a:lstStyle/>
          <a:p>
            <a:r>
              <a:rPr lang="en-US" sz="1100">
                <a:solidFill>
                  <a:srgbClr val="5B6475"/>
                </a:solidFill>
                <a:latin typeface="Calibri" panose="020F0502020204030204" pitchFamily="34" charset="0"/>
              </a:rPr>
              <a:t>Elicit needs; trace them</a:t>
            </a:r>
          </a:p>
        </p:txBody>
      </p:sp>
      <p:sp>
        <p:nvSpPr>
          <p:cNvPr id="6" name="Arrow: Chevron 5">
            <a:extLst>
              <a:ext uri="{FF2B5EF4-FFF2-40B4-BE49-F238E27FC236}">
                <a16:creationId xmlns:a16="http://schemas.microsoft.com/office/drawing/2014/main" id="{ADE844F8-B53D-7DAA-5A77-8B3CA1E829BF}"/>
              </a:ext>
            </a:extLst>
          </p:cNvPr>
          <p:cNvSpPr/>
          <p:nvPr/>
        </p:nvSpPr>
        <p:spPr>
          <a:xfrm>
            <a:off x="2743200" y="1320800"/>
            <a:ext cx="2336800" cy="508000"/>
          </a:xfrm>
          <a:prstGeom prst="chevron">
            <a:avLst/>
          </a:prstGeom>
          <a:solidFill>
            <a:srgbClr val="2A42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25400" rIns="177800" bIns="25400" rtlCol="0" anchor="ctr"/>
          <a:lstStyle/>
          <a:p>
            <a:pPr algn="ctr"/>
            <a:r>
              <a:rPr lang="en-US" sz="1200" b="1">
                <a:solidFill>
                  <a:srgbClr val="FFFFFF"/>
                </a:solidFill>
                <a:latin typeface="Calibri" panose="020F0502020204030204" pitchFamily="34" charset="0"/>
              </a:rPr>
              <a:t>Define scope</a:t>
            </a:r>
          </a:p>
        </p:txBody>
      </p:sp>
      <p:sp>
        <p:nvSpPr>
          <p:cNvPr id="7" name="TextBox 6">
            <a:extLst>
              <a:ext uri="{FF2B5EF4-FFF2-40B4-BE49-F238E27FC236}">
                <a16:creationId xmlns:a16="http://schemas.microsoft.com/office/drawing/2014/main" id="{67ECED6A-5CDB-8B57-F7EB-487973DED312}"/>
              </a:ext>
            </a:extLst>
          </p:cNvPr>
          <p:cNvSpPr txBox="1"/>
          <p:nvPr/>
        </p:nvSpPr>
        <p:spPr>
          <a:xfrm>
            <a:off x="2895600" y="1905000"/>
            <a:ext cx="2032000" cy="406400"/>
          </a:xfrm>
          <a:prstGeom prst="rect">
            <a:avLst/>
          </a:prstGeom>
          <a:noFill/>
        </p:spPr>
        <p:txBody>
          <a:bodyPr vert="horz" wrap="square" lIns="0" tIns="0" rIns="0" bIns="0" rtlCol="0" anchor="t">
            <a:noAutofit/>
          </a:bodyPr>
          <a:lstStyle/>
          <a:p>
            <a:r>
              <a:rPr lang="fr-FR" sz="1100">
                <a:solidFill>
                  <a:srgbClr val="5B6475"/>
                </a:solidFill>
                <a:latin typeface="Calibri" panose="020F0502020204030204" pitchFamily="34" charset="0"/>
              </a:rPr>
              <a:t>Scope statement: deliverables, exclusions, acceptance</a:t>
            </a:r>
            <a:endParaRPr lang="en-US" sz="1100">
              <a:solidFill>
                <a:srgbClr val="5B6475"/>
              </a:solidFill>
              <a:latin typeface="Calibri" panose="020F0502020204030204" pitchFamily="34" charset="0"/>
            </a:endParaRPr>
          </a:p>
        </p:txBody>
      </p:sp>
      <p:sp>
        <p:nvSpPr>
          <p:cNvPr id="8" name="Arrow: Chevron 7">
            <a:extLst>
              <a:ext uri="{FF2B5EF4-FFF2-40B4-BE49-F238E27FC236}">
                <a16:creationId xmlns:a16="http://schemas.microsoft.com/office/drawing/2014/main" id="{3CE94110-69B3-0498-6094-FECBCFF630D0}"/>
              </a:ext>
            </a:extLst>
          </p:cNvPr>
          <p:cNvSpPr/>
          <p:nvPr/>
        </p:nvSpPr>
        <p:spPr>
          <a:xfrm>
            <a:off x="4978400" y="1320800"/>
            <a:ext cx="2336800" cy="508000"/>
          </a:xfrm>
          <a:prstGeom prst="chevron">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25400" rIns="177800" bIns="25400" rtlCol="0" anchor="ctr"/>
          <a:lstStyle/>
          <a:p>
            <a:pPr algn="ctr"/>
            <a:r>
              <a:rPr lang="en-US" sz="1200" b="1">
                <a:solidFill>
                  <a:srgbClr val="FFFFFF"/>
                </a:solidFill>
                <a:latin typeface="Calibri" panose="020F0502020204030204" pitchFamily="34" charset="0"/>
              </a:rPr>
              <a:t>Create WBS</a:t>
            </a:r>
          </a:p>
        </p:txBody>
      </p:sp>
      <p:sp>
        <p:nvSpPr>
          <p:cNvPr id="9" name="TextBox 8">
            <a:extLst>
              <a:ext uri="{FF2B5EF4-FFF2-40B4-BE49-F238E27FC236}">
                <a16:creationId xmlns:a16="http://schemas.microsoft.com/office/drawing/2014/main" id="{3FF30399-4563-CF12-84B3-86DC99D11DF7}"/>
              </a:ext>
            </a:extLst>
          </p:cNvPr>
          <p:cNvSpPr txBox="1"/>
          <p:nvPr/>
        </p:nvSpPr>
        <p:spPr>
          <a:xfrm>
            <a:off x="5130800" y="1905000"/>
            <a:ext cx="2032000" cy="406400"/>
          </a:xfrm>
          <a:prstGeom prst="rect">
            <a:avLst/>
          </a:prstGeom>
          <a:noFill/>
        </p:spPr>
        <p:txBody>
          <a:bodyPr vert="horz" wrap="square" lIns="0" tIns="0" rIns="0" bIns="0" rtlCol="0" anchor="t">
            <a:noAutofit/>
          </a:bodyPr>
          <a:lstStyle/>
          <a:p>
            <a:r>
              <a:rPr lang="en-US" sz="1100">
                <a:solidFill>
                  <a:srgbClr val="5B6475"/>
                </a:solidFill>
                <a:latin typeface="Calibri" panose="020F0502020204030204" pitchFamily="34" charset="0"/>
              </a:rPr>
              <a:t>Decompose into work packages</a:t>
            </a:r>
          </a:p>
        </p:txBody>
      </p:sp>
      <p:sp>
        <p:nvSpPr>
          <p:cNvPr id="10" name="Arrow: Chevron 9">
            <a:extLst>
              <a:ext uri="{FF2B5EF4-FFF2-40B4-BE49-F238E27FC236}">
                <a16:creationId xmlns:a16="http://schemas.microsoft.com/office/drawing/2014/main" id="{0A188C87-D659-DBC2-6DFD-5034C540413A}"/>
              </a:ext>
            </a:extLst>
          </p:cNvPr>
          <p:cNvSpPr/>
          <p:nvPr/>
        </p:nvSpPr>
        <p:spPr>
          <a:xfrm>
            <a:off x="7213600" y="1320800"/>
            <a:ext cx="2336800" cy="508000"/>
          </a:xfrm>
          <a:prstGeom prst="chevron">
            <a:avLst/>
          </a:prstGeom>
          <a:solidFill>
            <a:srgbClr val="4F68A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25400" rIns="177800" bIns="25400" rtlCol="0" anchor="ctr"/>
          <a:lstStyle/>
          <a:p>
            <a:pPr algn="ctr"/>
            <a:r>
              <a:rPr lang="en-US" sz="1200" b="1">
                <a:solidFill>
                  <a:srgbClr val="FFFFFF"/>
                </a:solidFill>
                <a:latin typeface="Calibri" panose="020F0502020204030204" pitchFamily="34" charset="0"/>
              </a:rPr>
              <a:t>Validate scope</a:t>
            </a:r>
          </a:p>
        </p:txBody>
      </p:sp>
      <p:sp>
        <p:nvSpPr>
          <p:cNvPr id="11" name="TextBox 10">
            <a:extLst>
              <a:ext uri="{FF2B5EF4-FFF2-40B4-BE49-F238E27FC236}">
                <a16:creationId xmlns:a16="http://schemas.microsoft.com/office/drawing/2014/main" id="{AA21ED34-7349-2144-6458-5140752F5312}"/>
              </a:ext>
            </a:extLst>
          </p:cNvPr>
          <p:cNvSpPr txBox="1"/>
          <p:nvPr/>
        </p:nvSpPr>
        <p:spPr>
          <a:xfrm>
            <a:off x="7366000" y="1905000"/>
            <a:ext cx="2032000" cy="406400"/>
          </a:xfrm>
          <a:prstGeom prst="rect">
            <a:avLst/>
          </a:prstGeom>
          <a:noFill/>
        </p:spPr>
        <p:txBody>
          <a:bodyPr vert="horz" wrap="square" lIns="0" tIns="0" rIns="0" bIns="0" rtlCol="0" anchor="t">
            <a:noAutofit/>
          </a:bodyPr>
          <a:lstStyle/>
          <a:p>
            <a:r>
              <a:rPr lang="en-US" sz="1100">
                <a:solidFill>
                  <a:srgbClr val="5B6475"/>
                </a:solidFill>
                <a:latin typeface="Calibri" panose="020F0502020204030204" pitchFamily="34" charset="0"/>
              </a:rPr>
              <a:t>Customer formally accepts deliverables</a:t>
            </a:r>
          </a:p>
        </p:txBody>
      </p:sp>
      <p:sp>
        <p:nvSpPr>
          <p:cNvPr id="12" name="Arrow: Chevron 11">
            <a:extLst>
              <a:ext uri="{FF2B5EF4-FFF2-40B4-BE49-F238E27FC236}">
                <a16:creationId xmlns:a16="http://schemas.microsoft.com/office/drawing/2014/main" id="{4C3E6FA3-DA4B-B643-8851-F1307446D3BC}"/>
              </a:ext>
            </a:extLst>
          </p:cNvPr>
          <p:cNvSpPr/>
          <p:nvPr/>
        </p:nvSpPr>
        <p:spPr>
          <a:xfrm>
            <a:off x="9448800" y="1320800"/>
            <a:ext cx="2336800" cy="508000"/>
          </a:xfrm>
          <a:prstGeom prst="chevron">
            <a:avLst/>
          </a:prstGeom>
          <a:solidFill>
            <a:srgbClr val="6B82C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25400" rIns="177800" bIns="25400" rtlCol="0" anchor="ctr"/>
          <a:lstStyle/>
          <a:p>
            <a:pPr algn="ctr"/>
            <a:r>
              <a:rPr lang="en-US" sz="1200" b="1">
                <a:solidFill>
                  <a:srgbClr val="FFFFFF"/>
                </a:solidFill>
                <a:latin typeface="Calibri" panose="020F0502020204030204" pitchFamily="34" charset="0"/>
              </a:rPr>
              <a:t>Control scope</a:t>
            </a:r>
          </a:p>
        </p:txBody>
      </p:sp>
      <p:sp>
        <p:nvSpPr>
          <p:cNvPr id="13" name="TextBox 12">
            <a:extLst>
              <a:ext uri="{FF2B5EF4-FFF2-40B4-BE49-F238E27FC236}">
                <a16:creationId xmlns:a16="http://schemas.microsoft.com/office/drawing/2014/main" id="{A0088F83-F931-EDA3-2703-6A9E2E403737}"/>
              </a:ext>
            </a:extLst>
          </p:cNvPr>
          <p:cNvSpPr txBox="1"/>
          <p:nvPr/>
        </p:nvSpPr>
        <p:spPr>
          <a:xfrm>
            <a:off x="9601200" y="1905000"/>
            <a:ext cx="2032000" cy="406400"/>
          </a:xfrm>
          <a:prstGeom prst="rect">
            <a:avLst/>
          </a:prstGeom>
          <a:noFill/>
        </p:spPr>
        <p:txBody>
          <a:bodyPr vert="horz" wrap="square" lIns="0" tIns="0" rIns="0" bIns="0" rtlCol="0" anchor="t">
            <a:noAutofit/>
          </a:bodyPr>
          <a:lstStyle/>
          <a:p>
            <a:r>
              <a:rPr lang="en-US" sz="1100">
                <a:solidFill>
                  <a:srgbClr val="5B6475"/>
                </a:solidFill>
                <a:latin typeface="Calibri" panose="020F0502020204030204" pitchFamily="34" charset="0"/>
              </a:rPr>
              <a:t>Monitor; manage changes</a:t>
            </a:r>
          </a:p>
        </p:txBody>
      </p:sp>
      <p:sp>
        <p:nvSpPr>
          <p:cNvPr id="14" name="Rectangle: Rounded Corners 13">
            <a:extLst>
              <a:ext uri="{FF2B5EF4-FFF2-40B4-BE49-F238E27FC236}">
                <a16:creationId xmlns:a16="http://schemas.microsoft.com/office/drawing/2014/main" id="{6138C52A-C3A6-D168-753A-2B60AE0CCB44}"/>
              </a:ext>
            </a:extLst>
          </p:cNvPr>
          <p:cNvSpPr/>
          <p:nvPr/>
        </p:nvSpPr>
        <p:spPr>
          <a:xfrm>
            <a:off x="2413000" y="2438400"/>
            <a:ext cx="1524000" cy="355600"/>
          </a:xfrm>
          <a:prstGeom prst="roundRect">
            <a:avLst>
              <a:gd name="adj" fmla="val 8000"/>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200" b="1">
                <a:solidFill>
                  <a:srgbClr val="FFFFFF"/>
                </a:solidFill>
                <a:latin typeface="Calibri" panose="020F0502020204030204" pitchFamily="34" charset="0"/>
              </a:rPr>
              <a:t>Project</a:t>
            </a:r>
          </a:p>
        </p:txBody>
      </p:sp>
      <p:cxnSp>
        <p:nvCxnSpPr>
          <p:cNvPr id="15" name="Straight Connector 14">
            <a:extLst>
              <a:ext uri="{FF2B5EF4-FFF2-40B4-BE49-F238E27FC236}">
                <a16:creationId xmlns:a16="http://schemas.microsoft.com/office/drawing/2014/main" id="{76A9DB7B-EC16-B0D5-13AB-B464ECBD885F}"/>
              </a:ext>
            </a:extLst>
          </p:cNvPr>
          <p:cNvCxnSpPr/>
          <p:nvPr/>
        </p:nvCxnSpPr>
        <p:spPr>
          <a:xfrm>
            <a:off x="3175000" y="2794000"/>
            <a:ext cx="0" cy="127000"/>
          </a:xfrm>
          <a:prstGeom prst="line">
            <a:avLst/>
          </a:prstGeom>
          <a:ln w="15875">
            <a:solidFill>
              <a:srgbClr val="5B6475"/>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516377EE-56CA-1C3C-AECF-BF6E18E02FE1}"/>
              </a:ext>
            </a:extLst>
          </p:cNvPr>
          <p:cNvCxnSpPr/>
          <p:nvPr/>
        </p:nvCxnSpPr>
        <p:spPr>
          <a:xfrm>
            <a:off x="1270000" y="2921000"/>
            <a:ext cx="3810000" cy="0"/>
          </a:xfrm>
          <a:prstGeom prst="line">
            <a:avLst/>
          </a:prstGeom>
          <a:ln w="15875">
            <a:solidFill>
              <a:srgbClr val="5B6475"/>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51A86835-6137-785C-C89C-CF1D4A850469}"/>
              </a:ext>
            </a:extLst>
          </p:cNvPr>
          <p:cNvCxnSpPr/>
          <p:nvPr/>
        </p:nvCxnSpPr>
        <p:spPr>
          <a:xfrm>
            <a:off x="1270000" y="2921000"/>
            <a:ext cx="0" cy="127000"/>
          </a:xfrm>
          <a:prstGeom prst="line">
            <a:avLst/>
          </a:prstGeom>
          <a:ln w="15875">
            <a:solidFill>
              <a:srgbClr val="5B6475"/>
            </a:solidFill>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217D6D4C-736E-AEAB-9216-9E3400F5D6E9}"/>
              </a:ext>
            </a:extLst>
          </p:cNvPr>
          <p:cNvSpPr/>
          <p:nvPr/>
        </p:nvSpPr>
        <p:spPr>
          <a:xfrm>
            <a:off x="571500" y="3048000"/>
            <a:ext cx="1397000" cy="330200"/>
          </a:xfrm>
          <a:prstGeom prst="roundRect">
            <a:avLst>
              <a:gd name="adj" fmla="val 8000"/>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200" b="1">
                <a:solidFill>
                  <a:srgbClr val="FFFFFF"/>
                </a:solidFill>
                <a:latin typeface="Calibri" panose="020F0502020204030204" pitchFamily="34" charset="0"/>
              </a:rPr>
              <a:t>1  Design</a:t>
            </a:r>
          </a:p>
        </p:txBody>
      </p:sp>
      <p:cxnSp>
        <p:nvCxnSpPr>
          <p:cNvPr id="19" name="Straight Connector 18">
            <a:extLst>
              <a:ext uri="{FF2B5EF4-FFF2-40B4-BE49-F238E27FC236}">
                <a16:creationId xmlns:a16="http://schemas.microsoft.com/office/drawing/2014/main" id="{E854FE28-DAF5-98F1-7A41-58CCAEC8654E}"/>
              </a:ext>
            </a:extLst>
          </p:cNvPr>
          <p:cNvCxnSpPr/>
          <p:nvPr/>
        </p:nvCxnSpPr>
        <p:spPr>
          <a:xfrm>
            <a:off x="1270000" y="3378200"/>
            <a:ext cx="0" cy="101600"/>
          </a:xfrm>
          <a:prstGeom prst="line">
            <a:avLst/>
          </a:prstGeom>
          <a:ln w="15875">
            <a:solidFill>
              <a:srgbClr val="5B6475"/>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FFA3BE19-3ADB-F067-FE79-D570E1E32521}"/>
              </a:ext>
            </a:extLst>
          </p:cNvPr>
          <p:cNvCxnSpPr/>
          <p:nvPr/>
        </p:nvCxnSpPr>
        <p:spPr>
          <a:xfrm>
            <a:off x="876300" y="3479800"/>
            <a:ext cx="787400" cy="0"/>
          </a:xfrm>
          <a:prstGeom prst="line">
            <a:avLst/>
          </a:prstGeom>
          <a:ln w="15875">
            <a:solidFill>
              <a:srgbClr val="5B6475"/>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92098E74-1388-5802-AE68-B38924BCCBF6}"/>
              </a:ext>
            </a:extLst>
          </p:cNvPr>
          <p:cNvCxnSpPr/>
          <p:nvPr/>
        </p:nvCxnSpPr>
        <p:spPr>
          <a:xfrm>
            <a:off x="876300" y="3479800"/>
            <a:ext cx="0" cy="101600"/>
          </a:xfrm>
          <a:prstGeom prst="line">
            <a:avLst/>
          </a:prstGeom>
          <a:ln w="15875">
            <a:solidFill>
              <a:srgbClr val="5B6475"/>
            </a:solidFill>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49F1D883-B3F0-A2A4-1D2C-1229BFE0C89C}"/>
              </a:ext>
            </a:extLst>
          </p:cNvPr>
          <p:cNvSpPr/>
          <p:nvPr/>
        </p:nvSpPr>
        <p:spPr>
          <a:xfrm>
            <a:off x="520700" y="3581400"/>
            <a:ext cx="711200" cy="3048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100" b="1">
                <a:solidFill>
                  <a:srgbClr val="14213D"/>
                </a:solidFill>
                <a:latin typeface="Calibri" panose="020F0502020204030204" pitchFamily="34" charset="0"/>
              </a:rPr>
              <a:t>1.1</a:t>
            </a:r>
          </a:p>
        </p:txBody>
      </p:sp>
      <p:cxnSp>
        <p:nvCxnSpPr>
          <p:cNvPr id="23" name="Straight Connector 22">
            <a:extLst>
              <a:ext uri="{FF2B5EF4-FFF2-40B4-BE49-F238E27FC236}">
                <a16:creationId xmlns:a16="http://schemas.microsoft.com/office/drawing/2014/main" id="{43D5A314-13E4-0DC0-27C1-968653081E59}"/>
              </a:ext>
            </a:extLst>
          </p:cNvPr>
          <p:cNvCxnSpPr/>
          <p:nvPr/>
        </p:nvCxnSpPr>
        <p:spPr>
          <a:xfrm>
            <a:off x="1663700" y="3479800"/>
            <a:ext cx="0" cy="101600"/>
          </a:xfrm>
          <a:prstGeom prst="line">
            <a:avLst/>
          </a:prstGeom>
          <a:ln w="15875">
            <a:solidFill>
              <a:srgbClr val="5B6475"/>
            </a:solidFill>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07663E69-D353-7123-73A7-E909D8874D57}"/>
              </a:ext>
            </a:extLst>
          </p:cNvPr>
          <p:cNvSpPr/>
          <p:nvPr/>
        </p:nvSpPr>
        <p:spPr>
          <a:xfrm>
            <a:off x="1308100" y="3581400"/>
            <a:ext cx="711200" cy="3048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100" b="1">
                <a:solidFill>
                  <a:srgbClr val="14213D"/>
                </a:solidFill>
                <a:latin typeface="Calibri" panose="020F0502020204030204" pitchFamily="34" charset="0"/>
              </a:rPr>
              <a:t>1.2</a:t>
            </a:r>
          </a:p>
        </p:txBody>
      </p:sp>
      <p:cxnSp>
        <p:nvCxnSpPr>
          <p:cNvPr id="25" name="Straight Connector 24">
            <a:extLst>
              <a:ext uri="{FF2B5EF4-FFF2-40B4-BE49-F238E27FC236}">
                <a16:creationId xmlns:a16="http://schemas.microsoft.com/office/drawing/2014/main" id="{0BA0B8C4-DC77-9711-C382-2FD6A6AB30A6}"/>
              </a:ext>
            </a:extLst>
          </p:cNvPr>
          <p:cNvCxnSpPr/>
          <p:nvPr/>
        </p:nvCxnSpPr>
        <p:spPr>
          <a:xfrm>
            <a:off x="3175000" y="2921000"/>
            <a:ext cx="0" cy="127000"/>
          </a:xfrm>
          <a:prstGeom prst="line">
            <a:avLst/>
          </a:prstGeom>
          <a:ln w="15875">
            <a:solidFill>
              <a:srgbClr val="5B6475"/>
            </a:solidFill>
          </a:ln>
        </p:spPr>
        <p:style>
          <a:lnRef idx="2">
            <a:schemeClr val="accent1"/>
          </a:lnRef>
          <a:fillRef idx="0">
            <a:schemeClr val="accent1"/>
          </a:fillRef>
          <a:effectRef idx="1">
            <a:schemeClr val="accent1"/>
          </a:effectRef>
          <a:fontRef idx="minor">
            <a:schemeClr val="tx1"/>
          </a:fontRef>
        </p:style>
      </p:cxnSp>
      <p:sp>
        <p:nvSpPr>
          <p:cNvPr id="26" name="Rectangle: Rounded Corners 25">
            <a:extLst>
              <a:ext uri="{FF2B5EF4-FFF2-40B4-BE49-F238E27FC236}">
                <a16:creationId xmlns:a16="http://schemas.microsoft.com/office/drawing/2014/main" id="{781EAA17-F9F5-3613-DF32-663D953720BF}"/>
              </a:ext>
            </a:extLst>
          </p:cNvPr>
          <p:cNvSpPr/>
          <p:nvPr/>
        </p:nvSpPr>
        <p:spPr>
          <a:xfrm>
            <a:off x="2476500" y="3048000"/>
            <a:ext cx="1397000" cy="330200"/>
          </a:xfrm>
          <a:prstGeom prst="roundRect">
            <a:avLst>
              <a:gd name="adj" fmla="val 8000"/>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200" b="1">
                <a:solidFill>
                  <a:srgbClr val="FFFFFF"/>
                </a:solidFill>
                <a:latin typeface="Calibri" panose="020F0502020204030204" pitchFamily="34" charset="0"/>
              </a:rPr>
              <a:t>2  Build</a:t>
            </a:r>
          </a:p>
        </p:txBody>
      </p:sp>
      <p:cxnSp>
        <p:nvCxnSpPr>
          <p:cNvPr id="27" name="Straight Connector 26">
            <a:extLst>
              <a:ext uri="{FF2B5EF4-FFF2-40B4-BE49-F238E27FC236}">
                <a16:creationId xmlns:a16="http://schemas.microsoft.com/office/drawing/2014/main" id="{668303B1-5BDB-9BC4-85D6-F581DF37DA35}"/>
              </a:ext>
            </a:extLst>
          </p:cNvPr>
          <p:cNvCxnSpPr/>
          <p:nvPr/>
        </p:nvCxnSpPr>
        <p:spPr>
          <a:xfrm>
            <a:off x="3175000" y="3378200"/>
            <a:ext cx="0" cy="101600"/>
          </a:xfrm>
          <a:prstGeom prst="line">
            <a:avLst/>
          </a:prstGeom>
          <a:ln w="15875">
            <a:solidFill>
              <a:srgbClr val="5B6475"/>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B5C7D2A6-1E36-AD2B-94CB-2354C3357A00}"/>
              </a:ext>
            </a:extLst>
          </p:cNvPr>
          <p:cNvCxnSpPr/>
          <p:nvPr/>
        </p:nvCxnSpPr>
        <p:spPr>
          <a:xfrm>
            <a:off x="2781300" y="3479800"/>
            <a:ext cx="787400" cy="0"/>
          </a:xfrm>
          <a:prstGeom prst="line">
            <a:avLst/>
          </a:prstGeom>
          <a:ln w="15875">
            <a:solidFill>
              <a:srgbClr val="5B6475"/>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8E96BF7A-3F55-3AA1-11DE-7E499CB11A59}"/>
              </a:ext>
            </a:extLst>
          </p:cNvPr>
          <p:cNvCxnSpPr/>
          <p:nvPr/>
        </p:nvCxnSpPr>
        <p:spPr>
          <a:xfrm>
            <a:off x="2781300" y="3479800"/>
            <a:ext cx="0" cy="101600"/>
          </a:xfrm>
          <a:prstGeom prst="line">
            <a:avLst/>
          </a:prstGeom>
          <a:ln w="15875">
            <a:solidFill>
              <a:srgbClr val="5B6475"/>
            </a:solidFill>
          </a:ln>
        </p:spPr>
        <p:style>
          <a:lnRef idx="2">
            <a:schemeClr val="accent1"/>
          </a:lnRef>
          <a:fillRef idx="0">
            <a:schemeClr val="accent1"/>
          </a:fillRef>
          <a:effectRef idx="1">
            <a:schemeClr val="accent1"/>
          </a:effectRef>
          <a:fontRef idx="minor">
            <a:schemeClr val="tx1"/>
          </a:fontRef>
        </p:style>
      </p:cxnSp>
      <p:sp>
        <p:nvSpPr>
          <p:cNvPr id="30" name="Rectangle: Rounded Corners 29">
            <a:extLst>
              <a:ext uri="{FF2B5EF4-FFF2-40B4-BE49-F238E27FC236}">
                <a16:creationId xmlns:a16="http://schemas.microsoft.com/office/drawing/2014/main" id="{B2FEC115-D080-D760-AC98-EB7418C4A82C}"/>
              </a:ext>
            </a:extLst>
          </p:cNvPr>
          <p:cNvSpPr/>
          <p:nvPr/>
        </p:nvSpPr>
        <p:spPr>
          <a:xfrm>
            <a:off x="2425700" y="3581400"/>
            <a:ext cx="711200" cy="3048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100" b="1">
                <a:solidFill>
                  <a:srgbClr val="14213D"/>
                </a:solidFill>
                <a:latin typeface="Calibri" panose="020F0502020204030204" pitchFamily="34" charset="0"/>
              </a:rPr>
              <a:t>2.1</a:t>
            </a:r>
          </a:p>
        </p:txBody>
      </p:sp>
      <p:cxnSp>
        <p:nvCxnSpPr>
          <p:cNvPr id="31" name="Straight Connector 30">
            <a:extLst>
              <a:ext uri="{FF2B5EF4-FFF2-40B4-BE49-F238E27FC236}">
                <a16:creationId xmlns:a16="http://schemas.microsoft.com/office/drawing/2014/main" id="{C44B5203-893F-F336-FF26-EA3368569435}"/>
              </a:ext>
            </a:extLst>
          </p:cNvPr>
          <p:cNvCxnSpPr/>
          <p:nvPr/>
        </p:nvCxnSpPr>
        <p:spPr>
          <a:xfrm>
            <a:off x="3568700" y="3479800"/>
            <a:ext cx="0" cy="101600"/>
          </a:xfrm>
          <a:prstGeom prst="line">
            <a:avLst/>
          </a:prstGeom>
          <a:ln w="15875">
            <a:solidFill>
              <a:srgbClr val="5B6475"/>
            </a:solidFill>
          </a:ln>
        </p:spPr>
        <p:style>
          <a:lnRef idx="2">
            <a:schemeClr val="accent1"/>
          </a:lnRef>
          <a:fillRef idx="0">
            <a:schemeClr val="accent1"/>
          </a:fillRef>
          <a:effectRef idx="1">
            <a:schemeClr val="accent1"/>
          </a:effectRef>
          <a:fontRef idx="minor">
            <a:schemeClr val="tx1"/>
          </a:fontRef>
        </p:style>
      </p:cxnSp>
      <p:sp>
        <p:nvSpPr>
          <p:cNvPr id="32" name="Rectangle: Rounded Corners 31">
            <a:extLst>
              <a:ext uri="{FF2B5EF4-FFF2-40B4-BE49-F238E27FC236}">
                <a16:creationId xmlns:a16="http://schemas.microsoft.com/office/drawing/2014/main" id="{A4D8A6C5-F943-7BF2-182C-3C3E2B4BF404}"/>
              </a:ext>
            </a:extLst>
          </p:cNvPr>
          <p:cNvSpPr/>
          <p:nvPr/>
        </p:nvSpPr>
        <p:spPr>
          <a:xfrm>
            <a:off x="3213100" y="3581400"/>
            <a:ext cx="711200" cy="3048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100" b="1">
                <a:solidFill>
                  <a:srgbClr val="14213D"/>
                </a:solidFill>
                <a:latin typeface="Calibri" panose="020F0502020204030204" pitchFamily="34" charset="0"/>
              </a:rPr>
              <a:t>2.2</a:t>
            </a:r>
          </a:p>
        </p:txBody>
      </p:sp>
      <p:cxnSp>
        <p:nvCxnSpPr>
          <p:cNvPr id="33" name="Straight Connector 32">
            <a:extLst>
              <a:ext uri="{FF2B5EF4-FFF2-40B4-BE49-F238E27FC236}">
                <a16:creationId xmlns:a16="http://schemas.microsoft.com/office/drawing/2014/main" id="{14A0ACA7-3336-8A67-70AF-A19DAB3B7609}"/>
              </a:ext>
            </a:extLst>
          </p:cNvPr>
          <p:cNvCxnSpPr/>
          <p:nvPr/>
        </p:nvCxnSpPr>
        <p:spPr>
          <a:xfrm>
            <a:off x="5080000" y="2921000"/>
            <a:ext cx="0" cy="127000"/>
          </a:xfrm>
          <a:prstGeom prst="line">
            <a:avLst/>
          </a:prstGeom>
          <a:ln w="15875">
            <a:solidFill>
              <a:srgbClr val="5B6475"/>
            </a:solidFill>
          </a:ln>
        </p:spPr>
        <p:style>
          <a:lnRef idx="2">
            <a:schemeClr val="accent1"/>
          </a:lnRef>
          <a:fillRef idx="0">
            <a:schemeClr val="accent1"/>
          </a:fillRef>
          <a:effectRef idx="1">
            <a:schemeClr val="accent1"/>
          </a:effectRef>
          <a:fontRef idx="minor">
            <a:schemeClr val="tx1"/>
          </a:fontRef>
        </p:style>
      </p:cxnSp>
      <p:sp>
        <p:nvSpPr>
          <p:cNvPr id="34" name="Rectangle: Rounded Corners 33">
            <a:extLst>
              <a:ext uri="{FF2B5EF4-FFF2-40B4-BE49-F238E27FC236}">
                <a16:creationId xmlns:a16="http://schemas.microsoft.com/office/drawing/2014/main" id="{289DD1EF-818D-D9C3-090D-40A01BA7DE05}"/>
              </a:ext>
            </a:extLst>
          </p:cNvPr>
          <p:cNvSpPr/>
          <p:nvPr/>
        </p:nvSpPr>
        <p:spPr>
          <a:xfrm>
            <a:off x="4381500" y="3048000"/>
            <a:ext cx="1397000" cy="330200"/>
          </a:xfrm>
          <a:prstGeom prst="roundRect">
            <a:avLst>
              <a:gd name="adj" fmla="val 8000"/>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200" b="1">
                <a:solidFill>
                  <a:srgbClr val="FFFFFF"/>
                </a:solidFill>
                <a:latin typeface="Calibri" panose="020F0502020204030204" pitchFamily="34" charset="0"/>
              </a:rPr>
              <a:t>3  Test</a:t>
            </a:r>
          </a:p>
        </p:txBody>
      </p:sp>
      <p:cxnSp>
        <p:nvCxnSpPr>
          <p:cNvPr id="35" name="Straight Connector 34">
            <a:extLst>
              <a:ext uri="{FF2B5EF4-FFF2-40B4-BE49-F238E27FC236}">
                <a16:creationId xmlns:a16="http://schemas.microsoft.com/office/drawing/2014/main" id="{E2C40D15-7DD7-BBD0-F8F5-18481478ED6A}"/>
              </a:ext>
            </a:extLst>
          </p:cNvPr>
          <p:cNvCxnSpPr/>
          <p:nvPr/>
        </p:nvCxnSpPr>
        <p:spPr>
          <a:xfrm>
            <a:off x="5080000" y="3378200"/>
            <a:ext cx="0" cy="101600"/>
          </a:xfrm>
          <a:prstGeom prst="line">
            <a:avLst/>
          </a:prstGeom>
          <a:ln w="15875">
            <a:solidFill>
              <a:srgbClr val="5B6475"/>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D44C3962-914A-DFFB-F27B-52D75ACC8AB3}"/>
              </a:ext>
            </a:extLst>
          </p:cNvPr>
          <p:cNvCxnSpPr/>
          <p:nvPr/>
        </p:nvCxnSpPr>
        <p:spPr>
          <a:xfrm>
            <a:off x="4686300" y="3479800"/>
            <a:ext cx="787400" cy="0"/>
          </a:xfrm>
          <a:prstGeom prst="line">
            <a:avLst/>
          </a:prstGeom>
          <a:ln w="15875">
            <a:solidFill>
              <a:srgbClr val="5B6475"/>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48E98DCE-B60C-9919-D68A-A5C14289DD22}"/>
              </a:ext>
            </a:extLst>
          </p:cNvPr>
          <p:cNvCxnSpPr/>
          <p:nvPr/>
        </p:nvCxnSpPr>
        <p:spPr>
          <a:xfrm>
            <a:off x="4686300" y="3479800"/>
            <a:ext cx="0" cy="101600"/>
          </a:xfrm>
          <a:prstGeom prst="line">
            <a:avLst/>
          </a:prstGeom>
          <a:ln w="15875">
            <a:solidFill>
              <a:srgbClr val="5B6475"/>
            </a:solidFill>
          </a:ln>
        </p:spPr>
        <p:style>
          <a:lnRef idx="2">
            <a:schemeClr val="accent1"/>
          </a:lnRef>
          <a:fillRef idx="0">
            <a:schemeClr val="accent1"/>
          </a:fillRef>
          <a:effectRef idx="1">
            <a:schemeClr val="accent1"/>
          </a:effectRef>
          <a:fontRef idx="minor">
            <a:schemeClr val="tx1"/>
          </a:fontRef>
        </p:style>
      </p:cxnSp>
      <p:sp>
        <p:nvSpPr>
          <p:cNvPr id="38" name="Rectangle: Rounded Corners 37">
            <a:extLst>
              <a:ext uri="{FF2B5EF4-FFF2-40B4-BE49-F238E27FC236}">
                <a16:creationId xmlns:a16="http://schemas.microsoft.com/office/drawing/2014/main" id="{74905E2B-1739-2AAA-CCBA-03317730E770}"/>
              </a:ext>
            </a:extLst>
          </p:cNvPr>
          <p:cNvSpPr/>
          <p:nvPr/>
        </p:nvSpPr>
        <p:spPr>
          <a:xfrm>
            <a:off x="4330700" y="3581400"/>
            <a:ext cx="711200" cy="3048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100" b="1">
                <a:solidFill>
                  <a:srgbClr val="14213D"/>
                </a:solidFill>
                <a:latin typeface="Calibri" panose="020F0502020204030204" pitchFamily="34" charset="0"/>
              </a:rPr>
              <a:t>3.1</a:t>
            </a:r>
          </a:p>
        </p:txBody>
      </p:sp>
      <p:cxnSp>
        <p:nvCxnSpPr>
          <p:cNvPr id="39" name="Straight Connector 38">
            <a:extLst>
              <a:ext uri="{FF2B5EF4-FFF2-40B4-BE49-F238E27FC236}">
                <a16:creationId xmlns:a16="http://schemas.microsoft.com/office/drawing/2014/main" id="{D35A70DB-8C26-12C8-F0C6-C602DBAADCFB}"/>
              </a:ext>
            </a:extLst>
          </p:cNvPr>
          <p:cNvCxnSpPr/>
          <p:nvPr/>
        </p:nvCxnSpPr>
        <p:spPr>
          <a:xfrm>
            <a:off x="5473700" y="3479800"/>
            <a:ext cx="0" cy="101600"/>
          </a:xfrm>
          <a:prstGeom prst="line">
            <a:avLst/>
          </a:prstGeom>
          <a:ln w="15875">
            <a:solidFill>
              <a:srgbClr val="5B6475"/>
            </a:solidFill>
          </a:ln>
        </p:spPr>
        <p:style>
          <a:lnRef idx="2">
            <a:schemeClr val="accent1"/>
          </a:lnRef>
          <a:fillRef idx="0">
            <a:schemeClr val="accent1"/>
          </a:fillRef>
          <a:effectRef idx="1">
            <a:schemeClr val="accent1"/>
          </a:effectRef>
          <a:fontRef idx="minor">
            <a:schemeClr val="tx1"/>
          </a:fontRef>
        </p:style>
      </p:cxnSp>
      <p:sp>
        <p:nvSpPr>
          <p:cNvPr id="40" name="Rectangle: Rounded Corners 39">
            <a:extLst>
              <a:ext uri="{FF2B5EF4-FFF2-40B4-BE49-F238E27FC236}">
                <a16:creationId xmlns:a16="http://schemas.microsoft.com/office/drawing/2014/main" id="{3AD3185B-E945-1EE1-9C91-0418F5280C36}"/>
              </a:ext>
            </a:extLst>
          </p:cNvPr>
          <p:cNvSpPr/>
          <p:nvPr/>
        </p:nvSpPr>
        <p:spPr>
          <a:xfrm>
            <a:off x="5118100" y="3581400"/>
            <a:ext cx="711200" cy="3048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100" b="1">
                <a:solidFill>
                  <a:srgbClr val="14213D"/>
                </a:solidFill>
                <a:latin typeface="Calibri" panose="020F0502020204030204" pitchFamily="34" charset="0"/>
              </a:rPr>
              <a:t>3.2</a:t>
            </a:r>
          </a:p>
        </p:txBody>
      </p:sp>
      <p:sp>
        <p:nvSpPr>
          <p:cNvPr id="41" name="TextBox 40">
            <a:extLst>
              <a:ext uri="{FF2B5EF4-FFF2-40B4-BE49-F238E27FC236}">
                <a16:creationId xmlns:a16="http://schemas.microsoft.com/office/drawing/2014/main" id="{D4BD709F-E341-D982-D4F9-D68156608016}"/>
              </a:ext>
            </a:extLst>
          </p:cNvPr>
          <p:cNvSpPr txBox="1"/>
          <p:nvPr/>
        </p:nvSpPr>
        <p:spPr>
          <a:xfrm>
            <a:off x="508000" y="3962400"/>
            <a:ext cx="5334000" cy="228600"/>
          </a:xfrm>
          <a:prstGeom prst="rect">
            <a:avLst/>
          </a:prstGeom>
          <a:noFill/>
        </p:spPr>
        <p:txBody>
          <a:bodyPr vert="horz" wrap="square" lIns="0" tIns="0" rIns="0" bIns="0" rtlCol="0" anchor="t">
            <a:noAutofit/>
          </a:bodyPr>
          <a:lstStyle/>
          <a:p>
            <a:r>
              <a:rPr lang="en-US" sz="1100" i="1">
                <a:solidFill>
                  <a:srgbClr val="5B6475"/>
                </a:solidFill>
                <a:latin typeface="Calibri" panose="020F0502020204030204" pitchFamily="34" charset="0"/>
              </a:rPr>
              <a:t>The WBS holds 100% of the work; the lowest level is the work package.</a:t>
            </a:r>
          </a:p>
        </p:txBody>
      </p:sp>
      <p:sp>
        <p:nvSpPr>
          <p:cNvPr id="42" name="Rectangle: Rounded Corners 41">
            <a:extLst>
              <a:ext uri="{FF2B5EF4-FFF2-40B4-BE49-F238E27FC236}">
                <a16:creationId xmlns:a16="http://schemas.microsoft.com/office/drawing/2014/main" id="{80AA4084-3D91-50BD-3B23-2CEDBF2D978F}"/>
              </a:ext>
            </a:extLst>
          </p:cNvPr>
          <p:cNvSpPr/>
          <p:nvPr/>
        </p:nvSpPr>
        <p:spPr>
          <a:xfrm>
            <a:off x="508000" y="4292600"/>
            <a:ext cx="5334000" cy="10668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F6555FF2-707C-6982-8607-7F911C395E5E}"/>
              </a:ext>
            </a:extLst>
          </p:cNvPr>
          <p:cNvSpPr txBox="1"/>
          <p:nvPr/>
        </p:nvSpPr>
        <p:spPr>
          <a:xfrm>
            <a:off x="635000" y="4419600"/>
            <a:ext cx="5080000" cy="812800"/>
          </a:xfrm>
          <a:prstGeom prst="rect">
            <a:avLst/>
          </a:prstGeom>
          <a:noFill/>
        </p:spPr>
        <p:txBody>
          <a:bodyPr vert="horz" wrap="square" lIns="0" tIns="0" rIns="0" bIns="0" rtlCol="0" anchor="t">
            <a:noAutofit/>
          </a:bodyPr>
          <a:lstStyle/>
          <a:p>
            <a:pPr>
              <a:spcAft>
                <a:spcPts val="600"/>
              </a:spcAft>
            </a:pPr>
            <a:r>
              <a:rPr lang="en-US" sz="1300" b="1">
                <a:solidFill>
                  <a:srgbClr val="A86F0E"/>
                </a:solidFill>
                <a:latin typeface="Calibri" panose="020F0502020204030204" pitchFamily="34" charset="0"/>
              </a:rPr>
              <a:t>Agile scope</a:t>
            </a:r>
          </a:p>
          <a:p>
            <a:r>
              <a:rPr lang="en-US" sz="1200">
                <a:solidFill>
                  <a:srgbClr val="1F2937"/>
                </a:solidFill>
                <a:latin typeface="Calibri" panose="020F0502020204030204" pitchFamily="34" charset="0"/>
              </a:rPr>
              <a:t>The product backlog is the scope: the product owner orders it, and the definition of done sets acceptance.</a:t>
            </a:r>
          </a:p>
        </p:txBody>
      </p:sp>
      <p:sp>
        <p:nvSpPr>
          <p:cNvPr id="44" name="Rectangle: Rounded Corners 43">
            <a:extLst>
              <a:ext uri="{FF2B5EF4-FFF2-40B4-BE49-F238E27FC236}">
                <a16:creationId xmlns:a16="http://schemas.microsoft.com/office/drawing/2014/main" id="{E7B75E72-3605-078C-FB8E-63D7761B250E}"/>
              </a:ext>
            </a:extLst>
          </p:cNvPr>
          <p:cNvSpPr/>
          <p:nvPr/>
        </p:nvSpPr>
        <p:spPr>
          <a:xfrm>
            <a:off x="6096000" y="2438400"/>
            <a:ext cx="5588000" cy="9398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D9920B5E-094D-A877-D1AD-65CF6853AE3E}"/>
              </a:ext>
            </a:extLst>
          </p:cNvPr>
          <p:cNvSpPr txBox="1"/>
          <p:nvPr/>
        </p:nvSpPr>
        <p:spPr>
          <a:xfrm>
            <a:off x="6223000" y="2565400"/>
            <a:ext cx="5334000" cy="685800"/>
          </a:xfrm>
          <a:prstGeom prst="rect">
            <a:avLst/>
          </a:prstGeom>
          <a:noFill/>
        </p:spPr>
        <p:txBody>
          <a:bodyPr vert="horz" wrap="square" lIns="0" tIns="0" rIns="0" bIns="0" rtlCol="0" anchor="t">
            <a:noAutofit/>
          </a:bodyPr>
          <a:lstStyle/>
          <a:p>
            <a:pPr>
              <a:spcAft>
                <a:spcPts val="600"/>
              </a:spcAft>
            </a:pPr>
            <a:r>
              <a:rPr lang="en-US" sz="1300" b="1">
                <a:solidFill>
                  <a:srgbClr val="34509A"/>
                </a:solidFill>
                <a:latin typeface="Calibri" panose="020F0502020204030204" pitchFamily="34" charset="0"/>
              </a:rPr>
              <a:t>Scope baseline</a:t>
            </a:r>
          </a:p>
          <a:p>
            <a:r>
              <a:rPr lang="en-US" sz="1200">
                <a:solidFill>
                  <a:srgbClr val="1F2937"/>
                </a:solidFill>
                <a:latin typeface="Calibri" panose="020F0502020204030204" pitchFamily="34" charset="0"/>
              </a:rPr>
              <a:t>Approved scope statement + WBS + WBS dictionary. It changes only through change control.</a:t>
            </a:r>
          </a:p>
        </p:txBody>
      </p:sp>
      <p:sp>
        <p:nvSpPr>
          <p:cNvPr id="46" name="Rectangle: Rounded Corners 45">
            <a:extLst>
              <a:ext uri="{FF2B5EF4-FFF2-40B4-BE49-F238E27FC236}">
                <a16:creationId xmlns:a16="http://schemas.microsoft.com/office/drawing/2014/main" id="{028A1537-4DC1-D78B-3036-88476C1E3222}"/>
              </a:ext>
            </a:extLst>
          </p:cNvPr>
          <p:cNvSpPr/>
          <p:nvPr/>
        </p:nvSpPr>
        <p:spPr>
          <a:xfrm>
            <a:off x="6096000" y="3454400"/>
            <a:ext cx="5588000" cy="9398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526FEFE5-13DA-5EFF-186A-BACD81555534}"/>
              </a:ext>
            </a:extLst>
          </p:cNvPr>
          <p:cNvSpPr txBox="1"/>
          <p:nvPr/>
        </p:nvSpPr>
        <p:spPr>
          <a:xfrm>
            <a:off x="6223000" y="3581400"/>
            <a:ext cx="5334000" cy="685800"/>
          </a:xfrm>
          <a:prstGeom prst="rect">
            <a:avLst/>
          </a:prstGeom>
          <a:noFill/>
        </p:spPr>
        <p:txBody>
          <a:bodyPr vert="horz" wrap="square" lIns="0" tIns="0" rIns="0" bIns="0" rtlCol="0" anchor="t">
            <a:noAutofit/>
          </a:bodyPr>
          <a:lstStyle/>
          <a:p>
            <a:pPr>
              <a:spcAft>
                <a:spcPts val="600"/>
              </a:spcAft>
            </a:pPr>
            <a:r>
              <a:rPr lang="en-US" sz="1300" b="1">
                <a:solidFill>
                  <a:srgbClr val="34509A"/>
                </a:solidFill>
                <a:latin typeface="Calibri" panose="020F0502020204030204" pitchFamily="34" charset="0"/>
              </a:rPr>
              <a:t>Requirements traceability matrix</a:t>
            </a:r>
          </a:p>
          <a:p>
            <a:r>
              <a:rPr lang="en-US" sz="1200">
                <a:solidFill>
                  <a:srgbClr val="1F2937"/>
                </a:solidFill>
                <a:latin typeface="Calibri" panose="020F0502020204030204" pitchFamily="34" charset="0"/>
              </a:rPr>
              <a:t>Links each requirement to its source, deliverable, and test, so nothing is lost or quietly added.</a:t>
            </a:r>
          </a:p>
        </p:txBody>
      </p:sp>
      <p:sp>
        <p:nvSpPr>
          <p:cNvPr id="48" name="Rectangle: Rounded Corners 47">
            <a:extLst>
              <a:ext uri="{FF2B5EF4-FFF2-40B4-BE49-F238E27FC236}">
                <a16:creationId xmlns:a16="http://schemas.microsoft.com/office/drawing/2014/main" id="{DB7E73DE-9F6D-2992-C167-56C92D1FCC64}"/>
              </a:ext>
            </a:extLst>
          </p:cNvPr>
          <p:cNvSpPr/>
          <p:nvPr/>
        </p:nvSpPr>
        <p:spPr>
          <a:xfrm>
            <a:off x="6096000" y="4470400"/>
            <a:ext cx="5588000" cy="9398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90B39D63-C79F-B582-0565-4FD7FD496E11}"/>
              </a:ext>
            </a:extLst>
          </p:cNvPr>
          <p:cNvSpPr txBox="1"/>
          <p:nvPr/>
        </p:nvSpPr>
        <p:spPr>
          <a:xfrm>
            <a:off x="6223000" y="4597400"/>
            <a:ext cx="5334000" cy="685800"/>
          </a:xfrm>
          <a:prstGeom prst="rect">
            <a:avLst/>
          </a:prstGeom>
          <a:noFill/>
        </p:spPr>
        <p:txBody>
          <a:bodyPr vert="horz" wrap="square" lIns="0" tIns="0" rIns="0" bIns="0" rtlCol="0" anchor="t">
            <a:noAutofit/>
          </a:bodyPr>
          <a:lstStyle/>
          <a:p>
            <a:pPr>
              <a:spcAft>
                <a:spcPts val="600"/>
              </a:spcAft>
            </a:pPr>
            <a:r>
              <a:rPr lang="en-US" sz="1300" b="1">
                <a:solidFill>
                  <a:srgbClr val="34509A"/>
                </a:solidFill>
                <a:latin typeface="Calibri" panose="020F0502020204030204" pitchFamily="34" charset="0"/>
              </a:rPr>
              <a:t>Validate vs. control scope</a:t>
            </a:r>
          </a:p>
          <a:p>
            <a:r>
              <a:rPr lang="en-US" sz="1200">
                <a:solidFill>
                  <a:srgbClr val="1F2937"/>
                </a:solidFill>
                <a:latin typeface="Calibri" panose="020F0502020204030204" pitchFamily="34" charset="0"/>
              </a:rPr>
              <a:t>Validate: the customer accepts deliverables that quality control has already checked. Control: watch for scope creep.</a:t>
            </a:r>
          </a:p>
        </p:txBody>
      </p:sp>
      <p:sp>
        <p:nvSpPr>
          <p:cNvPr id="50" name="Rectangle: Rounded Corners 49">
            <a:extLst>
              <a:ext uri="{FF2B5EF4-FFF2-40B4-BE49-F238E27FC236}">
                <a16:creationId xmlns:a16="http://schemas.microsoft.com/office/drawing/2014/main" id="{CC212321-A4BE-00A3-D3D8-7139BBDFC5B0}"/>
              </a:ext>
            </a:extLst>
          </p:cNvPr>
          <p:cNvSpPr/>
          <p:nvPr/>
        </p:nvSpPr>
        <p:spPr>
          <a:xfrm>
            <a:off x="508000" y="5486400"/>
            <a:ext cx="11176000" cy="838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80FB3108-7083-DA14-348E-2A4DD94B6A3A}"/>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work that is not in the WBS is not in scope. Gold plating (adding unrequested extras) is scope creep, even when it is free.</a:t>
            </a:r>
          </a:p>
        </p:txBody>
      </p:sp>
      <p:sp>
        <p:nvSpPr>
          <p:cNvPr id="52" name="Footer">
            <a:extLst>
              <a:ext uri="{FF2B5EF4-FFF2-40B4-BE49-F238E27FC236}">
                <a16:creationId xmlns:a16="http://schemas.microsoft.com/office/drawing/2014/main" id="{23BF4C18-47F2-AB60-EDA2-BB94ED1A4B31}"/>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fr-FR" sz="1000">
                <a:solidFill>
                  <a:srgbClr val="5B6475"/>
                </a:solidFill>
                <a:latin typeface="Calibri" panose="020F0502020204030204" pitchFamily="34" charset="0"/>
              </a:rPr>
              <a:t>Source: PMI, PMBOK® Guide — Sixth Edition, Sections 5.2–5.6 (scope management processes)</a:t>
            </a:r>
            <a:endParaRPr lang="en-US" sz="1000">
              <a:solidFill>
                <a:srgbClr val="5B6475"/>
              </a:solidFill>
              <a:latin typeface="Calibri" panose="020F0502020204030204" pitchFamily="34" charset="0"/>
            </a:endParaRPr>
          </a:p>
        </p:txBody>
      </p:sp>
      <p:sp>
        <p:nvSpPr>
          <p:cNvPr id="53" name="SlideNum">
            <a:extLst>
              <a:ext uri="{FF2B5EF4-FFF2-40B4-BE49-F238E27FC236}">
                <a16:creationId xmlns:a16="http://schemas.microsoft.com/office/drawing/2014/main" id="{E989DF70-CC74-1C3A-AA3F-55709D3517FB}"/>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34</a:t>
            </a:r>
          </a:p>
        </p:txBody>
      </p:sp>
      <p:sp>
        <p:nvSpPr>
          <p:cNvPr id="54"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7708278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8342676-4170-50A3-A222-FA615A22CC5C}"/>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Sequence activities and milestones</a:t>
            </a:r>
          </a:p>
        </p:txBody>
      </p:sp>
      <p:sp>
        <p:nvSpPr>
          <p:cNvPr id="3" name="Tag">
            <a:extLst>
              <a:ext uri="{FF2B5EF4-FFF2-40B4-BE49-F238E27FC236}">
                <a16:creationId xmlns:a16="http://schemas.microsoft.com/office/drawing/2014/main" id="{97795874-45C5-3E8B-2DE9-F023C3A11F2F}"/>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8 (Plan and manage schedule)</a:t>
            </a:r>
          </a:p>
        </p:txBody>
      </p:sp>
      <p:sp>
        <p:nvSpPr>
          <p:cNvPr id="4" name="Rectangle: Rounded Corners 3">
            <a:extLst>
              <a:ext uri="{FF2B5EF4-FFF2-40B4-BE49-F238E27FC236}">
                <a16:creationId xmlns:a16="http://schemas.microsoft.com/office/drawing/2014/main" id="{1F121470-08EC-6755-B68F-A77AEC02AF86}"/>
              </a:ext>
            </a:extLst>
          </p:cNvPr>
          <p:cNvSpPr/>
          <p:nvPr/>
        </p:nvSpPr>
        <p:spPr>
          <a:xfrm>
            <a:off x="508000" y="1320800"/>
            <a:ext cx="5588000" cy="1041400"/>
          </a:xfrm>
          <a:prstGeom prst="roundRect">
            <a:avLst>
              <a:gd name="adj" fmla="val 8000"/>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2303A6D-63E1-45E1-22EB-433636742F9F}"/>
              </a:ext>
            </a:extLst>
          </p:cNvPr>
          <p:cNvSpPr txBox="1"/>
          <p:nvPr/>
        </p:nvSpPr>
        <p:spPr>
          <a:xfrm>
            <a:off x="736600" y="1422400"/>
            <a:ext cx="5080000" cy="228600"/>
          </a:xfrm>
          <a:prstGeom prst="rect">
            <a:avLst/>
          </a:prstGeom>
          <a:noFill/>
        </p:spPr>
        <p:txBody>
          <a:bodyPr vert="horz" wrap="square" lIns="0" tIns="0" rIns="0" bIns="0" rtlCol="0" anchor="t">
            <a:noAutofit/>
          </a:bodyPr>
          <a:lstStyle/>
          <a:p>
            <a:r>
              <a:rPr lang="en-US" sz="1300" b="1">
                <a:solidFill>
                  <a:srgbClr val="E3A63B"/>
                </a:solidFill>
                <a:latin typeface="Calibri" panose="020F0502020204030204" pitchFamily="34" charset="0"/>
              </a:rPr>
              <a:t>Sequence Activities</a:t>
            </a:r>
          </a:p>
        </p:txBody>
      </p:sp>
      <p:sp>
        <p:nvSpPr>
          <p:cNvPr id="6" name="TextBox 5">
            <a:extLst>
              <a:ext uri="{FF2B5EF4-FFF2-40B4-BE49-F238E27FC236}">
                <a16:creationId xmlns:a16="http://schemas.microsoft.com/office/drawing/2014/main" id="{4828CD2F-53B2-47A7-BE5A-631821B190D6}"/>
              </a:ext>
            </a:extLst>
          </p:cNvPr>
          <p:cNvSpPr txBox="1"/>
          <p:nvPr/>
        </p:nvSpPr>
        <p:spPr>
          <a:xfrm>
            <a:off x="736600" y="1676400"/>
            <a:ext cx="5181600" cy="635000"/>
          </a:xfrm>
          <a:prstGeom prst="rect">
            <a:avLst/>
          </a:prstGeom>
          <a:noFill/>
        </p:spPr>
        <p:txBody>
          <a:bodyPr vert="horz" wrap="square" lIns="0" tIns="0" rIns="0" bIns="0" rtlCol="0" anchor="t">
            <a:noAutofit/>
          </a:bodyPr>
          <a:lstStyle/>
          <a:p>
            <a:r>
              <a:rPr lang="en-US" sz="1400">
                <a:solidFill>
                  <a:srgbClr val="FFFFFF"/>
                </a:solidFill>
                <a:latin typeface="Calibri" panose="020F0502020204030204" pitchFamily="34" charset="0"/>
              </a:rPr>
              <a:t>Identifying and documenting the relationships among project activities to define the logical sequence of work for the greatest efficiency.</a:t>
            </a:r>
          </a:p>
        </p:txBody>
      </p:sp>
      <p:sp>
        <p:nvSpPr>
          <p:cNvPr id="7" name="TextBox 6">
            <a:extLst>
              <a:ext uri="{FF2B5EF4-FFF2-40B4-BE49-F238E27FC236}">
                <a16:creationId xmlns:a16="http://schemas.microsoft.com/office/drawing/2014/main" id="{916496F4-A4D2-61FA-D04B-F5E9522B1352}"/>
              </a:ext>
            </a:extLst>
          </p:cNvPr>
          <p:cNvSpPr txBox="1"/>
          <p:nvPr/>
        </p:nvSpPr>
        <p:spPr>
          <a:xfrm>
            <a:off x="508000" y="2514600"/>
            <a:ext cx="5588000" cy="228600"/>
          </a:xfrm>
          <a:prstGeom prst="rect">
            <a:avLst/>
          </a:prstGeom>
          <a:noFill/>
        </p:spPr>
        <p:txBody>
          <a:bodyPr vert="horz" wrap="square" lIns="0" tIns="0" rIns="0" bIns="0" rtlCol="0" anchor="t">
            <a:noAutofit/>
          </a:bodyPr>
          <a:lstStyle/>
          <a:p>
            <a:r>
              <a:rPr lang="en-US" sz="1300" b="1">
                <a:solidFill>
                  <a:srgbClr val="34509A"/>
                </a:solidFill>
                <a:latin typeface="Calibri" panose="020F0502020204030204" pitchFamily="34" charset="0"/>
              </a:rPr>
              <a:t>Project schedule network diagram</a:t>
            </a:r>
          </a:p>
        </p:txBody>
      </p:sp>
      <p:cxnSp>
        <p:nvCxnSpPr>
          <p:cNvPr id="8" name="Straight Connector 7">
            <a:extLst>
              <a:ext uri="{FF2B5EF4-FFF2-40B4-BE49-F238E27FC236}">
                <a16:creationId xmlns:a16="http://schemas.microsoft.com/office/drawing/2014/main" id="{907DC3C1-F29D-395B-D423-0FDE108EEE64}"/>
              </a:ext>
            </a:extLst>
          </p:cNvPr>
          <p:cNvCxnSpPr/>
          <p:nvPr/>
        </p:nvCxnSpPr>
        <p:spPr>
          <a:xfrm flipV="1">
            <a:off x="1371600" y="3213100"/>
            <a:ext cx="533400" cy="787400"/>
          </a:xfrm>
          <a:prstGeom prst="line">
            <a:avLst/>
          </a:prstGeom>
          <a:ln w="22225">
            <a:solidFill>
              <a:srgbClr val="7F8CB0"/>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8332F27A-7AA1-E7FD-6F76-F170976BFC18}"/>
              </a:ext>
            </a:extLst>
          </p:cNvPr>
          <p:cNvCxnSpPr/>
          <p:nvPr/>
        </p:nvCxnSpPr>
        <p:spPr>
          <a:xfrm>
            <a:off x="2540000" y="3213100"/>
            <a:ext cx="533400" cy="0"/>
          </a:xfrm>
          <a:prstGeom prst="line">
            <a:avLst/>
          </a:prstGeom>
          <a:ln w="22225">
            <a:solidFill>
              <a:srgbClr val="7F8CB0"/>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4754E7E-FABC-38A6-B3F6-68A1B2CB1837}"/>
              </a:ext>
            </a:extLst>
          </p:cNvPr>
          <p:cNvCxnSpPr/>
          <p:nvPr/>
        </p:nvCxnSpPr>
        <p:spPr>
          <a:xfrm>
            <a:off x="3708400" y="3213100"/>
            <a:ext cx="533400" cy="0"/>
          </a:xfrm>
          <a:prstGeom prst="line">
            <a:avLst/>
          </a:prstGeom>
          <a:ln w="22225">
            <a:solidFill>
              <a:srgbClr val="7F8CB0"/>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0C422571-E542-9134-92B3-CB89ADE0552A}"/>
              </a:ext>
            </a:extLst>
          </p:cNvPr>
          <p:cNvCxnSpPr/>
          <p:nvPr/>
        </p:nvCxnSpPr>
        <p:spPr>
          <a:xfrm>
            <a:off x="4876800" y="3213100"/>
            <a:ext cx="457200" cy="787400"/>
          </a:xfrm>
          <a:prstGeom prst="line">
            <a:avLst/>
          </a:prstGeom>
          <a:ln w="22225">
            <a:solidFill>
              <a:srgbClr val="7F8CB0"/>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33CA20A9-E800-17D7-01F6-55213A358AD4}"/>
              </a:ext>
            </a:extLst>
          </p:cNvPr>
          <p:cNvCxnSpPr/>
          <p:nvPr/>
        </p:nvCxnSpPr>
        <p:spPr>
          <a:xfrm>
            <a:off x="1371600" y="4000500"/>
            <a:ext cx="1701800" cy="787400"/>
          </a:xfrm>
          <a:prstGeom prst="line">
            <a:avLst/>
          </a:prstGeom>
          <a:ln w="22225">
            <a:solidFill>
              <a:srgbClr val="7F8CB0"/>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B2FD068-F15C-2AB7-682E-7BF5181EF313}"/>
              </a:ext>
            </a:extLst>
          </p:cNvPr>
          <p:cNvCxnSpPr/>
          <p:nvPr/>
        </p:nvCxnSpPr>
        <p:spPr>
          <a:xfrm>
            <a:off x="3708400" y="4787900"/>
            <a:ext cx="533400" cy="0"/>
          </a:xfrm>
          <a:prstGeom prst="line">
            <a:avLst/>
          </a:prstGeom>
          <a:ln w="22225">
            <a:solidFill>
              <a:srgbClr val="7F8CB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E638D0C-F58F-790C-6AD0-B184109089A3}"/>
              </a:ext>
            </a:extLst>
          </p:cNvPr>
          <p:cNvCxnSpPr/>
          <p:nvPr/>
        </p:nvCxnSpPr>
        <p:spPr>
          <a:xfrm flipV="1">
            <a:off x="4876800" y="4000500"/>
            <a:ext cx="457200" cy="787400"/>
          </a:xfrm>
          <a:prstGeom prst="line">
            <a:avLst/>
          </a:prstGeom>
          <a:ln w="22225">
            <a:solidFill>
              <a:srgbClr val="7F8CB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7663F45C-DF7E-33ED-DC6A-A10DD86368E4}"/>
              </a:ext>
            </a:extLst>
          </p:cNvPr>
          <p:cNvCxnSpPr/>
          <p:nvPr/>
        </p:nvCxnSpPr>
        <p:spPr>
          <a:xfrm flipV="1">
            <a:off x="3568700" y="3403600"/>
            <a:ext cx="749300" cy="1193800"/>
          </a:xfrm>
          <a:prstGeom prst="line">
            <a:avLst/>
          </a:prstGeom>
          <a:ln w="22225">
            <a:solidFill>
              <a:srgbClr val="7F8CB0"/>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9E33F695-584F-8A0C-8ACB-0B35B7CC5C17}"/>
              </a:ext>
            </a:extLst>
          </p:cNvPr>
          <p:cNvSpPr/>
          <p:nvPr/>
        </p:nvSpPr>
        <p:spPr>
          <a:xfrm>
            <a:off x="5334000" y="3810000"/>
            <a:ext cx="635000" cy="381000"/>
          </a:xfrm>
          <a:prstGeom prst="roundRect">
            <a:avLst>
              <a:gd name="adj" fmla="val 12000"/>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300" b="1">
                <a:solidFill>
                  <a:srgbClr val="FFFFFF"/>
                </a:solidFill>
                <a:latin typeface="Calibri" panose="020F0502020204030204" pitchFamily="34" charset="0"/>
              </a:rPr>
              <a:t>G</a:t>
            </a:r>
          </a:p>
        </p:txBody>
      </p:sp>
      <p:sp>
        <p:nvSpPr>
          <p:cNvPr id="17" name="Rectangle: Rounded Corners 16">
            <a:extLst>
              <a:ext uri="{FF2B5EF4-FFF2-40B4-BE49-F238E27FC236}">
                <a16:creationId xmlns:a16="http://schemas.microsoft.com/office/drawing/2014/main" id="{721971AA-A19A-2AAF-808F-F1FD2362394C}"/>
              </a:ext>
            </a:extLst>
          </p:cNvPr>
          <p:cNvSpPr/>
          <p:nvPr/>
        </p:nvSpPr>
        <p:spPr>
          <a:xfrm>
            <a:off x="736600" y="3810000"/>
            <a:ext cx="635000" cy="381000"/>
          </a:xfrm>
          <a:prstGeom prst="roundRect">
            <a:avLst>
              <a:gd name="adj" fmla="val 12000"/>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300" b="1">
                <a:solidFill>
                  <a:srgbClr val="FFFFFF"/>
                </a:solidFill>
                <a:latin typeface="Calibri" panose="020F0502020204030204" pitchFamily="34" charset="0"/>
              </a:rPr>
              <a:t>A</a:t>
            </a:r>
          </a:p>
        </p:txBody>
      </p:sp>
      <p:sp>
        <p:nvSpPr>
          <p:cNvPr id="18" name="Rectangle: Rounded Corners 17">
            <a:extLst>
              <a:ext uri="{FF2B5EF4-FFF2-40B4-BE49-F238E27FC236}">
                <a16:creationId xmlns:a16="http://schemas.microsoft.com/office/drawing/2014/main" id="{C599210C-63BD-39CE-77AA-7868B609040E}"/>
              </a:ext>
            </a:extLst>
          </p:cNvPr>
          <p:cNvSpPr/>
          <p:nvPr/>
        </p:nvSpPr>
        <p:spPr>
          <a:xfrm>
            <a:off x="4241800" y="3022600"/>
            <a:ext cx="635000" cy="381000"/>
          </a:xfrm>
          <a:prstGeom prst="roundRect">
            <a:avLst>
              <a:gd name="adj" fmla="val 12000"/>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300" b="1">
                <a:solidFill>
                  <a:srgbClr val="FFFFFF"/>
                </a:solidFill>
                <a:latin typeface="Calibri" panose="020F0502020204030204" pitchFamily="34" charset="0"/>
              </a:rPr>
              <a:t>F</a:t>
            </a:r>
          </a:p>
        </p:txBody>
      </p:sp>
      <p:sp>
        <p:nvSpPr>
          <p:cNvPr id="19" name="Rectangle: Rounded Corners 18">
            <a:extLst>
              <a:ext uri="{FF2B5EF4-FFF2-40B4-BE49-F238E27FC236}">
                <a16:creationId xmlns:a16="http://schemas.microsoft.com/office/drawing/2014/main" id="{CA353216-DFE1-AC50-0BC1-16C07CFAD79C}"/>
              </a:ext>
            </a:extLst>
          </p:cNvPr>
          <p:cNvSpPr/>
          <p:nvPr/>
        </p:nvSpPr>
        <p:spPr>
          <a:xfrm>
            <a:off x="1905000" y="3022600"/>
            <a:ext cx="635000" cy="381000"/>
          </a:xfrm>
          <a:prstGeom prst="roundRect">
            <a:avLst>
              <a:gd name="adj" fmla="val 12000"/>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300" b="1">
                <a:solidFill>
                  <a:srgbClr val="FFFFFF"/>
                </a:solidFill>
                <a:latin typeface="Calibri" panose="020F0502020204030204" pitchFamily="34" charset="0"/>
              </a:rPr>
              <a:t>B</a:t>
            </a:r>
          </a:p>
        </p:txBody>
      </p:sp>
      <p:sp>
        <p:nvSpPr>
          <p:cNvPr id="20" name="Rectangle: Rounded Corners 19">
            <a:extLst>
              <a:ext uri="{FF2B5EF4-FFF2-40B4-BE49-F238E27FC236}">
                <a16:creationId xmlns:a16="http://schemas.microsoft.com/office/drawing/2014/main" id="{DFDFA2EE-BB86-DDB1-62B8-0CB8D739A0C5}"/>
              </a:ext>
            </a:extLst>
          </p:cNvPr>
          <p:cNvSpPr/>
          <p:nvPr/>
        </p:nvSpPr>
        <p:spPr>
          <a:xfrm>
            <a:off x="3073400" y="3022600"/>
            <a:ext cx="635000" cy="381000"/>
          </a:xfrm>
          <a:prstGeom prst="roundRect">
            <a:avLst>
              <a:gd name="adj" fmla="val 12000"/>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300" b="1">
                <a:solidFill>
                  <a:srgbClr val="FFFFFF"/>
                </a:solidFill>
                <a:latin typeface="Calibri" panose="020F0502020204030204" pitchFamily="34" charset="0"/>
              </a:rPr>
              <a:t>C</a:t>
            </a:r>
          </a:p>
        </p:txBody>
      </p:sp>
      <p:sp>
        <p:nvSpPr>
          <p:cNvPr id="21" name="Rectangle: Rounded Corners 20">
            <a:extLst>
              <a:ext uri="{FF2B5EF4-FFF2-40B4-BE49-F238E27FC236}">
                <a16:creationId xmlns:a16="http://schemas.microsoft.com/office/drawing/2014/main" id="{15E18981-53EB-DB66-63D4-A21C0700262B}"/>
              </a:ext>
            </a:extLst>
          </p:cNvPr>
          <p:cNvSpPr/>
          <p:nvPr/>
        </p:nvSpPr>
        <p:spPr>
          <a:xfrm>
            <a:off x="4241800" y="4597400"/>
            <a:ext cx="635000" cy="381000"/>
          </a:xfrm>
          <a:prstGeom prst="roundRect">
            <a:avLst>
              <a:gd name="adj" fmla="val 12000"/>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300" b="1">
                <a:solidFill>
                  <a:srgbClr val="FFFFFF"/>
                </a:solidFill>
                <a:latin typeface="Calibri" panose="020F0502020204030204" pitchFamily="34" charset="0"/>
              </a:rPr>
              <a:t>E</a:t>
            </a:r>
          </a:p>
        </p:txBody>
      </p:sp>
      <p:sp>
        <p:nvSpPr>
          <p:cNvPr id="22" name="Rectangle: Rounded Corners 21">
            <a:extLst>
              <a:ext uri="{FF2B5EF4-FFF2-40B4-BE49-F238E27FC236}">
                <a16:creationId xmlns:a16="http://schemas.microsoft.com/office/drawing/2014/main" id="{527C0373-DB98-8737-781D-35412039E995}"/>
              </a:ext>
            </a:extLst>
          </p:cNvPr>
          <p:cNvSpPr/>
          <p:nvPr/>
        </p:nvSpPr>
        <p:spPr>
          <a:xfrm>
            <a:off x="3073400" y="4597400"/>
            <a:ext cx="635000" cy="381000"/>
          </a:xfrm>
          <a:prstGeom prst="roundRect">
            <a:avLst>
              <a:gd name="adj" fmla="val 12000"/>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300" b="1">
                <a:solidFill>
                  <a:srgbClr val="FFFFFF"/>
                </a:solidFill>
                <a:latin typeface="Calibri" panose="020F0502020204030204" pitchFamily="34" charset="0"/>
              </a:rPr>
              <a:t>D</a:t>
            </a:r>
          </a:p>
        </p:txBody>
      </p:sp>
      <p:sp>
        <p:nvSpPr>
          <p:cNvPr id="23" name="TextBox 22">
            <a:extLst>
              <a:ext uri="{FF2B5EF4-FFF2-40B4-BE49-F238E27FC236}">
                <a16:creationId xmlns:a16="http://schemas.microsoft.com/office/drawing/2014/main" id="{5E760505-4F71-080A-43E5-F5F7DA9F434B}"/>
              </a:ext>
            </a:extLst>
          </p:cNvPr>
          <p:cNvSpPr txBox="1"/>
          <p:nvPr/>
        </p:nvSpPr>
        <p:spPr>
          <a:xfrm>
            <a:off x="508000" y="5080000"/>
            <a:ext cx="5588000" cy="254000"/>
          </a:xfrm>
          <a:prstGeom prst="rect">
            <a:avLst/>
          </a:prstGeom>
          <a:noFill/>
        </p:spPr>
        <p:txBody>
          <a:bodyPr vert="horz" wrap="square" lIns="0" tIns="0" rIns="0" bIns="0" rtlCol="0" anchor="t">
            <a:noAutofit/>
          </a:bodyPr>
          <a:lstStyle/>
          <a:p>
            <a:r>
              <a:rPr lang="en-US" sz="1200" i="1">
                <a:solidFill>
                  <a:srgbClr val="5B6475"/>
                </a:solidFill>
                <a:latin typeface="Calibri" panose="020F0502020204030204" pitchFamily="34" charset="0"/>
              </a:rPr>
              <a:t>Built from the activity list and precedence relationships (next slide).</a:t>
            </a:r>
          </a:p>
        </p:txBody>
      </p:sp>
      <p:sp>
        <p:nvSpPr>
          <p:cNvPr id="24" name="Rectangle: Rounded Corners 23">
            <a:extLst>
              <a:ext uri="{FF2B5EF4-FFF2-40B4-BE49-F238E27FC236}">
                <a16:creationId xmlns:a16="http://schemas.microsoft.com/office/drawing/2014/main" id="{DDA2E621-A82A-06B5-7B7C-542583BE031D}"/>
              </a:ext>
            </a:extLst>
          </p:cNvPr>
          <p:cNvSpPr/>
          <p:nvPr/>
        </p:nvSpPr>
        <p:spPr>
          <a:xfrm>
            <a:off x="6350000" y="1320800"/>
            <a:ext cx="5334000" cy="24892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BBB699C5-79EC-6BE6-9194-E3D86C7ABECD}"/>
              </a:ext>
            </a:extLst>
          </p:cNvPr>
          <p:cNvSpPr txBox="1"/>
          <p:nvPr/>
        </p:nvSpPr>
        <p:spPr>
          <a:xfrm>
            <a:off x="6527800" y="1498600"/>
            <a:ext cx="4978400" cy="2133600"/>
          </a:xfrm>
          <a:prstGeom prst="rect">
            <a:avLst/>
          </a:prstGeom>
          <a:noFill/>
        </p:spPr>
        <p:txBody>
          <a:bodyPr vert="horz" wrap="square" lIns="0" tIns="0" rIns="0" bIns="0" rtlCol="0" anchor="t">
            <a:noAutofit/>
          </a:bodyPr>
          <a:lstStyle/>
          <a:p>
            <a:pPr>
              <a:spcAft>
                <a:spcPts val="600"/>
              </a:spcAft>
            </a:pPr>
            <a:r>
              <a:rPr lang="en-US" sz="1500" b="1">
                <a:solidFill>
                  <a:srgbClr val="14213D"/>
                </a:solidFill>
                <a:latin typeface="Calibri" panose="020F0502020204030204" pitchFamily="34" charset="0"/>
              </a:rPr>
              <a:t>Milestones</a:t>
            </a:r>
          </a:p>
          <a:p>
            <a:pPr>
              <a:spcAft>
                <a:spcPts val="500"/>
              </a:spcAft>
            </a:pPr>
            <a:r>
              <a:rPr lang="en-US" sz="1300" b="1">
                <a:solidFill>
                  <a:srgbClr val="14213D"/>
                </a:solidFill>
                <a:latin typeface="Calibri" panose="020F0502020204030204" pitchFamily="34" charset="0"/>
              </a:rPr>
              <a:t>Markers:</a:t>
            </a:r>
            <a:r>
              <a:rPr lang="en-US" sz="1300">
                <a:solidFill>
                  <a:srgbClr val="1F2937"/>
                </a:solidFill>
                <a:latin typeface="Calibri" panose="020F0502020204030204" pitchFamily="34" charset="0"/>
              </a:rPr>
              <a:t> big events, reviews, due dates, payments, or decisions.</a:t>
            </a:r>
          </a:p>
          <a:p>
            <a:pPr>
              <a:spcAft>
                <a:spcPts val="500"/>
              </a:spcAft>
            </a:pPr>
            <a:r>
              <a:rPr lang="en-US" sz="1300" b="1">
                <a:solidFill>
                  <a:srgbClr val="14213D"/>
                </a:solidFill>
                <a:latin typeface="Calibri" panose="020F0502020204030204" pitchFamily="34" charset="0"/>
              </a:rPr>
              <a:t>Prompts:</a:t>
            </a:r>
            <a:r>
              <a:rPr lang="en-US" sz="1300">
                <a:solidFill>
                  <a:srgbClr val="1F2937"/>
                </a:solidFill>
                <a:latin typeface="Calibri" panose="020F0502020204030204" pitchFamily="34" charset="0"/>
              </a:rPr>
              <a:t> reporting requirements or sponsor and customer approval.</a:t>
            </a:r>
          </a:p>
          <a:p>
            <a:pPr>
              <a:spcAft>
                <a:spcPts val="500"/>
              </a:spcAft>
            </a:pPr>
            <a:r>
              <a:rPr lang="en-US" sz="1300" b="1">
                <a:solidFill>
                  <a:srgbClr val="14213D"/>
                </a:solidFill>
                <a:latin typeface="Calibri" panose="020F0502020204030204" pitchFamily="34" charset="0"/>
              </a:rPr>
              <a:t>Duration:</a:t>
            </a:r>
            <a:r>
              <a:rPr lang="en-US" sz="1300">
                <a:solidFill>
                  <a:srgbClr val="1F2937"/>
                </a:solidFill>
                <a:latin typeface="Calibri" panose="020F0502020204030204" pitchFamily="34" charset="0"/>
              </a:rPr>
              <a:t> zero; a milestone is a point in time, not work.</a:t>
            </a:r>
          </a:p>
          <a:p>
            <a:pPr>
              <a:spcAft>
                <a:spcPts val="500"/>
              </a:spcAft>
            </a:pPr>
            <a:r>
              <a:rPr lang="en-US" sz="1300" b="1">
                <a:solidFill>
                  <a:srgbClr val="14213D"/>
                </a:solidFill>
                <a:latin typeface="Calibri" panose="020F0502020204030204" pitchFamily="34" charset="0"/>
              </a:rPr>
              <a:t>Created by:</a:t>
            </a:r>
            <a:r>
              <a:rPr lang="en-US" sz="1300">
                <a:solidFill>
                  <a:srgbClr val="1F2937"/>
                </a:solidFill>
                <a:latin typeface="Calibri" panose="020F0502020204030204" pitchFamily="34" charset="0"/>
              </a:rPr>
              <a:t> the project manager, the customer, or both.</a:t>
            </a:r>
          </a:p>
        </p:txBody>
      </p:sp>
      <p:sp>
        <p:nvSpPr>
          <p:cNvPr id="26" name="Rectangle: Rounded Corners 25">
            <a:extLst>
              <a:ext uri="{FF2B5EF4-FFF2-40B4-BE49-F238E27FC236}">
                <a16:creationId xmlns:a16="http://schemas.microsoft.com/office/drawing/2014/main" id="{6D4E2BB8-9EE8-CB8C-D358-01E4CFE2D7F1}"/>
              </a:ext>
            </a:extLst>
          </p:cNvPr>
          <p:cNvSpPr/>
          <p:nvPr/>
        </p:nvSpPr>
        <p:spPr>
          <a:xfrm>
            <a:off x="6350000" y="3937000"/>
            <a:ext cx="5334000" cy="14224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2290E2A3-55B8-EAE1-42E5-9B85D94AA105}"/>
              </a:ext>
            </a:extLst>
          </p:cNvPr>
          <p:cNvSpPr txBox="1"/>
          <p:nvPr/>
        </p:nvSpPr>
        <p:spPr>
          <a:xfrm>
            <a:off x="6527800" y="4114800"/>
            <a:ext cx="4978400" cy="1066800"/>
          </a:xfrm>
          <a:prstGeom prst="rect">
            <a:avLst/>
          </a:prstGeom>
          <a:noFill/>
        </p:spPr>
        <p:txBody>
          <a:bodyPr vert="horz" wrap="square" lIns="0" tIns="0" rIns="0" bIns="0" rtlCol="0" anchor="t">
            <a:noAutofit/>
          </a:bodyPr>
          <a:lstStyle/>
          <a:p>
            <a:pPr>
              <a:spcAft>
                <a:spcPts val="600"/>
              </a:spcAft>
            </a:pPr>
            <a:r>
              <a:rPr lang="en-US" sz="1500" b="1">
                <a:solidFill>
                  <a:srgbClr val="A86F0E"/>
                </a:solidFill>
                <a:latin typeface="Calibri" panose="020F0502020204030204" pitchFamily="34" charset="0"/>
              </a:rPr>
              <a:t>Milestone list</a:t>
            </a:r>
          </a:p>
          <a:p>
            <a:pPr>
              <a:spcAft>
                <a:spcPts val="500"/>
              </a:spcAft>
            </a:pPr>
            <a:r>
              <a:rPr lang="en-US" sz="1300">
                <a:solidFill>
                  <a:srgbClr val="1F2937"/>
                </a:solidFill>
                <a:latin typeface="Calibri" panose="020F0502020204030204" pitchFamily="34" charset="0"/>
              </a:rPr>
              <a:t>Identifies every milestone and whether it is:</a:t>
            </a:r>
          </a:p>
          <a:p>
            <a:pPr>
              <a:spcAft>
                <a:spcPts val="500"/>
              </a:spcAft>
            </a:pPr>
            <a:r>
              <a:rPr lang="en-US" sz="1300" b="1">
                <a:solidFill>
                  <a:srgbClr val="14213D"/>
                </a:solidFill>
                <a:latin typeface="Calibri" panose="020F0502020204030204" pitchFamily="34" charset="0"/>
              </a:rPr>
              <a:t>Mandatory:</a:t>
            </a:r>
            <a:r>
              <a:rPr lang="en-US" sz="1300">
                <a:solidFill>
                  <a:srgbClr val="1F2937"/>
                </a:solidFill>
                <a:latin typeface="Calibri" panose="020F0502020204030204" pitchFamily="34" charset="0"/>
              </a:rPr>
              <a:t> required by contract.</a:t>
            </a:r>
          </a:p>
          <a:p>
            <a:pPr>
              <a:spcAft>
                <a:spcPts val="500"/>
              </a:spcAft>
            </a:pPr>
            <a:r>
              <a:rPr lang="en-US" sz="1300" b="1">
                <a:solidFill>
                  <a:srgbClr val="14213D"/>
                </a:solidFill>
                <a:latin typeface="Calibri" panose="020F0502020204030204" pitchFamily="34" charset="0"/>
              </a:rPr>
              <a:t>Optional:</a:t>
            </a:r>
            <a:r>
              <a:rPr lang="en-US" sz="1300">
                <a:solidFill>
                  <a:srgbClr val="1F2937"/>
                </a:solidFill>
                <a:latin typeface="Calibri" panose="020F0502020204030204" pitchFamily="34" charset="0"/>
              </a:rPr>
              <a:t> based on historical information.</a:t>
            </a:r>
          </a:p>
        </p:txBody>
      </p:sp>
      <p:sp>
        <p:nvSpPr>
          <p:cNvPr id="28" name="Rectangle: Rounded Corners 27">
            <a:extLst>
              <a:ext uri="{FF2B5EF4-FFF2-40B4-BE49-F238E27FC236}">
                <a16:creationId xmlns:a16="http://schemas.microsoft.com/office/drawing/2014/main" id="{1C183422-0657-54E6-C7D4-9A207671949B}"/>
              </a:ext>
            </a:extLst>
          </p:cNvPr>
          <p:cNvSpPr/>
          <p:nvPr/>
        </p:nvSpPr>
        <p:spPr>
          <a:xfrm>
            <a:off x="508000" y="5486400"/>
            <a:ext cx="11176000" cy="838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178870B9-420E-99C1-F8D7-A8877BEB86D1}"/>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a milestone has zero duration and uses no resources. Sequence the activities before you calculate the critical path.</a:t>
            </a:r>
          </a:p>
        </p:txBody>
      </p:sp>
      <p:sp>
        <p:nvSpPr>
          <p:cNvPr id="30" name="Footer">
            <a:extLst>
              <a:ext uri="{FF2B5EF4-FFF2-40B4-BE49-F238E27FC236}">
                <a16:creationId xmlns:a16="http://schemas.microsoft.com/office/drawing/2014/main" id="{BB8F502D-83DA-C45C-F83E-423D87A85319}"/>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PMBOK® Guide — Sixth Edition, Sections 6.2.3.3 (milestone list) and 6.3 (Sequence Activities)</a:t>
            </a:r>
          </a:p>
        </p:txBody>
      </p:sp>
      <p:sp>
        <p:nvSpPr>
          <p:cNvPr id="31" name="SlideNum">
            <a:extLst>
              <a:ext uri="{FF2B5EF4-FFF2-40B4-BE49-F238E27FC236}">
                <a16:creationId xmlns:a16="http://schemas.microsoft.com/office/drawing/2014/main" id="{9B67B1E1-2C4E-45B7-C884-9B20C05BCDD6}"/>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35</a:t>
            </a:r>
          </a:p>
        </p:txBody>
      </p:sp>
      <p:sp>
        <p:nvSpPr>
          <p:cNvPr id="32"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8661360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81C3EF0-7AF8-58D7-344D-C12539CA511F}"/>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Four precedence relationships</a:t>
            </a:r>
          </a:p>
        </p:txBody>
      </p:sp>
      <p:sp>
        <p:nvSpPr>
          <p:cNvPr id="3" name="Tag">
            <a:extLst>
              <a:ext uri="{FF2B5EF4-FFF2-40B4-BE49-F238E27FC236}">
                <a16:creationId xmlns:a16="http://schemas.microsoft.com/office/drawing/2014/main" id="{4EB15731-B570-3225-768B-F739383B1991}"/>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8 (Plan and manage schedule: estimate tasks, dependencies)</a:t>
            </a:r>
          </a:p>
        </p:txBody>
      </p:sp>
      <p:sp>
        <p:nvSpPr>
          <p:cNvPr id="4" name="Rectangle: Rounded Corners 3">
            <a:extLst>
              <a:ext uri="{FF2B5EF4-FFF2-40B4-BE49-F238E27FC236}">
                <a16:creationId xmlns:a16="http://schemas.microsoft.com/office/drawing/2014/main" id="{DE6D314B-17E6-F991-F192-5BA1C03DF87F}"/>
              </a:ext>
            </a:extLst>
          </p:cNvPr>
          <p:cNvSpPr/>
          <p:nvPr/>
        </p:nvSpPr>
        <p:spPr>
          <a:xfrm>
            <a:off x="508000" y="1320800"/>
            <a:ext cx="3302000" cy="2133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847F7B6-3713-0F41-B9A0-53F9667B29D1}"/>
              </a:ext>
            </a:extLst>
          </p:cNvPr>
          <p:cNvSpPr txBox="1"/>
          <p:nvPr/>
        </p:nvSpPr>
        <p:spPr>
          <a:xfrm>
            <a:off x="660400" y="1422400"/>
            <a:ext cx="2997200" cy="279400"/>
          </a:xfrm>
          <a:prstGeom prst="rect">
            <a:avLst/>
          </a:prstGeom>
          <a:noFill/>
        </p:spPr>
        <p:txBody>
          <a:bodyPr vert="horz" wrap="square" lIns="0" tIns="0" rIns="0" bIns="0" rtlCol="0" anchor="t">
            <a:noAutofit/>
          </a:bodyPr>
          <a:lstStyle/>
          <a:p>
            <a:r>
              <a:rPr lang="en-US" sz="1500" b="1">
                <a:solidFill>
                  <a:srgbClr val="34509A"/>
                </a:solidFill>
                <a:latin typeface="Calibri" panose="020F0502020204030204" pitchFamily="34" charset="0"/>
              </a:rPr>
              <a:t>FS</a:t>
            </a:r>
            <a:r>
              <a:rPr lang="en-US" sz="1500" b="1">
                <a:solidFill>
                  <a:srgbClr val="14213D"/>
                </a:solidFill>
                <a:latin typeface="Calibri" panose="020F0502020204030204" pitchFamily="34" charset="0"/>
              </a:rPr>
              <a:t>  Finish-to-start</a:t>
            </a:r>
          </a:p>
        </p:txBody>
      </p:sp>
      <p:sp>
        <p:nvSpPr>
          <p:cNvPr id="6" name="Rectangle: Rounded Corners 5">
            <a:extLst>
              <a:ext uri="{FF2B5EF4-FFF2-40B4-BE49-F238E27FC236}">
                <a16:creationId xmlns:a16="http://schemas.microsoft.com/office/drawing/2014/main" id="{BF6A3F27-59A1-275B-E0BF-93442DCB461C}"/>
              </a:ext>
            </a:extLst>
          </p:cNvPr>
          <p:cNvSpPr/>
          <p:nvPr/>
        </p:nvSpPr>
        <p:spPr>
          <a:xfrm>
            <a:off x="762000" y="1803400"/>
            <a:ext cx="1143000" cy="279400"/>
          </a:xfrm>
          <a:prstGeom prst="roundRect">
            <a:avLst>
              <a:gd name="adj" fmla="val 8000"/>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100" b="1">
                <a:solidFill>
                  <a:srgbClr val="FFFFFF"/>
                </a:solidFill>
                <a:latin typeface="Calibri" panose="020F0502020204030204" pitchFamily="34" charset="0"/>
              </a:rPr>
              <a:t>A</a:t>
            </a:r>
          </a:p>
        </p:txBody>
      </p:sp>
      <p:sp>
        <p:nvSpPr>
          <p:cNvPr id="7" name="Rectangle: Rounded Corners 6">
            <a:extLst>
              <a:ext uri="{FF2B5EF4-FFF2-40B4-BE49-F238E27FC236}">
                <a16:creationId xmlns:a16="http://schemas.microsoft.com/office/drawing/2014/main" id="{3A9760E7-7272-B0F0-BFDC-9B924A87BBFA}"/>
              </a:ext>
            </a:extLst>
          </p:cNvPr>
          <p:cNvSpPr/>
          <p:nvPr/>
        </p:nvSpPr>
        <p:spPr>
          <a:xfrm>
            <a:off x="2286000" y="2235200"/>
            <a:ext cx="1143000" cy="279400"/>
          </a:xfrm>
          <a:prstGeom prst="roundRect">
            <a:avLst>
              <a:gd name="adj" fmla="val 8000"/>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100" b="1">
                <a:solidFill>
                  <a:srgbClr val="FFFFFF"/>
                </a:solidFill>
                <a:latin typeface="Calibri" panose="020F0502020204030204" pitchFamily="34" charset="0"/>
              </a:rPr>
              <a:t>B</a:t>
            </a:r>
          </a:p>
        </p:txBody>
      </p:sp>
      <p:cxnSp>
        <p:nvCxnSpPr>
          <p:cNvPr id="8" name="Straight Connector 7">
            <a:extLst>
              <a:ext uri="{FF2B5EF4-FFF2-40B4-BE49-F238E27FC236}">
                <a16:creationId xmlns:a16="http://schemas.microsoft.com/office/drawing/2014/main" id="{6DCD9964-8B9D-8750-D9AC-306B2106D057}"/>
              </a:ext>
            </a:extLst>
          </p:cNvPr>
          <p:cNvCxnSpPr/>
          <p:nvPr/>
        </p:nvCxnSpPr>
        <p:spPr>
          <a:xfrm>
            <a:off x="1905000" y="1943100"/>
            <a:ext cx="190500" cy="0"/>
          </a:xfrm>
          <a:prstGeom prst="line">
            <a:avLst/>
          </a:prstGeom>
          <a:ln w="25400">
            <a:solidFill>
              <a:srgbClr val="E3A63B"/>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504D6CA6-4886-8EF7-3D9D-F5D3DA973227}"/>
              </a:ext>
            </a:extLst>
          </p:cNvPr>
          <p:cNvCxnSpPr/>
          <p:nvPr/>
        </p:nvCxnSpPr>
        <p:spPr>
          <a:xfrm>
            <a:off x="2095500" y="1943100"/>
            <a:ext cx="0" cy="431800"/>
          </a:xfrm>
          <a:prstGeom prst="line">
            <a:avLst/>
          </a:prstGeom>
          <a:ln w="25400">
            <a:solidFill>
              <a:srgbClr val="E3A63B"/>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B86D420C-C99E-B6DB-9069-54580BD7A3A6}"/>
              </a:ext>
            </a:extLst>
          </p:cNvPr>
          <p:cNvCxnSpPr/>
          <p:nvPr/>
        </p:nvCxnSpPr>
        <p:spPr>
          <a:xfrm>
            <a:off x="2095500" y="2374900"/>
            <a:ext cx="190500" cy="0"/>
          </a:xfrm>
          <a:prstGeom prst="line">
            <a:avLst/>
          </a:prstGeom>
          <a:ln w="25400">
            <a:solidFill>
              <a:srgbClr val="E3A63B"/>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534B1750-BA62-7AA8-D1F8-6BDC7C3F43B5}"/>
              </a:ext>
            </a:extLst>
          </p:cNvPr>
          <p:cNvSpPr txBox="1"/>
          <p:nvPr/>
        </p:nvSpPr>
        <p:spPr>
          <a:xfrm>
            <a:off x="660400" y="2641600"/>
            <a:ext cx="2997200" cy="762000"/>
          </a:xfrm>
          <a:prstGeom prst="rect">
            <a:avLst/>
          </a:prstGeom>
          <a:noFill/>
        </p:spPr>
        <p:txBody>
          <a:bodyPr vert="horz" wrap="square" lIns="0" tIns="0" rIns="0" bIns="0" rtlCol="0" anchor="t">
            <a:noAutofit/>
          </a:bodyPr>
          <a:lstStyle/>
          <a:p>
            <a:r>
              <a:rPr lang="en-US" sz="1200">
                <a:solidFill>
                  <a:srgbClr val="1F2937"/>
                </a:solidFill>
                <a:latin typeface="Calibri" panose="020F0502020204030204" pitchFamily="34" charset="0"/>
              </a:rPr>
              <a:t>B can’t start until A finishes. The most common. Example: pour the foundation, then frame the walls.</a:t>
            </a:r>
          </a:p>
        </p:txBody>
      </p:sp>
      <p:sp>
        <p:nvSpPr>
          <p:cNvPr id="12" name="Rectangle: Rounded Corners 11">
            <a:extLst>
              <a:ext uri="{FF2B5EF4-FFF2-40B4-BE49-F238E27FC236}">
                <a16:creationId xmlns:a16="http://schemas.microsoft.com/office/drawing/2014/main" id="{5C9D2FB1-8143-DB29-2286-0DE17629640E}"/>
              </a:ext>
            </a:extLst>
          </p:cNvPr>
          <p:cNvSpPr/>
          <p:nvPr/>
        </p:nvSpPr>
        <p:spPr>
          <a:xfrm>
            <a:off x="3937000" y="1320800"/>
            <a:ext cx="3302000" cy="2133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4025675-5E1D-972C-6498-6BEE773E629D}"/>
              </a:ext>
            </a:extLst>
          </p:cNvPr>
          <p:cNvSpPr txBox="1"/>
          <p:nvPr/>
        </p:nvSpPr>
        <p:spPr>
          <a:xfrm>
            <a:off x="4089400" y="1422400"/>
            <a:ext cx="2997200" cy="279400"/>
          </a:xfrm>
          <a:prstGeom prst="rect">
            <a:avLst/>
          </a:prstGeom>
          <a:noFill/>
        </p:spPr>
        <p:txBody>
          <a:bodyPr vert="horz" wrap="square" lIns="0" tIns="0" rIns="0" bIns="0" rtlCol="0" anchor="t">
            <a:noAutofit/>
          </a:bodyPr>
          <a:lstStyle/>
          <a:p>
            <a:r>
              <a:rPr lang="en-US" sz="1500" b="1">
                <a:solidFill>
                  <a:srgbClr val="34509A"/>
                </a:solidFill>
                <a:latin typeface="Calibri" panose="020F0502020204030204" pitchFamily="34" charset="0"/>
              </a:rPr>
              <a:t>SS</a:t>
            </a:r>
            <a:r>
              <a:rPr lang="en-US" sz="1500" b="1">
                <a:solidFill>
                  <a:srgbClr val="14213D"/>
                </a:solidFill>
                <a:latin typeface="Calibri" panose="020F0502020204030204" pitchFamily="34" charset="0"/>
              </a:rPr>
              <a:t>  Start-to-start</a:t>
            </a:r>
          </a:p>
        </p:txBody>
      </p:sp>
      <p:sp>
        <p:nvSpPr>
          <p:cNvPr id="14" name="Rectangle: Rounded Corners 13">
            <a:extLst>
              <a:ext uri="{FF2B5EF4-FFF2-40B4-BE49-F238E27FC236}">
                <a16:creationId xmlns:a16="http://schemas.microsoft.com/office/drawing/2014/main" id="{A0F4C2BB-72F4-AFB6-86E4-773AA52F321C}"/>
              </a:ext>
            </a:extLst>
          </p:cNvPr>
          <p:cNvSpPr/>
          <p:nvPr/>
        </p:nvSpPr>
        <p:spPr>
          <a:xfrm>
            <a:off x="4445000" y="1803400"/>
            <a:ext cx="1397000" cy="279400"/>
          </a:xfrm>
          <a:prstGeom prst="roundRect">
            <a:avLst>
              <a:gd name="adj" fmla="val 8000"/>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100" b="1">
                <a:solidFill>
                  <a:srgbClr val="FFFFFF"/>
                </a:solidFill>
                <a:latin typeface="Calibri" panose="020F0502020204030204" pitchFamily="34" charset="0"/>
              </a:rPr>
              <a:t>A</a:t>
            </a:r>
          </a:p>
        </p:txBody>
      </p:sp>
      <p:sp>
        <p:nvSpPr>
          <p:cNvPr id="15" name="Rectangle: Rounded Corners 14">
            <a:extLst>
              <a:ext uri="{FF2B5EF4-FFF2-40B4-BE49-F238E27FC236}">
                <a16:creationId xmlns:a16="http://schemas.microsoft.com/office/drawing/2014/main" id="{DF4F8DE8-2DFF-7E8D-8FF9-EAC9AD329767}"/>
              </a:ext>
            </a:extLst>
          </p:cNvPr>
          <p:cNvSpPr/>
          <p:nvPr/>
        </p:nvSpPr>
        <p:spPr>
          <a:xfrm>
            <a:off x="4826000" y="2235200"/>
            <a:ext cx="1397000" cy="279400"/>
          </a:xfrm>
          <a:prstGeom prst="roundRect">
            <a:avLst>
              <a:gd name="adj" fmla="val 8000"/>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100" b="1">
                <a:solidFill>
                  <a:srgbClr val="FFFFFF"/>
                </a:solidFill>
                <a:latin typeface="Calibri" panose="020F0502020204030204" pitchFamily="34" charset="0"/>
              </a:rPr>
              <a:t>B</a:t>
            </a:r>
          </a:p>
        </p:txBody>
      </p:sp>
      <p:cxnSp>
        <p:nvCxnSpPr>
          <p:cNvPr id="16" name="Straight Connector 15">
            <a:extLst>
              <a:ext uri="{FF2B5EF4-FFF2-40B4-BE49-F238E27FC236}">
                <a16:creationId xmlns:a16="http://schemas.microsoft.com/office/drawing/2014/main" id="{E7F0A116-B967-B4FA-C158-3F04DB3B31CD}"/>
              </a:ext>
            </a:extLst>
          </p:cNvPr>
          <p:cNvCxnSpPr/>
          <p:nvPr/>
        </p:nvCxnSpPr>
        <p:spPr>
          <a:xfrm flipH="1">
            <a:off x="4267200" y="1943100"/>
            <a:ext cx="177800" cy="0"/>
          </a:xfrm>
          <a:prstGeom prst="line">
            <a:avLst/>
          </a:prstGeom>
          <a:ln w="25400">
            <a:solidFill>
              <a:srgbClr val="E3A63B"/>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6371CDBF-1709-4B26-749B-0F812D1C2135}"/>
              </a:ext>
            </a:extLst>
          </p:cNvPr>
          <p:cNvCxnSpPr/>
          <p:nvPr/>
        </p:nvCxnSpPr>
        <p:spPr>
          <a:xfrm>
            <a:off x="4267200" y="1943100"/>
            <a:ext cx="0" cy="431800"/>
          </a:xfrm>
          <a:prstGeom prst="line">
            <a:avLst/>
          </a:prstGeom>
          <a:ln w="25400">
            <a:solidFill>
              <a:srgbClr val="E3A63B"/>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132D8BE5-9B4F-8979-0BA9-6CE36B06E587}"/>
              </a:ext>
            </a:extLst>
          </p:cNvPr>
          <p:cNvCxnSpPr/>
          <p:nvPr/>
        </p:nvCxnSpPr>
        <p:spPr>
          <a:xfrm>
            <a:off x="4267200" y="2374900"/>
            <a:ext cx="558800" cy="0"/>
          </a:xfrm>
          <a:prstGeom prst="line">
            <a:avLst/>
          </a:prstGeom>
          <a:ln w="25400">
            <a:solidFill>
              <a:srgbClr val="E3A63B"/>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D39B561E-A559-38D1-02AF-DA459B4B35B2}"/>
              </a:ext>
            </a:extLst>
          </p:cNvPr>
          <p:cNvSpPr txBox="1"/>
          <p:nvPr/>
        </p:nvSpPr>
        <p:spPr>
          <a:xfrm>
            <a:off x="4089400" y="2641600"/>
            <a:ext cx="2997200" cy="762000"/>
          </a:xfrm>
          <a:prstGeom prst="rect">
            <a:avLst/>
          </a:prstGeom>
          <a:noFill/>
        </p:spPr>
        <p:txBody>
          <a:bodyPr vert="horz" wrap="square" lIns="0" tIns="0" rIns="0" bIns="0" rtlCol="0" anchor="t">
            <a:noAutofit/>
          </a:bodyPr>
          <a:lstStyle/>
          <a:p>
            <a:r>
              <a:rPr lang="en-US" sz="1200">
                <a:solidFill>
                  <a:srgbClr val="1F2937"/>
                </a:solidFill>
                <a:latin typeface="Calibri" panose="020F0502020204030204" pitchFamily="34" charset="0"/>
              </a:rPr>
              <a:t>B can’t start until A starts. Example: leveling concrete can’t start until pouring starts.</a:t>
            </a:r>
          </a:p>
        </p:txBody>
      </p:sp>
      <p:sp>
        <p:nvSpPr>
          <p:cNvPr id="20" name="Rectangle: Rounded Corners 19">
            <a:extLst>
              <a:ext uri="{FF2B5EF4-FFF2-40B4-BE49-F238E27FC236}">
                <a16:creationId xmlns:a16="http://schemas.microsoft.com/office/drawing/2014/main" id="{2876AB94-CE60-6B83-EE62-9ADD7E6DD081}"/>
              </a:ext>
            </a:extLst>
          </p:cNvPr>
          <p:cNvSpPr/>
          <p:nvPr/>
        </p:nvSpPr>
        <p:spPr>
          <a:xfrm>
            <a:off x="508000" y="3581400"/>
            <a:ext cx="3302000" cy="2133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81619C2E-763D-28C5-BEB4-E3D2DCBD9C51}"/>
              </a:ext>
            </a:extLst>
          </p:cNvPr>
          <p:cNvSpPr txBox="1"/>
          <p:nvPr/>
        </p:nvSpPr>
        <p:spPr>
          <a:xfrm>
            <a:off x="660400" y="3683000"/>
            <a:ext cx="2997200" cy="279400"/>
          </a:xfrm>
          <a:prstGeom prst="rect">
            <a:avLst/>
          </a:prstGeom>
          <a:noFill/>
        </p:spPr>
        <p:txBody>
          <a:bodyPr vert="horz" wrap="square" lIns="0" tIns="0" rIns="0" bIns="0" rtlCol="0" anchor="t">
            <a:noAutofit/>
          </a:bodyPr>
          <a:lstStyle/>
          <a:p>
            <a:r>
              <a:rPr lang="en-US" sz="1500" b="1">
                <a:solidFill>
                  <a:srgbClr val="34509A"/>
                </a:solidFill>
                <a:latin typeface="Calibri" panose="020F0502020204030204" pitchFamily="34" charset="0"/>
              </a:rPr>
              <a:t>FF</a:t>
            </a:r>
            <a:r>
              <a:rPr lang="en-US" sz="1500" b="1">
                <a:solidFill>
                  <a:srgbClr val="14213D"/>
                </a:solidFill>
                <a:latin typeface="Calibri" panose="020F0502020204030204" pitchFamily="34" charset="0"/>
              </a:rPr>
              <a:t>  Finish-to-finish</a:t>
            </a:r>
          </a:p>
        </p:txBody>
      </p:sp>
      <p:sp>
        <p:nvSpPr>
          <p:cNvPr id="22" name="Rectangle: Rounded Corners 21">
            <a:extLst>
              <a:ext uri="{FF2B5EF4-FFF2-40B4-BE49-F238E27FC236}">
                <a16:creationId xmlns:a16="http://schemas.microsoft.com/office/drawing/2014/main" id="{5D679BB3-8D71-42BC-E136-E932ECDA3227}"/>
              </a:ext>
            </a:extLst>
          </p:cNvPr>
          <p:cNvSpPr/>
          <p:nvPr/>
        </p:nvSpPr>
        <p:spPr>
          <a:xfrm>
            <a:off x="762000" y="4064000"/>
            <a:ext cx="1397000" cy="279400"/>
          </a:xfrm>
          <a:prstGeom prst="roundRect">
            <a:avLst>
              <a:gd name="adj" fmla="val 8000"/>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100" b="1">
                <a:solidFill>
                  <a:srgbClr val="FFFFFF"/>
                </a:solidFill>
                <a:latin typeface="Calibri" panose="020F0502020204030204" pitchFamily="34" charset="0"/>
              </a:rPr>
              <a:t>A</a:t>
            </a:r>
          </a:p>
        </p:txBody>
      </p:sp>
      <p:sp>
        <p:nvSpPr>
          <p:cNvPr id="23" name="Rectangle: Rounded Corners 22">
            <a:extLst>
              <a:ext uri="{FF2B5EF4-FFF2-40B4-BE49-F238E27FC236}">
                <a16:creationId xmlns:a16="http://schemas.microsoft.com/office/drawing/2014/main" id="{7FFE6917-550B-5647-0E28-48EDBCF05563}"/>
              </a:ext>
            </a:extLst>
          </p:cNvPr>
          <p:cNvSpPr/>
          <p:nvPr/>
        </p:nvSpPr>
        <p:spPr>
          <a:xfrm>
            <a:off x="1524000" y="4495800"/>
            <a:ext cx="1397000" cy="279400"/>
          </a:xfrm>
          <a:prstGeom prst="roundRect">
            <a:avLst>
              <a:gd name="adj" fmla="val 8000"/>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100" b="1">
                <a:solidFill>
                  <a:srgbClr val="FFFFFF"/>
                </a:solidFill>
                <a:latin typeface="Calibri" panose="020F0502020204030204" pitchFamily="34" charset="0"/>
              </a:rPr>
              <a:t>B</a:t>
            </a:r>
          </a:p>
        </p:txBody>
      </p:sp>
      <p:cxnSp>
        <p:nvCxnSpPr>
          <p:cNvPr id="24" name="Straight Connector 23">
            <a:extLst>
              <a:ext uri="{FF2B5EF4-FFF2-40B4-BE49-F238E27FC236}">
                <a16:creationId xmlns:a16="http://schemas.microsoft.com/office/drawing/2014/main" id="{503156F4-476E-A1F1-3EA3-D00EB16826A2}"/>
              </a:ext>
            </a:extLst>
          </p:cNvPr>
          <p:cNvCxnSpPr/>
          <p:nvPr/>
        </p:nvCxnSpPr>
        <p:spPr>
          <a:xfrm>
            <a:off x="2159000" y="4203700"/>
            <a:ext cx="1066800" cy="0"/>
          </a:xfrm>
          <a:prstGeom prst="line">
            <a:avLst/>
          </a:prstGeom>
          <a:ln w="25400">
            <a:solidFill>
              <a:srgbClr val="E3A63B"/>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0D1EB3FA-A949-5C27-60AB-FB656F555D42}"/>
              </a:ext>
            </a:extLst>
          </p:cNvPr>
          <p:cNvCxnSpPr/>
          <p:nvPr/>
        </p:nvCxnSpPr>
        <p:spPr>
          <a:xfrm>
            <a:off x="3225800" y="4203700"/>
            <a:ext cx="0" cy="431800"/>
          </a:xfrm>
          <a:prstGeom prst="line">
            <a:avLst/>
          </a:prstGeom>
          <a:ln w="25400">
            <a:solidFill>
              <a:srgbClr val="E3A63B"/>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0423E198-E123-938D-E0BB-22A9A1643212}"/>
              </a:ext>
            </a:extLst>
          </p:cNvPr>
          <p:cNvCxnSpPr/>
          <p:nvPr/>
        </p:nvCxnSpPr>
        <p:spPr>
          <a:xfrm flipH="1">
            <a:off x="2921000" y="4635500"/>
            <a:ext cx="304800" cy="0"/>
          </a:xfrm>
          <a:prstGeom prst="line">
            <a:avLst/>
          </a:prstGeom>
          <a:ln w="25400">
            <a:solidFill>
              <a:srgbClr val="E3A63B"/>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12A46CE5-9C20-498E-BD96-F2D2356B3C62}"/>
              </a:ext>
            </a:extLst>
          </p:cNvPr>
          <p:cNvSpPr txBox="1"/>
          <p:nvPr/>
        </p:nvSpPr>
        <p:spPr>
          <a:xfrm>
            <a:off x="660400" y="4902200"/>
            <a:ext cx="2997200" cy="762000"/>
          </a:xfrm>
          <a:prstGeom prst="rect">
            <a:avLst/>
          </a:prstGeom>
          <a:noFill/>
        </p:spPr>
        <p:txBody>
          <a:bodyPr vert="horz" wrap="square" lIns="0" tIns="0" rIns="0" bIns="0" rtlCol="0" anchor="t">
            <a:noAutofit/>
          </a:bodyPr>
          <a:lstStyle/>
          <a:p>
            <a:r>
              <a:rPr lang="en-US" sz="1200">
                <a:solidFill>
                  <a:srgbClr val="1F2937"/>
                </a:solidFill>
                <a:latin typeface="Calibri" panose="020F0502020204030204" pitchFamily="34" charset="0"/>
              </a:rPr>
              <a:t>B can’t finish until A finishes. Example: editing can’t finish until writing finishes.</a:t>
            </a:r>
          </a:p>
        </p:txBody>
      </p:sp>
      <p:sp>
        <p:nvSpPr>
          <p:cNvPr id="28" name="Rectangle: Rounded Corners 27">
            <a:extLst>
              <a:ext uri="{FF2B5EF4-FFF2-40B4-BE49-F238E27FC236}">
                <a16:creationId xmlns:a16="http://schemas.microsoft.com/office/drawing/2014/main" id="{E2FBC028-7E63-5D02-8C80-30B63865DB9D}"/>
              </a:ext>
            </a:extLst>
          </p:cNvPr>
          <p:cNvSpPr/>
          <p:nvPr/>
        </p:nvSpPr>
        <p:spPr>
          <a:xfrm>
            <a:off x="3937000" y="3581400"/>
            <a:ext cx="3302000" cy="2133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491C055F-F0A4-7340-32BD-9694974F0D13}"/>
              </a:ext>
            </a:extLst>
          </p:cNvPr>
          <p:cNvSpPr txBox="1"/>
          <p:nvPr/>
        </p:nvSpPr>
        <p:spPr>
          <a:xfrm>
            <a:off x="4089400" y="3683000"/>
            <a:ext cx="2997200" cy="279400"/>
          </a:xfrm>
          <a:prstGeom prst="rect">
            <a:avLst/>
          </a:prstGeom>
          <a:noFill/>
        </p:spPr>
        <p:txBody>
          <a:bodyPr vert="horz" wrap="square" lIns="0" tIns="0" rIns="0" bIns="0" rtlCol="0" anchor="t">
            <a:noAutofit/>
          </a:bodyPr>
          <a:lstStyle/>
          <a:p>
            <a:r>
              <a:rPr lang="en-US" sz="1500" b="1">
                <a:solidFill>
                  <a:srgbClr val="34509A"/>
                </a:solidFill>
                <a:latin typeface="Calibri" panose="020F0502020204030204" pitchFamily="34" charset="0"/>
              </a:rPr>
              <a:t>SF</a:t>
            </a:r>
            <a:r>
              <a:rPr lang="en-US" sz="1500" b="1">
                <a:solidFill>
                  <a:srgbClr val="14213D"/>
                </a:solidFill>
                <a:latin typeface="Calibri" panose="020F0502020204030204" pitchFamily="34" charset="0"/>
              </a:rPr>
              <a:t>  Start-to-finish</a:t>
            </a:r>
          </a:p>
        </p:txBody>
      </p:sp>
      <p:sp>
        <p:nvSpPr>
          <p:cNvPr id="30" name="Rectangle: Rounded Corners 29">
            <a:extLst>
              <a:ext uri="{FF2B5EF4-FFF2-40B4-BE49-F238E27FC236}">
                <a16:creationId xmlns:a16="http://schemas.microsoft.com/office/drawing/2014/main" id="{B3D6B6BC-E3EC-7E35-96D9-3D02C3093054}"/>
              </a:ext>
            </a:extLst>
          </p:cNvPr>
          <p:cNvSpPr/>
          <p:nvPr/>
        </p:nvSpPr>
        <p:spPr>
          <a:xfrm>
            <a:off x="5715000" y="4064000"/>
            <a:ext cx="1143000" cy="279400"/>
          </a:xfrm>
          <a:prstGeom prst="roundRect">
            <a:avLst>
              <a:gd name="adj" fmla="val 8000"/>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100" b="1">
                <a:solidFill>
                  <a:srgbClr val="FFFFFF"/>
                </a:solidFill>
                <a:latin typeface="Calibri" panose="020F0502020204030204" pitchFamily="34" charset="0"/>
              </a:rPr>
              <a:t>A</a:t>
            </a:r>
          </a:p>
        </p:txBody>
      </p:sp>
      <p:sp>
        <p:nvSpPr>
          <p:cNvPr id="31" name="Rectangle: Rounded Corners 30">
            <a:extLst>
              <a:ext uri="{FF2B5EF4-FFF2-40B4-BE49-F238E27FC236}">
                <a16:creationId xmlns:a16="http://schemas.microsoft.com/office/drawing/2014/main" id="{BA1DF0BE-CFB6-5C95-0A23-65E7DB652793}"/>
              </a:ext>
            </a:extLst>
          </p:cNvPr>
          <p:cNvSpPr/>
          <p:nvPr/>
        </p:nvSpPr>
        <p:spPr>
          <a:xfrm>
            <a:off x="4191000" y="4495800"/>
            <a:ext cx="1143000" cy="279400"/>
          </a:xfrm>
          <a:prstGeom prst="roundRect">
            <a:avLst>
              <a:gd name="adj" fmla="val 8000"/>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100" b="1">
                <a:solidFill>
                  <a:srgbClr val="FFFFFF"/>
                </a:solidFill>
                <a:latin typeface="Calibri" panose="020F0502020204030204" pitchFamily="34" charset="0"/>
              </a:rPr>
              <a:t>B</a:t>
            </a:r>
          </a:p>
        </p:txBody>
      </p:sp>
      <p:cxnSp>
        <p:nvCxnSpPr>
          <p:cNvPr id="32" name="Straight Connector 31">
            <a:extLst>
              <a:ext uri="{FF2B5EF4-FFF2-40B4-BE49-F238E27FC236}">
                <a16:creationId xmlns:a16="http://schemas.microsoft.com/office/drawing/2014/main" id="{98415C7B-7A5F-B6E8-F82C-18F80179B57F}"/>
              </a:ext>
            </a:extLst>
          </p:cNvPr>
          <p:cNvCxnSpPr/>
          <p:nvPr/>
        </p:nvCxnSpPr>
        <p:spPr>
          <a:xfrm flipH="1">
            <a:off x="5524500" y="4203700"/>
            <a:ext cx="190500" cy="0"/>
          </a:xfrm>
          <a:prstGeom prst="line">
            <a:avLst/>
          </a:prstGeom>
          <a:ln w="25400">
            <a:solidFill>
              <a:srgbClr val="E3A63B"/>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C5432E27-F781-3FFC-F2E7-4EF4ED57EEC4}"/>
              </a:ext>
            </a:extLst>
          </p:cNvPr>
          <p:cNvCxnSpPr/>
          <p:nvPr/>
        </p:nvCxnSpPr>
        <p:spPr>
          <a:xfrm>
            <a:off x="5524500" y="4203700"/>
            <a:ext cx="0" cy="431800"/>
          </a:xfrm>
          <a:prstGeom prst="line">
            <a:avLst/>
          </a:prstGeom>
          <a:ln w="25400">
            <a:solidFill>
              <a:srgbClr val="E3A63B"/>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E5748B64-A94A-31BE-EE3B-ACD00C016937}"/>
              </a:ext>
            </a:extLst>
          </p:cNvPr>
          <p:cNvCxnSpPr/>
          <p:nvPr/>
        </p:nvCxnSpPr>
        <p:spPr>
          <a:xfrm flipH="1">
            <a:off x="5334000" y="4635500"/>
            <a:ext cx="190500" cy="0"/>
          </a:xfrm>
          <a:prstGeom prst="line">
            <a:avLst/>
          </a:prstGeom>
          <a:ln w="25400">
            <a:solidFill>
              <a:srgbClr val="E3A63B"/>
            </a:solidFill>
            <a:tailEnd type="triangle"/>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82006917-A775-75AB-900D-FBDE8866E8EB}"/>
              </a:ext>
            </a:extLst>
          </p:cNvPr>
          <p:cNvSpPr txBox="1"/>
          <p:nvPr/>
        </p:nvSpPr>
        <p:spPr>
          <a:xfrm>
            <a:off x="4089400" y="4902200"/>
            <a:ext cx="2997200" cy="762000"/>
          </a:xfrm>
          <a:prstGeom prst="rect">
            <a:avLst/>
          </a:prstGeom>
          <a:noFill/>
        </p:spPr>
        <p:txBody>
          <a:bodyPr vert="horz" wrap="square" lIns="0" tIns="0" rIns="0" bIns="0" rtlCol="0" anchor="t">
            <a:noAutofit/>
          </a:bodyPr>
          <a:lstStyle/>
          <a:p>
            <a:r>
              <a:rPr lang="en-US" sz="1200">
                <a:solidFill>
                  <a:srgbClr val="1F2937"/>
                </a:solidFill>
                <a:latin typeface="Calibri" panose="020F0502020204030204" pitchFamily="34" charset="0"/>
              </a:rPr>
              <a:t>B can’t finish until A starts. The rarest. Example: the old shift can’t end until the new shift starts.</a:t>
            </a:r>
          </a:p>
        </p:txBody>
      </p:sp>
      <p:sp>
        <p:nvSpPr>
          <p:cNvPr id="36" name="TextBox 35">
            <a:extLst>
              <a:ext uri="{FF2B5EF4-FFF2-40B4-BE49-F238E27FC236}">
                <a16:creationId xmlns:a16="http://schemas.microsoft.com/office/drawing/2014/main" id="{AA3DB759-A988-29BD-727C-CE3431C846DA}"/>
              </a:ext>
            </a:extLst>
          </p:cNvPr>
          <p:cNvSpPr txBox="1"/>
          <p:nvPr/>
        </p:nvSpPr>
        <p:spPr>
          <a:xfrm>
            <a:off x="508000" y="5867400"/>
            <a:ext cx="6604000" cy="228600"/>
          </a:xfrm>
          <a:prstGeom prst="rect">
            <a:avLst/>
          </a:prstGeom>
          <a:noFill/>
        </p:spPr>
        <p:txBody>
          <a:bodyPr vert="horz" wrap="square" lIns="0" tIns="0" rIns="0" bIns="0" rtlCol="0" anchor="t">
            <a:noAutofit/>
          </a:bodyPr>
          <a:lstStyle/>
          <a:p>
            <a:r>
              <a:rPr lang="en-US" sz="1200" i="1">
                <a:solidFill>
                  <a:srgbClr val="5B6475"/>
                </a:solidFill>
                <a:latin typeface="Calibri" panose="020F0502020204030204" pitchFamily="34" charset="0"/>
              </a:rPr>
              <a:t>A = predecessor  ·  B = successor  ·  arrow = the dependency</a:t>
            </a:r>
          </a:p>
        </p:txBody>
      </p:sp>
      <p:sp>
        <p:nvSpPr>
          <p:cNvPr id="37" name="Rectangle: Rounded Corners 36">
            <a:extLst>
              <a:ext uri="{FF2B5EF4-FFF2-40B4-BE49-F238E27FC236}">
                <a16:creationId xmlns:a16="http://schemas.microsoft.com/office/drawing/2014/main" id="{84D74AE7-C37A-C370-EBB5-16E102873D22}"/>
              </a:ext>
            </a:extLst>
          </p:cNvPr>
          <p:cNvSpPr/>
          <p:nvPr/>
        </p:nvSpPr>
        <p:spPr>
          <a:xfrm>
            <a:off x="7493000" y="1320800"/>
            <a:ext cx="4191000" cy="21336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EC295446-3573-37E2-800A-A90B6F502808}"/>
              </a:ext>
            </a:extLst>
          </p:cNvPr>
          <p:cNvSpPr txBox="1"/>
          <p:nvPr/>
        </p:nvSpPr>
        <p:spPr>
          <a:xfrm>
            <a:off x="7645400" y="1473200"/>
            <a:ext cx="3886200" cy="18288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Leads and lags</a:t>
            </a:r>
          </a:p>
          <a:p>
            <a:pPr>
              <a:spcAft>
                <a:spcPts val="600"/>
              </a:spcAft>
            </a:pPr>
            <a:r>
              <a:rPr lang="en-US" sz="1300" b="1">
                <a:solidFill>
                  <a:srgbClr val="14213D"/>
                </a:solidFill>
                <a:latin typeface="Calibri" panose="020F0502020204030204" pitchFamily="34" charset="0"/>
              </a:rPr>
              <a:t>Lag:</a:t>
            </a:r>
            <a:r>
              <a:rPr lang="en-US" sz="1300">
                <a:solidFill>
                  <a:srgbClr val="1F2937"/>
                </a:solidFill>
                <a:latin typeface="Calibri" panose="020F0502020204030204" pitchFamily="34" charset="0"/>
              </a:rPr>
              <a:t> a required wait added to a relationship, such as FS + 2 days for paint to dry.</a:t>
            </a:r>
          </a:p>
          <a:p>
            <a:pPr>
              <a:spcAft>
                <a:spcPts val="600"/>
              </a:spcAft>
            </a:pPr>
            <a:r>
              <a:rPr lang="en-US" sz="1300" b="1">
                <a:solidFill>
                  <a:srgbClr val="14213D"/>
                </a:solidFill>
                <a:latin typeface="Calibri" panose="020F0502020204030204" pitchFamily="34" charset="0"/>
              </a:rPr>
              <a:t>Lead:</a:t>
            </a:r>
            <a:r>
              <a:rPr lang="en-US" sz="1300">
                <a:solidFill>
                  <a:srgbClr val="1F2937"/>
                </a:solidFill>
                <a:latin typeface="Calibri" panose="020F0502020204030204" pitchFamily="34" charset="0"/>
              </a:rPr>
              <a:t> an overlap that lets the successor start early, such as FS − 2 days (a negative lag).</a:t>
            </a:r>
          </a:p>
        </p:txBody>
      </p:sp>
      <p:sp>
        <p:nvSpPr>
          <p:cNvPr id="39" name="Rectangle: Rounded Corners 38">
            <a:extLst>
              <a:ext uri="{FF2B5EF4-FFF2-40B4-BE49-F238E27FC236}">
                <a16:creationId xmlns:a16="http://schemas.microsoft.com/office/drawing/2014/main" id="{0F7D7BDE-9169-CE33-8DFA-3AF71D8E2EFA}"/>
              </a:ext>
            </a:extLst>
          </p:cNvPr>
          <p:cNvSpPr/>
          <p:nvPr/>
        </p:nvSpPr>
        <p:spPr>
          <a:xfrm>
            <a:off x="7493000" y="3581400"/>
            <a:ext cx="4191000" cy="2133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E62BAAE7-BB29-24DC-E571-477FD6BE9290}"/>
              </a:ext>
            </a:extLst>
          </p:cNvPr>
          <p:cNvSpPr txBox="1"/>
          <p:nvPr/>
        </p:nvSpPr>
        <p:spPr>
          <a:xfrm>
            <a:off x="7645400" y="3733800"/>
            <a:ext cx="3886200" cy="1828800"/>
          </a:xfrm>
          <a:prstGeom prst="rect">
            <a:avLst/>
          </a:prstGeom>
          <a:noFill/>
        </p:spPr>
        <p:txBody>
          <a:bodyPr vert="horz" wrap="square" lIns="0" tIns="0" rIns="0" bIns="0" rtlCol="0" anchor="t">
            <a:noAutofit/>
          </a:bodyPr>
          <a:lstStyle/>
          <a:p>
            <a:pPr>
              <a:spcAft>
                <a:spcPts val="600"/>
              </a:spcAft>
            </a:pPr>
            <a:r>
              <a:rPr lang="en-US" sz="1500" b="1">
                <a:solidFill>
                  <a:srgbClr val="14213D"/>
                </a:solidFill>
                <a:latin typeface="Calibri" panose="020F0502020204030204" pitchFamily="34" charset="0"/>
              </a:rPr>
              <a:t>Dependency types</a:t>
            </a:r>
          </a:p>
          <a:p>
            <a:pPr>
              <a:spcAft>
                <a:spcPts val="600"/>
              </a:spcAft>
            </a:pPr>
            <a:r>
              <a:rPr lang="en-US" sz="1200" b="1">
                <a:solidFill>
                  <a:srgbClr val="14213D"/>
                </a:solidFill>
                <a:latin typeface="Calibri" panose="020F0502020204030204" pitchFamily="34" charset="0"/>
              </a:rPr>
              <a:t>Mandatory (hard logic):</a:t>
            </a:r>
            <a:r>
              <a:rPr lang="en-US" sz="1200">
                <a:solidFill>
                  <a:srgbClr val="1F2937"/>
                </a:solidFill>
                <a:latin typeface="Calibri" panose="020F0502020204030204" pitchFamily="34" charset="0"/>
              </a:rPr>
              <a:t> required by contract or the nature of the work.</a:t>
            </a:r>
          </a:p>
          <a:p>
            <a:pPr>
              <a:spcAft>
                <a:spcPts val="600"/>
              </a:spcAft>
            </a:pPr>
            <a:r>
              <a:rPr lang="en-US" sz="1200" b="1">
                <a:solidFill>
                  <a:srgbClr val="14213D"/>
                </a:solidFill>
                <a:latin typeface="Calibri" panose="020F0502020204030204" pitchFamily="34" charset="0"/>
              </a:rPr>
              <a:t>Discretionary (soft or preferred logic):</a:t>
            </a:r>
            <a:r>
              <a:rPr lang="en-US" sz="1200">
                <a:solidFill>
                  <a:srgbClr val="1F2937"/>
                </a:solidFill>
                <a:latin typeface="Calibri" panose="020F0502020204030204" pitchFamily="34" charset="0"/>
              </a:rPr>
              <a:t> chosen by the team; document it.</a:t>
            </a:r>
          </a:p>
          <a:p>
            <a:pPr>
              <a:spcAft>
                <a:spcPts val="600"/>
              </a:spcAft>
            </a:pPr>
            <a:r>
              <a:rPr lang="en-US" sz="1200" b="1">
                <a:solidFill>
                  <a:srgbClr val="14213D"/>
                </a:solidFill>
                <a:latin typeface="Calibri" panose="020F0502020204030204" pitchFamily="34" charset="0"/>
              </a:rPr>
              <a:t>External:</a:t>
            </a:r>
            <a:r>
              <a:rPr lang="en-US" sz="1200">
                <a:solidFill>
                  <a:srgbClr val="1F2937"/>
                </a:solidFill>
                <a:latin typeface="Calibri" panose="020F0502020204030204" pitchFamily="34" charset="0"/>
              </a:rPr>
              <a:t> depends on something outside the project.</a:t>
            </a:r>
          </a:p>
          <a:p>
            <a:pPr>
              <a:spcAft>
                <a:spcPts val="600"/>
              </a:spcAft>
            </a:pPr>
            <a:r>
              <a:rPr lang="en-US" sz="1200" b="1">
                <a:solidFill>
                  <a:srgbClr val="14213D"/>
                </a:solidFill>
                <a:latin typeface="Calibri" panose="020F0502020204030204" pitchFamily="34" charset="0"/>
              </a:rPr>
              <a:t>Internal:</a:t>
            </a:r>
            <a:r>
              <a:rPr lang="en-US" sz="1200">
                <a:solidFill>
                  <a:srgbClr val="1F2937"/>
                </a:solidFill>
                <a:latin typeface="Calibri" panose="020F0502020204030204" pitchFamily="34" charset="0"/>
              </a:rPr>
              <a:t> within the team’s control.</a:t>
            </a:r>
          </a:p>
        </p:txBody>
      </p:sp>
      <p:sp>
        <p:nvSpPr>
          <p:cNvPr id="41" name="Rectangle: Rounded Corners 40">
            <a:extLst>
              <a:ext uri="{FF2B5EF4-FFF2-40B4-BE49-F238E27FC236}">
                <a16:creationId xmlns:a16="http://schemas.microsoft.com/office/drawing/2014/main" id="{AB0D3328-14C5-5590-F440-AC463AFE0BB4}"/>
              </a:ext>
            </a:extLst>
          </p:cNvPr>
          <p:cNvSpPr/>
          <p:nvPr/>
        </p:nvSpPr>
        <p:spPr>
          <a:xfrm>
            <a:off x="7493000" y="5816600"/>
            <a:ext cx="4191000" cy="533400"/>
          </a:xfrm>
          <a:prstGeom prst="roundRect">
            <a:avLst>
              <a:gd name="adj" fmla="val 8000"/>
            </a:avLst>
          </a:prstGeom>
          <a:solidFill>
            <a:srgbClr val="E8E1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9BEE2A58-D745-90D8-0DF5-089512A8BA0A}"/>
              </a:ext>
            </a:extLst>
          </p:cNvPr>
          <p:cNvSpPr txBox="1"/>
          <p:nvPr/>
        </p:nvSpPr>
        <p:spPr>
          <a:xfrm>
            <a:off x="7645400" y="5816600"/>
            <a:ext cx="3886200" cy="533400"/>
          </a:xfrm>
          <a:prstGeom prst="rect">
            <a:avLst/>
          </a:prstGeom>
          <a:noFill/>
        </p:spPr>
        <p:txBody>
          <a:bodyPr vert="horz" wrap="square" lIns="0" tIns="0" rIns="0" bIns="0" rtlCol="0" anchor="ctr">
            <a:noAutofit/>
          </a:bodyPr>
          <a:lstStyle/>
          <a:p>
            <a:r>
              <a:rPr lang="en-US" sz="1200" i="1">
                <a:solidFill>
                  <a:srgbClr val="14213D"/>
                </a:solidFill>
                <a:latin typeface="Calibri" panose="020F0502020204030204" pitchFamily="34" charset="0"/>
              </a:rPr>
              <a:t>Exam cue: FS is the default; SF is almost never used. Lags add time; leads subtract it.</a:t>
            </a:r>
          </a:p>
        </p:txBody>
      </p:sp>
      <p:sp>
        <p:nvSpPr>
          <p:cNvPr id="43" name="Footer">
            <a:extLst>
              <a:ext uri="{FF2B5EF4-FFF2-40B4-BE49-F238E27FC236}">
                <a16:creationId xmlns:a16="http://schemas.microsoft.com/office/drawing/2014/main" id="{A4DDE1C2-2E03-9465-B0B6-2F22D9B7B965}"/>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PMBOK® Guide — Sixth Edition, Section 6.3 (Sequence Activities: precedence diagramming method)</a:t>
            </a:r>
          </a:p>
        </p:txBody>
      </p:sp>
      <p:sp>
        <p:nvSpPr>
          <p:cNvPr id="44" name="SlideNum">
            <a:extLst>
              <a:ext uri="{FF2B5EF4-FFF2-40B4-BE49-F238E27FC236}">
                <a16:creationId xmlns:a16="http://schemas.microsoft.com/office/drawing/2014/main" id="{82970C2D-1AFF-48BF-485A-EB7A0BF4038B}"/>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36</a:t>
            </a:r>
          </a:p>
        </p:txBody>
      </p:sp>
      <p:sp>
        <p:nvSpPr>
          <p:cNvPr id="45"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8819687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4A72CC4-8202-998B-F43C-F015C955A8D6}"/>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Critical path method</a:t>
            </a:r>
          </a:p>
        </p:txBody>
      </p:sp>
      <p:sp>
        <p:nvSpPr>
          <p:cNvPr id="3" name="Tag">
            <a:extLst>
              <a:ext uri="{FF2B5EF4-FFF2-40B4-BE49-F238E27FC236}">
                <a16:creationId xmlns:a16="http://schemas.microsoft.com/office/drawing/2014/main" id="{60CE5559-A0CB-0EEB-729D-67A25F0FFF56}"/>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8 (Plan and manage schedule)</a:t>
            </a:r>
          </a:p>
        </p:txBody>
      </p:sp>
      <p:sp>
        <p:nvSpPr>
          <p:cNvPr id="4" name="TextBox 3">
            <a:extLst>
              <a:ext uri="{FF2B5EF4-FFF2-40B4-BE49-F238E27FC236}">
                <a16:creationId xmlns:a16="http://schemas.microsoft.com/office/drawing/2014/main" id="{842350B6-AAA2-39CB-7D60-A01E375B7598}"/>
              </a:ext>
            </a:extLst>
          </p:cNvPr>
          <p:cNvSpPr txBox="1"/>
          <p:nvPr/>
        </p:nvSpPr>
        <p:spPr>
          <a:xfrm>
            <a:off x="508000" y="1320800"/>
            <a:ext cx="11176000" cy="508000"/>
          </a:xfrm>
          <a:prstGeom prst="rect">
            <a:avLst/>
          </a:prstGeom>
          <a:noFill/>
        </p:spPr>
        <p:txBody>
          <a:bodyPr vert="horz" wrap="square" lIns="0" tIns="0" rIns="0" bIns="0" rtlCol="0" anchor="t">
            <a:noAutofit/>
          </a:bodyPr>
          <a:lstStyle/>
          <a:p>
            <a:r>
              <a:rPr lang="en-US" sz="1400">
                <a:solidFill>
                  <a:srgbClr val="1F2937"/>
                </a:solidFill>
                <a:latin typeface="Calibri" panose="020F0502020204030204" pitchFamily="34" charset="0"/>
              </a:rPr>
              <a:t>Finds the longest path through the schedule network. That path sets the shortest possible project duration, and every other path has some flexibility (float).</a:t>
            </a:r>
          </a:p>
        </p:txBody>
      </p:sp>
      <p:cxnSp>
        <p:nvCxnSpPr>
          <p:cNvPr id="5" name="Straight Connector 4">
            <a:extLst>
              <a:ext uri="{FF2B5EF4-FFF2-40B4-BE49-F238E27FC236}">
                <a16:creationId xmlns:a16="http://schemas.microsoft.com/office/drawing/2014/main" id="{A49C34B4-079C-9EEC-8F2A-1A9D0219D300}"/>
              </a:ext>
            </a:extLst>
          </p:cNvPr>
          <p:cNvCxnSpPr/>
          <p:nvPr/>
        </p:nvCxnSpPr>
        <p:spPr>
          <a:xfrm>
            <a:off x="1244600" y="3111500"/>
            <a:ext cx="254000" cy="0"/>
          </a:xfrm>
          <a:prstGeom prst="line">
            <a:avLst/>
          </a:prstGeom>
          <a:ln w="34925">
            <a:solidFill>
              <a:srgbClr val="A84A2E"/>
            </a:solidFill>
            <a:tailEnd type="triangle"/>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FC467F26-1499-173E-C31B-A3C522FD9D82}"/>
              </a:ext>
            </a:extLst>
          </p:cNvPr>
          <p:cNvCxnSpPr/>
          <p:nvPr/>
        </p:nvCxnSpPr>
        <p:spPr>
          <a:xfrm flipV="1">
            <a:off x="2540000" y="2324100"/>
            <a:ext cx="279400" cy="787400"/>
          </a:xfrm>
          <a:prstGeom prst="line">
            <a:avLst/>
          </a:prstGeom>
          <a:ln w="22225">
            <a:solidFill>
              <a:srgbClr val="7F8CB0"/>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DAFA55DC-91D2-FFCD-6724-2706730657B2}"/>
              </a:ext>
            </a:extLst>
          </p:cNvPr>
          <p:cNvCxnSpPr/>
          <p:nvPr/>
        </p:nvCxnSpPr>
        <p:spPr>
          <a:xfrm>
            <a:off x="3860800" y="2324100"/>
            <a:ext cx="279400" cy="0"/>
          </a:xfrm>
          <a:prstGeom prst="line">
            <a:avLst/>
          </a:prstGeom>
          <a:ln w="22225">
            <a:solidFill>
              <a:srgbClr val="7F8CB0"/>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1983A958-1C80-F5A3-4A8E-9187C6A4C15B}"/>
              </a:ext>
            </a:extLst>
          </p:cNvPr>
          <p:cNvCxnSpPr/>
          <p:nvPr/>
        </p:nvCxnSpPr>
        <p:spPr>
          <a:xfrm>
            <a:off x="5181600" y="2324100"/>
            <a:ext cx="279400" cy="787400"/>
          </a:xfrm>
          <a:prstGeom prst="line">
            <a:avLst/>
          </a:prstGeom>
          <a:ln w="22225">
            <a:solidFill>
              <a:srgbClr val="7F8CB0"/>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F7724AF0-9367-F8D3-5ED2-34D171B9DCFF}"/>
              </a:ext>
            </a:extLst>
          </p:cNvPr>
          <p:cNvCxnSpPr/>
          <p:nvPr/>
        </p:nvCxnSpPr>
        <p:spPr>
          <a:xfrm>
            <a:off x="2540000" y="3111500"/>
            <a:ext cx="279400" cy="787400"/>
          </a:xfrm>
          <a:prstGeom prst="line">
            <a:avLst/>
          </a:prstGeom>
          <a:ln w="34925">
            <a:solidFill>
              <a:srgbClr val="A84A2E"/>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52F2379D-4A5B-00B9-2713-CA85819C825A}"/>
              </a:ext>
            </a:extLst>
          </p:cNvPr>
          <p:cNvCxnSpPr/>
          <p:nvPr/>
        </p:nvCxnSpPr>
        <p:spPr>
          <a:xfrm>
            <a:off x="3860800" y="3898900"/>
            <a:ext cx="279400" cy="0"/>
          </a:xfrm>
          <a:prstGeom prst="line">
            <a:avLst/>
          </a:prstGeom>
          <a:ln w="34925">
            <a:solidFill>
              <a:srgbClr val="A84A2E"/>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4C238C01-BD8C-A1FE-5E43-ABA9D97D6AE1}"/>
              </a:ext>
            </a:extLst>
          </p:cNvPr>
          <p:cNvCxnSpPr/>
          <p:nvPr/>
        </p:nvCxnSpPr>
        <p:spPr>
          <a:xfrm flipV="1">
            <a:off x="5181600" y="3111500"/>
            <a:ext cx="279400" cy="787400"/>
          </a:xfrm>
          <a:prstGeom prst="line">
            <a:avLst/>
          </a:prstGeom>
          <a:ln w="34925">
            <a:solidFill>
              <a:srgbClr val="A84A2E"/>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9631B4-FF37-C262-1F62-3C9A124C02E9}"/>
              </a:ext>
            </a:extLst>
          </p:cNvPr>
          <p:cNvCxnSpPr/>
          <p:nvPr/>
        </p:nvCxnSpPr>
        <p:spPr>
          <a:xfrm>
            <a:off x="6502400" y="3111500"/>
            <a:ext cx="279400" cy="0"/>
          </a:xfrm>
          <a:prstGeom prst="line">
            <a:avLst/>
          </a:prstGeom>
          <a:ln w="34925">
            <a:solidFill>
              <a:srgbClr val="A84A2E"/>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C2916CA9-E694-431D-7248-7F4154F54C73}"/>
              </a:ext>
            </a:extLst>
          </p:cNvPr>
          <p:cNvSpPr/>
          <p:nvPr/>
        </p:nvSpPr>
        <p:spPr>
          <a:xfrm>
            <a:off x="508000" y="2857500"/>
            <a:ext cx="736600" cy="508000"/>
          </a:xfrm>
          <a:prstGeom prst="roundRect">
            <a:avLst>
              <a:gd name="adj" fmla="val 12000"/>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100" b="1">
                <a:solidFill>
                  <a:srgbClr val="FFFFFF"/>
                </a:solidFill>
                <a:latin typeface="Calibri" panose="020F0502020204030204" pitchFamily="34" charset="0"/>
              </a:rPr>
              <a:t>Start</a:t>
            </a:r>
          </a:p>
        </p:txBody>
      </p:sp>
      <p:sp>
        <p:nvSpPr>
          <p:cNvPr id="14" name="Rectangle: Rounded Corners 13">
            <a:extLst>
              <a:ext uri="{FF2B5EF4-FFF2-40B4-BE49-F238E27FC236}">
                <a16:creationId xmlns:a16="http://schemas.microsoft.com/office/drawing/2014/main" id="{2FB687D8-3A33-B972-2E4F-D31E4B9648DA}"/>
              </a:ext>
            </a:extLst>
          </p:cNvPr>
          <p:cNvSpPr/>
          <p:nvPr/>
        </p:nvSpPr>
        <p:spPr>
          <a:xfrm>
            <a:off x="1498600" y="2857500"/>
            <a:ext cx="1041400" cy="508000"/>
          </a:xfrm>
          <a:prstGeom prst="roundRect">
            <a:avLst>
              <a:gd name="adj" fmla="val 12000"/>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100" b="1">
                <a:solidFill>
                  <a:srgbClr val="FFFFFF"/>
                </a:solidFill>
                <a:latin typeface="Calibri" panose="020F0502020204030204" pitchFamily="34" charset="0"/>
              </a:rPr>
              <a:t>Activity 1</a:t>
            </a:r>
          </a:p>
          <a:p>
            <a:pPr algn="ctr"/>
            <a:r>
              <a:rPr lang="en-US" sz="1100" b="1">
                <a:solidFill>
                  <a:srgbClr val="FFFFFF"/>
                </a:solidFill>
                <a:latin typeface="Calibri" panose="020F0502020204030204" pitchFamily="34" charset="0"/>
              </a:rPr>
              <a:t>6 weeks</a:t>
            </a:r>
          </a:p>
        </p:txBody>
      </p:sp>
      <p:sp>
        <p:nvSpPr>
          <p:cNvPr id="15" name="Rectangle: Rounded Corners 14">
            <a:extLst>
              <a:ext uri="{FF2B5EF4-FFF2-40B4-BE49-F238E27FC236}">
                <a16:creationId xmlns:a16="http://schemas.microsoft.com/office/drawing/2014/main" id="{9C5EA207-0825-297B-6E07-A8C8ACEBF0DC}"/>
              </a:ext>
            </a:extLst>
          </p:cNvPr>
          <p:cNvSpPr/>
          <p:nvPr/>
        </p:nvSpPr>
        <p:spPr>
          <a:xfrm>
            <a:off x="2819400" y="2070100"/>
            <a:ext cx="1041400" cy="508000"/>
          </a:xfrm>
          <a:prstGeom prst="roundRect">
            <a:avLst>
              <a:gd name="adj" fmla="val 12000"/>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100" b="1">
                <a:solidFill>
                  <a:srgbClr val="FFFFFF"/>
                </a:solidFill>
                <a:latin typeface="Calibri" panose="020F0502020204030204" pitchFamily="34" charset="0"/>
              </a:rPr>
              <a:t>Activity 2</a:t>
            </a:r>
          </a:p>
          <a:p>
            <a:pPr algn="ctr"/>
            <a:r>
              <a:rPr lang="en-US" sz="1100" b="1">
                <a:solidFill>
                  <a:srgbClr val="FFFFFF"/>
                </a:solidFill>
                <a:latin typeface="Calibri" panose="020F0502020204030204" pitchFamily="34" charset="0"/>
              </a:rPr>
              <a:t>4 weeks</a:t>
            </a:r>
          </a:p>
        </p:txBody>
      </p:sp>
      <p:sp>
        <p:nvSpPr>
          <p:cNvPr id="16" name="Rectangle: Rounded Corners 15">
            <a:extLst>
              <a:ext uri="{FF2B5EF4-FFF2-40B4-BE49-F238E27FC236}">
                <a16:creationId xmlns:a16="http://schemas.microsoft.com/office/drawing/2014/main" id="{32699185-BED7-DC2C-A008-EDE703C05F46}"/>
              </a:ext>
            </a:extLst>
          </p:cNvPr>
          <p:cNvSpPr/>
          <p:nvPr/>
        </p:nvSpPr>
        <p:spPr>
          <a:xfrm>
            <a:off x="4140200" y="2070100"/>
            <a:ext cx="1041400" cy="508000"/>
          </a:xfrm>
          <a:prstGeom prst="roundRect">
            <a:avLst>
              <a:gd name="adj" fmla="val 12000"/>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100" b="1">
                <a:solidFill>
                  <a:srgbClr val="FFFFFF"/>
                </a:solidFill>
                <a:latin typeface="Calibri" panose="020F0502020204030204" pitchFamily="34" charset="0"/>
              </a:rPr>
              <a:t>Activity 4</a:t>
            </a:r>
          </a:p>
          <a:p>
            <a:pPr algn="ctr"/>
            <a:r>
              <a:rPr lang="en-US" sz="1100" b="1">
                <a:solidFill>
                  <a:srgbClr val="FFFFFF"/>
                </a:solidFill>
                <a:latin typeface="Calibri" panose="020F0502020204030204" pitchFamily="34" charset="0"/>
              </a:rPr>
              <a:t>3 weeks</a:t>
            </a:r>
          </a:p>
        </p:txBody>
      </p:sp>
      <p:sp>
        <p:nvSpPr>
          <p:cNvPr id="17" name="Rectangle: Rounded Corners 16">
            <a:extLst>
              <a:ext uri="{FF2B5EF4-FFF2-40B4-BE49-F238E27FC236}">
                <a16:creationId xmlns:a16="http://schemas.microsoft.com/office/drawing/2014/main" id="{75D9C237-6ED1-14DD-7AEE-A05703C57D11}"/>
              </a:ext>
            </a:extLst>
          </p:cNvPr>
          <p:cNvSpPr/>
          <p:nvPr/>
        </p:nvSpPr>
        <p:spPr>
          <a:xfrm>
            <a:off x="2819400" y="3644900"/>
            <a:ext cx="1041400" cy="508000"/>
          </a:xfrm>
          <a:prstGeom prst="roundRect">
            <a:avLst>
              <a:gd name="adj" fmla="val 12000"/>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100" b="1">
                <a:solidFill>
                  <a:srgbClr val="FFFFFF"/>
                </a:solidFill>
                <a:latin typeface="Calibri" panose="020F0502020204030204" pitchFamily="34" charset="0"/>
              </a:rPr>
              <a:t>Activity 3</a:t>
            </a:r>
          </a:p>
          <a:p>
            <a:pPr algn="ctr"/>
            <a:r>
              <a:rPr lang="en-US" sz="1100" b="1">
                <a:solidFill>
                  <a:srgbClr val="FFFFFF"/>
                </a:solidFill>
                <a:latin typeface="Calibri" panose="020F0502020204030204" pitchFamily="34" charset="0"/>
              </a:rPr>
              <a:t>5 weeks</a:t>
            </a:r>
          </a:p>
        </p:txBody>
      </p:sp>
      <p:sp>
        <p:nvSpPr>
          <p:cNvPr id="18" name="Rectangle: Rounded Corners 17">
            <a:extLst>
              <a:ext uri="{FF2B5EF4-FFF2-40B4-BE49-F238E27FC236}">
                <a16:creationId xmlns:a16="http://schemas.microsoft.com/office/drawing/2014/main" id="{77D15D9C-CACA-7E16-1438-4D2ED9279D55}"/>
              </a:ext>
            </a:extLst>
          </p:cNvPr>
          <p:cNvSpPr/>
          <p:nvPr/>
        </p:nvSpPr>
        <p:spPr>
          <a:xfrm>
            <a:off x="4140200" y="3644900"/>
            <a:ext cx="1041400" cy="508000"/>
          </a:xfrm>
          <a:prstGeom prst="roundRect">
            <a:avLst>
              <a:gd name="adj" fmla="val 12000"/>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100" b="1">
                <a:solidFill>
                  <a:srgbClr val="FFFFFF"/>
                </a:solidFill>
                <a:latin typeface="Calibri" panose="020F0502020204030204" pitchFamily="34" charset="0"/>
              </a:rPr>
              <a:t>Activity 5</a:t>
            </a:r>
          </a:p>
          <a:p>
            <a:pPr algn="ctr"/>
            <a:r>
              <a:rPr lang="en-US" sz="1100" b="1">
                <a:solidFill>
                  <a:srgbClr val="FFFFFF"/>
                </a:solidFill>
                <a:latin typeface="Calibri" panose="020F0502020204030204" pitchFamily="34" charset="0"/>
              </a:rPr>
              <a:t>4 weeks</a:t>
            </a:r>
          </a:p>
        </p:txBody>
      </p:sp>
      <p:sp>
        <p:nvSpPr>
          <p:cNvPr id="19" name="Rectangle: Rounded Corners 18">
            <a:extLst>
              <a:ext uri="{FF2B5EF4-FFF2-40B4-BE49-F238E27FC236}">
                <a16:creationId xmlns:a16="http://schemas.microsoft.com/office/drawing/2014/main" id="{8E443324-CF7C-57D2-B11D-0E9DDDCF7E8D}"/>
              </a:ext>
            </a:extLst>
          </p:cNvPr>
          <p:cNvSpPr/>
          <p:nvPr/>
        </p:nvSpPr>
        <p:spPr>
          <a:xfrm>
            <a:off x="5461000" y="2857500"/>
            <a:ext cx="1041400" cy="508000"/>
          </a:xfrm>
          <a:prstGeom prst="roundRect">
            <a:avLst>
              <a:gd name="adj" fmla="val 12000"/>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100" b="1">
                <a:solidFill>
                  <a:srgbClr val="FFFFFF"/>
                </a:solidFill>
                <a:latin typeface="Calibri" panose="020F0502020204030204" pitchFamily="34" charset="0"/>
              </a:rPr>
              <a:t>Activity 6</a:t>
            </a:r>
          </a:p>
          <a:p>
            <a:pPr algn="ctr"/>
            <a:r>
              <a:rPr lang="en-US" sz="1100" b="1">
                <a:solidFill>
                  <a:srgbClr val="FFFFFF"/>
                </a:solidFill>
                <a:latin typeface="Calibri" panose="020F0502020204030204" pitchFamily="34" charset="0"/>
              </a:rPr>
              <a:t>1 week</a:t>
            </a:r>
          </a:p>
        </p:txBody>
      </p:sp>
      <p:sp>
        <p:nvSpPr>
          <p:cNvPr id="20" name="Rectangle: Rounded Corners 19">
            <a:extLst>
              <a:ext uri="{FF2B5EF4-FFF2-40B4-BE49-F238E27FC236}">
                <a16:creationId xmlns:a16="http://schemas.microsoft.com/office/drawing/2014/main" id="{F4BECDF4-9214-507B-AAC3-DBBAF135B22E}"/>
              </a:ext>
            </a:extLst>
          </p:cNvPr>
          <p:cNvSpPr/>
          <p:nvPr/>
        </p:nvSpPr>
        <p:spPr>
          <a:xfrm>
            <a:off x="6781800" y="2857500"/>
            <a:ext cx="736600" cy="508000"/>
          </a:xfrm>
          <a:prstGeom prst="roundRect">
            <a:avLst>
              <a:gd name="adj" fmla="val 12000"/>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100" b="1">
                <a:solidFill>
                  <a:srgbClr val="FFFFFF"/>
                </a:solidFill>
                <a:latin typeface="Calibri" panose="020F0502020204030204" pitchFamily="34" charset="0"/>
              </a:rPr>
              <a:t>Finish</a:t>
            </a:r>
          </a:p>
        </p:txBody>
      </p:sp>
      <p:sp>
        <p:nvSpPr>
          <p:cNvPr id="21" name="TextBox 20">
            <a:extLst>
              <a:ext uri="{FF2B5EF4-FFF2-40B4-BE49-F238E27FC236}">
                <a16:creationId xmlns:a16="http://schemas.microsoft.com/office/drawing/2014/main" id="{4051EE47-3852-AA64-63C9-CB1396EFE793}"/>
              </a:ext>
            </a:extLst>
          </p:cNvPr>
          <p:cNvSpPr txBox="1"/>
          <p:nvPr/>
        </p:nvSpPr>
        <p:spPr>
          <a:xfrm>
            <a:off x="508000" y="4267200"/>
            <a:ext cx="2540000" cy="228600"/>
          </a:xfrm>
          <a:prstGeom prst="rect">
            <a:avLst/>
          </a:prstGeom>
          <a:noFill/>
        </p:spPr>
        <p:txBody>
          <a:bodyPr vert="horz" wrap="square" lIns="0" tIns="0" rIns="0" bIns="0" rtlCol="0" anchor="t">
            <a:noAutofit/>
          </a:bodyPr>
          <a:lstStyle/>
          <a:p>
            <a:r>
              <a:rPr lang="en-US" sz="1200" b="1">
                <a:solidFill>
                  <a:srgbClr val="A84A2E"/>
                </a:solidFill>
                <a:latin typeface="Calibri" panose="020F0502020204030204" pitchFamily="34" charset="0"/>
              </a:rPr>
              <a:t>Red = critical path</a:t>
            </a:r>
          </a:p>
        </p:txBody>
      </p:sp>
      <p:graphicFrame>
        <p:nvGraphicFramePr>
          <p:cNvPr id="22" name="Table">
            <a:extLst>
              <a:ext uri="{FF2B5EF4-FFF2-40B4-BE49-F238E27FC236}">
                <a16:creationId xmlns:a16="http://schemas.microsoft.com/office/drawing/2014/main" id="{91F84716-F5A1-BE30-A9DA-C440313F8373}"/>
              </a:ext>
            </a:extLst>
          </p:cNvPr>
          <p:cNvGraphicFramePr>
            <a:graphicFrameLocks noGrp="1"/>
          </p:cNvGraphicFramePr>
          <p:nvPr>
            <p:extLst>
              <p:ext uri="{D42A27DB-BD31-4B8C-83A1-F6EECF244321}">
                <p14:modId xmlns:p14="http://schemas.microsoft.com/office/powerpoint/2010/main" val="3169656688"/>
              </p:ext>
            </p:extLst>
          </p:nvPr>
        </p:nvGraphicFramePr>
        <p:xfrm>
          <a:off x="7772400" y="2032000"/>
          <a:ext cx="3911600" cy="1219200"/>
        </p:xfrm>
        <a:graphic>
          <a:graphicData uri="http://schemas.openxmlformats.org/drawingml/2006/table">
            <a:tbl>
              <a:tblPr firstRow="1" bandRow="1">
                <a:tableStyleId>{2D5ABB26-0587-4C30-8999-92F81FD0307C}</a:tableStyleId>
              </a:tblPr>
              <a:tblGrid>
                <a:gridCol w="1625600">
                  <a:extLst>
                    <a:ext uri="{9D8B030D-6E8A-4147-A177-3AD203B41FA5}">
                      <a16:colId xmlns:a16="http://schemas.microsoft.com/office/drawing/2014/main" val="972315536"/>
                    </a:ext>
                  </a:extLst>
                </a:gridCol>
                <a:gridCol w="2286000">
                  <a:extLst>
                    <a:ext uri="{9D8B030D-6E8A-4147-A177-3AD203B41FA5}">
                      <a16:colId xmlns:a16="http://schemas.microsoft.com/office/drawing/2014/main" val="3894868329"/>
                    </a:ext>
                  </a:extLst>
                </a:gridCol>
              </a:tblGrid>
              <a:tr h="406400">
                <a:tc>
                  <a:txBody>
                    <a:bodyPr/>
                    <a:lstStyle/>
                    <a:p>
                      <a:r>
                        <a:rPr lang="en-US" sz="1300" b="1">
                          <a:solidFill>
                            <a:srgbClr val="FFFFFF"/>
                          </a:solidFill>
                          <a:latin typeface="Calibri" panose="020F0502020204030204" pitchFamily="34" charset="0"/>
                        </a:rPr>
                        <a:t>Path</a:t>
                      </a:r>
                    </a:p>
                  </a:txBody>
                  <a:tcPr marL="127000" marR="101600" marT="63500" marB="63500" anchor="ctr">
                    <a:solidFill>
                      <a:srgbClr val="14213D"/>
                    </a:solidFill>
                  </a:tcPr>
                </a:tc>
                <a:tc>
                  <a:txBody>
                    <a:bodyPr/>
                    <a:lstStyle/>
                    <a:p>
                      <a:r>
                        <a:rPr lang="en-US" sz="1300" b="1">
                          <a:solidFill>
                            <a:srgbClr val="FFFFFF"/>
                          </a:solidFill>
                          <a:latin typeface="Calibri" panose="020F0502020204030204" pitchFamily="34" charset="0"/>
                        </a:rPr>
                        <a:t>Weeks</a:t>
                      </a:r>
                    </a:p>
                  </a:txBody>
                  <a:tcPr marL="127000" marR="101600" marT="63500" marB="63500" anchor="ctr">
                    <a:solidFill>
                      <a:srgbClr val="14213D"/>
                    </a:solidFill>
                  </a:tcPr>
                </a:tc>
                <a:extLst>
                  <a:ext uri="{0D108BD9-81ED-4DB2-BD59-A6C34878D82A}">
                    <a16:rowId xmlns:a16="http://schemas.microsoft.com/office/drawing/2014/main" val="661967930"/>
                  </a:ext>
                </a:extLst>
              </a:tr>
              <a:tr h="406400">
                <a:tc>
                  <a:txBody>
                    <a:bodyPr/>
                    <a:lstStyle/>
                    <a:p>
                      <a:r>
                        <a:rPr lang="en-US" sz="1300" b="1">
                          <a:solidFill>
                            <a:srgbClr val="14213D"/>
                          </a:solidFill>
                          <a:latin typeface="Calibri" panose="020F0502020204030204" pitchFamily="34" charset="0"/>
                        </a:rPr>
                        <a:t>1 → 2 → 4 → 6</a:t>
                      </a:r>
                    </a:p>
                  </a:txBody>
                  <a:tcPr marL="127000" marR="101600" marT="63500" marB="63500" anchor="ctr">
                    <a:solidFill>
                      <a:srgbClr val="FFFFFF"/>
                    </a:solidFill>
                  </a:tcPr>
                </a:tc>
                <a:tc>
                  <a:txBody>
                    <a:bodyPr/>
                    <a:lstStyle/>
                    <a:p>
                      <a:r>
                        <a:rPr lang="en-US" sz="1300">
                          <a:solidFill>
                            <a:srgbClr val="1F2937"/>
                          </a:solidFill>
                          <a:latin typeface="Calibri" panose="020F0502020204030204" pitchFamily="34" charset="0"/>
                        </a:rPr>
                        <a:t>6 + 4 + 3 + 1 = 14</a:t>
                      </a:r>
                    </a:p>
                  </a:txBody>
                  <a:tcPr marL="127000" marR="101600" marT="63500" marB="63500" anchor="ctr">
                    <a:solidFill>
                      <a:srgbClr val="FFFFFF"/>
                    </a:solidFill>
                  </a:tcPr>
                </a:tc>
                <a:extLst>
                  <a:ext uri="{0D108BD9-81ED-4DB2-BD59-A6C34878D82A}">
                    <a16:rowId xmlns:a16="http://schemas.microsoft.com/office/drawing/2014/main" val="621442284"/>
                  </a:ext>
                </a:extLst>
              </a:tr>
              <a:tr h="406400">
                <a:tc>
                  <a:txBody>
                    <a:bodyPr/>
                    <a:lstStyle/>
                    <a:p>
                      <a:r>
                        <a:rPr lang="en-US" sz="1300" b="1">
                          <a:solidFill>
                            <a:srgbClr val="A84A2E"/>
                          </a:solidFill>
                          <a:latin typeface="Calibri" panose="020F0502020204030204" pitchFamily="34" charset="0"/>
                        </a:rPr>
                        <a:t>1 → 3 → 5 → 6</a:t>
                      </a:r>
                    </a:p>
                  </a:txBody>
                  <a:tcPr marL="127000" marR="101600" marT="63500" marB="63500" anchor="ctr">
                    <a:solidFill>
                      <a:srgbClr val="F3F5F8"/>
                    </a:solidFill>
                  </a:tcPr>
                </a:tc>
                <a:tc>
                  <a:txBody>
                    <a:bodyPr/>
                    <a:lstStyle/>
                    <a:p>
                      <a:r>
                        <a:rPr lang="en-US" sz="1300" b="1">
                          <a:solidFill>
                            <a:srgbClr val="A84A2E"/>
                          </a:solidFill>
                          <a:latin typeface="Calibri" panose="020F0502020204030204" pitchFamily="34" charset="0"/>
                        </a:rPr>
                        <a:t>6 + 5 + 4 + 1 = 16</a:t>
                      </a:r>
                    </a:p>
                  </a:txBody>
                  <a:tcPr marL="127000" marR="101600" marT="63500" marB="63500" anchor="ctr">
                    <a:solidFill>
                      <a:srgbClr val="F3F5F8"/>
                    </a:solidFill>
                  </a:tcPr>
                </a:tc>
                <a:extLst>
                  <a:ext uri="{0D108BD9-81ED-4DB2-BD59-A6C34878D82A}">
                    <a16:rowId xmlns:a16="http://schemas.microsoft.com/office/drawing/2014/main" val="2054293321"/>
                  </a:ext>
                </a:extLst>
              </a:tr>
            </a:tbl>
          </a:graphicData>
        </a:graphic>
      </p:graphicFrame>
      <p:sp>
        <p:nvSpPr>
          <p:cNvPr id="23" name="TextBox 22">
            <a:extLst>
              <a:ext uri="{FF2B5EF4-FFF2-40B4-BE49-F238E27FC236}">
                <a16:creationId xmlns:a16="http://schemas.microsoft.com/office/drawing/2014/main" id="{58295720-2C15-F5C0-A192-6C20FE89D238}"/>
              </a:ext>
            </a:extLst>
          </p:cNvPr>
          <p:cNvSpPr txBox="1"/>
          <p:nvPr/>
        </p:nvSpPr>
        <p:spPr>
          <a:xfrm>
            <a:off x="7772400" y="3327400"/>
            <a:ext cx="3911600" cy="660400"/>
          </a:xfrm>
          <a:prstGeom prst="rect">
            <a:avLst/>
          </a:prstGeom>
          <a:noFill/>
        </p:spPr>
        <p:txBody>
          <a:bodyPr vert="horz" wrap="square" lIns="0" tIns="0" rIns="0" bIns="0" rtlCol="0" anchor="t">
            <a:noAutofit/>
          </a:bodyPr>
          <a:lstStyle/>
          <a:p>
            <a:r>
              <a:rPr lang="en-US" sz="1300" b="1">
                <a:solidFill>
                  <a:srgbClr val="14213D"/>
                </a:solidFill>
                <a:latin typeface="Calibri" panose="020F0502020204030204" pitchFamily="34" charset="0"/>
              </a:rPr>
              <a:t>Critical path: 16 weeks.</a:t>
            </a:r>
          </a:p>
          <a:p>
            <a:r>
              <a:rPr lang="en-US" sz="1300" b="1">
                <a:solidFill>
                  <a:srgbClr val="14213D"/>
                </a:solidFill>
                <a:latin typeface="Calibri" panose="020F0502020204030204" pitchFamily="34" charset="0"/>
              </a:rPr>
              <a:t>Activities 2 and 4 have 2 weeks of float (16 − 14).</a:t>
            </a:r>
          </a:p>
        </p:txBody>
      </p:sp>
      <p:sp>
        <p:nvSpPr>
          <p:cNvPr id="24" name="Rectangle: Rounded Corners 23">
            <a:extLst>
              <a:ext uri="{FF2B5EF4-FFF2-40B4-BE49-F238E27FC236}">
                <a16:creationId xmlns:a16="http://schemas.microsoft.com/office/drawing/2014/main" id="{F59B7459-7A81-DC57-B6C1-505747B995A6}"/>
              </a:ext>
            </a:extLst>
          </p:cNvPr>
          <p:cNvSpPr/>
          <p:nvPr/>
        </p:nvSpPr>
        <p:spPr>
          <a:xfrm>
            <a:off x="508000" y="4521200"/>
            <a:ext cx="5461000" cy="8382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D251FBC-3D9D-EC02-A0F1-4DF644AC4960}"/>
              </a:ext>
            </a:extLst>
          </p:cNvPr>
          <p:cNvSpPr txBox="1"/>
          <p:nvPr/>
        </p:nvSpPr>
        <p:spPr>
          <a:xfrm>
            <a:off x="635000" y="4648200"/>
            <a:ext cx="5207000" cy="584200"/>
          </a:xfrm>
          <a:prstGeom prst="rect">
            <a:avLst/>
          </a:prstGeom>
          <a:noFill/>
        </p:spPr>
        <p:txBody>
          <a:bodyPr vert="horz" wrap="square" lIns="0" tIns="0" rIns="0" bIns="0" rtlCol="0" anchor="t">
            <a:noAutofit/>
          </a:bodyPr>
          <a:lstStyle/>
          <a:p>
            <a:pPr>
              <a:spcAft>
                <a:spcPts val="600"/>
              </a:spcAft>
            </a:pPr>
            <a:r>
              <a:rPr lang="en-US" sz="1400" b="1">
                <a:solidFill>
                  <a:srgbClr val="14213D"/>
                </a:solidFill>
                <a:latin typeface="Calibri" panose="020F0502020204030204" pitchFamily="34" charset="0"/>
              </a:rPr>
              <a:t>Crashing</a:t>
            </a:r>
          </a:p>
          <a:p>
            <a:r>
              <a:rPr lang="en-US" sz="1200">
                <a:solidFill>
                  <a:srgbClr val="1F2937"/>
                </a:solidFill>
                <a:latin typeface="Calibri" panose="020F0502020204030204" pitchFamily="34" charset="0"/>
              </a:rPr>
              <a:t>Add resources to critical activities. Shortens the schedule but adds cost.</a:t>
            </a:r>
          </a:p>
        </p:txBody>
      </p:sp>
      <p:sp>
        <p:nvSpPr>
          <p:cNvPr id="26" name="Rectangle: Rounded Corners 25">
            <a:extLst>
              <a:ext uri="{FF2B5EF4-FFF2-40B4-BE49-F238E27FC236}">
                <a16:creationId xmlns:a16="http://schemas.microsoft.com/office/drawing/2014/main" id="{50A2505F-AD61-99B5-8249-3E9449F5CDE7}"/>
              </a:ext>
            </a:extLst>
          </p:cNvPr>
          <p:cNvSpPr/>
          <p:nvPr/>
        </p:nvSpPr>
        <p:spPr>
          <a:xfrm>
            <a:off x="6223000" y="4521200"/>
            <a:ext cx="5461000" cy="8382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9FE25145-AB10-392C-56EB-A1C216BFFB71}"/>
              </a:ext>
            </a:extLst>
          </p:cNvPr>
          <p:cNvSpPr txBox="1"/>
          <p:nvPr/>
        </p:nvSpPr>
        <p:spPr>
          <a:xfrm>
            <a:off x="6350000" y="4648200"/>
            <a:ext cx="5207000" cy="584200"/>
          </a:xfrm>
          <a:prstGeom prst="rect">
            <a:avLst/>
          </a:prstGeom>
          <a:noFill/>
        </p:spPr>
        <p:txBody>
          <a:bodyPr vert="horz" wrap="square" lIns="0" tIns="0" rIns="0" bIns="0" rtlCol="0" anchor="t">
            <a:noAutofit/>
          </a:bodyPr>
          <a:lstStyle/>
          <a:p>
            <a:pPr>
              <a:spcAft>
                <a:spcPts val="600"/>
              </a:spcAft>
            </a:pPr>
            <a:r>
              <a:rPr lang="en-US" sz="1400" b="1">
                <a:solidFill>
                  <a:srgbClr val="14213D"/>
                </a:solidFill>
                <a:latin typeface="Calibri" panose="020F0502020204030204" pitchFamily="34" charset="0"/>
              </a:rPr>
              <a:t>Fast tracking</a:t>
            </a:r>
          </a:p>
          <a:p>
            <a:r>
              <a:rPr lang="en-US" sz="1200">
                <a:solidFill>
                  <a:srgbClr val="1F2937"/>
                </a:solidFill>
                <a:latin typeface="Calibri" panose="020F0502020204030204" pitchFamily="34" charset="0"/>
              </a:rPr>
              <a:t>Overlap sequential activities. Shortens the schedule but adds risk.</a:t>
            </a:r>
          </a:p>
        </p:txBody>
      </p:sp>
      <p:sp>
        <p:nvSpPr>
          <p:cNvPr id="28" name="Rectangle: Rounded Corners 27">
            <a:extLst>
              <a:ext uri="{FF2B5EF4-FFF2-40B4-BE49-F238E27FC236}">
                <a16:creationId xmlns:a16="http://schemas.microsoft.com/office/drawing/2014/main" id="{D891C6C7-3C63-9F6B-90B3-278F12B2CBC7}"/>
              </a:ext>
            </a:extLst>
          </p:cNvPr>
          <p:cNvSpPr/>
          <p:nvPr/>
        </p:nvSpPr>
        <p:spPr>
          <a:xfrm>
            <a:off x="508000" y="5486400"/>
            <a:ext cx="11176000" cy="838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F49EEF6D-C334-DCDB-3CA7-300397AF4FB9}"/>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critical-path activities have zero float, so any delay on them delays the project. To shorten the schedule, compress the critical path; check whether a new critical path appears. A network can have more than one critical path, which raises schedule risk.</a:t>
            </a:r>
          </a:p>
        </p:txBody>
      </p:sp>
      <p:sp>
        <p:nvSpPr>
          <p:cNvPr id="30" name="Footer">
            <a:extLst>
              <a:ext uri="{FF2B5EF4-FFF2-40B4-BE49-F238E27FC236}">
                <a16:creationId xmlns:a16="http://schemas.microsoft.com/office/drawing/2014/main" id="{04850967-0940-A431-DBD2-686A0189F513}"/>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6.5.2.2 (critical path method) and 6.5.2.6 (schedule compression); adapted from PMI course material</a:t>
            </a:r>
          </a:p>
        </p:txBody>
      </p:sp>
      <p:sp>
        <p:nvSpPr>
          <p:cNvPr id="31" name="SlideNum">
            <a:extLst>
              <a:ext uri="{FF2B5EF4-FFF2-40B4-BE49-F238E27FC236}">
                <a16:creationId xmlns:a16="http://schemas.microsoft.com/office/drawing/2014/main" id="{86D4BCAA-BD1E-D086-7973-D68F3B628DC4}"/>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37</a:t>
            </a:r>
          </a:p>
        </p:txBody>
      </p:sp>
      <p:sp>
        <p:nvSpPr>
          <p:cNvPr id="32"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0695447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634270E-9B3A-1773-3853-ED41A2C2804D}"/>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Forward and backward pass</a:t>
            </a:r>
          </a:p>
        </p:txBody>
      </p:sp>
      <p:sp>
        <p:nvSpPr>
          <p:cNvPr id="3" name="Tag">
            <a:extLst>
              <a:ext uri="{FF2B5EF4-FFF2-40B4-BE49-F238E27FC236}">
                <a16:creationId xmlns:a16="http://schemas.microsoft.com/office/drawing/2014/main" id="{0453E6F1-0460-E339-BDB9-77C87B267F93}"/>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8 (Plan and manage schedule)</a:t>
            </a:r>
          </a:p>
        </p:txBody>
      </p:sp>
      <p:cxnSp>
        <p:nvCxnSpPr>
          <p:cNvPr id="4" name="Straight Connector 3">
            <a:extLst>
              <a:ext uri="{FF2B5EF4-FFF2-40B4-BE49-F238E27FC236}">
                <a16:creationId xmlns:a16="http://schemas.microsoft.com/office/drawing/2014/main" id="{2FD59034-D595-5383-0912-09E615FE5361}"/>
              </a:ext>
            </a:extLst>
          </p:cNvPr>
          <p:cNvCxnSpPr/>
          <p:nvPr/>
        </p:nvCxnSpPr>
        <p:spPr>
          <a:xfrm flipV="1">
            <a:off x="1219200" y="2336800"/>
            <a:ext cx="279400" cy="685800"/>
          </a:xfrm>
          <a:prstGeom prst="line">
            <a:avLst/>
          </a:prstGeom>
          <a:ln w="34925">
            <a:solidFill>
              <a:srgbClr val="A84A2E"/>
            </a:solidFill>
            <a:tailEnd type="triangle"/>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F1CDF769-6F62-467E-3C41-067F6AFA02EE}"/>
              </a:ext>
            </a:extLst>
          </p:cNvPr>
          <p:cNvCxnSpPr/>
          <p:nvPr/>
        </p:nvCxnSpPr>
        <p:spPr>
          <a:xfrm>
            <a:off x="1219200" y="3022600"/>
            <a:ext cx="279400" cy="1143000"/>
          </a:xfrm>
          <a:prstGeom prst="line">
            <a:avLst/>
          </a:prstGeom>
          <a:ln w="22225">
            <a:solidFill>
              <a:srgbClr val="7F8CB0"/>
            </a:solidFill>
            <a:tailEnd type="triangle"/>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90C43DE-E55B-27D8-43E4-0BD4274E4BC0}"/>
              </a:ext>
            </a:extLst>
          </p:cNvPr>
          <p:cNvCxnSpPr/>
          <p:nvPr/>
        </p:nvCxnSpPr>
        <p:spPr>
          <a:xfrm flipV="1">
            <a:off x="2717800" y="1778000"/>
            <a:ext cx="457200" cy="558800"/>
          </a:xfrm>
          <a:prstGeom prst="line">
            <a:avLst/>
          </a:prstGeom>
          <a:ln w="22225">
            <a:solidFill>
              <a:srgbClr val="7F8CB0"/>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6E9F21E-DAF2-4474-E2E8-32E4B3D3ACA6}"/>
              </a:ext>
            </a:extLst>
          </p:cNvPr>
          <p:cNvCxnSpPr/>
          <p:nvPr/>
        </p:nvCxnSpPr>
        <p:spPr>
          <a:xfrm>
            <a:off x="2717800" y="2336800"/>
            <a:ext cx="457200" cy="787400"/>
          </a:xfrm>
          <a:prstGeom prst="line">
            <a:avLst/>
          </a:prstGeom>
          <a:ln w="34925">
            <a:solidFill>
              <a:srgbClr val="A84A2E"/>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19B614C7-E8C8-18A6-5211-BC8B7F2D8662}"/>
              </a:ext>
            </a:extLst>
          </p:cNvPr>
          <p:cNvCxnSpPr/>
          <p:nvPr/>
        </p:nvCxnSpPr>
        <p:spPr>
          <a:xfrm>
            <a:off x="4394200" y="1778000"/>
            <a:ext cx="457200" cy="558800"/>
          </a:xfrm>
          <a:prstGeom prst="line">
            <a:avLst/>
          </a:prstGeom>
          <a:ln w="22225">
            <a:solidFill>
              <a:srgbClr val="7F8CB0"/>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1BA33AAE-EF4D-F0AF-0DCF-627BD3F4A39B}"/>
              </a:ext>
            </a:extLst>
          </p:cNvPr>
          <p:cNvCxnSpPr/>
          <p:nvPr/>
        </p:nvCxnSpPr>
        <p:spPr>
          <a:xfrm flipV="1">
            <a:off x="4394200" y="2336800"/>
            <a:ext cx="457200" cy="787400"/>
          </a:xfrm>
          <a:prstGeom prst="line">
            <a:avLst/>
          </a:prstGeom>
          <a:ln w="22225">
            <a:solidFill>
              <a:srgbClr val="7F8CB0"/>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769C171-3EA1-96AE-CBC5-8E6BF8E29448}"/>
              </a:ext>
            </a:extLst>
          </p:cNvPr>
          <p:cNvCxnSpPr/>
          <p:nvPr/>
        </p:nvCxnSpPr>
        <p:spPr>
          <a:xfrm>
            <a:off x="4394200" y="3124200"/>
            <a:ext cx="457200" cy="1041400"/>
          </a:xfrm>
          <a:prstGeom prst="line">
            <a:avLst/>
          </a:prstGeom>
          <a:ln w="34925">
            <a:solidFill>
              <a:srgbClr val="A84A2E"/>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EF7BF50C-5C61-E978-A01E-3A4F588417BB}"/>
              </a:ext>
            </a:extLst>
          </p:cNvPr>
          <p:cNvCxnSpPr/>
          <p:nvPr/>
        </p:nvCxnSpPr>
        <p:spPr>
          <a:xfrm>
            <a:off x="2717800" y="4165600"/>
            <a:ext cx="2133600" cy="0"/>
          </a:xfrm>
          <a:prstGeom prst="line">
            <a:avLst/>
          </a:prstGeom>
          <a:ln w="22225">
            <a:solidFill>
              <a:srgbClr val="7F8CB0"/>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B48D3B57-75FF-CD0E-9D7B-608D3A0548DA}"/>
              </a:ext>
            </a:extLst>
          </p:cNvPr>
          <p:cNvCxnSpPr/>
          <p:nvPr/>
        </p:nvCxnSpPr>
        <p:spPr>
          <a:xfrm>
            <a:off x="6070600" y="2336800"/>
            <a:ext cx="431800" cy="685800"/>
          </a:xfrm>
          <a:prstGeom prst="line">
            <a:avLst/>
          </a:prstGeom>
          <a:ln w="22225">
            <a:solidFill>
              <a:srgbClr val="7F8CB0"/>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2E8F4FF4-3EB2-2B3F-C82B-3A30902B9191}"/>
              </a:ext>
            </a:extLst>
          </p:cNvPr>
          <p:cNvCxnSpPr/>
          <p:nvPr/>
        </p:nvCxnSpPr>
        <p:spPr>
          <a:xfrm flipV="1">
            <a:off x="6070600" y="3022600"/>
            <a:ext cx="431800" cy="1143000"/>
          </a:xfrm>
          <a:prstGeom prst="line">
            <a:avLst/>
          </a:prstGeom>
          <a:ln w="34925">
            <a:solidFill>
              <a:srgbClr val="A84A2E"/>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1D1A0704-3BAE-33EA-D611-74D11C5549D8}"/>
              </a:ext>
            </a:extLst>
          </p:cNvPr>
          <p:cNvSpPr/>
          <p:nvPr/>
        </p:nvSpPr>
        <p:spPr>
          <a:xfrm>
            <a:off x="508000" y="2768600"/>
            <a:ext cx="711200" cy="508000"/>
          </a:xfrm>
          <a:prstGeom prst="roundRect">
            <a:avLst>
              <a:gd name="adj" fmla="val 12000"/>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100" b="1">
                <a:solidFill>
                  <a:srgbClr val="FFFFFF"/>
                </a:solidFill>
                <a:latin typeface="Calibri" panose="020F0502020204030204" pitchFamily="34" charset="0"/>
              </a:rPr>
              <a:t>Start</a:t>
            </a:r>
          </a:p>
        </p:txBody>
      </p:sp>
      <p:sp>
        <p:nvSpPr>
          <p:cNvPr id="15" name="Rectangle: Rounded Corners 14">
            <a:extLst>
              <a:ext uri="{FF2B5EF4-FFF2-40B4-BE49-F238E27FC236}">
                <a16:creationId xmlns:a16="http://schemas.microsoft.com/office/drawing/2014/main" id="{D4A617F8-D610-2676-7FA0-5FC587F3F559}"/>
              </a:ext>
            </a:extLst>
          </p:cNvPr>
          <p:cNvSpPr/>
          <p:nvPr/>
        </p:nvSpPr>
        <p:spPr>
          <a:xfrm>
            <a:off x="6502400" y="2768600"/>
            <a:ext cx="711200" cy="508000"/>
          </a:xfrm>
          <a:prstGeom prst="roundRect">
            <a:avLst>
              <a:gd name="adj" fmla="val 12000"/>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100" b="1">
                <a:solidFill>
                  <a:srgbClr val="FFFFFF"/>
                </a:solidFill>
                <a:latin typeface="Calibri" panose="020F0502020204030204" pitchFamily="34" charset="0"/>
              </a:rPr>
              <a:t>End</a:t>
            </a:r>
          </a:p>
        </p:txBody>
      </p:sp>
      <p:sp>
        <p:nvSpPr>
          <p:cNvPr id="16" name="Rectangle: Rounded Corners 15">
            <a:extLst>
              <a:ext uri="{FF2B5EF4-FFF2-40B4-BE49-F238E27FC236}">
                <a16:creationId xmlns:a16="http://schemas.microsoft.com/office/drawing/2014/main" id="{AE3711A2-2373-A89D-FA56-2350E05392A3}"/>
              </a:ext>
            </a:extLst>
          </p:cNvPr>
          <p:cNvSpPr/>
          <p:nvPr/>
        </p:nvSpPr>
        <p:spPr>
          <a:xfrm>
            <a:off x="1498600" y="1981200"/>
            <a:ext cx="1219200" cy="711200"/>
          </a:xfrm>
          <a:prstGeom prst="roundRect">
            <a:avLst>
              <a:gd name="adj" fmla="val 12000"/>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endParaRPr lang="en-US" sz="1200" b="1">
              <a:solidFill>
                <a:srgbClr val="FFFFFF"/>
              </a:solidFill>
              <a:latin typeface="Calibri" panose="020F0502020204030204" pitchFamily="34" charset="0"/>
            </a:endParaRPr>
          </a:p>
        </p:txBody>
      </p:sp>
      <p:sp>
        <p:nvSpPr>
          <p:cNvPr id="17" name="TextBox 16">
            <a:extLst>
              <a:ext uri="{FF2B5EF4-FFF2-40B4-BE49-F238E27FC236}">
                <a16:creationId xmlns:a16="http://schemas.microsoft.com/office/drawing/2014/main" id="{56ADA770-7726-4E74-3E2C-DBEDBD839F05}"/>
              </a:ext>
            </a:extLst>
          </p:cNvPr>
          <p:cNvSpPr txBox="1"/>
          <p:nvPr/>
        </p:nvSpPr>
        <p:spPr>
          <a:xfrm>
            <a:off x="1854200" y="2159000"/>
            <a:ext cx="508000" cy="330200"/>
          </a:xfrm>
          <a:prstGeom prst="rect">
            <a:avLst/>
          </a:prstGeom>
          <a:noFill/>
        </p:spPr>
        <p:txBody>
          <a:bodyPr vert="horz" wrap="square" lIns="0" tIns="0" rIns="0" bIns="0" rtlCol="0" anchor="ctr">
            <a:noAutofit/>
          </a:bodyPr>
          <a:lstStyle/>
          <a:p>
            <a:pPr algn="ctr"/>
            <a:r>
              <a:rPr lang="en-US" sz="1600" b="1">
                <a:solidFill>
                  <a:srgbClr val="FFFFFF"/>
                </a:solidFill>
                <a:latin typeface="Calibri" panose="020F0502020204030204" pitchFamily="34" charset="0"/>
              </a:rPr>
              <a:t>A</a:t>
            </a:r>
          </a:p>
        </p:txBody>
      </p:sp>
      <p:sp>
        <p:nvSpPr>
          <p:cNvPr id="18" name="TextBox 17">
            <a:extLst>
              <a:ext uri="{FF2B5EF4-FFF2-40B4-BE49-F238E27FC236}">
                <a16:creationId xmlns:a16="http://schemas.microsoft.com/office/drawing/2014/main" id="{C3D3DEAF-69EB-4645-1D9E-76128EA8154A}"/>
              </a:ext>
            </a:extLst>
          </p:cNvPr>
          <p:cNvSpPr txBox="1"/>
          <p:nvPr/>
        </p:nvSpPr>
        <p:spPr>
          <a:xfrm>
            <a:off x="1536700" y="2006600"/>
            <a:ext cx="304800" cy="203200"/>
          </a:xfrm>
          <a:prstGeom prst="rect">
            <a:avLst/>
          </a:prstGeom>
          <a:noFill/>
        </p:spPr>
        <p:txBody>
          <a:bodyPr vert="horz" wrap="square" lIns="0" tIns="0" rIns="0" bIns="0" rtlCol="0" anchor="t">
            <a:noAutofit/>
          </a:bodyPr>
          <a:lstStyle/>
          <a:p>
            <a:r>
              <a:rPr lang="en-US" sz="1000" b="1">
                <a:solidFill>
                  <a:srgbClr val="FFFFFF"/>
                </a:solidFill>
                <a:latin typeface="Calibri" panose="020F0502020204030204" pitchFamily="34" charset="0"/>
              </a:rPr>
              <a:t>1</a:t>
            </a:r>
          </a:p>
        </p:txBody>
      </p:sp>
      <p:sp>
        <p:nvSpPr>
          <p:cNvPr id="19" name="TextBox 18">
            <a:extLst>
              <a:ext uri="{FF2B5EF4-FFF2-40B4-BE49-F238E27FC236}">
                <a16:creationId xmlns:a16="http://schemas.microsoft.com/office/drawing/2014/main" id="{EFF11E81-241D-AF44-C9C5-6E47E2877950}"/>
              </a:ext>
            </a:extLst>
          </p:cNvPr>
          <p:cNvSpPr txBox="1"/>
          <p:nvPr/>
        </p:nvSpPr>
        <p:spPr>
          <a:xfrm>
            <a:off x="2374900" y="2006600"/>
            <a:ext cx="304800" cy="203200"/>
          </a:xfrm>
          <a:prstGeom prst="rect">
            <a:avLst/>
          </a:prstGeom>
          <a:noFill/>
        </p:spPr>
        <p:txBody>
          <a:bodyPr vert="horz" wrap="square" lIns="0" tIns="0" rIns="0" bIns="0" rtlCol="0" anchor="t">
            <a:noAutofit/>
          </a:bodyPr>
          <a:lstStyle/>
          <a:p>
            <a:pPr algn="r"/>
            <a:r>
              <a:rPr lang="en-US" sz="1000" b="1">
                <a:solidFill>
                  <a:srgbClr val="FFFFFF"/>
                </a:solidFill>
                <a:latin typeface="Calibri" panose="020F0502020204030204" pitchFamily="34" charset="0"/>
              </a:rPr>
              <a:t>3</a:t>
            </a:r>
          </a:p>
        </p:txBody>
      </p:sp>
      <p:sp>
        <p:nvSpPr>
          <p:cNvPr id="20" name="TextBox 19">
            <a:extLst>
              <a:ext uri="{FF2B5EF4-FFF2-40B4-BE49-F238E27FC236}">
                <a16:creationId xmlns:a16="http://schemas.microsoft.com/office/drawing/2014/main" id="{0C0CB29F-C7CB-9B33-72AF-5D9E76F91243}"/>
              </a:ext>
            </a:extLst>
          </p:cNvPr>
          <p:cNvSpPr txBox="1"/>
          <p:nvPr/>
        </p:nvSpPr>
        <p:spPr>
          <a:xfrm>
            <a:off x="1536700" y="2463800"/>
            <a:ext cx="304800" cy="203200"/>
          </a:xfrm>
          <a:prstGeom prst="rect">
            <a:avLst/>
          </a:prstGeom>
          <a:noFill/>
        </p:spPr>
        <p:txBody>
          <a:bodyPr vert="horz" wrap="square" lIns="0" tIns="0" rIns="0" bIns="0" rtlCol="0" anchor="t">
            <a:noAutofit/>
          </a:bodyPr>
          <a:lstStyle/>
          <a:p>
            <a:r>
              <a:rPr lang="en-US" sz="1000" b="1">
                <a:solidFill>
                  <a:srgbClr val="FFFFFF"/>
                </a:solidFill>
                <a:latin typeface="Calibri" panose="020F0502020204030204" pitchFamily="34" charset="0"/>
              </a:rPr>
              <a:t>1</a:t>
            </a:r>
          </a:p>
        </p:txBody>
      </p:sp>
      <p:sp>
        <p:nvSpPr>
          <p:cNvPr id="21" name="TextBox 20">
            <a:extLst>
              <a:ext uri="{FF2B5EF4-FFF2-40B4-BE49-F238E27FC236}">
                <a16:creationId xmlns:a16="http://schemas.microsoft.com/office/drawing/2014/main" id="{1CB47CEA-13E7-6363-31EE-A6CAEDD92B91}"/>
              </a:ext>
            </a:extLst>
          </p:cNvPr>
          <p:cNvSpPr txBox="1"/>
          <p:nvPr/>
        </p:nvSpPr>
        <p:spPr>
          <a:xfrm>
            <a:off x="2374900" y="2463800"/>
            <a:ext cx="304800" cy="203200"/>
          </a:xfrm>
          <a:prstGeom prst="rect">
            <a:avLst/>
          </a:prstGeom>
          <a:noFill/>
        </p:spPr>
        <p:txBody>
          <a:bodyPr vert="horz" wrap="square" lIns="0" tIns="0" rIns="0" bIns="0" rtlCol="0" anchor="t">
            <a:noAutofit/>
          </a:bodyPr>
          <a:lstStyle/>
          <a:p>
            <a:pPr algn="r"/>
            <a:r>
              <a:rPr lang="en-US" sz="1000" b="1">
                <a:solidFill>
                  <a:srgbClr val="FFFFFF"/>
                </a:solidFill>
                <a:latin typeface="Calibri" panose="020F0502020204030204" pitchFamily="34" charset="0"/>
              </a:rPr>
              <a:t>3</a:t>
            </a:r>
          </a:p>
        </p:txBody>
      </p:sp>
      <p:sp>
        <p:nvSpPr>
          <p:cNvPr id="22" name="TextBox 21">
            <a:extLst>
              <a:ext uri="{FF2B5EF4-FFF2-40B4-BE49-F238E27FC236}">
                <a16:creationId xmlns:a16="http://schemas.microsoft.com/office/drawing/2014/main" id="{2BB8608A-DCDA-7270-343D-C98E636C51B1}"/>
              </a:ext>
            </a:extLst>
          </p:cNvPr>
          <p:cNvSpPr txBox="1"/>
          <p:nvPr/>
        </p:nvSpPr>
        <p:spPr>
          <a:xfrm>
            <a:off x="1854200" y="2463800"/>
            <a:ext cx="508000" cy="203200"/>
          </a:xfrm>
          <a:prstGeom prst="rect">
            <a:avLst/>
          </a:prstGeom>
          <a:noFill/>
        </p:spPr>
        <p:txBody>
          <a:bodyPr vert="horz" wrap="square" lIns="0" tIns="0" rIns="0" bIns="0" rtlCol="0" anchor="t">
            <a:noAutofit/>
          </a:bodyPr>
          <a:lstStyle/>
          <a:p>
            <a:pPr algn="ctr"/>
            <a:r>
              <a:rPr lang="en-US" sz="1000" b="1">
                <a:solidFill>
                  <a:srgbClr val="E3A63B"/>
                </a:solidFill>
                <a:latin typeface="Calibri" panose="020F0502020204030204" pitchFamily="34" charset="0"/>
              </a:rPr>
              <a:t>TF 0</a:t>
            </a:r>
          </a:p>
        </p:txBody>
      </p:sp>
      <p:sp>
        <p:nvSpPr>
          <p:cNvPr id="23" name="TextBox 22">
            <a:extLst>
              <a:ext uri="{FF2B5EF4-FFF2-40B4-BE49-F238E27FC236}">
                <a16:creationId xmlns:a16="http://schemas.microsoft.com/office/drawing/2014/main" id="{15917E01-498C-9910-1B32-453958E5D53D}"/>
              </a:ext>
            </a:extLst>
          </p:cNvPr>
          <p:cNvSpPr txBox="1"/>
          <p:nvPr/>
        </p:nvSpPr>
        <p:spPr>
          <a:xfrm>
            <a:off x="1854200" y="2006600"/>
            <a:ext cx="508000" cy="203200"/>
          </a:xfrm>
          <a:prstGeom prst="rect">
            <a:avLst/>
          </a:prstGeom>
          <a:noFill/>
        </p:spPr>
        <p:txBody>
          <a:bodyPr vert="horz" wrap="square" lIns="0" tIns="0" rIns="0" bIns="0" rtlCol="0" anchor="t">
            <a:noAutofit/>
          </a:bodyPr>
          <a:lstStyle/>
          <a:p>
            <a:pPr algn="ctr"/>
            <a:r>
              <a:rPr lang="en-US" sz="1000">
                <a:solidFill>
                  <a:srgbClr val="C9D6EA"/>
                </a:solidFill>
                <a:latin typeface="Calibri" panose="020F0502020204030204" pitchFamily="34" charset="0"/>
              </a:rPr>
              <a:t>3 d</a:t>
            </a:r>
          </a:p>
        </p:txBody>
      </p:sp>
      <p:sp>
        <p:nvSpPr>
          <p:cNvPr id="24" name="Rectangle: Rounded Corners 23">
            <a:extLst>
              <a:ext uri="{FF2B5EF4-FFF2-40B4-BE49-F238E27FC236}">
                <a16:creationId xmlns:a16="http://schemas.microsoft.com/office/drawing/2014/main" id="{E6958BA0-0B9C-A5CE-96F0-550ED9A0779B}"/>
              </a:ext>
            </a:extLst>
          </p:cNvPr>
          <p:cNvSpPr/>
          <p:nvPr/>
        </p:nvSpPr>
        <p:spPr>
          <a:xfrm>
            <a:off x="1498600" y="3810000"/>
            <a:ext cx="1219200" cy="711200"/>
          </a:xfrm>
          <a:prstGeom prst="roundRect">
            <a:avLst>
              <a:gd name="adj" fmla="val 12000"/>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endParaRPr lang="en-US" sz="1200" b="1">
              <a:solidFill>
                <a:srgbClr val="FFFFFF"/>
              </a:solidFill>
              <a:latin typeface="Calibri" panose="020F0502020204030204" pitchFamily="34" charset="0"/>
            </a:endParaRPr>
          </a:p>
        </p:txBody>
      </p:sp>
      <p:sp>
        <p:nvSpPr>
          <p:cNvPr id="25" name="TextBox 24">
            <a:extLst>
              <a:ext uri="{FF2B5EF4-FFF2-40B4-BE49-F238E27FC236}">
                <a16:creationId xmlns:a16="http://schemas.microsoft.com/office/drawing/2014/main" id="{57FE27BD-AB82-E807-756A-6868EB6A172F}"/>
              </a:ext>
            </a:extLst>
          </p:cNvPr>
          <p:cNvSpPr txBox="1"/>
          <p:nvPr/>
        </p:nvSpPr>
        <p:spPr>
          <a:xfrm>
            <a:off x="1854200" y="3987800"/>
            <a:ext cx="508000" cy="330200"/>
          </a:xfrm>
          <a:prstGeom prst="rect">
            <a:avLst/>
          </a:prstGeom>
          <a:noFill/>
        </p:spPr>
        <p:txBody>
          <a:bodyPr vert="horz" wrap="square" lIns="0" tIns="0" rIns="0" bIns="0" rtlCol="0" anchor="ctr">
            <a:noAutofit/>
          </a:bodyPr>
          <a:lstStyle/>
          <a:p>
            <a:pPr algn="ctr"/>
            <a:r>
              <a:rPr lang="en-US" sz="1600" b="1">
                <a:solidFill>
                  <a:srgbClr val="FFFFFF"/>
                </a:solidFill>
                <a:latin typeface="Calibri" panose="020F0502020204030204" pitchFamily="34" charset="0"/>
              </a:rPr>
              <a:t>B</a:t>
            </a:r>
          </a:p>
        </p:txBody>
      </p:sp>
      <p:sp>
        <p:nvSpPr>
          <p:cNvPr id="26" name="TextBox 25">
            <a:extLst>
              <a:ext uri="{FF2B5EF4-FFF2-40B4-BE49-F238E27FC236}">
                <a16:creationId xmlns:a16="http://schemas.microsoft.com/office/drawing/2014/main" id="{116919C1-32FD-3BC1-DC76-79C87FB5FC26}"/>
              </a:ext>
            </a:extLst>
          </p:cNvPr>
          <p:cNvSpPr txBox="1"/>
          <p:nvPr/>
        </p:nvSpPr>
        <p:spPr>
          <a:xfrm>
            <a:off x="1536700" y="3835400"/>
            <a:ext cx="304800" cy="203200"/>
          </a:xfrm>
          <a:prstGeom prst="rect">
            <a:avLst/>
          </a:prstGeom>
          <a:noFill/>
        </p:spPr>
        <p:txBody>
          <a:bodyPr vert="horz" wrap="square" lIns="0" tIns="0" rIns="0" bIns="0" rtlCol="0" anchor="t">
            <a:noAutofit/>
          </a:bodyPr>
          <a:lstStyle/>
          <a:p>
            <a:r>
              <a:rPr lang="en-US" sz="1000" b="1">
                <a:solidFill>
                  <a:srgbClr val="FFFFFF"/>
                </a:solidFill>
                <a:latin typeface="Calibri" panose="020F0502020204030204" pitchFamily="34" charset="0"/>
              </a:rPr>
              <a:t>1</a:t>
            </a:r>
          </a:p>
        </p:txBody>
      </p:sp>
      <p:sp>
        <p:nvSpPr>
          <p:cNvPr id="27" name="TextBox 26">
            <a:extLst>
              <a:ext uri="{FF2B5EF4-FFF2-40B4-BE49-F238E27FC236}">
                <a16:creationId xmlns:a16="http://schemas.microsoft.com/office/drawing/2014/main" id="{2F2746BD-76D1-509C-20F0-84657FE926EA}"/>
              </a:ext>
            </a:extLst>
          </p:cNvPr>
          <p:cNvSpPr txBox="1"/>
          <p:nvPr/>
        </p:nvSpPr>
        <p:spPr>
          <a:xfrm>
            <a:off x="2374900" y="3835400"/>
            <a:ext cx="304800" cy="203200"/>
          </a:xfrm>
          <a:prstGeom prst="rect">
            <a:avLst/>
          </a:prstGeom>
          <a:noFill/>
        </p:spPr>
        <p:txBody>
          <a:bodyPr vert="horz" wrap="square" lIns="0" tIns="0" rIns="0" bIns="0" rtlCol="0" anchor="t">
            <a:noAutofit/>
          </a:bodyPr>
          <a:lstStyle/>
          <a:p>
            <a:pPr algn="r"/>
            <a:r>
              <a:rPr lang="en-US" sz="1000" b="1">
                <a:solidFill>
                  <a:srgbClr val="FFFFFF"/>
                </a:solidFill>
                <a:latin typeface="Calibri" panose="020F0502020204030204" pitchFamily="34" charset="0"/>
              </a:rPr>
              <a:t>4</a:t>
            </a:r>
          </a:p>
        </p:txBody>
      </p:sp>
      <p:sp>
        <p:nvSpPr>
          <p:cNvPr id="28" name="TextBox 27">
            <a:extLst>
              <a:ext uri="{FF2B5EF4-FFF2-40B4-BE49-F238E27FC236}">
                <a16:creationId xmlns:a16="http://schemas.microsoft.com/office/drawing/2014/main" id="{A966A18D-DB76-6091-6B57-F658372DC973}"/>
              </a:ext>
            </a:extLst>
          </p:cNvPr>
          <p:cNvSpPr txBox="1"/>
          <p:nvPr/>
        </p:nvSpPr>
        <p:spPr>
          <a:xfrm>
            <a:off x="1536700" y="4292600"/>
            <a:ext cx="304800" cy="203200"/>
          </a:xfrm>
          <a:prstGeom prst="rect">
            <a:avLst/>
          </a:prstGeom>
          <a:noFill/>
        </p:spPr>
        <p:txBody>
          <a:bodyPr vert="horz" wrap="square" lIns="0" tIns="0" rIns="0" bIns="0" rtlCol="0" anchor="t">
            <a:noAutofit/>
          </a:bodyPr>
          <a:lstStyle/>
          <a:p>
            <a:r>
              <a:rPr lang="en-US" sz="1000" b="1">
                <a:solidFill>
                  <a:srgbClr val="FFFFFF"/>
                </a:solidFill>
                <a:latin typeface="Calibri" panose="020F0502020204030204" pitchFamily="34" charset="0"/>
              </a:rPr>
              <a:t>4</a:t>
            </a:r>
          </a:p>
        </p:txBody>
      </p:sp>
      <p:sp>
        <p:nvSpPr>
          <p:cNvPr id="29" name="TextBox 28">
            <a:extLst>
              <a:ext uri="{FF2B5EF4-FFF2-40B4-BE49-F238E27FC236}">
                <a16:creationId xmlns:a16="http://schemas.microsoft.com/office/drawing/2014/main" id="{D363C09B-F204-5DA6-5A4D-DC3E915FB3A0}"/>
              </a:ext>
            </a:extLst>
          </p:cNvPr>
          <p:cNvSpPr txBox="1"/>
          <p:nvPr/>
        </p:nvSpPr>
        <p:spPr>
          <a:xfrm>
            <a:off x="2374900" y="4292600"/>
            <a:ext cx="304800" cy="203200"/>
          </a:xfrm>
          <a:prstGeom prst="rect">
            <a:avLst/>
          </a:prstGeom>
          <a:noFill/>
        </p:spPr>
        <p:txBody>
          <a:bodyPr vert="horz" wrap="square" lIns="0" tIns="0" rIns="0" bIns="0" rtlCol="0" anchor="t">
            <a:noAutofit/>
          </a:bodyPr>
          <a:lstStyle/>
          <a:p>
            <a:pPr algn="r"/>
            <a:r>
              <a:rPr lang="en-US" sz="1000" b="1">
                <a:solidFill>
                  <a:srgbClr val="FFFFFF"/>
                </a:solidFill>
                <a:latin typeface="Calibri" panose="020F0502020204030204" pitchFamily="34" charset="0"/>
              </a:rPr>
              <a:t>7</a:t>
            </a:r>
          </a:p>
        </p:txBody>
      </p:sp>
      <p:sp>
        <p:nvSpPr>
          <p:cNvPr id="30" name="TextBox 29">
            <a:extLst>
              <a:ext uri="{FF2B5EF4-FFF2-40B4-BE49-F238E27FC236}">
                <a16:creationId xmlns:a16="http://schemas.microsoft.com/office/drawing/2014/main" id="{A67290D1-A94B-F143-521A-44C959485894}"/>
              </a:ext>
            </a:extLst>
          </p:cNvPr>
          <p:cNvSpPr txBox="1"/>
          <p:nvPr/>
        </p:nvSpPr>
        <p:spPr>
          <a:xfrm>
            <a:off x="1854200" y="4292600"/>
            <a:ext cx="508000" cy="203200"/>
          </a:xfrm>
          <a:prstGeom prst="rect">
            <a:avLst/>
          </a:prstGeom>
          <a:noFill/>
        </p:spPr>
        <p:txBody>
          <a:bodyPr vert="horz" wrap="square" lIns="0" tIns="0" rIns="0" bIns="0" rtlCol="0" anchor="t">
            <a:noAutofit/>
          </a:bodyPr>
          <a:lstStyle/>
          <a:p>
            <a:pPr algn="ctr"/>
            <a:r>
              <a:rPr lang="en-US" sz="1000" b="1">
                <a:solidFill>
                  <a:srgbClr val="E3A63B"/>
                </a:solidFill>
                <a:latin typeface="Calibri" panose="020F0502020204030204" pitchFamily="34" charset="0"/>
              </a:rPr>
              <a:t>TF 3</a:t>
            </a:r>
          </a:p>
        </p:txBody>
      </p:sp>
      <p:sp>
        <p:nvSpPr>
          <p:cNvPr id="31" name="TextBox 30">
            <a:extLst>
              <a:ext uri="{FF2B5EF4-FFF2-40B4-BE49-F238E27FC236}">
                <a16:creationId xmlns:a16="http://schemas.microsoft.com/office/drawing/2014/main" id="{D0ACA9B2-D4E7-1C7E-7150-77AA68605E7D}"/>
              </a:ext>
            </a:extLst>
          </p:cNvPr>
          <p:cNvSpPr txBox="1"/>
          <p:nvPr/>
        </p:nvSpPr>
        <p:spPr>
          <a:xfrm>
            <a:off x="1854200" y="3835400"/>
            <a:ext cx="508000" cy="203200"/>
          </a:xfrm>
          <a:prstGeom prst="rect">
            <a:avLst/>
          </a:prstGeom>
          <a:noFill/>
        </p:spPr>
        <p:txBody>
          <a:bodyPr vert="horz" wrap="square" lIns="0" tIns="0" rIns="0" bIns="0" rtlCol="0" anchor="t">
            <a:noAutofit/>
          </a:bodyPr>
          <a:lstStyle/>
          <a:p>
            <a:pPr algn="ctr"/>
            <a:r>
              <a:rPr lang="en-US" sz="1000">
                <a:solidFill>
                  <a:srgbClr val="C9D6EA"/>
                </a:solidFill>
                <a:latin typeface="Calibri" panose="020F0502020204030204" pitchFamily="34" charset="0"/>
              </a:rPr>
              <a:t>4 d</a:t>
            </a:r>
          </a:p>
        </p:txBody>
      </p:sp>
      <p:sp>
        <p:nvSpPr>
          <p:cNvPr id="32" name="Rectangle: Rounded Corners 31">
            <a:extLst>
              <a:ext uri="{FF2B5EF4-FFF2-40B4-BE49-F238E27FC236}">
                <a16:creationId xmlns:a16="http://schemas.microsoft.com/office/drawing/2014/main" id="{F5B44101-BC5A-3719-A839-59102519F28F}"/>
              </a:ext>
            </a:extLst>
          </p:cNvPr>
          <p:cNvSpPr/>
          <p:nvPr/>
        </p:nvSpPr>
        <p:spPr>
          <a:xfrm>
            <a:off x="3175000" y="1422400"/>
            <a:ext cx="1219200" cy="711200"/>
          </a:xfrm>
          <a:prstGeom prst="roundRect">
            <a:avLst>
              <a:gd name="adj" fmla="val 12000"/>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endParaRPr lang="en-US" sz="1200" b="1">
              <a:solidFill>
                <a:srgbClr val="FFFFFF"/>
              </a:solidFill>
              <a:latin typeface="Calibri" panose="020F0502020204030204" pitchFamily="34" charset="0"/>
            </a:endParaRPr>
          </a:p>
        </p:txBody>
      </p:sp>
      <p:sp>
        <p:nvSpPr>
          <p:cNvPr id="33" name="TextBox 32">
            <a:extLst>
              <a:ext uri="{FF2B5EF4-FFF2-40B4-BE49-F238E27FC236}">
                <a16:creationId xmlns:a16="http://schemas.microsoft.com/office/drawing/2014/main" id="{200BDBAA-AD1A-B7EB-2FAB-B33781513723}"/>
              </a:ext>
            </a:extLst>
          </p:cNvPr>
          <p:cNvSpPr txBox="1"/>
          <p:nvPr/>
        </p:nvSpPr>
        <p:spPr>
          <a:xfrm>
            <a:off x="3530600" y="1600200"/>
            <a:ext cx="508000" cy="330200"/>
          </a:xfrm>
          <a:prstGeom prst="rect">
            <a:avLst/>
          </a:prstGeom>
          <a:noFill/>
        </p:spPr>
        <p:txBody>
          <a:bodyPr vert="horz" wrap="square" lIns="0" tIns="0" rIns="0" bIns="0" rtlCol="0" anchor="ctr">
            <a:noAutofit/>
          </a:bodyPr>
          <a:lstStyle/>
          <a:p>
            <a:pPr algn="ctr"/>
            <a:r>
              <a:rPr lang="en-US" sz="1600" b="1">
                <a:solidFill>
                  <a:srgbClr val="FFFFFF"/>
                </a:solidFill>
                <a:latin typeface="Calibri" panose="020F0502020204030204" pitchFamily="34" charset="0"/>
              </a:rPr>
              <a:t>C</a:t>
            </a:r>
          </a:p>
        </p:txBody>
      </p:sp>
      <p:sp>
        <p:nvSpPr>
          <p:cNvPr id="34" name="TextBox 33">
            <a:extLst>
              <a:ext uri="{FF2B5EF4-FFF2-40B4-BE49-F238E27FC236}">
                <a16:creationId xmlns:a16="http://schemas.microsoft.com/office/drawing/2014/main" id="{B37DE760-1A5D-A084-ED90-E2B43AEA4A13}"/>
              </a:ext>
            </a:extLst>
          </p:cNvPr>
          <p:cNvSpPr txBox="1"/>
          <p:nvPr/>
        </p:nvSpPr>
        <p:spPr>
          <a:xfrm>
            <a:off x="3213100" y="1447800"/>
            <a:ext cx="304800" cy="203200"/>
          </a:xfrm>
          <a:prstGeom prst="rect">
            <a:avLst/>
          </a:prstGeom>
          <a:noFill/>
        </p:spPr>
        <p:txBody>
          <a:bodyPr vert="horz" wrap="square" lIns="0" tIns="0" rIns="0" bIns="0" rtlCol="0" anchor="t">
            <a:noAutofit/>
          </a:bodyPr>
          <a:lstStyle/>
          <a:p>
            <a:r>
              <a:rPr lang="en-US" sz="1000" b="1">
                <a:solidFill>
                  <a:srgbClr val="FFFFFF"/>
                </a:solidFill>
                <a:latin typeface="Calibri" panose="020F0502020204030204" pitchFamily="34" charset="0"/>
              </a:rPr>
              <a:t>4</a:t>
            </a:r>
          </a:p>
        </p:txBody>
      </p:sp>
      <p:sp>
        <p:nvSpPr>
          <p:cNvPr id="35" name="TextBox 34">
            <a:extLst>
              <a:ext uri="{FF2B5EF4-FFF2-40B4-BE49-F238E27FC236}">
                <a16:creationId xmlns:a16="http://schemas.microsoft.com/office/drawing/2014/main" id="{CB17F0FF-9E13-2AC7-443C-D1E7BB7F2BD9}"/>
              </a:ext>
            </a:extLst>
          </p:cNvPr>
          <p:cNvSpPr txBox="1"/>
          <p:nvPr/>
        </p:nvSpPr>
        <p:spPr>
          <a:xfrm>
            <a:off x="4051300" y="1447800"/>
            <a:ext cx="304800" cy="203200"/>
          </a:xfrm>
          <a:prstGeom prst="rect">
            <a:avLst/>
          </a:prstGeom>
          <a:noFill/>
        </p:spPr>
        <p:txBody>
          <a:bodyPr vert="horz" wrap="square" lIns="0" tIns="0" rIns="0" bIns="0" rtlCol="0" anchor="t">
            <a:noAutofit/>
          </a:bodyPr>
          <a:lstStyle/>
          <a:p>
            <a:pPr algn="r"/>
            <a:r>
              <a:rPr lang="en-US" sz="1000" b="1">
                <a:solidFill>
                  <a:srgbClr val="FFFFFF"/>
                </a:solidFill>
                <a:latin typeface="Calibri" panose="020F0502020204030204" pitchFamily="34" charset="0"/>
              </a:rPr>
              <a:t>5</a:t>
            </a:r>
          </a:p>
        </p:txBody>
      </p:sp>
      <p:sp>
        <p:nvSpPr>
          <p:cNvPr id="36" name="TextBox 35">
            <a:extLst>
              <a:ext uri="{FF2B5EF4-FFF2-40B4-BE49-F238E27FC236}">
                <a16:creationId xmlns:a16="http://schemas.microsoft.com/office/drawing/2014/main" id="{9C4AEC63-007B-83EE-DA89-CBF8547FB9AF}"/>
              </a:ext>
            </a:extLst>
          </p:cNvPr>
          <p:cNvSpPr txBox="1"/>
          <p:nvPr/>
        </p:nvSpPr>
        <p:spPr>
          <a:xfrm>
            <a:off x="3213100" y="1905000"/>
            <a:ext cx="304800" cy="203200"/>
          </a:xfrm>
          <a:prstGeom prst="rect">
            <a:avLst/>
          </a:prstGeom>
          <a:noFill/>
        </p:spPr>
        <p:txBody>
          <a:bodyPr vert="horz" wrap="square" lIns="0" tIns="0" rIns="0" bIns="0" rtlCol="0" anchor="t">
            <a:noAutofit/>
          </a:bodyPr>
          <a:lstStyle/>
          <a:p>
            <a:r>
              <a:rPr lang="en-US" sz="1000" b="1">
                <a:solidFill>
                  <a:srgbClr val="FFFFFF"/>
                </a:solidFill>
                <a:latin typeface="Calibri" panose="020F0502020204030204" pitchFamily="34" charset="0"/>
              </a:rPr>
              <a:t>7</a:t>
            </a:r>
          </a:p>
        </p:txBody>
      </p:sp>
      <p:sp>
        <p:nvSpPr>
          <p:cNvPr id="37" name="TextBox 36">
            <a:extLst>
              <a:ext uri="{FF2B5EF4-FFF2-40B4-BE49-F238E27FC236}">
                <a16:creationId xmlns:a16="http://schemas.microsoft.com/office/drawing/2014/main" id="{007D6953-0C28-FCF8-4EB5-2B4804610BF8}"/>
              </a:ext>
            </a:extLst>
          </p:cNvPr>
          <p:cNvSpPr txBox="1"/>
          <p:nvPr/>
        </p:nvSpPr>
        <p:spPr>
          <a:xfrm>
            <a:off x="4051300" y="1905000"/>
            <a:ext cx="304800" cy="203200"/>
          </a:xfrm>
          <a:prstGeom prst="rect">
            <a:avLst/>
          </a:prstGeom>
          <a:noFill/>
        </p:spPr>
        <p:txBody>
          <a:bodyPr vert="horz" wrap="square" lIns="0" tIns="0" rIns="0" bIns="0" rtlCol="0" anchor="t">
            <a:noAutofit/>
          </a:bodyPr>
          <a:lstStyle/>
          <a:p>
            <a:pPr algn="r"/>
            <a:r>
              <a:rPr lang="en-US" sz="1000" b="1">
                <a:solidFill>
                  <a:srgbClr val="FFFFFF"/>
                </a:solidFill>
                <a:latin typeface="Calibri" panose="020F0502020204030204" pitchFamily="34" charset="0"/>
              </a:rPr>
              <a:t>8</a:t>
            </a:r>
          </a:p>
        </p:txBody>
      </p:sp>
      <p:sp>
        <p:nvSpPr>
          <p:cNvPr id="38" name="TextBox 37">
            <a:extLst>
              <a:ext uri="{FF2B5EF4-FFF2-40B4-BE49-F238E27FC236}">
                <a16:creationId xmlns:a16="http://schemas.microsoft.com/office/drawing/2014/main" id="{557BFBD4-64A9-22BA-2E66-DB5CE694AD19}"/>
              </a:ext>
            </a:extLst>
          </p:cNvPr>
          <p:cNvSpPr txBox="1"/>
          <p:nvPr/>
        </p:nvSpPr>
        <p:spPr>
          <a:xfrm>
            <a:off x="3530600" y="1905000"/>
            <a:ext cx="508000" cy="203200"/>
          </a:xfrm>
          <a:prstGeom prst="rect">
            <a:avLst/>
          </a:prstGeom>
          <a:noFill/>
        </p:spPr>
        <p:txBody>
          <a:bodyPr vert="horz" wrap="square" lIns="0" tIns="0" rIns="0" bIns="0" rtlCol="0" anchor="t">
            <a:noAutofit/>
          </a:bodyPr>
          <a:lstStyle/>
          <a:p>
            <a:pPr algn="ctr"/>
            <a:r>
              <a:rPr lang="en-US" sz="1000" b="1">
                <a:solidFill>
                  <a:srgbClr val="E3A63B"/>
                </a:solidFill>
                <a:latin typeface="Calibri" panose="020F0502020204030204" pitchFamily="34" charset="0"/>
              </a:rPr>
              <a:t>TF 3</a:t>
            </a:r>
          </a:p>
        </p:txBody>
      </p:sp>
      <p:sp>
        <p:nvSpPr>
          <p:cNvPr id="39" name="TextBox 38">
            <a:extLst>
              <a:ext uri="{FF2B5EF4-FFF2-40B4-BE49-F238E27FC236}">
                <a16:creationId xmlns:a16="http://schemas.microsoft.com/office/drawing/2014/main" id="{5472110D-6225-BAC8-1F75-71F6DA4B3081}"/>
              </a:ext>
            </a:extLst>
          </p:cNvPr>
          <p:cNvSpPr txBox="1"/>
          <p:nvPr/>
        </p:nvSpPr>
        <p:spPr>
          <a:xfrm>
            <a:off x="3530600" y="1447800"/>
            <a:ext cx="508000" cy="203200"/>
          </a:xfrm>
          <a:prstGeom prst="rect">
            <a:avLst/>
          </a:prstGeom>
          <a:noFill/>
        </p:spPr>
        <p:txBody>
          <a:bodyPr vert="horz" wrap="square" lIns="0" tIns="0" rIns="0" bIns="0" rtlCol="0" anchor="t">
            <a:noAutofit/>
          </a:bodyPr>
          <a:lstStyle/>
          <a:p>
            <a:pPr algn="ctr"/>
            <a:r>
              <a:rPr lang="en-US" sz="1000">
                <a:solidFill>
                  <a:srgbClr val="C9D6EA"/>
                </a:solidFill>
                <a:latin typeface="Calibri" panose="020F0502020204030204" pitchFamily="34" charset="0"/>
              </a:rPr>
              <a:t>2 d</a:t>
            </a:r>
          </a:p>
        </p:txBody>
      </p:sp>
      <p:sp>
        <p:nvSpPr>
          <p:cNvPr id="40" name="Rectangle: Rounded Corners 39">
            <a:extLst>
              <a:ext uri="{FF2B5EF4-FFF2-40B4-BE49-F238E27FC236}">
                <a16:creationId xmlns:a16="http://schemas.microsoft.com/office/drawing/2014/main" id="{75420B57-1DC1-DB23-98BF-59E44B4B487D}"/>
              </a:ext>
            </a:extLst>
          </p:cNvPr>
          <p:cNvSpPr/>
          <p:nvPr/>
        </p:nvSpPr>
        <p:spPr>
          <a:xfrm>
            <a:off x="3175000" y="2768600"/>
            <a:ext cx="1219200" cy="711200"/>
          </a:xfrm>
          <a:prstGeom prst="roundRect">
            <a:avLst>
              <a:gd name="adj" fmla="val 12000"/>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endParaRPr lang="en-US" sz="1200" b="1">
              <a:solidFill>
                <a:srgbClr val="FFFFFF"/>
              </a:solidFill>
              <a:latin typeface="Calibri" panose="020F0502020204030204" pitchFamily="34" charset="0"/>
            </a:endParaRPr>
          </a:p>
        </p:txBody>
      </p:sp>
      <p:sp>
        <p:nvSpPr>
          <p:cNvPr id="41" name="TextBox 40">
            <a:extLst>
              <a:ext uri="{FF2B5EF4-FFF2-40B4-BE49-F238E27FC236}">
                <a16:creationId xmlns:a16="http://schemas.microsoft.com/office/drawing/2014/main" id="{FABBE45B-72D0-5451-4520-6E25F9875F7E}"/>
              </a:ext>
            </a:extLst>
          </p:cNvPr>
          <p:cNvSpPr txBox="1"/>
          <p:nvPr/>
        </p:nvSpPr>
        <p:spPr>
          <a:xfrm>
            <a:off x="3530600" y="2946400"/>
            <a:ext cx="508000" cy="330200"/>
          </a:xfrm>
          <a:prstGeom prst="rect">
            <a:avLst/>
          </a:prstGeom>
          <a:noFill/>
        </p:spPr>
        <p:txBody>
          <a:bodyPr vert="horz" wrap="square" lIns="0" tIns="0" rIns="0" bIns="0" rtlCol="0" anchor="ctr">
            <a:noAutofit/>
          </a:bodyPr>
          <a:lstStyle/>
          <a:p>
            <a:pPr algn="ctr"/>
            <a:r>
              <a:rPr lang="en-US" sz="1600" b="1">
                <a:solidFill>
                  <a:srgbClr val="FFFFFF"/>
                </a:solidFill>
                <a:latin typeface="Calibri" panose="020F0502020204030204" pitchFamily="34" charset="0"/>
              </a:rPr>
              <a:t>D</a:t>
            </a:r>
          </a:p>
        </p:txBody>
      </p:sp>
      <p:sp>
        <p:nvSpPr>
          <p:cNvPr id="42" name="TextBox 41">
            <a:extLst>
              <a:ext uri="{FF2B5EF4-FFF2-40B4-BE49-F238E27FC236}">
                <a16:creationId xmlns:a16="http://schemas.microsoft.com/office/drawing/2014/main" id="{84717873-FAF6-039E-B239-E6C9FA92341C}"/>
              </a:ext>
            </a:extLst>
          </p:cNvPr>
          <p:cNvSpPr txBox="1"/>
          <p:nvPr/>
        </p:nvSpPr>
        <p:spPr>
          <a:xfrm>
            <a:off x="3213100" y="2794000"/>
            <a:ext cx="304800" cy="203200"/>
          </a:xfrm>
          <a:prstGeom prst="rect">
            <a:avLst/>
          </a:prstGeom>
          <a:noFill/>
        </p:spPr>
        <p:txBody>
          <a:bodyPr vert="horz" wrap="square" lIns="0" tIns="0" rIns="0" bIns="0" rtlCol="0" anchor="t">
            <a:noAutofit/>
          </a:bodyPr>
          <a:lstStyle/>
          <a:p>
            <a:r>
              <a:rPr lang="en-US" sz="1000" b="1">
                <a:solidFill>
                  <a:srgbClr val="FFFFFF"/>
                </a:solidFill>
                <a:latin typeface="Calibri" panose="020F0502020204030204" pitchFamily="34" charset="0"/>
              </a:rPr>
              <a:t>4</a:t>
            </a:r>
          </a:p>
        </p:txBody>
      </p:sp>
      <p:sp>
        <p:nvSpPr>
          <p:cNvPr id="43" name="TextBox 42">
            <a:extLst>
              <a:ext uri="{FF2B5EF4-FFF2-40B4-BE49-F238E27FC236}">
                <a16:creationId xmlns:a16="http://schemas.microsoft.com/office/drawing/2014/main" id="{BB09583B-AC89-86FD-ECAD-F25AAE84DBCD}"/>
              </a:ext>
            </a:extLst>
          </p:cNvPr>
          <p:cNvSpPr txBox="1"/>
          <p:nvPr/>
        </p:nvSpPr>
        <p:spPr>
          <a:xfrm>
            <a:off x="4051300" y="2794000"/>
            <a:ext cx="304800" cy="203200"/>
          </a:xfrm>
          <a:prstGeom prst="rect">
            <a:avLst/>
          </a:prstGeom>
          <a:noFill/>
        </p:spPr>
        <p:txBody>
          <a:bodyPr vert="horz" wrap="square" lIns="0" tIns="0" rIns="0" bIns="0" rtlCol="0" anchor="t">
            <a:noAutofit/>
          </a:bodyPr>
          <a:lstStyle/>
          <a:p>
            <a:pPr algn="r"/>
            <a:r>
              <a:rPr lang="en-US" sz="1000" b="1">
                <a:solidFill>
                  <a:srgbClr val="FFFFFF"/>
                </a:solidFill>
                <a:latin typeface="Calibri" panose="020F0502020204030204" pitchFamily="34" charset="0"/>
              </a:rPr>
              <a:t>7</a:t>
            </a:r>
          </a:p>
        </p:txBody>
      </p:sp>
      <p:sp>
        <p:nvSpPr>
          <p:cNvPr id="44" name="TextBox 43">
            <a:extLst>
              <a:ext uri="{FF2B5EF4-FFF2-40B4-BE49-F238E27FC236}">
                <a16:creationId xmlns:a16="http://schemas.microsoft.com/office/drawing/2014/main" id="{33BC7CED-D5EE-13F3-1E60-2726EEE2FA3E}"/>
              </a:ext>
            </a:extLst>
          </p:cNvPr>
          <p:cNvSpPr txBox="1"/>
          <p:nvPr/>
        </p:nvSpPr>
        <p:spPr>
          <a:xfrm>
            <a:off x="3213100" y="3251200"/>
            <a:ext cx="304800" cy="203200"/>
          </a:xfrm>
          <a:prstGeom prst="rect">
            <a:avLst/>
          </a:prstGeom>
          <a:noFill/>
        </p:spPr>
        <p:txBody>
          <a:bodyPr vert="horz" wrap="square" lIns="0" tIns="0" rIns="0" bIns="0" rtlCol="0" anchor="t">
            <a:noAutofit/>
          </a:bodyPr>
          <a:lstStyle/>
          <a:p>
            <a:r>
              <a:rPr lang="en-US" sz="1000" b="1">
                <a:solidFill>
                  <a:srgbClr val="FFFFFF"/>
                </a:solidFill>
                <a:latin typeface="Calibri" panose="020F0502020204030204" pitchFamily="34" charset="0"/>
              </a:rPr>
              <a:t>4</a:t>
            </a:r>
          </a:p>
        </p:txBody>
      </p:sp>
      <p:sp>
        <p:nvSpPr>
          <p:cNvPr id="45" name="TextBox 44">
            <a:extLst>
              <a:ext uri="{FF2B5EF4-FFF2-40B4-BE49-F238E27FC236}">
                <a16:creationId xmlns:a16="http://schemas.microsoft.com/office/drawing/2014/main" id="{1B784F46-ECB3-A943-0300-896C300FC901}"/>
              </a:ext>
            </a:extLst>
          </p:cNvPr>
          <p:cNvSpPr txBox="1"/>
          <p:nvPr/>
        </p:nvSpPr>
        <p:spPr>
          <a:xfrm>
            <a:off x="4051300" y="3251200"/>
            <a:ext cx="304800" cy="203200"/>
          </a:xfrm>
          <a:prstGeom prst="rect">
            <a:avLst/>
          </a:prstGeom>
          <a:noFill/>
        </p:spPr>
        <p:txBody>
          <a:bodyPr vert="horz" wrap="square" lIns="0" tIns="0" rIns="0" bIns="0" rtlCol="0" anchor="t">
            <a:noAutofit/>
          </a:bodyPr>
          <a:lstStyle/>
          <a:p>
            <a:pPr algn="r"/>
            <a:r>
              <a:rPr lang="en-US" sz="1000" b="1">
                <a:solidFill>
                  <a:srgbClr val="FFFFFF"/>
                </a:solidFill>
                <a:latin typeface="Calibri" panose="020F0502020204030204" pitchFamily="34" charset="0"/>
              </a:rPr>
              <a:t>7</a:t>
            </a:r>
          </a:p>
        </p:txBody>
      </p:sp>
      <p:sp>
        <p:nvSpPr>
          <p:cNvPr id="46" name="TextBox 45">
            <a:extLst>
              <a:ext uri="{FF2B5EF4-FFF2-40B4-BE49-F238E27FC236}">
                <a16:creationId xmlns:a16="http://schemas.microsoft.com/office/drawing/2014/main" id="{DE0CD43D-C06A-3B50-68CB-3F3240DDAA87}"/>
              </a:ext>
            </a:extLst>
          </p:cNvPr>
          <p:cNvSpPr txBox="1"/>
          <p:nvPr/>
        </p:nvSpPr>
        <p:spPr>
          <a:xfrm>
            <a:off x="3530600" y="3251200"/>
            <a:ext cx="508000" cy="203200"/>
          </a:xfrm>
          <a:prstGeom prst="rect">
            <a:avLst/>
          </a:prstGeom>
          <a:noFill/>
        </p:spPr>
        <p:txBody>
          <a:bodyPr vert="horz" wrap="square" lIns="0" tIns="0" rIns="0" bIns="0" rtlCol="0" anchor="t">
            <a:noAutofit/>
          </a:bodyPr>
          <a:lstStyle/>
          <a:p>
            <a:pPr algn="ctr"/>
            <a:r>
              <a:rPr lang="en-US" sz="1000" b="1">
                <a:solidFill>
                  <a:srgbClr val="E3A63B"/>
                </a:solidFill>
                <a:latin typeface="Calibri" panose="020F0502020204030204" pitchFamily="34" charset="0"/>
              </a:rPr>
              <a:t>TF 0</a:t>
            </a:r>
          </a:p>
        </p:txBody>
      </p:sp>
      <p:sp>
        <p:nvSpPr>
          <p:cNvPr id="47" name="TextBox 46">
            <a:extLst>
              <a:ext uri="{FF2B5EF4-FFF2-40B4-BE49-F238E27FC236}">
                <a16:creationId xmlns:a16="http://schemas.microsoft.com/office/drawing/2014/main" id="{C0904125-A846-81CA-9DFD-C05C37292F3E}"/>
              </a:ext>
            </a:extLst>
          </p:cNvPr>
          <p:cNvSpPr txBox="1"/>
          <p:nvPr/>
        </p:nvSpPr>
        <p:spPr>
          <a:xfrm>
            <a:off x="3530600" y="2794000"/>
            <a:ext cx="508000" cy="203200"/>
          </a:xfrm>
          <a:prstGeom prst="rect">
            <a:avLst/>
          </a:prstGeom>
          <a:noFill/>
        </p:spPr>
        <p:txBody>
          <a:bodyPr vert="horz" wrap="square" lIns="0" tIns="0" rIns="0" bIns="0" rtlCol="0" anchor="t">
            <a:noAutofit/>
          </a:bodyPr>
          <a:lstStyle/>
          <a:p>
            <a:pPr algn="ctr"/>
            <a:r>
              <a:rPr lang="en-US" sz="1000">
                <a:solidFill>
                  <a:srgbClr val="C9D6EA"/>
                </a:solidFill>
                <a:latin typeface="Calibri" panose="020F0502020204030204" pitchFamily="34" charset="0"/>
              </a:rPr>
              <a:t>4 d</a:t>
            </a:r>
          </a:p>
        </p:txBody>
      </p:sp>
      <p:sp>
        <p:nvSpPr>
          <p:cNvPr id="48" name="Rectangle: Rounded Corners 47">
            <a:extLst>
              <a:ext uri="{FF2B5EF4-FFF2-40B4-BE49-F238E27FC236}">
                <a16:creationId xmlns:a16="http://schemas.microsoft.com/office/drawing/2014/main" id="{7DB63379-67DF-7968-0B21-CCAC400E0A3C}"/>
              </a:ext>
            </a:extLst>
          </p:cNvPr>
          <p:cNvSpPr/>
          <p:nvPr/>
        </p:nvSpPr>
        <p:spPr>
          <a:xfrm>
            <a:off x="4851400" y="1981200"/>
            <a:ext cx="1219200" cy="711200"/>
          </a:xfrm>
          <a:prstGeom prst="roundRect">
            <a:avLst>
              <a:gd name="adj" fmla="val 12000"/>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endParaRPr lang="en-US" sz="1200" b="1">
              <a:solidFill>
                <a:srgbClr val="FFFFFF"/>
              </a:solidFill>
              <a:latin typeface="Calibri" panose="020F0502020204030204" pitchFamily="34" charset="0"/>
            </a:endParaRPr>
          </a:p>
        </p:txBody>
      </p:sp>
      <p:sp>
        <p:nvSpPr>
          <p:cNvPr id="49" name="TextBox 48">
            <a:extLst>
              <a:ext uri="{FF2B5EF4-FFF2-40B4-BE49-F238E27FC236}">
                <a16:creationId xmlns:a16="http://schemas.microsoft.com/office/drawing/2014/main" id="{2EB28611-F197-B619-802B-CB3E8EB104C2}"/>
              </a:ext>
            </a:extLst>
          </p:cNvPr>
          <p:cNvSpPr txBox="1"/>
          <p:nvPr/>
        </p:nvSpPr>
        <p:spPr>
          <a:xfrm>
            <a:off x="5207000" y="2159000"/>
            <a:ext cx="508000" cy="330200"/>
          </a:xfrm>
          <a:prstGeom prst="rect">
            <a:avLst/>
          </a:prstGeom>
          <a:noFill/>
        </p:spPr>
        <p:txBody>
          <a:bodyPr vert="horz" wrap="square" lIns="0" tIns="0" rIns="0" bIns="0" rtlCol="0" anchor="ctr">
            <a:noAutofit/>
          </a:bodyPr>
          <a:lstStyle/>
          <a:p>
            <a:pPr algn="ctr"/>
            <a:r>
              <a:rPr lang="en-US" sz="1600" b="1">
                <a:solidFill>
                  <a:srgbClr val="FFFFFF"/>
                </a:solidFill>
                <a:latin typeface="Calibri" panose="020F0502020204030204" pitchFamily="34" charset="0"/>
              </a:rPr>
              <a:t>F</a:t>
            </a:r>
          </a:p>
        </p:txBody>
      </p:sp>
      <p:sp>
        <p:nvSpPr>
          <p:cNvPr id="50" name="TextBox 49">
            <a:extLst>
              <a:ext uri="{FF2B5EF4-FFF2-40B4-BE49-F238E27FC236}">
                <a16:creationId xmlns:a16="http://schemas.microsoft.com/office/drawing/2014/main" id="{21BB65EA-77B5-20D6-9C7A-CF2079869B15}"/>
              </a:ext>
            </a:extLst>
          </p:cNvPr>
          <p:cNvSpPr txBox="1"/>
          <p:nvPr/>
        </p:nvSpPr>
        <p:spPr>
          <a:xfrm>
            <a:off x="4889500" y="2006600"/>
            <a:ext cx="304800" cy="203200"/>
          </a:xfrm>
          <a:prstGeom prst="rect">
            <a:avLst/>
          </a:prstGeom>
          <a:noFill/>
        </p:spPr>
        <p:txBody>
          <a:bodyPr vert="horz" wrap="square" lIns="0" tIns="0" rIns="0" bIns="0" rtlCol="0" anchor="t">
            <a:noAutofit/>
          </a:bodyPr>
          <a:lstStyle/>
          <a:p>
            <a:r>
              <a:rPr lang="en-US" sz="1000" b="1">
                <a:solidFill>
                  <a:srgbClr val="FFFFFF"/>
                </a:solidFill>
                <a:latin typeface="Calibri" panose="020F0502020204030204" pitchFamily="34" charset="0"/>
              </a:rPr>
              <a:t>8</a:t>
            </a:r>
          </a:p>
        </p:txBody>
      </p:sp>
      <p:sp>
        <p:nvSpPr>
          <p:cNvPr id="51" name="TextBox 50">
            <a:extLst>
              <a:ext uri="{FF2B5EF4-FFF2-40B4-BE49-F238E27FC236}">
                <a16:creationId xmlns:a16="http://schemas.microsoft.com/office/drawing/2014/main" id="{CE81D802-CE22-8690-90F1-694A522D7BAB}"/>
              </a:ext>
            </a:extLst>
          </p:cNvPr>
          <p:cNvSpPr txBox="1"/>
          <p:nvPr/>
        </p:nvSpPr>
        <p:spPr>
          <a:xfrm>
            <a:off x="5727700" y="2006600"/>
            <a:ext cx="304800" cy="203200"/>
          </a:xfrm>
          <a:prstGeom prst="rect">
            <a:avLst/>
          </a:prstGeom>
          <a:noFill/>
        </p:spPr>
        <p:txBody>
          <a:bodyPr vert="horz" wrap="square" lIns="0" tIns="0" rIns="0" bIns="0" rtlCol="0" anchor="t">
            <a:noAutofit/>
          </a:bodyPr>
          <a:lstStyle/>
          <a:p>
            <a:pPr algn="r"/>
            <a:r>
              <a:rPr lang="en-US" sz="1000" b="1">
                <a:solidFill>
                  <a:srgbClr val="FFFFFF"/>
                </a:solidFill>
                <a:latin typeface="Calibri" panose="020F0502020204030204" pitchFamily="34" charset="0"/>
              </a:rPr>
              <a:t>10</a:t>
            </a:r>
          </a:p>
        </p:txBody>
      </p:sp>
      <p:sp>
        <p:nvSpPr>
          <p:cNvPr id="52" name="TextBox 51">
            <a:extLst>
              <a:ext uri="{FF2B5EF4-FFF2-40B4-BE49-F238E27FC236}">
                <a16:creationId xmlns:a16="http://schemas.microsoft.com/office/drawing/2014/main" id="{D4DC310A-ACB8-F31A-CF2D-83297E4D1609}"/>
              </a:ext>
            </a:extLst>
          </p:cNvPr>
          <p:cNvSpPr txBox="1"/>
          <p:nvPr/>
        </p:nvSpPr>
        <p:spPr>
          <a:xfrm>
            <a:off x="4889500" y="2463800"/>
            <a:ext cx="304800" cy="203200"/>
          </a:xfrm>
          <a:prstGeom prst="rect">
            <a:avLst/>
          </a:prstGeom>
          <a:noFill/>
        </p:spPr>
        <p:txBody>
          <a:bodyPr vert="horz" wrap="square" lIns="0" tIns="0" rIns="0" bIns="0" rtlCol="0" anchor="t">
            <a:noAutofit/>
          </a:bodyPr>
          <a:lstStyle/>
          <a:p>
            <a:r>
              <a:rPr lang="en-US" sz="1000" b="1">
                <a:solidFill>
                  <a:srgbClr val="FFFFFF"/>
                </a:solidFill>
                <a:latin typeface="Calibri" panose="020F0502020204030204" pitchFamily="34" charset="0"/>
              </a:rPr>
              <a:t>9</a:t>
            </a:r>
          </a:p>
        </p:txBody>
      </p:sp>
      <p:sp>
        <p:nvSpPr>
          <p:cNvPr id="53" name="TextBox 52">
            <a:extLst>
              <a:ext uri="{FF2B5EF4-FFF2-40B4-BE49-F238E27FC236}">
                <a16:creationId xmlns:a16="http://schemas.microsoft.com/office/drawing/2014/main" id="{C2305839-B23E-D49B-5FD6-6CA70980D95E}"/>
              </a:ext>
            </a:extLst>
          </p:cNvPr>
          <p:cNvSpPr txBox="1"/>
          <p:nvPr/>
        </p:nvSpPr>
        <p:spPr>
          <a:xfrm>
            <a:off x="5727700" y="2463800"/>
            <a:ext cx="304800" cy="203200"/>
          </a:xfrm>
          <a:prstGeom prst="rect">
            <a:avLst/>
          </a:prstGeom>
          <a:noFill/>
        </p:spPr>
        <p:txBody>
          <a:bodyPr vert="horz" wrap="square" lIns="0" tIns="0" rIns="0" bIns="0" rtlCol="0" anchor="t">
            <a:noAutofit/>
          </a:bodyPr>
          <a:lstStyle/>
          <a:p>
            <a:pPr algn="r"/>
            <a:r>
              <a:rPr lang="en-US" sz="1000" b="1">
                <a:solidFill>
                  <a:srgbClr val="FFFFFF"/>
                </a:solidFill>
                <a:latin typeface="Calibri" panose="020F0502020204030204" pitchFamily="34" charset="0"/>
              </a:rPr>
              <a:t>11</a:t>
            </a:r>
          </a:p>
        </p:txBody>
      </p:sp>
      <p:sp>
        <p:nvSpPr>
          <p:cNvPr id="54" name="TextBox 53">
            <a:extLst>
              <a:ext uri="{FF2B5EF4-FFF2-40B4-BE49-F238E27FC236}">
                <a16:creationId xmlns:a16="http://schemas.microsoft.com/office/drawing/2014/main" id="{14C8FF24-F6EA-C42E-AB25-DCB78F4B96C6}"/>
              </a:ext>
            </a:extLst>
          </p:cNvPr>
          <p:cNvSpPr txBox="1"/>
          <p:nvPr/>
        </p:nvSpPr>
        <p:spPr>
          <a:xfrm>
            <a:off x="5207000" y="2463800"/>
            <a:ext cx="508000" cy="203200"/>
          </a:xfrm>
          <a:prstGeom prst="rect">
            <a:avLst/>
          </a:prstGeom>
          <a:noFill/>
        </p:spPr>
        <p:txBody>
          <a:bodyPr vert="horz" wrap="square" lIns="0" tIns="0" rIns="0" bIns="0" rtlCol="0" anchor="t">
            <a:noAutofit/>
          </a:bodyPr>
          <a:lstStyle/>
          <a:p>
            <a:pPr algn="ctr"/>
            <a:r>
              <a:rPr lang="en-US" sz="1000" b="1">
                <a:solidFill>
                  <a:srgbClr val="E3A63B"/>
                </a:solidFill>
                <a:latin typeface="Calibri" panose="020F0502020204030204" pitchFamily="34" charset="0"/>
              </a:rPr>
              <a:t>TF 1</a:t>
            </a:r>
          </a:p>
        </p:txBody>
      </p:sp>
      <p:sp>
        <p:nvSpPr>
          <p:cNvPr id="55" name="TextBox 54">
            <a:extLst>
              <a:ext uri="{FF2B5EF4-FFF2-40B4-BE49-F238E27FC236}">
                <a16:creationId xmlns:a16="http://schemas.microsoft.com/office/drawing/2014/main" id="{79382AF3-CB2D-ED50-BCBE-F2E2E48D7D9A}"/>
              </a:ext>
            </a:extLst>
          </p:cNvPr>
          <p:cNvSpPr txBox="1"/>
          <p:nvPr/>
        </p:nvSpPr>
        <p:spPr>
          <a:xfrm>
            <a:off x="5207000" y="2006600"/>
            <a:ext cx="508000" cy="203200"/>
          </a:xfrm>
          <a:prstGeom prst="rect">
            <a:avLst/>
          </a:prstGeom>
          <a:noFill/>
        </p:spPr>
        <p:txBody>
          <a:bodyPr vert="horz" wrap="square" lIns="0" tIns="0" rIns="0" bIns="0" rtlCol="0" anchor="t">
            <a:noAutofit/>
          </a:bodyPr>
          <a:lstStyle/>
          <a:p>
            <a:pPr algn="ctr"/>
            <a:r>
              <a:rPr lang="en-US" sz="1000">
                <a:solidFill>
                  <a:srgbClr val="C9D6EA"/>
                </a:solidFill>
                <a:latin typeface="Calibri" panose="020F0502020204030204" pitchFamily="34" charset="0"/>
              </a:rPr>
              <a:t>3 d</a:t>
            </a:r>
          </a:p>
        </p:txBody>
      </p:sp>
      <p:sp>
        <p:nvSpPr>
          <p:cNvPr id="56" name="Rectangle: Rounded Corners 55">
            <a:extLst>
              <a:ext uri="{FF2B5EF4-FFF2-40B4-BE49-F238E27FC236}">
                <a16:creationId xmlns:a16="http://schemas.microsoft.com/office/drawing/2014/main" id="{7DC6E37B-00E9-2865-F149-9351E363D6E7}"/>
              </a:ext>
            </a:extLst>
          </p:cNvPr>
          <p:cNvSpPr/>
          <p:nvPr/>
        </p:nvSpPr>
        <p:spPr>
          <a:xfrm>
            <a:off x="4851400" y="3810000"/>
            <a:ext cx="1219200" cy="711200"/>
          </a:xfrm>
          <a:prstGeom prst="roundRect">
            <a:avLst>
              <a:gd name="adj" fmla="val 12000"/>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endParaRPr lang="en-US" sz="1200" b="1">
              <a:solidFill>
                <a:srgbClr val="FFFFFF"/>
              </a:solidFill>
              <a:latin typeface="Calibri" panose="020F0502020204030204" pitchFamily="34" charset="0"/>
            </a:endParaRPr>
          </a:p>
        </p:txBody>
      </p:sp>
      <p:sp>
        <p:nvSpPr>
          <p:cNvPr id="57" name="TextBox 56">
            <a:extLst>
              <a:ext uri="{FF2B5EF4-FFF2-40B4-BE49-F238E27FC236}">
                <a16:creationId xmlns:a16="http://schemas.microsoft.com/office/drawing/2014/main" id="{2CD62834-12C2-22A9-7287-66E97FDDF6F2}"/>
              </a:ext>
            </a:extLst>
          </p:cNvPr>
          <p:cNvSpPr txBox="1"/>
          <p:nvPr/>
        </p:nvSpPr>
        <p:spPr>
          <a:xfrm>
            <a:off x="5207000" y="3987800"/>
            <a:ext cx="508000" cy="330200"/>
          </a:xfrm>
          <a:prstGeom prst="rect">
            <a:avLst/>
          </a:prstGeom>
          <a:noFill/>
        </p:spPr>
        <p:txBody>
          <a:bodyPr vert="horz" wrap="square" lIns="0" tIns="0" rIns="0" bIns="0" rtlCol="0" anchor="ctr">
            <a:noAutofit/>
          </a:bodyPr>
          <a:lstStyle/>
          <a:p>
            <a:pPr algn="ctr"/>
            <a:r>
              <a:rPr lang="en-US" sz="1600" b="1">
                <a:solidFill>
                  <a:srgbClr val="FFFFFF"/>
                </a:solidFill>
                <a:latin typeface="Calibri" panose="020F0502020204030204" pitchFamily="34" charset="0"/>
              </a:rPr>
              <a:t>E</a:t>
            </a:r>
          </a:p>
        </p:txBody>
      </p:sp>
      <p:sp>
        <p:nvSpPr>
          <p:cNvPr id="58" name="TextBox 57">
            <a:extLst>
              <a:ext uri="{FF2B5EF4-FFF2-40B4-BE49-F238E27FC236}">
                <a16:creationId xmlns:a16="http://schemas.microsoft.com/office/drawing/2014/main" id="{A4ABC497-52F9-D082-879C-ABC6E495B680}"/>
              </a:ext>
            </a:extLst>
          </p:cNvPr>
          <p:cNvSpPr txBox="1"/>
          <p:nvPr/>
        </p:nvSpPr>
        <p:spPr>
          <a:xfrm>
            <a:off x="4889500" y="3835400"/>
            <a:ext cx="304800" cy="203200"/>
          </a:xfrm>
          <a:prstGeom prst="rect">
            <a:avLst/>
          </a:prstGeom>
          <a:noFill/>
        </p:spPr>
        <p:txBody>
          <a:bodyPr vert="horz" wrap="square" lIns="0" tIns="0" rIns="0" bIns="0" rtlCol="0" anchor="t">
            <a:noAutofit/>
          </a:bodyPr>
          <a:lstStyle/>
          <a:p>
            <a:r>
              <a:rPr lang="en-US" sz="1000" b="1">
                <a:solidFill>
                  <a:srgbClr val="FFFFFF"/>
                </a:solidFill>
                <a:latin typeface="Calibri" panose="020F0502020204030204" pitchFamily="34" charset="0"/>
              </a:rPr>
              <a:t>8</a:t>
            </a:r>
          </a:p>
        </p:txBody>
      </p:sp>
      <p:sp>
        <p:nvSpPr>
          <p:cNvPr id="59" name="TextBox 58">
            <a:extLst>
              <a:ext uri="{FF2B5EF4-FFF2-40B4-BE49-F238E27FC236}">
                <a16:creationId xmlns:a16="http://schemas.microsoft.com/office/drawing/2014/main" id="{16744636-3C6D-F1F0-262A-08E81AD1D084}"/>
              </a:ext>
            </a:extLst>
          </p:cNvPr>
          <p:cNvSpPr txBox="1"/>
          <p:nvPr/>
        </p:nvSpPr>
        <p:spPr>
          <a:xfrm>
            <a:off x="5727700" y="3835400"/>
            <a:ext cx="304800" cy="203200"/>
          </a:xfrm>
          <a:prstGeom prst="rect">
            <a:avLst/>
          </a:prstGeom>
          <a:noFill/>
        </p:spPr>
        <p:txBody>
          <a:bodyPr vert="horz" wrap="square" lIns="0" tIns="0" rIns="0" bIns="0" rtlCol="0" anchor="t">
            <a:noAutofit/>
          </a:bodyPr>
          <a:lstStyle/>
          <a:p>
            <a:pPr algn="r"/>
            <a:r>
              <a:rPr lang="en-US" sz="1000" b="1">
                <a:solidFill>
                  <a:srgbClr val="FFFFFF"/>
                </a:solidFill>
                <a:latin typeface="Calibri" panose="020F0502020204030204" pitchFamily="34" charset="0"/>
              </a:rPr>
              <a:t>11</a:t>
            </a:r>
          </a:p>
        </p:txBody>
      </p:sp>
      <p:sp>
        <p:nvSpPr>
          <p:cNvPr id="60" name="TextBox 59">
            <a:extLst>
              <a:ext uri="{FF2B5EF4-FFF2-40B4-BE49-F238E27FC236}">
                <a16:creationId xmlns:a16="http://schemas.microsoft.com/office/drawing/2014/main" id="{52633DEA-8B7B-FCB4-A4D6-38F26ECB88C8}"/>
              </a:ext>
            </a:extLst>
          </p:cNvPr>
          <p:cNvSpPr txBox="1"/>
          <p:nvPr/>
        </p:nvSpPr>
        <p:spPr>
          <a:xfrm>
            <a:off x="4889500" y="4292600"/>
            <a:ext cx="304800" cy="203200"/>
          </a:xfrm>
          <a:prstGeom prst="rect">
            <a:avLst/>
          </a:prstGeom>
          <a:noFill/>
        </p:spPr>
        <p:txBody>
          <a:bodyPr vert="horz" wrap="square" lIns="0" tIns="0" rIns="0" bIns="0" rtlCol="0" anchor="t">
            <a:noAutofit/>
          </a:bodyPr>
          <a:lstStyle/>
          <a:p>
            <a:r>
              <a:rPr lang="en-US" sz="1000" b="1">
                <a:solidFill>
                  <a:srgbClr val="FFFFFF"/>
                </a:solidFill>
                <a:latin typeface="Calibri" panose="020F0502020204030204" pitchFamily="34" charset="0"/>
              </a:rPr>
              <a:t>8</a:t>
            </a:r>
          </a:p>
        </p:txBody>
      </p:sp>
      <p:sp>
        <p:nvSpPr>
          <p:cNvPr id="61" name="TextBox 60">
            <a:extLst>
              <a:ext uri="{FF2B5EF4-FFF2-40B4-BE49-F238E27FC236}">
                <a16:creationId xmlns:a16="http://schemas.microsoft.com/office/drawing/2014/main" id="{254A5DD4-4CA8-7555-24C3-1AFD6FAE7558}"/>
              </a:ext>
            </a:extLst>
          </p:cNvPr>
          <p:cNvSpPr txBox="1"/>
          <p:nvPr/>
        </p:nvSpPr>
        <p:spPr>
          <a:xfrm>
            <a:off x="5727700" y="4292600"/>
            <a:ext cx="304800" cy="203200"/>
          </a:xfrm>
          <a:prstGeom prst="rect">
            <a:avLst/>
          </a:prstGeom>
          <a:noFill/>
        </p:spPr>
        <p:txBody>
          <a:bodyPr vert="horz" wrap="square" lIns="0" tIns="0" rIns="0" bIns="0" rtlCol="0" anchor="t">
            <a:noAutofit/>
          </a:bodyPr>
          <a:lstStyle/>
          <a:p>
            <a:pPr algn="r"/>
            <a:r>
              <a:rPr lang="en-US" sz="1000" b="1">
                <a:solidFill>
                  <a:srgbClr val="FFFFFF"/>
                </a:solidFill>
                <a:latin typeface="Calibri" panose="020F0502020204030204" pitchFamily="34" charset="0"/>
              </a:rPr>
              <a:t>11</a:t>
            </a:r>
          </a:p>
        </p:txBody>
      </p:sp>
      <p:sp>
        <p:nvSpPr>
          <p:cNvPr id="62" name="TextBox 61">
            <a:extLst>
              <a:ext uri="{FF2B5EF4-FFF2-40B4-BE49-F238E27FC236}">
                <a16:creationId xmlns:a16="http://schemas.microsoft.com/office/drawing/2014/main" id="{1DBE05EF-42EB-0374-FD20-4D06DD01D42D}"/>
              </a:ext>
            </a:extLst>
          </p:cNvPr>
          <p:cNvSpPr txBox="1"/>
          <p:nvPr/>
        </p:nvSpPr>
        <p:spPr>
          <a:xfrm>
            <a:off x="5207000" y="4292600"/>
            <a:ext cx="508000" cy="203200"/>
          </a:xfrm>
          <a:prstGeom prst="rect">
            <a:avLst/>
          </a:prstGeom>
          <a:noFill/>
        </p:spPr>
        <p:txBody>
          <a:bodyPr vert="horz" wrap="square" lIns="0" tIns="0" rIns="0" bIns="0" rtlCol="0" anchor="t">
            <a:noAutofit/>
          </a:bodyPr>
          <a:lstStyle/>
          <a:p>
            <a:pPr algn="ctr"/>
            <a:r>
              <a:rPr lang="en-US" sz="1000" b="1">
                <a:solidFill>
                  <a:srgbClr val="E3A63B"/>
                </a:solidFill>
                <a:latin typeface="Calibri" panose="020F0502020204030204" pitchFamily="34" charset="0"/>
              </a:rPr>
              <a:t>TF 0</a:t>
            </a:r>
          </a:p>
        </p:txBody>
      </p:sp>
      <p:sp>
        <p:nvSpPr>
          <p:cNvPr id="63" name="TextBox 62">
            <a:extLst>
              <a:ext uri="{FF2B5EF4-FFF2-40B4-BE49-F238E27FC236}">
                <a16:creationId xmlns:a16="http://schemas.microsoft.com/office/drawing/2014/main" id="{A5E99EC2-996C-39BC-2C52-5594F60AA9C5}"/>
              </a:ext>
            </a:extLst>
          </p:cNvPr>
          <p:cNvSpPr txBox="1"/>
          <p:nvPr/>
        </p:nvSpPr>
        <p:spPr>
          <a:xfrm>
            <a:off x="5207000" y="3835400"/>
            <a:ext cx="508000" cy="203200"/>
          </a:xfrm>
          <a:prstGeom prst="rect">
            <a:avLst/>
          </a:prstGeom>
          <a:noFill/>
        </p:spPr>
        <p:txBody>
          <a:bodyPr vert="horz" wrap="square" lIns="0" tIns="0" rIns="0" bIns="0" rtlCol="0" anchor="t">
            <a:noAutofit/>
          </a:bodyPr>
          <a:lstStyle/>
          <a:p>
            <a:pPr algn="ctr"/>
            <a:r>
              <a:rPr lang="en-US" sz="1000">
                <a:solidFill>
                  <a:srgbClr val="C9D6EA"/>
                </a:solidFill>
                <a:latin typeface="Calibri" panose="020F0502020204030204" pitchFamily="34" charset="0"/>
              </a:rPr>
              <a:t>4 d</a:t>
            </a:r>
          </a:p>
        </p:txBody>
      </p:sp>
      <p:sp>
        <p:nvSpPr>
          <p:cNvPr id="64" name="TextBox 63">
            <a:extLst>
              <a:ext uri="{FF2B5EF4-FFF2-40B4-BE49-F238E27FC236}">
                <a16:creationId xmlns:a16="http://schemas.microsoft.com/office/drawing/2014/main" id="{2893C7F1-2C0A-A290-DF02-411E46A05463}"/>
              </a:ext>
            </a:extLst>
          </p:cNvPr>
          <p:cNvSpPr txBox="1"/>
          <p:nvPr/>
        </p:nvSpPr>
        <p:spPr>
          <a:xfrm>
            <a:off x="508000" y="4724400"/>
            <a:ext cx="7493000" cy="508000"/>
          </a:xfrm>
          <a:prstGeom prst="rect">
            <a:avLst/>
          </a:prstGeom>
          <a:noFill/>
        </p:spPr>
        <p:txBody>
          <a:bodyPr vert="horz" wrap="square" lIns="0" tIns="0" rIns="0" bIns="0" rtlCol="0" anchor="t">
            <a:noAutofit/>
          </a:bodyPr>
          <a:lstStyle/>
          <a:p>
            <a:r>
              <a:rPr lang="en-US" sz="1200" i="1">
                <a:solidFill>
                  <a:srgbClr val="5B6475"/>
                </a:solidFill>
                <a:latin typeface="Calibri" panose="020F0502020204030204" pitchFamily="34" charset="0"/>
              </a:rPr>
              <a:t>Key: ES top left, EF top right, LS bottom left, LF bottom right; duration on top, total float (TF) below. Critical path: A → D → E = 11 days (day-1 numbering).</a:t>
            </a:r>
          </a:p>
        </p:txBody>
      </p:sp>
      <p:sp>
        <p:nvSpPr>
          <p:cNvPr id="65" name="Rectangle: Rounded Corners 64">
            <a:extLst>
              <a:ext uri="{FF2B5EF4-FFF2-40B4-BE49-F238E27FC236}">
                <a16:creationId xmlns:a16="http://schemas.microsoft.com/office/drawing/2014/main" id="{47C1E4D0-0BC8-CF67-F92A-1B56F8D8FAD6}"/>
              </a:ext>
            </a:extLst>
          </p:cNvPr>
          <p:cNvSpPr/>
          <p:nvPr/>
        </p:nvSpPr>
        <p:spPr>
          <a:xfrm>
            <a:off x="8128000" y="1320800"/>
            <a:ext cx="3556000" cy="1905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DF58A8ED-873A-C5A2-94F0-4F1C383C3014}"/>
              </a:ext>
            </a:extLst>
          </p:cNvPr>
          <p:cNvSpPr txBox="1"/>
          <p:nvPr/>
        </p:nvSpPr>
        <p:spPr>
          <a:xfrm>
            <a:off x="8280400" y="1473200"/>
            <a:ext cx="3251200" cy="16002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Forward pass (early dates)</a:t>
            </a:r>
          </a:p>
          <a:p>
            <a:r>
              <a:rPr lang="en-US" sz="1300">
                <a:solidFill>
                  <a:srgbClr val="1F2937"/>
                </a:solidFill>
                <a:latin typeface="Calibri" panose="020F0502020204030204" pitchFamily="34" charset="0"/>
              </a:rPr>
              <a:t>ES = latest EF of predecessors + 1</a:t>
            </a:r>
          </a:p>
          <a:p>
            <a:r>
              <a:rPr lang="en-US" sz="1300">
                <a:solidFill>
                  <a:srgbClr val="1F2937"/>
                </a:solidFill>
                <a:latin typeface="Calibri" panose="020F0502020204030204" pitchFamily="34" charset="0"/>
              </a:rPr>
              <a:t>EF = ES + duration − 1</a:t>
            </a:r>
          </a:p>
          <a:p>
            <a:r>
              <a:rPr lang="en-US" sz="1300">
                <a:solidFill>
                  <a:srgbClr val="1F2937"/>
                </a:solidFill>
                <a:latin typeface="Calibri" panose="020F0502020204030204" pitchFamily="34" charset="0"/>
              </a:rPr>
              <a:t>The largest EF is the project finish.</a:t>
            </a:r>
          </a:p>
        </p:txBody>
      </p:sp>
      <p:sp>
        <p:nvSpPr>
          <p:cNvPr id="67" name="Rectangle: Rounded Corners 66">
            <a:extLst>
              <a:ext uri="{FF2B5EF4-FFF2-40B4-BE49-F238E27FC236}">
                <a16:creationId xmlns:a16="http://schemas.microsoft.com/office/drawing/2014/main" id="{BC660AE3-8D5B-D864-FD91-99FB06DA7ECE}"/>
              </a:ext>
            </a:extLst>
          </p:cNvPr>
          <p:cNvSpPr/>
          <p:nvPr/>
        </p:nvSpPr>
        <p:spPr>
          <a:xfrm>
            <a:off x="8128000" y="3352800"/>
            <a:ext cx="3556000" cy="20066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66D48E05-DC0E-B315-5994-114AE904462B}"/>
              </a:ext>
            </a:extLst>
          </p:cNvPr>
          <p:cNvSpPr txBox="1"/>
          <p:nvPr/>
        </p:nvSpPr>
        <p:spPr>
          <a:xfrm>
            <a:off x="8280400" y="3505200"/>
            <a:ext cx="3251200" cy="17018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Backward pass (late dates)</a:t>
            </a:r>
          </a:p>
          <a:p>
            <a:r>
              <a:rPr lang="en-US" sz="1300">
                <a:solidFill>
                  <a:srgbClr val="1F2937"/>
                </a:solidFill>
                <a:latin typeface="Calibri" panose="020F0502020204030204" pitchFamily="34" charset="0"/>
              </a:rPr>
              <a:t>Start at the project finish.</a:t>
            </a:r>
          </a:p>
          <a:p>
            <a:r>
              <a:rPr lang="en-US" sz="1300">
                <a:solidFill>
                  <a:srgbClr val="1F2937"/>
                </a:solidFill>
                <a:latin typeface="Calibri" panose="020F0502020204030204" pitchFamily="34" charset="0"/>
              </a:rPr>
              <a:t>LF = earliest LS of successors − 1</a:t>
            </a:r>
          </a:p>
          <a:p>
            <a:r>
              <a:rPr lang="en-US" sz="1300">
                <a:solidFill>
                  <a:srgbClr val="1F2937"/>
                </a:solidFill>
                <a:latin typeface="Calibri" panose="020F0502020204030204" pitchFamily="34" charset="0"/>
              </a:rPr>
              <a:t>LS = LF − duration + 1</a:t>
            </a:r>
          </a:p>
          <a:p>
            <a:r>
              <a:rPr lang="en-US" sz="1300">
                <a:solidFill>
                  <a:srgbClr val="1F2937"/>
                </a:solidFill>
                <a:latin typeface="Calibri" panose="020F0502020204030204" pitchFamily="34" charset="0"/>
              </a:rPr>
              <a:t>Then float = LS − ES.</a:t>
            </a:r>
          </a:p>
        </p:txBody>
      </p:sp>
      <p:sp>
        <p:nvSpPr>
          <p:cNvPr id="69" name="Rectangle: Rounded Corners 68">
            <a:extLst>
              <a:ext uri="{FF2B5EF4-FFF2-40B4-BE49-F238E27FC236}">
                <a16:creationId xmlns:a16="http://schemas.microsoft.com/office/drawing/2014/main" id="{4C856FBE-1DE8-5127-31F0-061FD62D3163}"/>
              </a:ext>
            </a:extLst>
          </p:cNvPr>
          <p:cNvSpPr/>
          <p:nvPr/>
        </p:nvSpPr>
        <p:spPr>
          <a:xfrm>
            <a:off x="508000" y="5486400"/>
            <a:ext cx="11176000" cy="838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DC881C21-103E-5E00-770D-9732FD993C86}"/>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if numbering starts at day 0, drop the +1 and −1: EF = ES + duration and ES = predecessor EF. Float is the same either way.</a:t>
            </a:r>
          </a:p>
        </p:txBody>
      </p:sp>
      <p:sp>
        <p:nvSpPr>
          <p:cNvPr id="71" name="Footer">
            <a:extLst>
              <a:ext uri="{FF2B5EF4-FFF2-40B4-BE49-F238E27FC236}">
                <a16:creationId xmlns:a16="http://schemas.microsoft.com/office/drawing/2014/main" id="{2E00E928-40EC-094D-0A4A-5258F06C81F5}"/>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6.5.2.2 (critical path method); adapted from PMI course material</a:t>
            </a:r>
          </a:p>
        </p:txBody>
      </p:sp>
      <p:sp>
        <p:nvSpPr>
          <p:cNvPr id="72" name="SlideNum">
            <a:extLst>
              <a:ext uri="{FF2B5EF4-FFF2-40B4-BE49-F238E27FC236}">
                <a16:creationId xmlns:a16="http://schemas.microsoft.com/office/drawing/2014/main" id="{3BBBDB82-3FC9-659D-6EB4-54CAF05320C1}"/>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38</a:t>
            </a:r>
          </a:p>
        </p:txBody>
      </p:sp>
      <p:sp>
        <p:nvSpPr>
          <p:cNvPr id="73"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5005175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A49DEDD-94BC-6F70-B0EC-D1308DF58110}"/>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Total float vs. free float</a:t>
            </a:r>
          </a:p>
        </p:txBody>
      </p:sp>
      <p:sp>
        <p:nvSpPr>
          <p:cNvPr id="3" name="Tag">
            <a:extLst>
              <a:ext uri="{FF2B5EF4-FFF2-40B4-BE49-F238E27FC236}">
                <a16:creationId xmlns:a16="http://schemas.microsoft.com/office/drawing/2014/main" id="{F536761A-9B25-5D04-E56B-CD835E512E04}"/>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8 (Plan and manage schedule)</a:t>
            </a:r>
          </a:p>
        </p:txBody>
      </p:sp>
      <p:sp>
        <p:nvSpPr>
          <p:cNvPr id="4" name="Rectangle: Rounded Corners 3">
            <a:extLst>
              <a:ext uri="{FF2B5EF4-FFF2-40B4-BE49-F238E27FC236}">
                <a16:creationId xmlns:a16="http://schemas.microsoft.com/office/drawing/2014/main" id="{1074E3CA-A175-8113-7644-75614BF9E968}"/>
              </a:ext>
            </a:extLst>
          </p:cNvPr>
          <p:cNvSpPr/>
          <p:nvPr/>
        </p:nvSpPr>
        <p:spPr>
          <a:xfrm>
            <a:off x="508000" y="1320800"/>
            <a:ext cx="5588000" cy="1930400"/>
          </a:xfrm>
          <a:prstGeom prst="roundRect">
            <a:avLst>
              <a:gd name="adj" fmla="val 8000"/>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B7754D8-B360-94D0-3EC0-EFD512FA9204}"/>
              </a:ext>
            </a:extLst>
          </p:cNvPr>
          <p:cNvSpPr txBox="1"/>
          <p:nvPr/>
        </p:nvSpPr>
        <p:spPr>
          <a:xfrm>
            <a:off x="736600" y="1447800"/>
            <a:ext cx="5080000" cy="254000"/>
          </a:xfrm>
          <a:prstGeom prst="rect">
            <a:avLst/>
          </a:prstGeom>
          <a:noFill/>
        </p:spPr>
        <p:txBody>
          <a:bodyPr vert="horz" wrap="square" lIns="0" tIns="0" rIns="0" bIns="0" rtlCol="0" anchor="t">
            <a:noAutofit/>
          </a:bodyPr>
          <a:lstStyle/>
          <a:p>
            <a:r>
              <a:rPr lang="en-US" sz="1400" b="1">
                <a:solidFill>
                  <a:srgbClr val="E3A63B"/>
                </a:solidFill>
                <a:latin typeface="Calibri" panose="020F0502020204030204" pitchFamily="34" charset="0"/>
              </a:rPr>
              <a:t>Total float</a:t>
            </a:r>
          </a:p>
        </p:txBody>
      </p:sp>
      <p:sp>
        <p:nvSpPr>
          <p:cNvPr id="6" name="TextBox 5">
            <a:extLst>
              <a:ext uri="{FF2B5EF4-FFF2-40B4-BE49-F238E27FC236}">
                <a16:creationId xmlns:a16="http://schemas.microsoft.com/office/drawing/2014/main" id="{F74CD980-854B-4A6A-6095-72553C6FE309}"/>
              </a:ext>
            </a:extLst>
          </p:cNvPr>
          <p:cNvSpPr txBox="1"/>
          <p:nvPr/>
        </p:nvSpPr>
        <p:spPr>
          <a:xfrm>
            <a:off x="736600" y="1727200"/>
            <a:ext cx="5130800" cy="762000"/>
          </a:xfrm>
          <a:prstGeom prst="rect">
            <a:avLst/>
          </a:prstGeom>
          <a:noFill/>
        </p:spPr>
        <p:txBody>
          <a:bodyPr vert="horz" wrap="square" lIns="0" tIns="0" rIns="0" bIns="0" rtlCol="0" anchor="t">
            <a:noAutofit/>
          </a:bodyPr>
          <a:lstStyle/>
          <a:p>
            <a:r>
              <a:rPr lang="en-US" sz="1400">
                <a:solidFill>
                  <a:srgbClr val="FFFFFF"/>
                </a:solidFill>
                <a:latin typeface="Calibri" panose="020F0502020204030204" pitchFamily="34" charset="0"/>
              </a:rPr>
              <a:t>How long an activity can be delayed from its early start without delaying the project finish or breaking a schedule constraint.</a:t>
            </a:r>
          </a:p>
        </p:txBody>
      </p:sp>
      <p:sp>
        <p:nvSpPr>
          <p:cNvPr id="7" name="TextBox 6">
            <a:extLst>
              <a:ext uri="{FF2B5EF4-FFF2-40B4-BE49-F238E27FC236}">
                <a16:creationId xmlns:a16="http://schemas.microsoft.com/office/drawing/2014/main" id="{6053C8BF-760D-45CB-1A40-A34750E8DD7B}"/>
              </a:ext>
            </a:extLst>
          </p:cNvPr>
          <p:cNvSpPr txBox="1"/>
          <p:nvPr/>
        </p:nvSpPr>
        <p:spPr>
          <a:xfrm>
            <a:off x="736600" y="2438400"/>
            <a:ext cx="5130800" cy="457200"/>
          </a:xfrm>
          <a:prstGeom prst="rect">
            <a:avLst/>
          </a:prstGeom>
          <a:noFill/>
        </p:spPr>
        <p:txBody>
          <a:bodyPr vert="horz" wrap="square" lIns="0" tIns="0" rIns="0" bIns="0" rtlCol="0" anchor="ctr">
            <a:noAutofit/>
          </a:bodyPr>
          <a:lstStyle/>
          <a:p>
            <a:r>
              <a:rPr lang="en-US" sz="2200" b="1">
                <a:solidFill>
                  <a:srgbClr val="FFFFFF"/>
                </a:solidFill>
                <a:latin typeface="Cambria" panose="02040503050406030204" pitchFamily="18" charset="0"/>
              </a:rPr>
              <a:t>TF = LS − ES = LF − EF</a:t>
            </a:r>
          </a:p>
        </p:txBody>
      </p:sp>
      <p:sp>
        <p:nvSpPr>
          <p:cNvPr id="8" name="Rectangle: Rounded Corners 7">
            <a:extLst>
              <a:ext uri="{FF2B5EF4-FFF2-40B4-BE49-F238E27FC236}">
                <a16:creationId xmlns:a16="http://schemas.microsoft.com/office/drawing/2014/main" id="{56E63815-86A9-C7B7-4CA9-40C164C6E5DD}"/>
              </a:ext>
            </a:extLst>
          </p:cNvPr>
          <p:cNvSpPr/>
          <p:nvPr/>
        </p:nvSpPr>
        <p:spPr>
          <a:xfrm>
            <a:off x="508000" y="3378200"/>
            <a:ext cx="5588000" cy="1930400"/>
          </a:xfrm>
          <a:prstGeom prst="roundRect">
            <a:avLst>
              <a:gd name="adj" fmla="val 8000"/>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C12858C-05EB-B0D4-F781-1FA87A8C7522}"/>
              </a:ext>
            </a:extLst>
          </p:cNvPr>
          <p:cNvSpPr txBox="1"/>
          <p:nvPr/>
        </p:nvSpPr>
        <p:spPr>
          <a:xfrm>
            <a:off x="736600" y="3505200"/>
            <a:ext cx="5080000" cy="254000"/>
          </a:xfrm>
          <a:prstGeom prst="rect">
            <a:avLst/>
          </a:prstGeom>
          <a:noFill/>
        </p:spPr>
        <p:txBody>
          <a:bodyPr vert="horz" wrap="square" lIns="0" tIns="0" rIns="0" bIns="0" rtlCol="0" anchor="t">
            <a:noAutofit/>
          </a:bodyPr>
          <a:lstStyle/>
          <a:p>
            <a:r>
              <a:rPr lang="en-US" sz="1400" b="1">
                <a:solidFill>
                  <a:srgbClr val="E3A63B"/>
                </a:solidFill>
                <a:latin typeface="Calibri" panose="020F0502020204030204" pitchFamily="34" charset="0"/>
              </a:rPr>
              <a:t>Free float</a:t>
            </a:r>
          </a:p>
        </p:txBody>
      </p:sp>
      <p:sp>
        <p:nvSpPr>
          <p:cNvPr id="10" name="TextBox 9">
            <a:extLst>
              <a:ext uri="{FF2B5EF4-FFF2-40B4-BE49-F238E27FC236}">
                <a16:creationId xmlns:a16="http://schemas.microsoft.com/office/drawing/2014/main" id="{43F63FBC-A58C-0E27-42EA-C99E265A2814}"/>
              </a:ext>
            </a:extLst>
          </p:cNvPr>
          <p:cNvSpPr txBox="1"/>
          <p:nvPr/>
        </p:nvSpPr>
        <p:spPr>
          <a:xfrm>
            <a:off x="736600" y="3784600"/>
            <a:ext cx="5130800" cy="762000"/>
          </a:xfrm>
          <a:prstGeom prst="rect">
            <a:avLst/>
          </a:prstGeom>
          <a:noFill/>
        </p:spPr>
        <p:txBody>
          <a:bodyPr vert="horz" wrap="square" lIns="0" tIns="0" rIns="0" bIns="0" rtlCol="0" anchor="t">
            <a:noAutofit/>
          </a:bodyPr>
          <a:lstStyle/>
          <a:p>
            <a:r>
              <a:rPr lang="en-US" sz="1400">
                <a:solidFill>
                  <a:srgbClr val="FFFFFF"/>
                </a:solidFill>
                <a:latin typeface="Calibri" panose="020F0502020204030204" pitchFamily="34" charset="0"/>
              </a:rPr>
              <a:t>How long an activity can be delayed without delaying the early start of any successor or breaking a schedule constraint.</a:t>
            </a:r>
          </a:p>
        </p:txBody>
      </p:sp>
      <p:sp>
        <p:nvSpPr>
          <p:cNvPr id="11" name="TextBox 10">
            <a:extLst>
              <a:ext uri="{FF2B5EF4-FFF2-40B4-BE49-F238E27FC236}">
                <a16:creationId xmlns:a16="http://schemas.microsoft.com/office/drawing/2014/main" id="{5EA81B7B-6847-9F4C-D815-1435D2173938}"/>
              </a:ext>
            </a:extLst>
          </p:cNvPr>
          <p:cNvSpPr txBox="1"/>
          <p:nvPr/>
        </p:nvSpPr>
        <p:spPr>
          <a:xfrm>
            <a:off x="736600" y="4495800"/>
            <a:ext cx="5130800" cy="457200"/>
          </a:xfrm>
          <a:prstGeom prst="rect">
            <a:avLst/>
          </a:prstGeom>
          <a:noFill/>
        </p:spPr>
        <p:txBody>
          <a:bodyPr vert="horz" wrap="square" lIns="0" tIns="0" rIns="0" bIns="0" rtlCol="0" anchor="ctr">
            <a:noAutofit/>
          </a:bodyPr>
          <a:lstStyle/>
          <a:p>
            <a:r>
              <a:rPr lang="en-US" sz="2200" b="1">
                <a:solidFill>
                  <a:srgbClr val="FFFFFF"/>
                </a:solidFill>
                <a:latin typeface="Cambria" panose="02040503050406030204" pitchFamily="18" charset="0"/>
              </a:rPr>
              <a:t>FF = ES of successor − EF − 1</a:t>
            </a:r>
          </a:p>
        </p:txBody>
      </p:sp>
      <p:sp>
        <p:nvSpPr>
          <p:cNvPr id="12" name="TextBox 11">
            <a:extLst>
              <a:ext uri="{FF2B5EF4-FFF2-40B4-BE49-F238E27FC236}">
                <a16:creationId xmlns:a16="http://schemas.microsoft.com/office/drawing/2014/main" id="{69A6E92F-24B9-471E-70AA-C957B6F7DCD8}"/>
              </a:ext>
            </a:extLst>
          </p:cNvPr>
          <p:cNvSpPr txBox="1"/>
          <p:nvPr/>
        </p:nvSpPr>
        <p:spPr>
          <a:xfrm>
            <a:off x="736600" y="5003800"/>
            <a:ext cx="5130800" cy="228600"/>
          </a:xfrm>
          <a:prstGeom prst="rect">
            <a:avLst/>
          </a:prstGeom>
          <a:noFill/>
        </p:spPr>
        <p:txBody>
          <a:bodyPr vert="horz" wrap="square" lIns="0" tIns="0" rIns="0" bIns="0" rtlCol="0" anchor="t">
            <a:noAutofit/>
          </a:bodyPr>
          <a:lstStyle/>
          <a:p>
            <a:r>
              <a:rPr lang="en-US" sz="1200" i="1">
                <a:solidFill>
                  <a:srgbClr val="C9D6EA"/>
                </a:solidFill>
                <a:latin typeface="Calibri" panose="020F0502020204030204" pitchFamily="34" charset="0"/>
              </a:rPr>
              <a:t>With day-0 numbering: ES of successor − EF</a:t>
            </a:r>
          </a:p>
        </p:txBody>
      </p:sp>
      <p:sp>
        <p:nvSpPr>
          <p:cNvPr id="13" name="Rectangle: Rounded Corners 12">
            <a:extLst>
              <a:ext uri="{FF2B5EF4-FFF2-40B4-BE49-F238E27FC236}">
                <a16:creationId xmlns:a16="http://schemas.microsoft.com/office/drawing/2014/main" id="{4AC8D5F5-AC13-4586-C706-4B6CE5B1B856}"/>
              </a:ext>
            </a:extLst>
          </p:cNvPr>
          <p:cNvSpPr/>
          <p:nvPr/>
        </p:nvSpPr>
        <p:spPr>
          <a:xfrm>
            <a:off x="6350000" y="1320800"/>
            <a:ext cx="5334000" cy="24892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A398D7F4-781E-18B4-99E5-56177B506BAA}"/>
              </a:ext>
            </a:extLst>
          </p:cNvPr>
          <p:cNvSpPr txBox="1"/>
          <p:nvPr/>
        </p:nvSpPr>
        <p:spPr>
          <a:xfrm>
            <a:off x="6502400" y="1473200"/>
            <a:ext cx="5029200" cy="2184400"/>
          </a:xfrm>
          <a:prstGeom prst="rect">
            <a:avLst/>
          </a:prstGeom>
          <a:noFill/>
        </p:spPr>
        <p:txBody>
          <a:bodyPr vert="horz" wrap="square" lIns="0" tIns="0" rIns="0" bIns="0" rtlCol="0" anchor="t">
            <a:noAutofit/>
          </a:bodyPr>
          <a:lstStyle/>
          <a:p>
            <a:pPr>
              <a:spcAft>
                <a:spcPts val="600"/>
              </a:spcAft>
            </a:pPr>
            <a:r>
              <a:rPr lang="en-US" sz="1500" b="1">
                <a:solidFill>
                  <a:srgbClr val="A86F0E"/>
                </a:solidFill>
                <a:latin typeface="Calibri" panose="020F0502020204030204" pitchFamily="34" charset="0"/>
              </a:rPr>
              <a:t>Worked example: activity C</a:t>
            </a:r>
          </a:p>
          <a:p>
            <a:pPr>
              <a:spcAft>
                <a:spcPts val="500"/>
              </a:spcAft>
            </a:pPr>
            <a:r>
              <a:rPr lang="en-US" sz="1300" b="1">
                <a:solidFill>
                  <a:srgbClr val="14213D"/>
                </a:solidFill>
                <a:latin typeface="Calibri" panose="020F0502020204030204" pitchFamily="34" charset="0"/>
              </a:rPr>
              <a:t>From the previous slide:</a:t>
            </a:r>
            <a:r>
              <a:rPr lang="en-US" sz="1300">
                <a:solidFill>
                  <a:srgbClr val="1F2937"/>
                </a:solidFill>
                <a:latin typeface="Calibri" panose="020F0502020204030204" pitchFamily="34" charset="0"/>
              </a:rPr>
              <a:t> C runs 4–5 early, 7–8 late; its successor F starts on day 8.</a:t>
            </a:r>
          </a:p>
          <a:p>
            <a:pPr>
              <a:spcAft>
                <a:spcPts val="500"/>
              </a:spcAft>
            </a:pPr>
            <a:r>
              <a:rPr lang="en-US" sz="1300" b="1">
                <a:solidFill>
                  <a:srgbClr val="14213D"/>
                </a:solidFill>
                <a:latin typeface="Calibri" panose="020F0502020204030204" pitchFamily="34" charset="0"/>
              </a:rPr>
              <a:t>Total float:</a:t>
            </a:r>
            <a:r>
              <a:rPr lang="en-US" sz="1300">
                <a:solidFill>
                  <a:srgbClr val="1F2937"/>
                </a:solidFill>
                <a:latin typeface="Calibri" panose="020F0502020204030204" pitchFamily="34" charset="0"/>
              </a:rPr>
              <a:t> 7 − 4 = 3 days.</a:t>
            </a:r>
          </a:p>
          <a:p>
            <a:pPr>
              <a:spcAft>
                <a:spcPts val="500"/>
              </a:spcAft>
            </a:pPr>
            <a:r>
              <a:rPr lang="en-US" sz="1300" b="1">
                <a:solidFill>
                  <a:srgbClr val="14213D"/>
                </a:solidFill>
                <a:latin typeface="Calibri" panose="020F0502020204030204" pitchFamily="34" charset="0"/>
              </a:rPr>
              <a:t>Free float:</a:t>
            </a:r>
            <a:r>
              <a:rPr lang="en-US" sz="1300">
                <a:solidFill>
                  <a:srgbClr val="1F2937"/>
                </a:solidFill>
                <a:latin typeface="Calibri" panose="020F0502020204030204" pitchFamily="34" charset="0"/>
              </a:rPr>
              <a:t> 8 − 5 − 1 = 2 days.</a:t>
            </a:r>
          </a:p>
          <a:p>
            <a:pPr>
              <a:spcAft>
                <a:spcPts val="500"/>
              </a:spcAft>
            </a:pPr>
            <a:r>
              <a:rPr lang="en-US" sz="1300">
                <a:solidFill>
                  <a:srgbClr val="1F2937"/>
                </a:solidFill>
                <a:latin typeface="Calibri" panose="020F0502020204030204" pitchFamily="34" charset="0"/>
              </a:rPr>
              <a:t>A 3-day slip keeps the 11-day finish but pushes F later.</a:t>
            </a:r>
          </a:p>
        </p:txBody>
      </p:sp>
      <p:sp>
        <p:nvSpPr>
          <p:cNvPr id="15" name="Rectangle: Rounded Corners 14">
            <a:extLst>
              <a:ext uri="{FF2B5EF4-FFF2-40B4-BE49-F238E27FC236}">
                <a16:creationId xmlns:a16="http://schemas.microsoft.com/office/drawing/2014/main" id="{59BD6FFA-DAC6-B85C-27DF-DE12667AE368}"/>
              </a:ext>
            </a:extLst>
          </p:cNvPr>
          <p:cNvSpPr/>
          <p:nvPr/>
        </p:nvSpPr>
        <p:spPr>
          <a:xfrm>
            <a:off x="6350000" y="3937000"/>
            <a:ext cx="5334000" cy="1422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F0A7B0F8-BFE2-0A0D-53BA-37D2B5FF7B25}"/>
              </a:ext>
            </a:extLst>
          </p:cNvPr>
          <p:cNvSpPr txBox="1"/>
          <p:nvPr/>
        </p:nvSpPr>
        <p:spPr>
          <a:xfrm>
            <a:off x="6502400" y="4089400"/>
            <a:ext cx="5029200" cy="1117600"/>
          </a:xfrm>
          <a:prstGeom prst="rect">
            <a:avLst/>
          </a:prstGeom>
          <a:noFill/>
        </p:spPr>
        <p:txBody>
          <a:bodyPr vert="horz" wrap="square" lIns="0" tIns="0" rIns="0" bIns="0" rtlCol="0" anchor="t">
            <a:noAutofit/>
          </a:bodyPr>
          <a:lstStyle/>
          <a:p>
            <a:pPr>
              <a:spcAft>
                <a:spcPts val="600"/>
              </a:spcAft>
            </a:pPr>
            <a:r>
              <a:rPr lang="en-US" sz="1500" b="1">
                <a:solidFill>
                  <a:srgbClr val="14213D"/>
                </a:solidFill>
                <a:latin typeface="Calibri" panose="020F0502020204030204" pitchFamily="34" charset="0"/>
              </a:rPr>
              <a:t>Reading float</a:t>
            </a:r>
          </a:p>
          <a:p>
            <a:pPr>
              <a:spcAft>
                <a:spcPts val="500"/>
              </a:spcAft>
            </a:pPr>
            <a:r>
              <a:rPr lang="en-US" sz="1300" b="1">
                <a:solidFill>
                  <a:srgbClr val="14213D"/>
                </a:solidFill>
                <a:latin typeface="Calibri" panose="020F0502020204030204" pitchFamily="34" charset="0"/>
              </a:rPr>
              <a:t>Zero:</a:t>
            </a:r>
            <a:r>
              <a:rPr lang="en-US" sz="1300">
                <a:solidFill>
                  <a:srgbClr val="1F2937"/>
                </a:solidFill>
                <a:latin typeface="Calibri" panose="020F0502020204030204" pitchFamily="34" charset="0"/>
              </a:rPr>
              <a:t> the activity is on the critical path.</a:t>
            </a:r>
          </a:p>
          <a:p>
            <a:pPr>
              <a:spcAft>
                <a:spcPts val="500"/>
              </a:spcAft>
            </a:pPr>
            <a:r>
              <a:rPr lang="en-US" sz="1300" b="1">
                <a:solidFill>
                  <a:srgbClr val="14213D"/>
                </a:solidFill>
                <a:latin typeface="Calibri" panose="020F0502020204030204" pitchFamily="34" charset="0"/>
              </a:rPr>
              <a:t>Negative:</a:t>
            </a:r>
            <a:r>
              <a:rPr lang="en-US" sz="1300">
                <a:solidFill>
                  <a:srgbClr val="1F2937"/>
                </a:solidFill>
                <a:latin typeface="Calibri" panose="020F0502020204030204" pitchFamily="34" charset="0"/>
              </a:rPr>
              <a:t> the schedule is already behind; compress or re-plan.</a:t>
            </a:r>
          </a:p>
          <a:p>
            <a:pPr>
              <a:spcAft>
                <a:spcPts val="500"/>
              </a:spcAft>
            </a:pPr>
            <a:r>
              <a:rPr lang="en-US" sz="1300" b="1">
                <a:solidFill>
                  <a:srgbClr val="14213D"/>
                </a:solidFill>
                <a:latin typeface="Calibri" panose="020F0502020204030204" pitchFamily="34" charset="0"/>
              </a:rPr>
              <a:t>Shared:</a:t>
            </a:r>
            <a:r>
              <a:rPr lang="en-US" sz="1300">
                <a:solidFill>
                  <a:srgbClr val="1F2937"/>
                </a:solidFill>
                <a:latin typeface="Calibri" panose="020F0502020204030204" pitchFamily="34" charset="0"/>
              </a:rPr>
              <a:t> float belongs to the path; using it early leaves less later.</a:t>
            </a:r>
          </a:p>
        </p:txBody>
      </p:sp>
      <p:sp>
        <p:nvSpPr>
          <p:cNvPr id="17" name="Rectangle: Rounded Corners 16">
            <a:extLst>
              <a:ext uri="{FF2B5EF4-FFF2-40B4-BE49-F238E27FC236}">
                <a16:creationId xmlns:a16="http://schemas.microsoft.com/office/drawing/2014/main" id="{DFF1E67B-8AE5-011D-7390-73DF1243B9C2}"/>
              </a:ext>
            </a:extLst>
          </p:cNvPr>
          <p:cNvSpPr/>
          <p:nvPr/>
        </p:nvSpPr>
        <p:spPr>
          <a:xfrm>
            <a:off x="508000" y="5486400"/>
            <a:ext cx="11176000" cy="838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00DD769-A9A5-DC7C-E69E-1CB7D8E9C56F}"/>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total float protects the project finish; free float protects the next activity. Free float is never larger than total float.</a:t>
            </a:r>
          </a:p>
        </p:txBody>
      </p:sp>
      <p:sp>
        <p:nvSpPr>
          <p:cNvPr id="19" name="Footer">
            <a:extLst>
              <a:ext uri="{FF2B5EF4-FFF2-40B4-BE49-F238E27FC236}">
                <a16:creationId xmlns:a16="http://schemas.microsoft.com/office/drawing/2014/main" id="{EE7879F1-1C47-F268-5911-77B69F81ED5D}"/>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Section 6.5.2.2 and Glossary (total float, free float); adapted from PMI course material</a:t>
            </a:r>
          </a:p>
        </p:txBody>
      </p:sp>
      <p:sp>
        <p:nvSpPr>
          <p:cNvPr id="20" name="SlideNum">
            <a:extLst>
              <a:ext uri="{FF2B5EF4-FFF2-40B4-BE49-F238E27FC236}">
                <a16:creationId xmlns:a16="http://schemas.microsoft.com/office/drawing/2014/main" id="{992EAD3F-2E4C-8266-5AA5-99A5F84638B8}"/>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39</a:t>
            </a:r>
          </a:p>
        </p:txBody>
      </p:sp>
      <p:sp>
        <p:nvSpPr>
          <p:cNvPr id="21"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9509434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B9388EC-C782-1B34-BA88-E54B42325471}"/>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Resource optimization: leveling vs. smoothing</a:t>
            </a:r>
          </a:p>
        </p:txBody>
      </p:sp>
      <p:sp>
        <p:nvSpPr>
          <p:cNvPr id="3" name="Tag">
            <a:extLst>
              <a:ext uri="{FF2B5EF4-FFF2-40B4-BE49-F238E27FC236}">
                <a16:creationId xmlns:a16="http://schemas.microsoft.com/office/drawing/2014/main" id="{E23D29BC-DA02-245E-D7D4-3BB7E162E9C9}"/>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4 (Plan and manage resources) and Task 8 (Plan and manage schedule)</a:t>
            </a:r>
          </a:p>
        </p:txBody>
      </p:sp>
      <p:sp>
        <p:nvSpPr>
          <p:cNvPr id="4" name="TextBox 3">
            <a:extLst>
              <a:ext uri="{FF2B5EF4-FFF2-40B4-BE49-F238E27FC236}">
                <a16:creationId xmlns:a16="http://schemas.microsoft.com/office/drawing/2014/main" id="{91BF8E6B-DDF1-3664-220B-755A8C00A943}"/>
              </a:ext>
            </a:extLst>
          </p:cNvPr>
          <p:cNvSpPr txBox="1"/>
          <p:nvPr/>
        </p:nvSpPr>
        <p:spPr>
          <a:xfrm>
            <a:off x="508000" y="1320800"/>
            <a:ext cx="3429000" cy="228600"/>
          </a:xfrm>
          <a:prstGeom prst="rect">
            <a:avLst/>
          </a:prstGeom>
          <a:noFill/>
        </p:spPr>
        <p:txBody>
          <a:bodyPr vert="horz" wrap="square" lIns="0" tIns="0" rIns="0" bIns="0" rtlCol="0" anchor="t">
            <a:noAutofit/>
          </a:bodyPr>
          <a:lstStyle/>
          <a:p>
            <a:r>
              <a:rPr lang="en-US" sz="1300" b="1">
                <a:solidFill>
                  <a:srgbClr val="14213D"/>
                </a:solidFill>
                <a:latin typeface="Calibri" panose="020F0502020204030204" pitchFamily="34" charset="0"/>
              </a:rPr>
              <a:t>Before: over-allocated</a:t>
            </a:r>
          </a:p>
        </p:txBody>
      </p:sp>
      <p:cxnSp>
        <p:nvCxnSpPr>
          <p:cNvPr id="5" name="Straight Connector 4">
            <a:extLst>
              <a:ext uri="{FF2B5EF4-FFF2-40B4-BE49-F238E27FC236}">
                <a16:creationId xmlns:a16="http://schemas.microsoft.com/office/drawing/2014/main" id="{478902F0-4C0E-A6D2-15A7-53A10A43F3C5}"/>
              </a:ext>
            </a:extLst>
          </p:cNvPr>
          <p:cNvCxnSpPr/>
          <p:nvPr/>
        </p:nvCxnSpPr>
        <p:spPr>
          <a:xfrm>
            <a:off x="508000" y="1524000"/>
            <a:ext cx="0" cy="1854200"/>
          </a:xfrm>
          <a:prstGeom prst="line">
            <a:avLst/>
          </a:prstGeom>
          <a:ln w="12700">
            <a:solidFill>
              <a:srgbClr val="5B6475"/>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432B9A39-4B35-0FF4-A840-02D3BBBE519B}"/>
              </a:ext>
            </a:extLst>
          </p:cNvPr>
          <p:cNvCxnSpPr/>
          <p:nvPr/>
        </p:nvCxnSpPr>
        <p:spPr>
          <a:xfrm>
            <a:off x="508000" y="3378200"/>
            <a:ext cx="3175000" cy="0"/>
          </a:xfrm>
          <a:prstGeom prst="line">
            <a:avLst/>
          </a:prstGeom>
          <a:ln w="12700">
            <a:solidFill>
              <a:srgbClr val="5B6475"/>
            </a:solidFill>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2FF3F762-C157-E3D9-778B-669B502C61BC}"/>
              </a:ext>
            </a:extLst>
          </p:cNvPr>
          <p:cNvSpPr/>
          <p:nvPr/>
        </p:nvSpPr>
        <p:spPr>
          <a:xfrm>
            <a:off x="533400" y="1610360"/>
            <a:ext cx="314678" cy="176784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73332D2-4FC5-12B6-A3FC-57847DB652DD}"/>
              </a:ext>
            </a:extLst>
          </p:cNvPr>
          <p:cNvSpPr/>
          <p:nvPr/>
        </p:nvSpPr>
        <p:spPr>
          <a:xfrm>
            <a:off x="886178" y="2037080"/>
            <a:ext cx="314678" cy="134112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11A03F3-C9E8-E93D-E57C-EDA99250AE8B}"/>
              </a:ext>
            </a:extLst>
          </p:cNvPr>
          <p:cNvSpPr/>
          <p:nvPr/>
        </p:nvSpPr>
        <p:spPr>
          <a:xfrm>
            <a:off x="1238956" y="2159000"/>
            <a:ext cx="314677" cy="121920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0E19A40-88B5-AA5B-0481-810BE1B211E6}"/>
              </a:ext>
            </a:extLst>
          </p:cNvPr>
          <p:cNvSpPr/>
          <p:nvPr/>
        </p:nvSpPr>
        <p:spPr>
          <a:xfrm>
            <a:off x="1591733" y="2219960"/>
            <a:ext cx="314678" cy="115824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E5685A0-182C-3A24-FA1D-B02B2234390F}"/>
              </a:ext>
            </a:extLst>
          </p:cNvPr>
          <p:cNvSpPr/>
          <p:nvPr/>
        </p:nvSpPr>
        <p:spPr>
          <a:xfrm>
            <a:off x="1944511" y="2037080"/>
            <a:ext cx="314678" cy="134112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F4AB0D6-49B2-3377-C35E-D50EA6E37412}"/>
              </a:ext>
            </a:extLst>
          </p:cNvPr>
          <p:cNvSpPr/>
          <p:nvPr/>
        </p:nvSpPr>
        <p:spPr>
          <a:xfrm>
            <a:off x="2297289" y="2463800"/>
            <a:ext cx="314678" cy="91440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6DEE650-37AE-70EC-9483-F97349917740}"/>
              </a:ext>
            </a:extLst>
          </p:cNvPr>
          <p:cNvSpPr/>
          <p:nvPr/>
        </p:nvSpPr>
        <p:spPr>
          <a:xfrm>
            <a:off x="2650067" y="1793240"/>
            <a:ext cx="314678" cy="158496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C2985C48-EDA9-BF55-7AA7-EA2768D1A262}"/>
              </a:ext>
            </a:extLst>
          </p:cNvPr>
          <p:cNvCxnSpPr/>
          <p:nvPr/>
        </p:nvCxnSpPr>
        <p:spPr>
          <a:xfrm>
            <a:off x="508000" y="2006600"/>
            <a:ext cx="3175000" cy="0"/>
          </a:xfrm>
          <a:prstGeom prst="line">
            <a:avLst/>
          </a:prstGeom>
          <a:ln w="19050">
            <a:solidFill>
              <a:srgbClr val="C0392B"/>
            </a:solidFill>
            <a:prstDash val="dash"/>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ACD669C8-8233-F663-FC6D-F96445DEF438}"/>
              </a:ext>
            </a:extLst>
          </p:cNvPr>
          <p:cNvSpPr txBox="1"/>
          <p:nvPr/>
        </p:nvSpPr>
        <p:spPr>
          <a:xfrm>
            <a:off x="3124200" y="1790700"/>
            <a:ext cx="558800" cy="177800"/>
          </a:xfrm>
          <a:prstGeom prst="rect">
            <a:avLst/>
          </a:prstGeom>
          <a:noFill/>
        </p:spPr>
        <p:txBody>
          <a:bodyPr vert="horz" wrap="square" lIns="0" tIns="0" rIns="0" bIns="0" rtlCol="0" anchor="t">
            <a:noAutofit/>
          </a:bodyPr>
          <a:lstStyle/>
          <a:p>
            <a:pPr algn="r"/>
            <a:r>
              <a:rPr lang="en-US" sz="1000" b="1">
                <a:solidFill>
                  <a:srgbClr val="C0392B"/>
                </a:solidFill>
                <a:latin typeface="Calibri" panose="020F0502020204030204" pitchFamily="34" charset="0"/>
              </a:rPr>
              <a:t>45 hrs</a:t>
            </a:r>
          </a:p>
        </p:txBody>
      </p:sp>
      <p:sp>
        <p:nvSpPr>
          <p:cNvPr id="16" name="TextBox 15">
            <a:extLst>
              <a:ext uri="{FF2B5EF4-FFF2-40B4-BE49-F238E27FC236}">
                <a16:creationId xmlns:a16="http://schemas.microsoft.com/office/drawing/2014/main" id="{615445B7-A657-68AE-F8DA-6DED2BC4B2F6}"/>
              </a:ext>
            </a:extLst>
          </p:cNvPr>
          <p:cNvSpPr txBox="1"/>
          <p:nvPr/>
        </p:nvSpPr>
        <p:spPr>
          <a:xfrm>
            <a:off x="508000" y="3403600"/>
            <a:ext cx="381000" cy="1778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W1</a:t>
            </a:r>
          </a:p>
        </p:txBody>
      </p:sp>
      <p:sp>
        <p:nvSpPr>
          <p:cNvPr id="17" name="TextBox 16">
            <a:extLst>
              <a:ext uri="{FF2B5EF4-FFF2-40B4-BE49-F238E27FC236}">
                <a16:creationId xmlns:a16="http://schemas.microsoft.com/office/drawing/2014/main" id="{AC94FB87-2D91-6A8E-472C-3FF074EA5FB9}"/>
              </a:ext>
            </a:extLst>
          </p:cNvPr>
          <p:cNvSpPr txBox="1"/>
          <p:nvPr/>
        </p:nvSpPr>
        <p:spPr>
          <a:xfrm>
            <a:off x="2599267" y="3403600"/>
            <a:ext cx="431800" cy="1778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W7</a:t>
            </a:r>
          </a:p>
        </p:txBody>
      </p:sp>
      <p:sp>
        <p:nvSpPr>
          <p:cNvPr id="18" name="TextBox 17">
            <a:extLst>
              <a:ext uri="{FF2B5EF4-FFF2-40B4-BE49-F238E27FC236}">
                <a16:creationId xmlns:a16="http://schemas.microsoft.com/office/drawing/2014/main" id="{DA5EEBF6-91EB-AC69-0454-A27A8EECD03F}"/>
              </a:ext>
            </a:extLst>
          </p:cNvPr>
          <p:cNvSpPr txBox="1"/>
          <p:nvPr/>
        </p:nvSpPr>
        <p:spPr>
          <a:xfrm>
            <a:off x="508000" y="3581400"/>
            <a:ext cx="3429000" cy="228600"/>
          </a:xfrm>
          <a:prstGeom prst="rect">
            <a:avLst/>
          </a:prstGeom>
          <a:noFill/>
        </p:spPr>
        <p:txBody>
          <a:bodyPr vert="horz" wrap="square" lIns="0" tIns="0" rIns="0" bIns="0" rtlCol="0" anchor="t">
            <a:noAutofit/>
          </a:bodyPr>
          <a:lstStyle/>
          <a:p>
            <a:r>
              <a:rPr lang="en-US" sz="1200" i="1">
                <a:solidFill>
                  <a:srgbClr val="5B6475"/>
                </a:solidFill>
                <a:latin typeface="Calibri" panose="020F0502020204030204" pitchFamily="34" charset="0"/>
              </a:rPr>
              <a:t>Two weeks exceed the 45-hour limit</a:t>
            </a:r>
          </a:p>
        </p:txBody>
      </p:sp>
      <p:sp>
        <p:nvSpPr>
          <p:cNvPr id="19" name="TextBox 18">
            <a:extLst>
              <a:ext uri="{FF2B5EF4-FFF2-40B4-BE49-F238E27FC236}">
                <a16:creationId xmlns:a16="http://schemas.microsoft.com/office/drawing/2014/main" id="{E9415E0C-426B-A7A5-B16D-7BC2B031445F}"/>
              </a:ext>
            </a:extLst>
          </p:cNvPr>
          <p:cNvSpPr txBox="1"/>
          <p:nvPr/>
        </p:nvSpPr>
        <p:spPr>
          <a:xfrm>
            <a:off x="4508500" y="1320800"/>
            <a:ext cx="3429000" cy="228600"/>
          </a:xfrm>
          <a:prstGeom prst="rect">
            <a:avLst/>
          </a:prstGeom>
          <a:noFill/>
        </p:spPr>
        <p:txBody>
          <a:bodyPr vert="horz" wrap="square" lIns="0" tIns="0" rIns="0" bIns="0" rtlCol="0" anchor="t">
            <a:noAutofit/>
          </a:bodyPr>
          <a:lstStyle/>
          <a:p>
            <a:r>
              <a:rPr lang="en-US" sz="1300" b="1">
                <a:solidFill>
                  <a:srgbClr val="14213D"/>
                </a:solidFill>
                <a:latin typeface="Calibri" panose="020F0502020204030204" pitchFamily="34" charset="0"/>
              </a:rPr>
              <a:t>After resource leveling</a:t>
            </a:r>
          </a:p>
        </p:txBody>
      </p:sp>
      <p:cxnSp>
        <p:nvCxnSpPr>
          <p:cNvPr id="20" name="Straight Connector 19">
            <a:extLst>
              <a:ext uri="{FF2B5EF4-FFF2-40B4-BE49-F238E27FC236}">
                <a16:creationId xmlns:a16="http://schemas.microsoft.com/office/drawing/2014/main" id="{8003E0D5-9AC1-3066-7B70-D46679707FC9}"/>
              </a:ext>
            </a:extLst>
          </p:cNvPr>
          <p:cNvCxnSpPr/>
          <p:nvPr/>
        </p:nvCxnSpPr>
        <p:spPr>
          <a:xfrm>
            <a:off x="4508500" y="1524000"/>
            <a:ext cx="0" cy="1854200"/>
          </a:xfrm>
          <a:prstGeom prst="line">
            <a:avLst/>
          </a:prstGeom>
          <a:ln w="12700">
            <a:solidFill>
              <a:srgbClr val="5B6475"/>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2E1866BF-93C0-FB36-A56D-11C0648C2B30}"/>
              </a:ext>
            </a:extLst>
          </p:cNvPr>
          <p:cNvCxnSpPr/>
          <p:nvPr/>
        </p:nvCxnSpPr>
        <p:spPr>
          <a:xfrm>
            <a:off x="4508500" y="3378200"/>
            <a:ext cx="3175000" cy="0"/>
          </a:xfrm>
          <a:prstGeom prst="line">
            <a:avLst/>
          </a:prstGeom>
          <a:ln w="12700">
            <a:solidFill>
              <a:srgbClr val="5B6475"/>
            </a:solidFill>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51310E98-6C01-6CFE-2AA1-95E4ABEC3A4B}"/>
              </a:ext>
            </a:extLst>
          </p:cNvPr>
          <p:cNvSpPr/>
          <p:nvPr/>
        </p:nvSpPr>
        <p:spPr>
          <a:xfrm>
            <a:off x="4533900" y="2006600"/>
            <a:ext cx="314678" cy="137160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ED31603-4097-F56E-29FC-3BAC20907EF1}"/>
              </a:ext>
            </a:extLst>
          </p:cNvPr>
          <p:cNvSpPr/>
          <p:nvPr/>
        </p:nvSpPr>
        <p:spPr>
          <a:xfrm>
            <a:off x="4886678" y="2098040"/>
            <a:ext cx="314677" cy="128016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22C011E-46BE-BF2B-4A60-A9B27B8368B0}"/>
              </a:ext>
            </a:extLst>
          </p:cNvPr>
          <p:cNvSpPr/>
          <p:nvPr/>
        </p:nvSpPr>
        <p:spPr>
          <a:xfrm>
            <a:off x="5239455" y="2219960"/>
            <a:ext cx="314678" cy="115824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8CD100C-7926-9188-948C-9083D05A8835}"/>
              </a:ext>
            </a:extLst>
          </p:cNvPr>
          <p:cNvSpPr/>
          <p:nvPr/>
        </p:nvSpPr>
        <p:spPr>
          <a:xfrm>
            <a:off x="5592233" y="2037080"/>
            <a:ext cx="314678" cy="134112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33AC377-1556-52E0-0910-EB0D00B62844}"/>
              </a:ext>
            </a:extLst>
          </p:cNvPr>
          <p:cNvSpPr/>
          <p:nvPr/>
        </p:nvSpPr>
        <p:spPr>
          <a:xfrm>
            <a:off x="5945011" y="2646680"/>
            <a:ext cx="314678" cy="73152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686F388-B767-09C2-3931-FB6FAA1264C7}"/>
              </a:ext>
            </a:extLst>
          </p:cNvPr>
          <p:cNvSpPr/>
          <p:nvPr/>
        </p:nvSpPr>
        <p:spPr>
          <a:xfrm>
            <a:off x="6297789" y="2067560"/>
            <a:ext cx="314678" cy="131064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B14D78C0-708D-DE26-C2C5-152F38124BD9}"/>
              </a:ext>
            </a:extLst>
          </p:cNvPr>
          <p:cNvSpPr/>
          <p:nvPr/>
        </p:nvSpPr>
        <p:spPr>
          <a:xfrm>
            <a:off x="6650567" y="2707640"/>
            <a:ext cx="314678" cy="67056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329BCAA-A5AB-FA2B-3560-A21FE9DF945C}"/>
              </a:ext>
            </a:extLst>
          </p:cNvPr>
          <p:cNvSpPr/>
          <p:nvPr/>
        </p:nvSpPr>
        <p:spPr>
          <a:xfrm>
            <a:off x="7003345" y="2463800"/>
            <a:ext cx="314677" cy="91440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033E564-C089-2CA6-958E-BDC3FAFA61C0}"/>
              </a:ext>
            </a:extLst>
          </p:cNvPr>
          <p:cNvSpPr/>
          <p:nvPr/>
        </p:nvSpPr>
        <p:spPr>
          <a:xfrm>
            <a:off x="7356122" y="2829560"/>
            <a:ext cx="314678" cy="54864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a:extLst>
              <a:ext uri="{FF2B5EF4-FFF2-40B4-BE49-F238E27FC236}">
                <a16:creationId xmlns:a16="http://schemas.microsoft.com/office/drawing/2014/main" id="{C8F04347-4BC5-9BE2-A7C3-CFA2D54DF9B1}"/>
              </a:ext>
            </a:extLst>
          </p:cNvPr>
          <p:cNvCxnSpPr/>
          <p:nvPr/>
        </p:nvCxnSpPr>
        <p:spPr>
          <a:xfrm>
            <a:off x="4508500" y="2006600"/>
            <a:ext cx="3175000" cy="0"/>
          </a:xfrm>
          <a:prstGeom prst="line">
            <a:avLst/>
          </a:prstGeom>
          <a:ln w="19050">
            <a:solidFill>
              <a:srgbClr val="C0392B"/>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3AD01D8B-1BE9-75C1-1C53-D5DA4071C5B9}"/>
              </a:ext>
            </a:extLst>
          </p:cNvPr>
          <p:cNvSpPr txBox="1"/>
          <p:nvPr/>
        </p:nvSpPr>
        <p:spPr>
          <a:xfrm>
            <a:off x="7124700" y="1790700"/>
            <a:ext cx="558800" cy="177800"/>
          </a:xfrm>
          <a:prstGeom prst="rect">
            <a:avLst/>
          </a:prstGeom>
          <a:noFill/>
        </p:spPr>
        <p:txBody>
          <a:bodyPr vert="horz" wrap="square" lIns="0" tIns="0" rIns="0" bIns="0" rtlCol="0" anchor="t">
            <a:noAutofit/>
          </a:bodyPr>
          <a:lstStyle/>
          <a:p>
            <a:pPr algn="r"/>
            <a:r>
              <a:rPr lang="en-US" sz="1000" b="1">
                <a:solidFill>
                  <a:srgbClr val="C0392B"/>
                </a:solidFill>
                <a:latin typeface="Calibri" panose="020F0502020204030204" pitchFamily="34" charset="0"/>
              </a:rPr>
              <a:t>45 hrs</a:t>
            </a:r>
          </a:p>
        </p:txBody>
      </p:sp>
      <p:sp>
        <p:nvSpPr>
          <p:cNvPr id="33" name="TextBox 32">
            <a:extLst>
              <a:ext uri="{FF2B5EF4-FFF2-40B4-BE49-F238E27FC236}">
                <a16:creationId xmlns:a16="http://schemas.microsoft.com/office/drawing/2014/main" id="{DDA13144-E94A-AEB1-AC37-2A2C14407701}"/>
              </a:ext>
            </a:extLst>
          </p:cNvPr>
          <p:cNvSpPr txBox="1"/>
          <p:nvPr/>
        </p:nvSpPr>
        <p:spPr>
          <a:xfrm>
            <a:off x="4508500" y="3403600"/>
            <a:ext cx="381000" cy="1778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W1</a:t>
            </a:r>
          </a:p>
        </p:txBody>
      </p:sp>
      <p:sp>
        <p:nvSpPr>
          <p:cNvPr id="34" name="TextBox 33">
            <a:extLst>
              <a:ext uri="{FF2B5EF4-FFF2-40B4-BE49-F238E27FC236}">
                <a16:creationId xmlns:a16="http://schemas.microsoft.com/office/drawing/2014/main" id="{1D2FE7C8-1BA6-3157-24E9-676CCA355E7D}"/>
              </a:ext>
            </a:extLst>
          </p:cNvPr>
          <p:cNvSpPr txBox="1"/>
          <p:nvPr/>
        </p:nvSpPr>
        <p:spPr>
          <a:xfrm>
            <a:off x="7305322" y="3403600"/>
            <a:ext cx="431800" cy="1778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W9</a:t>
            </a:r>
          </a:p>
        </p:txBody>
      </p:sp>
      <p:sp>
        <p:nvSpPr>
          <p:cNvPr id="35" name="TextBox 34">
            <a:extLst>
              <a:ext uri="{FF2B5EF4-FFF2-40B4-BE49-F238E27FC236}">
                <a16:creationId xmlns:a16="http://schemas.microsoft.com/office/drawing/2014/main" id="{73EF0835-EF83-8A3F-B6C0-23D6FD3FB911}"/>
              </a:ext>
            </a:extLst>
          </p:cNvPr>
          <p:cNvSpPr txBox="1"/>
          <p:nvPr/>
        </p:nvSpPr>
        <p:spPr>
          <a:xfrm>
            <a:off x="4508500" y="3581400"/>
            <a:ext cx="3429000" cy="228600"/>
          </a:xfrm>
          <a:prstGeom prst="rect">
            <a:avLst/>
          </a:prstGeom>
          <a:noFill/>
        </p:spPr>
        <p:txBody>
          <a:bodyPr vert="horz" wrap="square" lIns="0" tIns="0" rIns="0" bIns="0" rtlCol="0" anchor="t">
            <a:noAutofit/>
          </a:bodyPr>
          <a:lstStyle/>
          <a:p>
            <a:r>
              <a:rPr lang="en-US" sz="1200" i="1">
                <a:solidFill>
                  <a:srgbClr val="5B6475"/>
                </a:solidFill>
                <a:latin typeface="Calibri" panose="020F0502020204030204" pitchFamily="34" charset="0"/>
              </a:rPr>
              <a:t>All under 45 hours; finish slips to week 9</a:t>
            </a:r>
          </a:p>
        </p:txBody>
      </p:sp>
      <p:sp>
        <p:nvSpPr>
          <p:cNvPr id="36" name="TextBox 35">
            <a:extLst>
              <a:ext uri="{FF2B5EF4-FFF2-40B4-BE49-F238E27FC236}">
                <a16:creationId xmlns:a16="http://schemas.microsoft.com/office/drawing/2014/main" id="{11EDDEDC-F33B-B0BE-8DC8-79A78B56CB14}"/>
              </a:ext>
            </a:extLst>
          </p:cNvPr>
          <p:cNvSpPr txBox="1"/>
          <p:nvPr/>
        </p:nvSpPr>
        <p:spPr>
          <a:xfrm>
            <a:off x="8509000" y="1320800"/>
            <a:ext cx="3429000" cy="228600"/>
          </a:xfrm>
          <a:prstGeom prst="rect">
            <a:avLst/>
          </a:prstGeom>
          <a:noFill/>
        </p:spPr>
        <p:txBody>
          <a:bodyPr vert="horz" wrap="square" lIns="0" tIns="0" rIns="0" bIns="0" rtlCol="0" anchor="t">
            <a:noAutofit/>
          </a:bodyPr>
          <a:lstStyle/>
          <a:p>
            <a:r>
              <a:rPr lang="en-US" sz="1300" b="1">
                <a:solidFill>
                  <a:srgbClr val="14213D"/>
                </a:solidFill>
                <a:latin typeface="Calibri" panose="020F0502020204030204" pitchFamily="34" charset="0"/>
              </a:rPr>
              <a:t>After resource smoothing</a:t>
            </a:r>
          </a:p>
        </p:txBody>
      </p:sp>
      <p:cxnSp>
        <p:nvCxnSpPr>
          <p:cNvPr id="37" name="Straight Connector 36">
            <a:extLst>
              <a:ext uri="{FF2B5EF4-FFF2-40B4-BE49-F238E27FC236}">
                <a16:creationId xmlns:a16="http://schemas.microsoft.com/office/drawing/2014/main" id="{6D8CC703-3344-CDED-99F3-0810ED944300}"/>
              </a:ext>
            </a:extLst>
          </p:cNvPr>
          <p:cNvCxnSpPr/>
          <p:nvPr/>
        </p:nvCxnSpPr>
        <p:spPr>
          <a:xfrm>
            <a:off x="8509000" y="1524000"/>
            <a:ext cx="0" cy="1854200"/>
          </a:xfrm>
          <a:prstGeom prst="line">
            <a:avLst/>
          </a:prstGeom>
          <a:ln w="12700">
            <a:solidFill>
              <a:srgbClr val="5B6475"/>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CE0C12EA-3276-4894-463A-A7AD2A00B145}"/>
              </a:ext>
            </a:extLst>
          </p:cNvPr>
          <p:cNvCxnSpPr/>
          <p:nvPr/>
        </p:nvCxnSpPr>
        <p:spPr>
          <a:xfrm>
            <a:off x="8509000" y="3378200"/>
            <a:ext cx="3175000" cy="0"/>
          </a:xfrm>
          <a:prstGeom prst="line">
            <a:avLst/>
          </a:prstGeom>
          <a:ln w="12700">
            <a:solidFill>
              <a:srgbClr val="5B6475"/>
            </a:solidFill>
          </a:ln>
        </p:spPr>
        <p:style>
          <a:lnRef idx="2">
            <a:schemeClr val="accent1"/>
          </a:lnRef>
          <a:fillRef idx="0">
            <a:schemeClr val="accent1"/>
          </a:fillRef>
          <a:effectRef idx="1">
            <a:schemeClr val="accent1"/>
          </a:effectRef>
          <a:fontRef idx="minor">
            <a:schemeClr val="tx1"/>
          </a:fontRef>
        </p:style>
      </p:cxnSp>
      <p:sp>
        <p:nvSpPr>
          <p:cNvPr id="39" name="Rectangle 38">
            <a:extLst>
              <a:ext uri="{FF2B5EF4-FFF2-40B4-BE49-F238E27FC236}">
                <a16:creationId xmlns:a16="http://schemas.microsoft.com/office/drawing/2014/main" id="{B1AFA846-C639-6B21-E72C-80FE51AEB3D0}"/>
              </a:ext>
            </a:extLst>
          </p:cNvPr>
          <p:cNvSpPr/>
          <p:nvPr/>
        </p:nvSpPr>
        <p:spPr>
          <a:xfrm>
            <a:off x="8534400" y="2280920"/>
            <a:ext cx="314678" cy="1097280"/>
          </a:xfrm>
          <a:prstGeom prst="rect">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B9875E7C-1F9C-8E97-115D-F57B093A40AE}"/>
              </a:ext>
            </a:extLst>
          </p:cNvPr>
          <p:cNvSpPr/>
          <p:nvPr/>
        </p:nvSpPr>
        <p:spPr>
          <a:xfrm>
            <a:off x="8887178" y="2219960"/>
            <a:ext cx="314677" cy="1158240"/>
          </a:xfrm>
          <a:prstGeom prst="rect">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39DBCC9F-4A01-70E8-C6AB-1F98B61F7B17}"/>
              </a:ext>
            </a:extLst>
          </p:cNvPr>
          <p:cNvSpPr/>
          <p:nvPr/>
        </p:nvSpPr>
        <p:spPr>
          <a:xfrm>
            <a:off x="9239955" y="2311400"/>
            <a:ext cx="314678" cy="1066800"/>
          </a:xfrm>
          <a:prstGeom prst="rect">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6896416E-4A9A-349C-DEF3-9B84E2694507}"/>
              </a:ext>
            </a:extLst>
          </p:cNvPr>
          <p:cNvSpPr/>
          <p:nvPr/>
        </p:nvSpPr>
        <p:spPr>
          <a:xfrm>
            <a:off x="9592733" y="2341880"/>
            <a:ext cx="314678" cy="1036320"/>
          </a:xfrm>
          <a:prstGeom prst="rect">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08C7ADF9-2C65-BC58-5D43-81757FCE87F7}"/>
              </a:ext>
            </a:extLst>
          </p:cNvPr>
          <p:cNvSpPr/>
          <p:nvPr/>
        </p:nvSpPr>
        <p:spPr>
          <a:xfrm>
            <a:off x="9945511" y="2372360"/>
            <a:ext cx="314677" cy="1005840"/>
          </a:xfrm>
          <a:prstGeom prst="rect">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211431BC-F30C-9DAF-BEE9-FD14354DC472}"/>
              </a:ext>
            </a:extLst>
          </p:cNvPr>
          <p:cNvSpPr/>
          <p:nvPr/>
        </p:nvSpPr>
        <p:spPr>
          <a:xfrm>
            <a:off x="10298289" y="2402840"/>
            <a:ext cx="314678" cy="975360"/>
          </a:xfrm>
          <a:prstGeom prst="rect">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70D3CBA1-A18A-D995-57B9-96065D1FC556}"/>
              </a:ext>
            </a:extLst>
          </p:cNvPr>
          <p:cNvSpPr/>
          <p:nvPr/>
        </p:nvSpPr>
        <p:spPr>
          <a:xfrm>
            <a:off x="10651067" y="2311400"/>
            <a:ext cx="314678" cy="1066800"/>
          </a:xfrm>
          <a:prstGeom prst="rect">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C337433C-2580-7E38-4E59-F328669B8C24}"/>
              </a:ext>
            </a:extLst>
          </p:cNvPr>
          <p:cNvSpPr/>
          <p:nvPr/>
        </p:nvSpPr>
        <p:spPr>
          <a:xfrm>
            <a:off x="11003845" y="2402840"/>
            <a:ext cx="314677" cy="975360"/>
          </a:xfrm>
          <a:prstGeom prst="rect">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30D44BD1-511F-6377-44BF-D76D96826A45}"/>
              </a:ext>
            </a:extLst>
          </p:cNvPr>
          <p:cNvSpPr/>
          <p:nvPr/>
        </p:nvSpPr>
        <p:spPr>
          <a:xfrm>
            <a:off x="11356622" y="2433320"/>
            <a:ext cx="314678" cy="944880"/>
          </a:xfrm>
          <a:prstGeom prst="rect">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Connector 47">
            <a:extLst>
              <a:ext uri="{FF2B5EF4-FFF2-40B4-BE49-F238E27FC236}">
                <a16:creationId xmlns:a16="http://schemas.microsoft.com/office/drawing/2014/main" id="{7B4B2C59-4DCB-AB69-8B3B-866EED830BD9}"/>
              </a:ext>
            </a:extLst>
          </p:cNvPr>
          <p:cNvCxnSpPr/>
          <p:nvPr/>
        </p:nvCxnSpPr>
        <p:spPr>
          <a:xfrm>
            <a:off x="8509000" y="2006600"/>
            <a:ext cx="3175000" cy="0"/>
          </a:xfrm>
          <a:prstGeom prst="line">
            <a:avLst/>
          </a:prstGeom>
          <a:ln w="19050">
            <a:solidFill>
              <a:srgbClr val="C0392B"/>
            </a:solidFill>
            <a:prstDash val="dash"/>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025B83F6-F310-13D5-D37D-61BB9A21E39C}"/>
              </a:ext>
            </a:extLst>
          </p:cNvPr>
          <p:cNvSpPr txBox="1"/>
          <p:nvPr/>
        </p:nvSpPr>
        <p:spPr>
          <a:xfrm>
            <a:off x="11125200" y="1790700"/>
            <a:ext cx="558800" cy="177800"/>
          </a:xfrm>
          <a:prstGeom prst="rect">
            <a:avLst/>
          </a:prstGeom>
          <a:noFill/>
        </p:spPr>
        <p:txBody>
          <a:bodyPr vert="horz" wrap="square" lIns="0" tIns="0" rIns="0" bIns="0" rtlCol="0" anchor="t">
            <a:noAutofit/>
          </a:bodyPr>
          <a:lstStyle/>
          <a:p>
            <a:pPr algn="r"/>
            <a:r>
              <a:rPr lang="en-US" sz="1000" b="1">
                <a:solidFill>
                  <a:srgbClr val="C0392B"/>
                </a:solidFill>
                <a:latin typeface="Calibri" panose="020F0502020204030204" pitchFamily="34" charset="0"/>
              </a:rPr>
              <a:t>45 hrs</a:t>
            </a:r>
          </a:p>
        </p:txBody>
      </p:sp>
      <p:sp>
        <p:nvSpPr>
          <p:cNvPr id="50" name="TextBox 49">
            <a:extLst>
              <a:ext uri="{FF2B5EF4-FFF2-40B4-BE49-F238E27FC236}">
                <a16:creationId xmlns:a16="http://schemas.microsoft.com/office/drawing/2014/main" id="{A55BB99B-7EC3-F776-7EF5-1AF348A7F644}"/>
              </a:ext>
            </a:extLst>
          </p:cNvPr>
          <p:cNvSpPr txBox="1"/>
          <p:nvPr/>
        </p:nvSpPr>
        <p:spPr>
          <a:xfrm>
            <a:off x="8509000" y="3403600"/>
            <a:ext cx="381000" cy="1778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W1</a:t>
            </a:r>
          </a:p>
        </p:txBody>
      </p:sp>
      <p:sp>
        <p:nvSpPr>
          <p:cNvPr id="51" name="TextBox 50">
            <a:extLst>
              <a:ext uri="{FF2B5EF4-FFF2-40B4-BE49-F238E27FC236}">
                <a16:creationId xmlns:a16="http://schemas.microsoft.com/office/drawing/2014/main" id="{96910B5B-15BB-322D-CE58-B4CEE33CCEEB}"/>
              </a:ext>
            </a:extLst>
          </p:cNvPr>
          <p:cNvSpPr txBox="1"/>
          <p:nvPr/>
        </p:nvSpPr>
        <p:spPr>
          <a:xfrm>
            <a:off x="11305822" y="3403600"/>
            <a:ext cx="431800" cy="1778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W9</a:t>
            </a:r>
          </a:p>
        </p:txBody>
      </p:sp>
      <p:sp>
        <p:nvSpPr>
          <p:cNvPr id="52" name="TextBox 51">
            <a:extLst>
              <a:ext uri="{FF2B5EF4-FFF2-40B4-BE49-F238E27FC236}">
                <a16:creationId xmlns:a16="http://schemas.microsoft.com/office/drawing/2014/main" id="{EFEAAFAE-B778-85D7-3478-B798EC974236}"/>
              </a:ext>
            </a:extLst>
          </p:cNvPr>
          <p:cNvSpPr txBox="1"/>
          <p:nvPr/>
        </p:nvSpPr>
        <p:spPr>
          <a:xfrm>
            <a:off x="8509000" y="3581400"/>
            <a:ext cx="3429000" cy="228600"/>
          </a:xfrm>
          <a:prstGeom prst="rect">
            <a:avLst/>
          </a:prstGeom>
          <a:noFill/>
        </p:spPr>
        <p:txBody>
          <a:bodyPr vert="horz" wrap="square" lIns="0" tIns="0" rIns="0" bIns="0" rtlCol="0" anchor="t">
            <a:noAutofit/>
          </a:bodyPr>
          <a:lstStyle/>
          <a:p>
            <a:r>
              <a:rPr lang="en-US" sz="1200" i="1">
                <a:solidFill>
                  <a:srgbClr val="5B6475"/>
                </a:solidFill>
                <a:latin typeface="Calibri" panose="020F0502020204030204" pitchFamily="34" charset="0"/>
              </a:rPr>
              <a:t>Peaks evened out within float; finish holds</a:t>
            </a:r>
          </a:p>
        </p:txBody>
      </p:sp>
      <p:sp>
        <p:nvSpPr>
          <p:cNvPr id="53" name="Rectangle: Rounded Corners 52">
            <a:extLst>
              <a:ext uri="{FF2B5EF4-FFF2-40B4-BE49-F238E27FC236}">
                <a16:creationId xmlns:a16="http://schemas.microsoft.com/office/drawing/2014/main" id="{F82A02CD-DAEF-3FC2-5C37-EC3A974905F7}"/>
              </a:ext>
            </a:extLst>
          </p:cNvPr>
          <p:cNvSpPr/>
          <p:nvPr/>
        </p:nvSpPr>
        <p:spPr>
          <a:xfrm>
            <a:off x="508000" y="3886200"/>
            <a:ext cx="5461000" cy="1473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09AA83A0-A2B1-47DA-9E38-F52E774FC509}"/>
              </a:ext>
            </a:extLst>
          </p:cNvPr>
          <p:cNvSpPr txBox="1"/>
          <p:nvPr/>
        </p:nvSpPr>
        <p:spPr>
          <a:xfrm>
            <a:off x="660400" y="4038600"/>
            <a:ext cx="5156200" cy="11684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Resource leveling</a:t>
            </a:r>
          </a:p>
          <a:p>
            <a:pPr>
              <a:spcAft>
                <a:spcPts val="500"/>
              </a:spcAft>
            </a:pPr>
            <a:r>
              <a:rPr lang="en-US" sz="1300">
                <a:solidFill>
                  <a:srgbClr val="1F2937"/>
                </a:solidFill>
                <a:latin typeface="Calibri" panose="020F0502020204030204" pitchFamily="34" charset="0"/>
              </a:rPr>
              <a:t>Adjusts start and finish dates to fit resource limits, for example an over-allocated or shared resource.</a:t>
            </a:r>
          </a:p>
          <a:p>
            <a:pPr>
              <a:spcAft>
                <a:spcPts val="500"/>
              </a:spcAft>
            </a:pPr>
            <a:r>
              <a:rPr lang="en-US" sz="1300" b="1">
                <a:solidFill>
                  <a:srgbClr val="14213D"/>
                </a:solidFill>
                <a:latin typeface="Calibri" panose="020F0502020204030204" pitchFamily="34" charset="0"/>
              </a:rPr>
              <a:t>Effect:</a:t>
            </a:r>
            <a:r>
              <a:rPr lang="en-US" sz="1300">
                <a:solidFill>
                  <a:srgbClr val="1F2937"/>
                </a:solidFill>
                <a:latin typeface="Calibri" panose="020F0502020204030204" pitchFamily="34" charset="0"/>
              </a:rPr>
              <a:t> often changes the critical path and extends the finish date.</a:t>
            </a:r>
          </a:p>
        </p:txBody>
      </p:sp>
      <p:sp>
        <p:nvSpPr>
          <p:cNvPr id="55" name="Rectangle: Rounded Corners 54">
            <a:extLst>
              <a:ext uri="{FF2B5EF4-FFF2-40B4-BE49-F238E27FC236}">
                <a16:creationId xmlns:a16="http://schemas.microsoft.com/office/drawing/2014/main" id="{DF64EB80-3A01-111B-A9CB-9B86516C8C8F}"/>
              </a:ext>
            </a:extLst>
          </p:cNvPr>
          <p:cNvSpPr/>
          <p:nvPr/>
        </p:nvSpPr>
        <p:spPr>
          <a:xfrm>
            <a:off x="6223000" y="3886200"/>
            <a:ext cx="5461000" cy="14732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2FA5E72E-D69A-64EE-2439-4E58E04CC534}"/>
              </a:ext>
            </a:extLst>
          </p:cNvPr>
          <p:cNvSpPr txBox="1"/>
          <p:nvPr/>
        </p:nvSpPr>
        <p:spPr>
          <a:xfrm>
            <a:off x="6375400" y="4038600"/>
            <a:ext cx="5156200" cy="1168400"/>
          </a:xfrm>
          <a:prstGeom prst="rect">
            <a:avLst/>
          </a:prstGeom>
          <a:noFill/>
        </p:spPr>
        <p:txBody>
          <a:bodyPr vert="horz" wrap="square" lIns="0" tIns="0" rIns="0" bIns="0" rtlCol="0" anchor="t">
            <a:noAutofit/>
          </a:bodyPr>
          <a:lstStyle/>
          <a:p>
            <a:pPr>
              <a:spcAft>
                <a:spcPts val="600"/>
              </a:spcAft>
            </a:pPr>
            <a:r>
              <a:rPr lang="en-US" sz="1500" b="1">
                <a:solidFill>
                  <a:srgbClr val="0F7C80"/>
                </a:solidFill>
                <a:latin typeface="Calibri" panose="020F0502020204030204" pitchFamily="34" charset="0"/>
              </a:rPr>
              <a:t>Resource smoothing</a:t>
            </a:r>
          </a:p>
          <a:p>
            <a:pPr>
              <a:spcAft>
                <a:spcPts val="500"/>
              </a:spcAft>
            </a:pPr>
            <a:r>
              <a:rPr lang="en-US" sz="1300">
                <a:solidFill>
                  <a:srgbClr val="1F2937"/>
                </a:solidFill>
                <a:latin typeface="Calibri" panose="020F0502020204030204" pitchFamily="34" charset="0"/>
              </a:rPr>
              <a:t>Moves activities only within their free and total float.</a:t>
            </a:r>
          </a:p>
          <a:p>
            <a:pPr>
              <a:spcAft>
                <a:spcPts val="500"/>
              </a:spcAft>
            </a:pPr>
            <a:r>
              <a:rPr lang="en-US" sz="1300" b="1">
                <a:solidFill>
                  <a:srgbClr val="14213D"/>
                </a:solidFill>
                <a:latin typeface="Calibri" panose="020F0502020204030204" pitchFamily="34" charset="0"/>
              </a:rPr>
              <a:t>Effect:</a:t>
            </a:r>
            <a:r>
              <a:rPr lang="en-US" sz="1300">
                <a:solidFill>
                  <a:srgbClr val="1F2937"/>
                </a:solidFill>
                <a:latin typeface="Calibri" panose="020F0502020204030204" pitchFamily="34" charset="0"/>
              </a:rPr>
              <a:t> the critical path and finish date do not change, but not every peak may be removed.</a:t>
            </a:r>
          </a:p>
        </p:txBody>
      </p:sp>
      <p:sp>
        <p:nvSpPr>
          <p:cNvPr id="57" name="Rectangle: Rounded Corners 56">
            <a:extLst>
              <a:ext uri="{FF2B5EF4-FFF2-40B4-BE49-F238E27FC236}">
                <a16:creationId xmlns:a16="http://schemas.microsoft.com/office/drawing/2014/main" id="{5238840B-10D7-4903-9293-CFEE064EF8F1}"/>
              </a:ext>
            </a:extLst>
          </p:cNvPr>
          <p:cNvSpPr/>
          <p:nvPr/>
        </p:nvSpPr>
        <p:spPr>
          <a:xfrm>
            <a:off x="508000" y="5486400"/>
            <a:ext cx="11176000" cy="838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F7658C3E-2775-5472-1059-496CFA0C0B31}"/>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a fixed end date, or ‘don’t change the critical path’, points to smoothing. An over-allocated or shared resource that must be fixed points to leveling, even if the schedule slips.</a:t>
            </a:r>
          </a:p>
        </p:txBody>
      </p:sp>
      <p:sp>
        <p:nvSpPr>
          <p:cNvPr id="59" name="Footer">
            <a:extLst>
              <a:ext uri="{FF2B5EF4-FFF2-40B4-BE49-F238E27FC236}">
                <a16:creationId xmlns:a16="http://schemas.microsoft.com/office/drawing/2014/main" id="{ED97921B-BF75-6A8F-6CC4-8DB987340D29}"/>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Section 6.5.2.3 (resource optimization); adapted from PMI course material</a:t>
            </a:r>
          </a:p>
        </p:txBody>
      </p:sp>
      <p:sp>
        <p:nvSpPr>
          <p:cNvPr id="60" name="SlideNum">
            <a:extLst>
              <a:ext uri="{FF2B5EF4-FFF2-40B4-BE49-F238E27FC236}">
                <a16:creationId xmlns:a16="http://schemas.microsoft.com/office/drawing/2014/main" id="{6CE57D5B-849A-EBC6-FC67-6C362F5137C8}"/>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40</a:t>
            </a:r>
          </a:p>
        </p:txBody>
      </p:sp>
      <p:sp>
        <p:nvSpPr>
          <p:cNvPr id="61"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4596238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804577F-32FB-ABB9-09E3-3BA9D21581E3}"/>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Presenting the schedule: Gantt and milestone charts</a:t>
            </a:r>
          </a:p>
        </p:txBody>
      </p:sp>
      <p:sp>
        <p:nvSpPr>
          <p:cNvPr id="3" name="Tag">
            <a:extLst>
              <a:ext uri="{FF2B5EF4-FFF2-40B4-BE49-F238E27FC236}">
                <a16:creationId xmlns:a16="http://schemas.microsoft.com/office/drawing/2014/main" id="{01A53CCD-71A2-422A-A763-8A0911D469AC}"/>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8 (Plan and manage schedule) and Task 9 (Communicate project status)</a:t>
            </a:r>
          </a:p>
        </p:txBody>
      </p:sp>
      <p:sp>
        <p:nvSpPr>
          <p:cNvPr id="4" name="TextBox 3">
            <a:extLst>
              <a:ext uri="{FF2B5EF4-FFF2-40B4-BE49-F238E27FC236}">
                <a16:creationId xmlns:a16="http://schemas.microsoft.com/office/drawing/2014/main" id="{8B9E40B8-ABD1-F972-A034-E9909FADD93C}"/>
              </a:ext>
            </a:extLst>
          </p:cNvPr>
          <p:cNvSpPr txBox="1"/>
          <p:nvPr/>
        </p:nvSpPr>
        <p:spPr>
          <a:xfrm>
            <a:off x="508000" y="1320800"/>
            <a:ext cx="1333500" cy="203200"/>
          </a:xfrm>
          <a:prstGeom prst="rect">
            <a:avLst/>
          </a:prstGeom>
          <a:noFill/>
        </p:spPr>
        <p:txBody>
          <a:bodyPr vert="horz" wrap="square" lIns="0" tIns="0" rIns="0" bIns="0" rtlCol="0" anchor="t">
            <a:noAutofit/>
          </a:bodyPr>
          <a:lstStyle/>
          <a:p>
            <a:r>
              <a:rPr lang="en-US" sz="1200" b="1">
                <a:solidFill>
                  <a:srgbClr val="14213D"/>
                </a:solidFill>
                <a:latin typeface="Calibri" panose="020F0502020204030204" pitchFamily="34" charset="0"/>
              </a:rPr>
              <a:t>Gantt (bar) chart</a:t>
            </a:r>
          </a:p>
        </p:txBody>
      </p:sp>
      <p:cxnSp>
        <p:nvCxnSpPr>
          <p:cNvPr id="6" name="Straight Connector 5">
            <a:extLst>
              <a:ext uri="{FF2B5EF4-FFF2-40B4-BE49-F238E27FC236}">
                <a16:creationId xmlns:a16="http://schemas.microsoft.com/office/drawing/2014/main" id="{3D76289B-B24C-F1A1-20E9-295C47CFC788}"/>
              </a:ext>
            </a:extLst>
          </p:cNvPr>
          <p:cNvCxnSpPr/>
          <p:nvPr/>
        </p:nvCxnSpPr>
        <p:spPr>
          <a:xfrm>
            <a:off x="1905000" y="1320800"/>
            <a:ext cx="0" cy="18796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E5EC1178-8D9C-AA23-33AA-D8C1FE590803}"/>
              </a:ext>
            </a:extLst>
          </p:cNvPr>
          <p:cNvSpPr txBox="1"/>
          <p:nvPr/>
        </p:nvSpPr>
        <p:spPr>
          <a:xfrm>
            <a:off x="1879600" y="1320800"/>
            <a:ext cx="304800" cy="177800"/>
          </a:xfrm>
          <a:prstGeom prst="rect">
            <a:avLst/>
          </a:prstGeom>
          <a:noFill/>
        </p:spPr>
        <p:txBody>
          <a:bodyPr vert="horz" wrap="square" lIns="0" tIns="0" rIns="0" bIns="0" rtlCol="0" anchor="t">
            <a:noAutofit/>
          </a:bodyPr>
          <a:lstStyle/>
          <a:p>
            <a:r>
              <a:rPr lang="en-US" sz="900">
                <a:solidFill>
                  <a:srgbClr val="5B6475"/>
                </a:solidFill>
                <a:latin typeface="Calibri" panose="020F0502020204030204" pitchFamily="34" charset="0"/>
              </a:rPr>
              <a:t>0</a:t>
            </a:r>
          </a:p>
        </p:txBody>
      </p:sp>
      <p:cxnSp>
        <p:nvCxnSpPr>
          <p:cNvPr id="8" name="Straight Connector 7">
            <a:extLst>
              <a:ext uri="{FF2B5EF4-FFF2-40B4-BE49-F238E27FC236}">
                <a16:creationId xmlns:a16="http://schemas.microsoft.com/office/drawing/2014/main" id="{4ACDA0BD-14D2-AF9B-EB9A-7599282C3E83}"/>
              </a:ext>
            </a:extLst>
          </p:cNvPr>
          <p:cNvCxnSpPr/>
          <p:nvPr/>
        </p:nvCxnSpPr>
        <p:spPr>
          <a:xfrm>
            <a:off x="2260600" y="1320800"/>
            <a:ext cx="0" cy="18796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5F5B89B0-E534-DD9D-558D-74F6AF7B04BF}"/>
              </a:ext>
            </a:extLst>
          </p:cNvPr>
          <p:cNvCxnSpPr/>
          <p:nvPr/>
        </p:nvCxnSpPr>
        <p:spPr>
          <a:xfrm>
            <a:off x="2616200" y="1320800"/>
            <a:ext cx="0" cy="18796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222F34E5-5D63-23F9-ED60-D0F78F014F60}"/>
              </a:ext>
            </a:extLst>
          </p:cNvPr>
          <p:cNvSpPr txBox="1"/>
          <p:nvPr/>
        </p:nvSpPr>
        <p:spPr>
          <a:xfrm>
            <a:off x="2590800" y="1320800"/>
            <a:ext cx="304800" cy="177800"/>
          </a:xfrm>
          <a:prstGeom prst="rect">
            <a:avLst/>
          </a:prstGeom>
          <a:noFill/>
        </p:spPr>
        <p:txBody>
          <a:bodyPr vert="horz" wrap="square" lIns="0" tIns="0" rIns="0" bIns="0" rtlCol="0" anchor="t">
            <a:noAutofit/>
          </a:bodyPr>
          <a:lstStyle/>
          <a:p>
            <a:r>
              <a:rPr lang="en-US" sz="900">
                <a:solidFill>
                  <a:srgbClr val="5B6475"/>
                </a:solidFill>
                <a:latin typeface="Calibri" panose="020F0502020204030204" pitchFamily="34" charset="0"/>
              </a:rPr>
              <a:t>2</a:t>
            </a:r>
          </a:p>
        </p:txBody>
      </p:sp>
      <p:cxnSp>
        <p:nvCxnSpPr>
          <p:cNvPr id="11" name="Straight Connector 10">
            <a:extLst>
              <a:ext uri="{FF2B5EF4-FFF2-40B4-BE49-F238E27FC236}">
                <a16:creationId xmlns:a16="http://schemas.microsoft.com/office/drawing/2014/main" id="{2C8A58C7-DE27-3B94-F74F-E6F1BA20D6D1}"/>
              </a:ext>
            </a:extLst>
          </p:cNvPr>
          <p:cNvCxnSpPr/>
          <p:nvPr/>
        </p:nvCxnSpPr>
        <p:spPr>
          <a:xfrm>
            <a:off x="2971800" y="1320800"/>
            <a:ext cx="0" cy="18796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9A5B5174-18F0-DF28-5136-82001553D3AE}"/>
              </a:ext>
            </a:extLst>
          </p:cNvPr>
          <p:cNvCxnSpPr/>
          <p:nvPr/>
        </p:nvCxnSpPr>
        <p:spPr>
          <a:xfrm>
            <a:off x="3327400" y="1320800"/>
            <a:ext cx="0" cy="18796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55C4D339-F437-101D-BD29-893B68C6F605}"/>
              </a:ext>
            </a:extLst>
          </p:cNvPr>
          <p:cNvSpPr txBox="1"/>
          <p:nvPr/>
        </p:nvSpPr>
        <p:spPr>
          <a:xfrm>
            <a:off x="3302000" y="1320800"/>
            <a:ext cx="304800" cy="177800"/>
          </a:xfrm>
          <a:prstGeom prst="rect">
            <a:avLst/>
          </a:prstGeom>
          <a:noFill/>
        </p:spPr>
        <p:txBody>
          <a:bodyPr vert="horz" wrap="square" lIns="0" tIns="0" rIns="0" bIns="0" rtlCol="0" anchor="t">
            <a:noAutofit/>
          </a:bodyPr>
          <a:lstStyle/>
          <a:p>
            <a:r>
              <a:rPr lang="en-US" sz="900">
                <a:solidFill>
                  <a:srgbClr val="5B6475"/>
                </a:solidFill>
                <a:latin typeface="Calibri" panose="020F0502020204030204" pitchFamily="34" charset="0"/>
              </a:rPr>
              <a:t>4</a:t>
            </a:r>
          </a:p>
        </p:txBody>
      </p:sp>
      <p:cxnSp>
        <p:nvCxnSpPr>
          <p:cNvPr id="14" name="Straight Connector 13">
            <a:extLst>
              <a:ext uri="{FF2B5EF4-FFF2-40B4-BE49-F238E27FC236}">
                <a16:creationId xmlns:a16="http://schemas.microsoft.com/office/drawing/2014/main" id="{4F2E9CD1-BE01-0BD0-0617-CD7CF0C0655E}"/>
              </a:ext>
            </a:extLst>
          </p:cNvPr>
          <p:cNvCxnSpPr/>
          <p:nvPr/>
        </p:nvCxnSpPr>
        <p:spPr>
          <a:xfrm>
            <a:off x="3683000" y="1320800"/>
            <a:ext cx="0" cy="18796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BE47432F-7F95-CA8E-AC22-D80E803889AC}"/>
              </a:ext>
            </a:extLst>
          </p:cNvPr>
          <p:cNvCxnSpPr/>
          <p:nvPr/>
        </p:nvCxnSpPr>
        <p:spPr>
          <a:xfrm>
            <a:off x="4038600" y="1320800"/>
            <a:ext cx="0" cy="18796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8034CF30-A6C2-D257-9FDC-06467A0E46EB}"/>
              </a:ext>
            </a:extLst>
          </p:cNvPr>
          <p:cNvSpPr txBox="1"/>
          <p:nvPr/>
        </p:nvSpPr>
        <p:spPr>
          <a:xfrm>
            <a:off x="4013200" y="1320800"/>
            <a:ext cx="304800" cy="177800"/>
          </a:xfrm>
          <a:prstGeom prst="rect">
            <a:avLst/>
          </a:prstGeom>
          <a:noFill/>
        </p:spPr>
        <p:txBody>
          <a:bodyPr vert="horz" wrap="square" lIns="0" tIns="0" rIns="0" bIns="0" rtlCol="0" anchor="t">
            <a:noAutofit/>
          </a:bodyPr>
          <a:lstStyle/>
          <a:p>
            <a:r>
              <a:rPr lang="en-US" sz="900">
                <a:solidFill>
                  <a:srgbClr val="5B6475"/>
                </a:solidFill>
                <a:latin typeface="Calibri" panose="020F0502020204030204" pitchFamily="34" charset="0"/>
              </a:rPr>
              <a:t>6</a:t>
            </a:r>
          </a:p>
        </p:txBody>
      </p:sp>
      <p:cxnSp>
        <p:nvCxnSpPr>
          <p:cNvPr id="17" name="Straight Connector 16">
            <a:extLst>
              <a:ext uri="{FF2B5EF4-FFF2-40B4-BE49-F238E27FC236}">
                <a16:creationId xmlns:a16="http://schemas.microsoft.com/office/drawing/2014/main" id="{15A8D3B7-7DF5-F6A8-1CE5-0F81F7790213}"/>
              </a:ext>
            </a:extLst>
          </p:cNvPr>
          <p:cNvCxnSpPr/>
          <p:nvPr/>
        </p:nvCxnSpPr>
        <p:spPr>
          <a:xfrm>
            <a:off x="4394200" y="1320800"/>
            <a:ext cx="0" cy="18796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D7EFF19C-7F57-B17D-272D-734A49031988}"/>
              </a:ext>
            </a:extLst>
          </p:cNvPr>
          <p:cNvCxnSpPr/>
          <p:nvPr/>
        </p:nvCxnSpPr>
        <p:spPr>
          <a:xfrm>
            <a:off x="4749800" y="1320800"/>
            <a:ext cx="0" cy="18796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A7E52155-3BFB-9A2F-6333-77EC666A9E60}"/>
              </a:ext>
            </a:extLst>
          </p:cNvPr>
          <p:cNvSpPr txBox="1"/>
          <p:nvPr/>
        </p:nvSpPr>
        <p:spPr>
          <a:xfrm>
            <a:off x="4724400" y="1320800"/>
            <a:ext cx="304800" cy="177800"/>
          </a:xfrm>
          <a:prstGeom prst="rect">
            <a:avLst/>
          </a:prstGeom>
          <a:noFill/>
        </p:spPr>
        <p:txBody>
          <a:bodyPr vert="horz" wrap="square" lIns="0" tIns="0" rIns="0" bIns="0" rtlCol="0" anchor="t">
            <a:noAutofit/>
          </a:bodyPr>
          <a:lstStyle/>
          <a:p>
            <a:r>
              <a:rPr lang="en-US" sz="900">
                <a:solidFill>
                  <a:srgbClr val="5B6475"/>
                </a:solidFill>
                <a:latin typeface="Calibri" panose="020F0502020204030204" pitchFamily="34" charset="0"/>
              </a:rPr>
              <a:t>8</a:t>
            </a:r>
          </a:p>
        </p:txBody>
      </p:sp>
      <p:cxnSp>
        <p:nvCxnSpPr>
          <p:cNvPr id="20" name="Straight Connector 19">
            <a:extLst>
              <a:ext uri="{FF2B5EF4-FFF2-40B4-BE49-F238E27FC236}">
                <a16:creationId xmlns:a16="http://schemas.microsoft.com/office/drawing/2014/main" id="{2536DBD4-1BD9-4BF8-D63E-2790C4321BF5}"/>
              </a:ext>
            </a:extLst>
          </p:cNvPr>
          <p:cNvCxnSpPr/>
          <p:nvPr/>
        </p:nvCxnSpPr>
        <p:spPr>
          <a:xfrm>
            <a:off x="5105400" y="1320800"/>
            <a:ext cx="0" cy="18796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643F3AE0-86FA-60AB-13E1-6CFDF23CA3C2}"/>
              </a:ext>
            </a:extLst>
          </p:cNvPr>
          <p:cNvCxnSpPr/>
          <p:nvPr/>
        </p:nvCxnSpPr>
        <p:spPr>
          <a:xfrm>
            <a:off x="5461000" y="1320800"/>
            <a:ext cx="0" cy="18796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CB85EE64-C388-865D-7711-F05775DC66A4}"/>
              </a:ext>
            </a:extLst>
          </p:cNvPr>
          <p:cNvSpPr txBox="1"/>
          <p:nvPr/>
        </p:nvSpPr>
        <p:spPr>
          <a:xfrm>
            <a:off x="5435600" y="1320800"/>
            <a:ext cx="304800" cy="177800"/>
          </a:xfrm>
          <a:prstGeom prst="rect">
            <a:avLst/>
          </a:prstGeom>
          <a:noFill/>
        </p:spPr>
        <p:txBody>
          <a:bodyPr vert="horz" wrap="square" lIns="0" tIns="0" rIns="0" bIns="0" rtlCol="0" anchor="t">
            <a:noAutofit/>
          </a:bodyPr>
          <a:lstStyle/>
          <a:p>
            <a:r>
              <a:rPr lang="en-US" sz="900">
                <a:solidFill>
                  <a:srgbClr val="5B6475"/>
                </a:solidFill>
                <a:latin typeface="Calibri" panose="020F0502020204030204" pitchFamily="34" charset="0"/>
              </a:rPr>
              <a:t>10</a:t>
            </a:r>
          </a:p>
        </p:txBody>
      </p:sp>
      <p:cxnSp>
        <p:nvCxnSpPr>
          <p:cNvPr id="23" name="Straight Connector 22">
            <a:extLst>
              <a:ext uri="{FF2B5EF4-FFF2-40B4-BE49-F238E27FC236}">
                <a16:creationId xmlns:a16="http://schemas.microsoft.com/office/drawing/2014/main" id="{8CC4197D-7F44-02BE-4AA9-06681A767086}"/>
              </a:ext>
            </a:extLst>
          </p:cNvPr>
          <p:cNvCxnSpPr/>
          <p:nvPr/>
        </p:nvCxnSpPr>
        <p:spPr>
          <a:xfrm>
            <a:off x="5816600" y="1320800"/>
            <a:ext cx="0" cy="18796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B06C5607-C0A8-B12F-694F-ECDBE59AE785}"/>
              </a:ext>
            </a:extLst>
          </p:cNvPr>
          <p:cNvCxnSpPr/>
          <p:nvPr/>
        </p:nvCxnSpPr>
        <p:spPr>
          <a:xfrm>
            <a:off x="6172200" y="1320800"/>
            <a:ext cx="0" cy="18796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3E5F1836-AB71-A64A-5149-C906DDB0B90E}"/>
              </a:ext>
            </a:extLst>
          </p:cNvPr>
          <p:cNvSpPr txBox="1"/>
          <p:nvPr/>
        </p:nvSpPr>
        <p:spPr>
          <a:xfrm>
            <a:off x="6146800" y="1320800"/>
            <a:ext cx="304800" cy="177800"/>
          </a:xfrm>
          <a:prstGeom prst="rect">
            <a:avLst/>
          </a:prstGeom>
          <a:noFill/>
        </p:spPr>
        <p:txBody>
          <a:bodyPr vert="horz" wrap="square" lIns="0" tIns="0" rIns="0" bIns="0" rtlCol="0" anchor="t">
            <a:noAutofit/>
          </a:bodyPr>
          <a:lstStyle/>
          <a:p>
            <a:r>
              <a:rPr lang="en-US" sz="900">
                <a:solidFill>
                  <a:srgbClr val="5B6475"/>
                </a:solidFill>
                <a:latin typeface="Calibri" panose="020F0502020204030204" pitchFamily="34" charset="0"/>
              </a:rPr>
              <a:t>12</a:t>
            </a:r>
          </a:p>
        </p:txBody>
      </p:sp>
      <p:cxnSp>
        <p:nvCxnSpPr>
          <p:cNvPr id="26" name="Straight Connector 25">
            <a:extLst>
              <a:ext uri="{FF2B5EF4-FFF2-40B4-BE49-F238E27FC236}">
                <a16:creationId xmlns:a16="http://schemas.microsoft.com/office/drawing/2014/main" id="{841CC213-7AD9-12F7-A9FA-BD60F9F0BED6}"/>
              </a:ext>
            </a:extLst>
          </p:cNvPr>
          <p:cNvCxnSpPr/>
          <p:nvPr/>
        </p:nvCxnSpPr>
        <p:spPr>
          <a:xfrm>
            <a:off x="6527800" y="1320800"/>
            <a:ext cx="0" cy="18796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AD959E4-53EC-ABB5-5A1C-62A8BE626B61}"/>
              </a:ext>
            </a:extLst>
          </p:cNvPr>
          <p:cNvCxnSpPr/>
          <p:nvPr/>
        </p:nvCxnSpPr>
        <p:spPr>
          <a:xfrm>
            <a:off x="6883400" y="1320800"/>
            <a:ext cx="0" cy="18796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49337197-D0B1-CEF1-94EA-9D9BA01E57B1}"/>
              </a:ext>
            </a:extLst>
          </p:cNvPr>
          <p:cNvSpPr txBox="1"/>
          <p:nvPr/>
        </p:nvSpPr>
        <p:spPr>
          <a:xfrm>
            <a:off x="6858000" y="1320800"/>
            <a:ext cx="304800" cy="177800"/>
          </a:xfrm>
          <a:prstGeom prst="rect">
            <a:avLst/>
          </a:prstGeom>
          <a:noFill/>
        </p:spPr>
        <p:txBody>
          <a:bodyPr vert="horz" wrap="square" lIns="0" tIns="0" rIns="0" bIns="0" rtlCol="0" anchor="t">
            <a:noAutofit/>
          </a:bodyPr>
          <a:lstStyle/>
          <a:p>
            <a:r>
              <a:rPr lang="en-US" sz="900">
                <a:solidFill>
                  <a:srgbClr val="5B6475"/>
                </a:solidFill>
                <a:latin typeface="Calibri" panose="020F0502020204030204" pitchFamily="34" charset="0"/>
              </a:rPr>
              <a:t>14</a:t>
            </a:r>
          </a:p>
        </p:txBody>
      </p:sp>
      <p:cxnSp>
        <p:nvCxnSpPr>
          <p:cNvPr id="29" name="Straight Connector 28">
            <a:extLst>
              <a:ext uri="{FF2B5EF4-FFF2-40B4-BE49-F238E27FC236}">
                <a16:creationId xmlns:a16="http://schemas.microsoft.com/office/drawing/2014/main" id="{2556F210-ADF7-15AE-20CB-80986DAE3B9B}"/>
              </a:ext>
            </a:extLst>
          </p:cNvPr>
          <p:cNvCxnSpPr/>
          <p:nvPr/>
        </p:nvCxnSpPr>
        <p:spPr>
          <a:xfrm>
            <a:off x="7239000" y="1320800"/>
            <a:ext cx="0" cy="18796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C7F5A1F9-3B77-DA13-93F4-7973A2524579}"/>
              </a:ext>
            </a:extLst>
          </p:cNvPr>
          <p:cNvCxnSpPr/>
          <p:nvPr/>
        </p:nvCxnSpPr>
        <p:spPr>
          <a:xfrm>
            <a:off x="7594600" y="1320800"/>
            <a:ext cx="0" cy="18796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481CB4F6-AB1D-2078-2079-4FEE5A3B79CE}"/>
              </a:ext>
            </a:extLst>
          </p:cNvPr>
          <p:cNvSpPr txBox="1"/>
          <p:nvPr/>
        </p:nvSpPr>
        <p:spPr>
          <a:xfrm>
            <a:off x="7518400" y="1320800"/>
            <a:ext cx="304800" cy="177800"/>
          </a:xfrm>
          <a:prstGeom prst="rect">
            <a:avLst/>
          </a:prstGeom>
          <a:noFill/>
        </p:spPr>
        <p:txBody>
          <a:bodyPr vert="horz" wrap="square" lIns="0" tIns="0" rIns="0" bIns="0" rtlCol="0" anchor="t">
            <a:noAutofit/>
          </a:bodyPr>
          <a:lstStyle/>
          <a:p>
            <a:r>
              <a:rPr lang="en-US" sz="900">
                <a:solidFill>
                  <a:srgbClr val="5B6475"/>
                </a:solidFill>
                <a:latin typeface="Calibri" panose="020F0502020204030204" pitchFamily="34" charset="0"/>
              </a:rPr>
              <a:t>16</a:t>
            </a:r>
          </a:p>
        </p:txBody>
      </p:sp>
      <p:sp>
        <p:nvSpPr>
          <p:cNvPr id="32" name="TextBox 31">
            <a:extLst>
              <a:ext uri="{FF2B5EF4-FFF2-40B4-BE49-F238E27FC236}">
                <a16:creationId xmlns:a16="http://schemas.microsoft.com/office/drawing/2014/main" id="{CDEF8007-A763-6FDD-DA71-69BD782957AA}"/>
              </a:ext>
            </a:extLst>
          </p:cNvPr>
          <p:cNvSpPr txBox="1"/>
          <p:nvPr/>
        </p:nvSpPr>
        <p:spPr>
          <a:xfrm>
            <a:off x="508000" y="1587500"/>
            <a:ext cx="1333500" cy="203200"/>
          </a:xfrm>
          <a:prstGeom prst="rect">
            <a:avLst/>
          </a:prstGeom>
          <a:noFill/>
        </p:spPr>
        <p:txBody>
          <a:bodyPr vert="horz" wrap="square" lIns="0" tIns="0" rIns="0" bIns="0" rtlCol="0" anchor="t">
            <a:noAutofit/>
          </a:bodyPr>
          <a:lstStyle/>
          <a:p>
            <a:r>
              <a:rPr lang="en-US" sz="1100">
                <a:solidFill>
                  <a:srgbClr val="1F2937"/>
                </a:solidFill>
                <a:latin typeface="Calibri" panose="020F0502020204030204" pitchFamily="34" charset="0"/>
              </a:rPr>
              <a:t>Activity 1</a:t>
            </a:r>
          </a:p>
        </p:txBody>
      </p:sp>
      <p:sp>
        <p:nvSpPr>
          <p:cNvPr id="33" name="Rectangle 32">
            <a:extLst>
              <a:ext uri="{FF2B5EF4-FFF2-40B4-BE49-F238E27FC236}">
                <a16:creationId xmlns:a16="http://schemas.microsoft.com/office/drawing/2014/main" id="{8823359D-A7EE-AD10-497B-9F809179326E}"/>
              </a:ext>
            </a:extLst>
          </p:cNvPr>
          <p:cNvSpPr/>
          <p:nvPr/>
        </p:nvSpPr>
        <p:spPr>
          <a:xfrm>
            <a:off x="1905000" y="1612900"/>
            <a:ext cx="2133600" cy="177800"/>
          </a:xfrm>
          <a:prstGeom prst="rect">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900" b="1">
                <a:solidFill>
                  <a:srgbClr val="FFFFFF"/>
                </a:solidFill>
                <a:latin typeface="Calibri" panose="020F0502020204030204" pitchFamily="34" charset="0"/>
              </a:rPr>
              <a:t>6 wk</a:t>
            </a:r>
          </a:p>
        </p:txBody>
      </p:sp>
      <p:sp>
        <p:nvSpPr>
          <p:cNvPr id="34" name="TextBox 33">
            <a:extLst>
              <a:ext uri="{FF2B5EF4-FFF2-40B4-BE49-F238E27FC236}">
                <a16:creationId xmlns:a16="http://schemas.microsoft.com/office/drawing/2014/main" id="{1CD50443-31E7-6FEA-10E0-FFCAA6069E5B}"/>
              </a:ext>
            </a:extLst>
          </p:cNvPr>
          <p:cNvSpPr txBox="1"/>
          <p:nvPr/>
        </p:nvSpPr>
        <p:spPr>
          <a:xfrm>
            <a:off x="508000" y="1866900"/>
            <a:ext cx="1333500" cy="203200"/>
          </a:xfrm>
          <a:prstGeom prst="rect">
            <a:avLst/>
          </a:prstGeom>
          <a:noFill/>
        </p:spPr>
        <p:txBody>
          <a:bodyPr vert="horz" wrap="square" lIns="0" tIns="0" rIns="0" bIns="0" rtlCol="0" anchor="t">
            <a:noAutofit/>
          </a:bodyPr>
          <a:lstStyle/>
          <a:p>
            <a:r>
              <a:rPr lang="en-US" sz="1100">
                <a:solidFill>
                  <a:srgbClr val="1F2937"/>
                </a:solidFill>
                <a:latin typeface="Calibri" panose="020F0502020204030204" pitchFamily="34" charset="0"/>
              </a:rPr>
              <a:t>Activity 2</a:t>
            </a:r>
          </a:p>
        </p:txBody>
      </p:sp>
      <p:sp>
        <p:nvSpPr>
          <p:cNvPr id="35" name="Rectangle 34">
            <a:extLst>
              <a:ext uri="{FF2B5EF4-FFF2-40B4-BE49-F238E27FC236}">
                <a16:creationId xmlns:a16="http://schemas.microsoft.com/office/drawing/2014/main" id="{B2A82E7E-A068-0B28-240F-1F22A52150AD}"/>
              </a:ext>
            </a:extLst>
          </p:cNvPr>
          <p:cNvSpPr/>
          <p:nvPr/>
        </p:nvSpPr>
        <p:spPr>
          <a:xfrm>
            <a:off x="4038600" y="1892300"/>
            <a:ext cx="1422400" cy="17780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900" b="1">
                <a:solidFill>
                  <a:srgbClr val="FFFFFF"/>
                </a:solidFill>
                <a:latin typeface="Calibri" panose="020F0502020204030204" pitchFamily="34" charset="0"/>
              </a:rPr>
              <a:t>4 wk</a:t>
            </a:r>
          </a:p>
        </p:txBody>
      </p:sp>
      <p:sp>
        <p:nvSpPr>
          <p:cNvPr id="36" name="TextBox 35">
            <a:extLst>
              <a:ext uri="{FF2B5EF4-FFF2-40B4-BE49-F238E27FC236}">
                <a16:creationId xmlns:a16="http://schemas.microsoft.com/office/drawing/2014/main" id="{3F81181D-0DE6-9CFD-EFD0-E127107E7A86}"/>
              </a:ext>
            </a:extLst>
          </p:cNvPr>
          <p:cNvSpPr txBox="1"/>
          <p:nvPr/>
        </p:nvSpPr>
        <p:spPr>
          <a:xfrm>
            <a:off x="508000" y="2146300"/>
            <a:ext cx="1333500" cy="203200"/>
          </a:xfrm>
          <a:prstGeom prst="rect">
            <a:avLst/>
          </a:prstGeom>
          <a:noFill/>
        </p:spPr>
        <p:txBody>
          <a:bodyPr vert="horz" wrap="square" lIns="0" tIns="0" rIns="0" bIns="0" rtlCol="0" anchor="t">
            <a:noAutofit/>
          </a:bodyPr>
          <a:lstStyle/>
          <a:p>
            <a:r>
              <a:rPr lang="en-US" sz="1100">
                <a:solidFill>
                  <a:srgbClr val="1F2937"/>
                </a:solidFill>
                <a:latin typeface="Calibri" panose="020F0502020204030204" pitchFamily="34" charset="0"/>
              </a:rPr>
              <a:t>Activity 3</a:t>
            </a:r>
          </a:p>
        </p:txBody>
      </p:sp>
      <p:sp>
        <p:nvSpPr>
          <p:cNvPr id="37" name="Rectangle 36">
            <a:extLst>
              <a:ext uri="{FF2B5EF4-FFF2-40B4-BE49-F238E27FC236}">
                <a16:creationId xmlns:a16="http://schemas.microsoft.com/office/drawing/2014/main" id="{8315B64B-4B40-8AA3-4012-E665E0976026}"/>
              </a:ext>
            </a:extLst>
          </p:cNvPr>
          <p:cNvSpPr/>
          <p:nvPr/>
        </p:nvSpPr>
        <p:spPr>
          <a:xfrm>
            <a:off x="4038600" y="2171700"/>
            <a:ext cx="1778000" cy="177800"/>
          </a:xfrm>
          <a:prstGeom prst="rect">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900" b="1">
                <a:solidFill>
                  <a:srgbClr val="FFFFFF"/>
                </a:solidFill>
                <a:latin typeface="Calibri" panose="020F0502020204030204" pitchFamily="34" charset="0"/>
              </a:rPr>
              <a:t>5 wk</a:t>
            </a:r>
          </a:p>
        </p:txBody>
      </p:sp>
      <p:sp>
        <p:nvSpPr>
          <p:cNvPr id="38" name="TextBox 37">
            <a:extLst>
              <a:ext uri="{FF2B5EF4-FFF2-40B4-BE49-F238E27FC236}">
                <a16:creationId xmlns:a16="http://schemas.microsoft.com/office/drawing/2014/main" id="{BF879546-A2A1-1F43-DEBF-80AAE78DB15F}"/>
              </a:ext>
            </a:extLst>
          </p:cNvPr>
          <p:cNvSpPr txBox="1"/>
          <p:nvPr/>
        </p:nvSpPr>
        <p:spPr>
          <a:xfrm>
            <a:off x="508000" y="2425700"/>
            <a:ext cx="1333500" cy="203200"/>
          </a:xfrm>
          <a:prstGeom prst="rect">
            <a:avLst/>
          </a:prstGeom>
          <a:noFill/>
        </p:spPr>
        <p:txBody>
          <a:bodyPr vert="horz" wrap="square" lIns="0" tIns="0" rIns="0" bIns="0" rtlCol="0" anchor="t">
            <a:noAutofit/>
          </a:bodyPr>
          <a:lstStyle/>
          <a:p>
            <a:r>
              <a:rPr lang="en-US" sz="1100">
                <a:solidFill>
                  <a:srgbClr val="1F2937"/>
                </a:solidFill>
                <a:latin typeface="Calibri" panose="020F0502020204030204" pitchFamily="34" charset="0"/>
              </a:rPr>
              <a:t>Activity 4</a:t>
            </a:r>
          </a:p>
        </p:txBody>
      </p:sp>
      <p:sp>
        <p:nvSpPr>
          <p:cNvPr id="39" name="Rectangle 38">
            <a:extLst>
              <a:ext uri="{FF2B5EF4-FFF2-40B4-BE49-F238E27FC236}">
                <a16:creationId xmlns:a16="http://schemas.microsoft.com/office/drawing/2014/main" id="{C5FDF106-0FA1-6FC3-0B23-4207F8477637}"/>
              </a:ext>
            </a:extLst>
          </p:cNvPr>
          <p:cNvSpPr/>
          <p:nvPr/>
        </p:nvSpPr>
        <p:spPr>
          <a:xfrm>
            <a:off x="5461000" y="2451100"/>
            <a:ext cx="1066800" cy="17780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900" b="1">
                <a:solidFill>
                  <a:srgbClr val="FFFFFF"/>
                </a:solidFill>
                <a:latin typeface="Calibri" panose="020F0502020204030204" pitchFamily="34" charset="0"/>
              </a:rPr>
              <a:t>3 wk</a:t>
            </a:r>
          </a:p>
        </p:txBody>
      </p:sp>
      <p:sp>
        <p:nvSpPr>
          <p:cNvPr id="40" name="TextBox 39">
            <a:extLst>
              <a:ext uri="{FF2B5EF4-FFF2-40B4-BE49-F238E27FC236}">
                <a16:creationId xmlns:a16="http://schemas.microsoft.com/office/drawing/2014/main" id="{F9A55BE5-EC31-6F2A-FAEB-45626973AB87}"/>
              </a:ext>
            </a:extLst>
          </p:cNvPr>
          <p:cNvSpPr txBox="1"/>
          <p:nvPr/>
        </p:nvSpPr>
        <p:spPr>
          <a:xfrm>
            <a:off x="508000" y="2705100"/>
            <a:ext cx="1333500" cy="203200"/>
          </a:xfrm>
          <a:prstGeom prst="rect">
            <a:avLst/>
          </a:prstGeom>
          <a:noFill/>
        </p:spPr>
        <p:txBody>
          <a:bodyPr vert="horz" wrap="square" lIns="0" tIns="0" rIns="0" bIns="0" rtlCol="0" anchor="t">
            <a:noAutofit/>
          </a:bodyPr>
          <a:lstStyle/>
          <a:p>
            <a:r>
              <a:rPr lang="en-US" sz="1100">
                <a:solidFill>
                  <a:srgbClr val="1F2937"/>
                </a:solidFill>
                <a:latin typeface="Calibri" panose="020F0502020204030204" pitchFamily="34" charset="0"/>
              </a:rPr>
              <a:t>Activity 5</a:t>
            </a:r>
          </a:p>
        </p:txBody>
      </p:sp>
      <p:sp>
        <p:nvSpPr>
          <p:cNvPr id="41" name="Rectangle 40">
            <a:extLst>
              <a:ext uri="{FF2B5EF4-FFF2-40B4-BE49-F238E27FC236}">
                <a16:creationId xmlns:a16="http://schemas.microsoft.com/office/drawing/2014/main" id="{F0F7A052-C3E3-9F47-AAE2-D3B8F6435B5F}"/>
              </a:ext>
            </a:extLst>
          </p:cNvPr>
          <p:cNvSpPr/>
          <p:nvPr/>
        </p:nvSpPr>
        <p:spPr>
          <a:xfrm>
            <a:off x="5816600" y="2730500"/>
            <a:ext cx="1422400" cy="177800"/>
          </a:xfrm>
          <a:prstGeom prst="rect">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900" b="1">
                <a:solidFill>
                  <a:srgbClr val="FFFFFF"/>
                </a:solidFill>
                <a:latin typeface="Calibri" panose="020F0502020204030204" pitchFamily="34" charset="0"/>
              </a:rPr>
              <a:t>4 wk</a:t>
            </a:r>
          </a:p>
        </p:txBody>
      </p:sp>
      <p:sp>
        <p:nvSpPr>
          <p:cNvPr id="42" name="TextBox 41">
            <a:extLst>
              <a:ext uri="{FF2B5EF4-FFF2-40B4-BE49-F238E27FC236}">
                <a16:creationId xmlns:a16="http://schemas.microsoft.com/office/drawing/2014/main" id="{D7840892-82DF-0EA3-60EF-2778A5B5817E}"/>
              </a:ext>
            </a:extLst>
          </p:cNvPr>
          <p:cNvSpPr txBox="1"/>
          <p:nvPr/>
        </p:nvSpPr>
        <p:spPr>
          <a:xfrm>
            <a:off x="508000" y="2984500"/>
            <a:ext cx="1333500" cy="203200"/>
          </a:xfrm>
          <a:prstGeom prst="rect">
            <a:avLst/>
          </a:prstGeom>
          <a:noFill/>
        </p:spPr>
        <p:txBody>
          <a:bodyPr vert="horz" wrap="square" lIns="0" tIns="0" rIns="0" bIns="0" rtlCol="0" anchor="t">
            <a:noAutofit/>
          </a:bodyPr>
          <a:lstStyle/>
          <a:p>
            <a:r>
              <a:rPr lang="en-US" sz="1100">
                <a:solidFill>
                  <a:srgbClr val="1F2937"/>
                </a:solidFill>
                <a:latin typeface="Calibri" panose="020F0502020204030204" pitchFamily="34" charset="0"/>
              </a:rPr>
              <a:t>Activity 6</a:t>
            </a:r>
          </a:p>
        </p:txBody>
      </p:sp>
      <p:sp>
        <p:nvSpPr>
          <p:cNvPr id="43" name="Rectangle 42">
            <a:extLst>
              <a:ext uri="{FF2B5EF4-FFF2-40B4-BE49-F238E27FC236}">
                <a16:creationId xmlns:a16="http://schemas.microsoft.com/office/drawing/2014/main" id="{825C4CE0-D54A-2CDD-5535-89207073E423}"/>
              </a:ext>
            </a:extLst>
          </p:cNvPr>
          <p:cNvSpPr/>
          <p:nvPr/>
        </p:nvSpPr>
        <p:spPr>
          <a:xfrm>
            <a:off x="7239000" y="3009900"/>
            <a:ext cx="355600" cy="177800"/>
          </a:xfrm>
          <a:prstGeom prst="rect">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900" b="1">
                <a:solidFill>
                  <a:srgbClr val="FFFFFF"/>
                </a:solidFill>
                <a:latin typeface="Calibri" panose="020F0502020204030204" pitchFamily="34" charset="0"/>
              </a:rPr>
              <a:t>1 wk</a:t>
            </a:r>
          </a:p>
        </p:txBody>
      </p:sp>
      <p:cxnSp>
        <p:nvCxnSpPr>
          <p:cNvPr id="44" name="Straight Connector 43">
            <a:extLst>
              <a:ext uri="{FF2B5EF4-FFF2-40B4-BE49-F238E27FC236}">
                <a16:creationId xmlns:a16="http://schemas.microsoft.com/office/drawing/2014/main" id="{07B6E024-8731-E63F-AB48-16E165C2BC4B}"/>
              </a:ext>
            </a:extLst>
          </p:cNvPr>
          <p:cNvCxnSpPr/>
          <p:nvPr/>
        </p:nvCxnSpPr>
        <p:spPr>
          <a:xfrm>
            <a:off x="4038600" y="1701800"/>
            <a:ext cx="0" cy="508000"/>
          </a:xfrm>
          <a:prstGeom prst="line">
            <a:avLst/>
          </a:prstGeom>
          <a:ln w="12700">
            <a:solidFill>
              <a:srgbClr val="5B6475"/>
            </a:solidFill>
            <a:tailEnd type="triangle"/>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53E3C9F1-25EE-7794-63B8-EA04677B9455}"/>
              </a:ext>
            </a:extLst>
          </p:cNvPr>
          <p:cNvCxnSpPr/>
          <p:nvPr/>
        </p:nvCxnSpPr>
        <p:spPr>
          <a:xfrm>
            <a:off x="5816600" y="2260600"/>
            <a:ext cx="0" cy="508000"/>
          </a:xfrm>
          <a:prstGeom prst="line">
            <a:avLst/>
          </a:prstGeom>
          <a:ln w="12700">
            <a:solidFill>
              <a:srgbClr val="5B6475"/>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557A5E4C-2C97-0D1F-027E-6E64A65FD536}"/>
              </a:ext>
            </a:extLst>
          </p:cNvPr>
          <p:cNvCxnSpPr/>
          <p:nvPr/>
        </p:nvCxnSpPr>
        <p:spPr>
          <a:xfrm>
            <a:off x="7239000" y="2819400"/>
            <a:ext cx="0" cy="228600"/>
          </a:xfrm>
          <a:prstGeom prst="line">
            <a:avLst/>
          </a:prstGeom>
          <a:ln w="12700">
            <a:solidFill>
              <a:srgbClr val="5B6475"/>
            </a:solidFill>
            <a:tailEnd type="triangle"/>
          </a:ln>
        </p:spPr>
        <p:style>
          <a:lnRef idx="2">
            <a:schemeClr val="accent1"/>
          </a:lnRef>
          <a:fillRef idx="0">
            <a:schemeClr val="accent1"/>
          </a:fillRef>
          <a:effectRef idx="1">
            <a:schemeClr val="accent1"/>
          </a:effectRef>
          <a:fontRef idx="minor">
            <a:schemeClr val="tx1"/>
          </a:fontRef>
        </p:style>
      </p:cxnSp>
      <p:sp>
        <p:nvSpPr>
          <p:cNvPr id="47" name="Rectangle 46">
            <a:extLst>
              <a:ext uri="{FF2B5EF4-FFF2-40B4-BE49-F238E27FC236}">
                <a16:creationId xmlns:a16="http://schemas.microsoft.com/office/drawing/2014/main" id="{4D90F25F-286B-6D9B-7E58-D2F34027C5D8}"/>
              </a:ext>
            </a:extLst>
          </p:cNvPr>
          <p:cNvSpPr/>
          <p:nvPr/>
        </p:nvSpPr>
        <p:spPr>
          <a:xfrm>
            <a:off x="1905000" y="3276600"/>
            <a:ext cx="177800" cy="127000"/>
          </a:xfrm>
          <a:prstGeom prst="rect">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5D330706-3233-CD93-F982-33DC8EFE528D}"/>
              </a:ext>
            </a:extLst>
          </p:cNvPr>
          <p:cNvSpPr txBox="1"/>
          <p:nvPr/>
        </p:nvSpPr>
        <p:spPr>
          <a:xfrm>
            <a:off x="2133600" y="3238500"/>
            <a:ext cx="1905000" cy="177800"/>
          </a:xfrm>
          <a:prstGeom prst="rect">
            <a:avLst/>
          </a:prstGeom>
          <a:noFill/>
        </p:spPr>
        <p:txBody>
          <a:bodyPr vert="horz" wrap="square" lIns="0" tIns="0" rIns="0" bIns="0" rtlCol="0" anchor="t">
            <a:noAutofit/>
          </a:bodyPr>
          <a:lstStyle/>
          <a:p>
            <a:r>
              <a:rPr lang="en-US" sz="900" b="1">
                <a:solidFill>
                  <a:srgbClr val="A84A2E"/>
                </a:solidFill>
                <a:latin typeface="Calibri" panose="020F0502020204030204" pitchFamily="34" charset="0"/>
              </a:rPr>
              <a:t>Critical path (16 weeks)</a:t>
            </a:r>
          </a:p>
        </p:txBody>
      </p:sp>
      <p:sp>
        <p:nvSpPr>
          <p:cNvPr id="49" name="Rectangle 48">
            <a:extLst>
              <a:ext uri="{FF2B5EF4-FFF2-40B4-BE49-F238E27FC236}">
                <a16:creationId xmlns:a16="http://schemas.microsoft.com/office/drawing/2014/main" id="{119BDBF5-D1F1-9EE2-03CA-8EA532C32D16}"/>
              </a:ext>
            </a:extLst>
          </p:cNvPr>
          <p:cNvSpPr/>
          <p:nvPr/>
        </p:nvSpPr>
        <p:spPr>
          <a:xfrm>
            <a:off x="4064000" y="3276600"/>
            <a:ext cx="177800" cy="12700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B515F8C9-1FF4-1687-5BAB-C917761EEEAC}"/>
              </a:ext>
            </a:extLst>
          </p:cNvPr>
          <p:cNvSpPr txBox="1"/>
          <p:nvPr/>
        </p:nvSpPr>
        <p:spPr>
          <a:xfrm>
            <a:off x="4292600" y="3238500"/>
            <a:ext cx="1270000" cy="177800"/>
          </a:xfrm>
          <a:prstGeom prst="rect">
            <a:avLst/>
          </a:prstGeom>
          <a:noFill/>
        </p:spPr>
        <p:txBody>
          <a:bodyPr vert="horz" wrap="square" lIns="0" tIns="0" rIns="0" bIns="0" rtlCol="0" anchor="t">
            <a:noAutofit/>
          </a:bodyPr>
          <a:lstStyle/>
          <a:p>
            <a:r>
              <a:rPr lang="en-US" sz="900" b="1">
                <a:solidFill>
                  <a:srgbClr val="34509A"/>
                </a:solidFill>
                <a:latin typeface="Calibri" panose="020F0502020204030204" pitchFamily="34" charset="0"/>
              </a:rPr>
              <a:t>Has float</a:t>
            </a:r>
          </a:p>
        </p:txBody>
      </p:sp>
      <p:sp>
        <p:nvSpPr>
          <p:cNvPr id="51" name="TextBox 50">
            <a:extLst>
              <a:ext uri="{FF2B5EF4-FFF2-40B4-BE49-F238E27FC236}">
                <a16:creationId xmlns:a16="http://schemas.microsoft.com/office/drawing/2014/main" id="{E03B0997-DD45-2A22-3C88-3DF170A7F6FB}"/>
              </a:ext>
            </a:extLst>
          </p:cNvPr>
          <p:cNvSpPr txBox="1"/>
          <p:nvPr/>
        </p:nvSpPr>
        <p:spPr>
          <a:xfrm>
            <a:off x="508000" y="3759200"/>
            <a:ext cx="1397000" cy="203200"/>
          </a:xfrm>
          <a:prstGeom prst="rect">
            <a:avLst/>
          </a:prstGeom>
          <a:noFill/>
        </p:spPr>
        <p:txBody>
          <a:bodyPr vert="horz" wrap="square" lIns="0" tIns="0" rIns="0" bIns="0" rtlCol="0" anchor="t">
            <a:noAutofit/>
          </a:bodyPr>
          <a:lstStyle/>
          <a:p>
            <a:r>
              <a:rPr lang="en-US" sz="1200" b="1">
                <a:solidFill>
                  <a:srgbClr val="14213D"/>
                </a:solidFill>
                <a:latin typeface="Calibri" panose="020F0502020204030204" pitchFamily="34" charset="0"/>
              </a:rPr>
              <a:t>Milestone chart</a:t>
            </a:r>
          </a:p>
        </p:txBody>
      </p:sp>
      <p:cxnSp>
        <p:nvCxnSpPr>
          <p:cNvPr id="52" name="Straight Connector 51">
            <a:extLst>
              <a:ext uri="{FF2B5EF4-FFF2-40B4-BE49-F238E27FC236}">
                <a16:creationId xmlns:a16="http://schemas.microsoft.com/office/drawing/2014/main" id="{7D4A519A-F5FB-F886-1F81-D964C5FBFC6B}"/>
              </a:ext>
            </a:extLst>
          </p:cNvPr>
          <p:cNvCxnSpPr/>
          <p:nvPr/>
        </p:nvCxnSpPr>
        <p:spPr>
          <a:xfrm>
            <a:off x="1905000" y="4191000"/>
            <a:ext cx="5689600" cy="0"/>
          </a:xfrm>
          <a:prstGeom prst="line">
            <a:avLst/>
          </a:prstGeom>
          <a:ln w="19050">
            <a:solidFill>
              <a:srgbClr val="14213D"/>
            </a:solidFill>
          </a:ln>
        </p:spPr>
        <p:style>
          <a:lnRef idx="2">
            <a:schemeClr val="accent1"/>
          </a:lnRef>
          <a:fillRef idx="0">
            <a:schemeClr val="accent1"/>
          </a:fillRef>
          <a:effectRef idx="1">
            <a:schemeClr val="accent1"/>
          </a:effectRef>
          <a:fontRef idx="minor">
            <a:schemeClr val="tx1"/>
          </a:fontRef>
        </p:style>
      </p:cxnSp>
      <p:sp>
        <p:nvSpPr>
          <p:cNvPr id="53" name="Diamond 52">
            <a:extLst>
              <a:ext uri="{FF2B5EF4-FFF2-40B4-BE49-F238E27FC236}">
                <a16:creationId xmlns:a16="http://schemas.microsoft.com/office/drawing/2014/main" id="{4D88FD36-4B24-9A05-FABE-B0662B6FB952}"/>
              </a:ext>
            </a:extLst>
          </p:cNvPr>
          <p:cNvSpPr/>
          <p:nvPr/>
        </p:nvSpPr>
        <p:spPr>
          <a:xfrm>
            <a:off x="1816100" y="4102100"/>
            <a:ext cx="177800" cy="177800"/>
          </a:xfrm>
          <a:prstGeom prst="diamond">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CF19F486-049B-453B-D4B6-DE1C0F117727}"/>
              </a:ext>
            </a:extLst>
          </p:cNvPr>
          <p:cNvSpPr txBox="1"/>
          <p:nvPr/>
        </p:nvSpPr>
        <p:spPr>
          <a:xfrm>
            <a:off x="1524000" y="4318000"/>
            <a:ext cx="762000" cy="177800"/>
          </a:xfrm>
          <a:prstGeom prst="rect">
            <a:avLst/>
          </a:prstGeom>
          <a:noFill/>
        </p:spPr>
        <p:txBody>
          <a:bodyPr vert="horz" wrap="square" lIns="0" tIns="0" rIns="0" bIns="0" rtlCol="0" anchor="t">
            <a:noAutofit/>
          </a:bodyPr>
          <a:lstStyle/>
          <a:p>
            <a:pPr algn="ctr"/>
            <a:r>
              <a:rPr lang="en-US" sz="900">
                <a:solidFill>
                  <a:srgbClr val="5B6475"/>
                </a:solidFill>
                <a:latin typeface="Calibri" panose="020F0502020204030204" pitchFamily="34" charset="0"/>
              </a:rPr>
              <a:t>Wk 0</a:t>
            </a:r>
          </a:p>
        </p:txBody>
      </p:sp>
      <p:sp>
        <p:nvSpPr>
          <p:cNvPr id="55" name="Diamond 54">
            <a:extLst>
              <a:ext uri="{FF2B5EF4-FFF2-40B4-BE49-F238E27FC236}">
                <a16:creationId xmlns:a16="http://schemas.microsoft.com/office/drawing/2014/main" id="{E905B69D-5985-6183-6C23-82AA4E24E9B9}"/>
              </a:ext>
            </a:extLst>
          </p:cNvPr>
          <p:cNvSpPr/>
          <p:nvPr/>
        </p:nvSpPr>
        <p:spPr>
          <a:xfrm>
            <a:off x="3949700" y="4102100"/>
            <a:ext cx="177800" cy="177800"/>
          </a:xfrm>
          <a:prstGeom prst="diamond">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97BAE87C-7821-9FE6-001F-0432DC7AD7D4}"/>
              </a:ext>
            </a:extLst>
          </p:cNvPr>
          <p:cNvSpPr txBox="1"/>
          <p:nvPr/>
        </p:nvSpPr>
        <p:spPr>
          <a:xfrm>
            <a:off x="3657600" y="4318000"/>
            <a:ext cx="762000" cy="177800"/>
          </a:xfrm>
          <a:prstGeom prst="rect">
            <a:avLst/>
          </a:prstGeom>
          <a:noFill/>
        </p:spPr>
        <p:txBody>
          <a:bodyPr vert="horz" wrap="square" lIns="0" tIns="0" rIns="0" bIns="0" rtlCol="0" anchor="t">
            <a:noAutofit/>
          </a:bodyPr>
          <a:lstStyle/>
          <a:p>
            <a:pPr algn="ctr"/>
            <a:r>
              <a:rPr lang="en-US" sz="900">
                <a:solidFill>
                  <a:srgbClr val="5B6475"/>
                </a:solidFill>
                <a:latin typeface="Calibri" panose="020F0502020204030204" pitchFamily="34" charset="0"/>
              </a:rPr>
              <a:t>Wk 6</a:t>
            </a:r>
          </a:p>
        </p:txBody>
      </p:sp>
      <p:sp>
        <p:nvSpPr>
          <p:cNvPr id="57" name="Diamond 56">
            <a:extLst>
              <a:ext uri="{FF2B5EF4-FFF2-40B4-BE49-F238E27FC236}">
                <a16:creationId xmlns:a16="http://schemas.microsoft.com/office/drawing/2014/main" id="{2D94CA7B-996B-F66E-1402-11CE6E9F882A}"/>
              </a:ext>
            </a:extLst>
          </p:cNvPr>
          <p:cNvSpPr/>
          <p:nvPr/>
        </p:nvSpPr>
        <p:spPr>
          <a:xfrm>
            <a:off x="7150100" y="4102100"/>
            <a:ext cx="177800" cy="177800"/>
          </a:xfrm>
          <a:prstGeom prst="diamond">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1354287D-8CD2-3DBB-E34E-1E38ED6DEF6F}"/>
              </a:ext>
            </a:extLst>
          </p:cNvPr>
          <p:cNvSpPr txBox="1"/>
          <p:nvPr/>
        </p:nvSpPr>
        <p:spPr>
          <a:xfrm>
            <a:off x="6858000" y="4318000"/>
            <a:ext cx="762000" cy="177800"/>
          </a:xfrm>
          <a:prstGeom prst="rect">
            <a:avLst/>
          </a:prstGeom>
          <a:noFill/>
        </p:spPr>
        <p:txBody>
          <a:bodyPr vert="horz" wrap="square" lIns="0" tIns="0" rIns="0" bIns="0" rtlCol="0" anchor="t">
            <a:noAutofit/>
          </a:bodyPr>
          <a:lstStyle/>
          <a:p>
            <a:pPr algn="ctr"/>
            <a:r>
              <a:rPr lang="en-US" sz="900">
                <a:solidFill>
                  <a:srgbClr val="5B6475"/>
                </a:solidFill>
                <a:latin typeface="Calibri" panose="020F0502020204030204" pitchFamily="34" charset="0"/>
              </a:rPr>
              <a:t>Wk 15</a:t>
            </a:r>
          </a:p>
        </p:txBody>
      </p:sp>
      <p:sp>
        <p:nvSpPr>
          <p:cNvPr id="59" name="Diamond 58">
            <a:extLst>
              <a:ext uri="{FF2B5EF4-FFF2-40B4-BE49-F238E27FC236}">
                <a16:creationId xmlns:a16="http://schemas.microsoft.com/office/drawing/2014/main" id="{E2E2D3D9-E4D8-8D27-E420-D1DC4F6600DB}"/>
              </a:ext>
            </a:extLst>
          </p:cNvPr>
          <p:cNvSpPr/>
          <p:nvPr/>
        </p:nvSpPr>
        <p:spPr>
          <a:xfrm>
            <a:off x="7505700" y="4102100"/>
            <a:ext cx="177800" cy="177800"/>
          </a:xfrm>
          <a:prstGeom prst="diamond">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93C035E3-E8B5-B145-1A94-DC209A735958}"/>
              </a:ext>
            </a:extLst>
          </p:cNvPr>
          <p:cNvSpPr txBox="1"/>
          <p:nvPr/>
        </p:nvSpPr>
        <p:spPr>
          <a:xfrm>
            <a:off x="7213600" y="4318000"/>
            <a:ext cx="762000" cy="177800"/>
          </a:xfrm>
          <a:prstGeom prst="rect">
            <a:avLst/>
          </a:prstGeom>
          <a:noFill/>
        </p:spPr>
        <p:txBody>
          <a:bodyPr vert="horz" wrap="square" lIns="0" tIns="0" rIns="0" bIns="0" rtlCol="0" anchor="t">
            <a:noAutofit/>
          </a:bodyPr>
          <a:lstStyle/>
          <a:p>
            <a:pPr algn="ctr"/>
            <a:r>
              <a:rPr lang="en-US" sz="900">
                <a:solidFill>
                  <a:srgbClr val="5B6475"/>
                </a:solidFill>
                <a:latin typeface="Calibri" panose="020F0502020204030204" pitchFamily="34" charset="0"/>
              </a:rPr>
              <a:t>Wk 16</a:t>
            </a:r>
          </a:p>
        </p:txBody>
      </p:sp>
      <p:sp>
        <p:nvSpPr>
          <p:cNvPr id="61" name="TextBox 60">
            <a:extLst>
              <a:ext uri="{FF2B5EF4-FFF2-40B4-BE49-F238E27FC236}">
                <a16:creationId xmlns:a16="http://schemas.microsoft.com/office/drawing/2014/main" id="{A95DFAEA-EADA-914E-6C63-9D864EB0F2B8}"/>
              </a:ext>
            </a:extLst>
          </p:cNvPr>
          <p:cNvSpPr txBox="1"/>
          <p:nvPr/>
        </p:nvSpPr>
        <p:spPr>
          <a:xfrm>
            <a:off x="1524000" y="3911600"/>
            <a:ext cx="762000" cy="177800"/>
          </a:xfrm>
          <a:prstGeom prst="rect">
            <a:avLst/>
          </a:prstGeom>
          <a:noFill/>
        </p:spPr>
        <p:txBody>
          <a:bodyPr vert="horz" wrap="square" lIns="0" tIns="0" rIns="0" bIns="0" rtlCol="0" anchor="t">
            <a:noAutofit/>
          </a:bodyPr>
          <a:lstStyle/>
          <a:p>
            <a:pPr algn="ctr"/>
            <a:r>
              <a:rPr lang="en-US" sz="1000" b="1">
                <a:solidFill>
                  <a:srgbClr val="1F2937"/>
                </a:solidFill>
                <a:latin typeface="Calibri" panose="020F0502020204030204" pitchFamily="34" charset="0"/>
              </a:rPr>
              <a:t>Kickoff</a:t>
            </a:r>
          </a:p>
        </p:txBody>
      </p:sp>
      <p:sp>
        <p:nvSpPr>
          <p:cNvPr id="62" name="TextBox 61">
            <a:extLst>
              <a:ext uri="{FF2B5EF4-FFF2-40B4-BE49-F238E27FC236}">
                <a16:creationId xmlns:a16="http://schemas.microsoft.com/office/drawing/2014/main" id="{53847B40-C95F-782D-7EB5-4960D7798A12}"/>
              </a:ext>
            </a:extLst>
          </p:cNvPr>
          <p:cNvSpPr txBox="1"/>
          <p:nvPr/>
        </p:nvSpPr>
        <p:spPr>
          <a:xfrm>
            <a:off x="3403600" y="3911600"/>
            <a:ext cx="1270000" cy="177800"/>
          </a:xfrm>
          <a:prstGeom prst="rect">
            <a:avLst/>
          </a:prstGeom>
          <a:noFill/>
        </p:spPr>
        <p:txBody>
          <a:bodyPr vert="horz" wrap="square" lIns="0" tIns="0" rIns="0" bIns="0" rtlCol="0" anchor="t">
            <a:noAutofit/>
          </a:bodyPr>
          <a:lstStyle/>
          <a:p>
            <a:pPr algn="ctr"/>
            <a:r>
              <a:rPr lang="en-US" sz="1000" b="1">
                <a:solidFill>
                  <a:srgbClr val="1F2937"/>
                </a:solidFill>
                <a:latin typeface="Calibri" panose="020F0502020204030204" pitchFamily="34" charset="0"/>
              </a:rPr>
              <a:t>Design approved</a:t>
            </a:r>
          </a:p>
        </p:txBody>
      </p:sp>
      <p:sp>
        <p:nvSpPr>
          <p:cNvPr id="63" name="TextBox 62">
            <a:extLst>
              <a:ext uri="{FF2B5EF4-FFF2-40B4-BE49-F238E27FC236}">
                <a16:creationId xmlns:a16="http://schemas.microsoft.com/office/drawing/2014/main" id="{98309C11-68BD-1568-89D1-514F932DE0DA}"/>
              </a:ext>
            </a:extLst>
          </p:cNvPr>
          <p:cNvSpPr txBox="1"/>
          <p:nvPr/>
        </p:nvSpPr>
        <p:spPr>
          <a:xfrm>
            <a:off x="6096000" y="3911600"/>
            <a:ext cx="1143000" cy="177800"/>
          </a:xfrm>
          <a:prstGeom prst="rect">
            <a:avLst/>
          </a:prstGeom>
          <a:noFill/>
        </p:spPr>
        <p:txBody>
          <a:bodyPr vert="horz" wrap="square" lIns="0" tIns="0" rIns="0" bIns="0" rtlCol="0" anchor="t">
            <a:noAutofit/>
          </a:bodyPr>
          <a:lstStyle/>
          <a:p>
            <a:pPr algn="r"/>
            <a:r>
              <a:rPr lang="en-US" sz="1000" b="1">
                <a:solidFill>
                  <a:srgbClr val="1F2937"/>
                </a:solidFill>
                <a:latin typeface="Calibri" panose="020F0502020204030204" pitchFamily="34" charset="0"/>
              </a:rPr>
              <a:t>Build complete</a:t>
            </a:r>
          </a:p>
        </p:txBody>
      </p:sp>
      <p:sp>
        <p:nvSpPr>
          <p:cNvPr id="64" name="TextBox 63">
            <a:extLst>
              <a:ext uri="{FF2B5EF4-FFF2-40B4-BE49-F238E27FC236}">
                <a16:creationId xmlns:a16="http://schemas.microsoft.com/office/drawing/2014/main" id="{59AB6FB7-A84E-8972-E2ED-7FB25D4D38B7}"/>
              </a:ext>
            </a:extLst>
          </p:cNvPr>
          <p:cNvSpPr txBox="1"/>
          <p:nvPr/>
        </p:nvSpPr>
        <p:spPr>
          <a:xfrm>
            <a:off x="7543800" y="3911600"/>
            <a:ext cx="889000" cy="177800"/>
          </a:xfrm>
          <a:prstGeom prst="rect">
            <a:avLst/>
          </a:prstGeom>
          <a:noFill/>
        </p:spPr>
        <p:txBody>
          <a:bodyPr vert="horz" wrap="square" lIns="0" tIns="0" rIns="0" bIns="0" rtlCol="0" anchor="t">
            <a:noAutofit/>
          </a:bodyPr>
          <a:lstStyle/>
          <a:p>
            <a:r>
              <a:rPr lang="en-US" sz="1000" b="1">
                <a:solidFill>
                  <a:srgbClr val="1F2937"/>
                </a:solidFill>
                <a:latin typeface="Calibri" panose="020F0502020204030204" pitchFamily="34" charset="0"/>
              </a:rPr>
              <a:t>Handover</a:t>
            </a:r>
          </a:p>
        </p:txBody>
      </p:sp>
      <p:sp>
        <p:nvSpPr>
          <p:cNvPr id="65" name="TextBox 64">
            <a:extLst>
              <a:ext uri="{FF2B5EF4-FFF2-40B4-BE49-F238E27FC236}">
                <a16:creationId xmlns:a16="http://schemas.microsoft.com/office/drawing/2014/main" id="{41E6C805-7D5C-638D-F85C-93C4812728B7}"/>
              </a:ext>
            </a:extLst>
          </p:cNvPr>
          <p:cNvSpPr txBox="1"/>
          <p:nvPr/>
        </p:nvSpPr>
        <p:spPr>
          <a:xfrm>
            <a:off x="1905000" y="4546600"/>
            <a:ext cx="5588000" cy="177800"/>
          </a:xfrm>
          <a:prstGeom prst="rect">
            <a:avLst/>
          </a:prstGeom>
          <a:noFill/>
        </p:spPr>
        <p:txBody>
          <a:bodyPr vert="horz" wrap="square" lIns="0" tIns="0" rIns="0" bIns="0" rtlCol="0" anchor="t">
            <a:noAutofit/>
          </a:bodyPr>
          <a:lstStyle/>
          <a:p>
            <a:r>
              <a:rPr lang="en-US" sz="1000" i="1">
                <a:solidFill>
                  <a:srgbClr val="5B6475"/>
                </a:solidFill>
                <a:latin typeface="Calibri" panose="020F0502020204030204" pitchFamily="34" charset="0"/>
              </a:rPr>
              <a:t>Diamonds are milestones: zero duration, no resources.</a:t>
            </a:r>
          </a:p>
        </p:txBody>
      </p:sp>
      <p:sp>
        <p:nvSpPr>
          <p:cNvPr id="66" name="Rectangle: Rounded Corners 65">
            <a:extLst>
              <a:ext uri="{FF2B5EF4-FFF2-40B4-BE49-F238E27FC236}">
                <a16:creationId xmlns:a16="http://schemas.microsoft.com/office/drawing/2014/main" id="{BE308CE9-9C97-5145-2C95-0AE14DB3FAB4}"/>
              </a:ext>
            </a:extLst>
          </p:cNvPr>
          <p:cNvSpPr/>
          <p:nvPr/>
        </p:nvSpPr>
        <p:spPr>
          <a:xfrm>
            <a:off x="8128000" y="1320800"/>
            <a:ext cx="3556000" cy="1905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87FC7159-7E54-12D1-F23D-B89A55037ABD}"/>
              </a:ext>
            </a:extLst>
          </p:cNvPr>
          <p:cNvSpPr txBox="1"/>
          <p:nvPr/>
        </p:nvSpPr>
        <p:spPr>
          <a:xfrm>
            <a:off x="8255000" y="1447800"/>
            <a:ext cx="3302000" cy="16510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Gantt (bar) chart</a:t>
            </a:r>
          </a:p>
          <a:p>
            <a:pPr marL="127000" indent="-127000">
              <a:spcAft>
                <a:spcPts val="400"/>
              </a:spcAft>
              <a:buClr>
                <a:srgbClr val="34509A"/>
              </a:buClr>
              <a:buFont typeface="+mj-lt"/>
              <a:buChar char="•"/>
            </a:pPr>
            <a:r>
              <a:rPr lang="en-US" sz="1100">
                <a:solidFill>
                  <a:srgbClr val="1F2937"/>
                </a:solidFill>
                <a:latin typeface="Calibri" panose="020F0502020204030204" pitchFamily="34" charset="0"/>
              </a:rPr>
              <a:t>Activities against a timeline: start, finish, and duration</a:t>
            </a:r>
          </a:p>
          <a:p>
            <a:pPr marL="127000" indent="-127000">
              <a:spcAft>
                <a:spcPts val="400"/>
              </a:spcAft>
              <a:buClr>
                <a:srgbClr val="34509A"/>
              </a:buClr>
              <a:buFont typeface="+mj-lt"/>
              <a:buChar char="•"/>
            </a:pPr>
            <a:r>
              <a:rPr lang="en-US" sz="1100">
                <a:solidFill>
                  <a:srgbClr val="1F2937"/>
                </a:solidFill>
                <a:latin typeface="Calibri" panose="020F0502020204030204" pitchFamily="34" charset="0"/>
              </a:rPr>
              <a:t>Can show dependencies, progress, and the critical path</a:t>
            </a:r>
          </a:p>
          <a:p>
            <a:pPr marL="127000" indent="-127000">
              <a:spcAft>
                <a:spcPts val="400"/>
              </a:spcAft>
              <a:buClr>
                <a:srgbClr val="34509A"/>
              </a:buClr>
              <a:buFont typeface="+mj-lt"/>
              <a:buChar char="•"/>
            </a:pPr>
            <a:r>
              <a:rPr lang="en-US" sz="1100">
                <a:solidFill>
                  <a:srgbClr val="1F2937"/>
                </a:solidFill>
                <a:latin typeface="Calibri" panose="020F0502020204030204" pitchFamily="34" charset="0"/>
              </a:rPr>
              <a:t>Best for the team and for tracking work in detail</a:t>
            </a:r>
          </a:p>
        </p:txBody>
      </p:sp>
      <p:sp>
        <p:nvSpPr>
          <p:cNvPr id="68" name="Rectangle: Rounded Corners 67">
            <a:extLst>
              <a:ext uri="{FF2B5EF4-FFF2-40B4-BE49-F238E27FC236}">
                <a16:creationId xmlns:a16="http://schemas.microsoft.com/office/drawing/2014/main" id="{DA2814D4-A122-E475-A94A-477BEC2FFD32}"/>
              </a:ext>
            </a:extLst>
          </p:cNvPr>
          <p:cNvSpPr/>
          <p:nvPr/>
        </p:nvSpPr>
        <p:spPr>
          <a:xfrm>
            <a:off x="8128000" y="3352800"/>
            <a:ext cx="3556000" cy="16510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F44C4D49-5CAD-B94F-D222-905196A7D6EC}"/>
              </a:ext>
            </a:extLst>
          </p:cNvPr>
          <p:cNvSpPr txBox="1"/>
          <p:nvPr/>
        </p:nvSpPr>
        <p:spPr>
          <a:xfrm>
            <a:off x="8255000" y="3479800"/>
            <a:ext cx="3302000" cy="1397000"/>
          </a:xfrm>
          <a:prstGeom prst="rect">
            <a:avLst/>
          </a:prstGeom>
          <a:noFill/>
        </p:spPr>
        <p:txBody>
          <a:bodyPr vert="horz" wrap="square" lIns="0" tIns="0" rIns="0" bIns="0" rtlCol="0" anchor="t">
            <a:noAutofit/>
          </a:bodyPr>
          <a:lstStyle/>
          <a:p>
            <a:pPr>
              <a:spcAft>
                <a:spcPts val="600"/>
              </a:spcAft>
            </a:pPr>
            <a:r>
              <a:rPr lang="en-US" sz="1400" b="1">
                <a:solidFill>
                  <a:srgbClr val="A86F0E"/>
                </a:solidFill>
                <a:latin typeface="Calibri" panose="020F0502020204030204" pitchFamily="34" charset="0"/>
              </a:rPr>
              <a:t>Milestone chart</a:t>
            </a:r>
          </a:p>
          <a:p>
            <a:pPr marL="127000" indent="-127000">
              <a:spcAft>
                <a:spcPts val="400"/>
              </a:spcAft>
              <a:buClr>
                <a:srgbClr val="A86F0E"/>
              </a:buClr>
              <a:buFont typeface="+mj-lt"/>
              <a:buChar char="•"/>
            </a:pPr>
            <a:r>
              <a:rPr lang="en-US" sz="1100">
                <a:solidFill>
                  <a:srgbClr val="1F2937"/>
                </a:solidFill>
                <a:latin typeface="Calibri" panose="020F0502020204030204" pitchFamily="34" charset="0"/>
              </a:rPr>
              <a:t>Only key events and their dates</a:t>
            </a:r>
          </a:p>
          <a:p>
            <a:pPr marL="127000" indent="-127000">
              <a:spcAft>
                <a:spcPts val="400"/>
              </a:spcAft>
              <a:buClr>
                <a:srgbClr val="A86F0E"/>
              </a:buClr>
              <a:buFont typeface="+mj-lt"/>
              <a:buChar char="•"/>
            </a:pPr>
            <a:r>
              <a:rPr lang="en-US" sz="1100">
                <a:solidFill>
                  <a:srgbClr val="1F2937"/>
                </a:solidFill>
                <a:latin typeface="Calibri" panose="020F0502020204030204" pitchFamily="34" charset="0"/>
              </a:rPr>
              <a:t>Zero-duration markers, no activity detail</a:t>
            </a:r>
          </a:p>
          <a:p>
            <a:pPr marL="127000" indent="-127000">
              <a:spcAft>
                <a:spcPts val="400"/>
              </a:spcAft>
              <a:buClr>
                <a:srgbClr val="A86F0E"/>
              </a:buClr>
              <a:buFont typeface="+mj-lt"/>
              <a:buChar char="•"/>
            </a:pPr>
            <a:r>
              <a:rPr lang="en-US" sz="1100">
                <a:solidFill>
                  <a:srgbClr val="1F2937"/>
                </a:solidFill>
                <a:latin typeface="Calibri" panose="020F0502020204030204" pitchFamily="34" charset="0"/>
              </a:rPr>
              <a:t>Best for sponsors and executives</a:t>
            </a:r>
          </a:p>
        </p:txBody>
      </p:sp>
      <p:sp>
        <p:nvSpPr>
          <p:cNvPr id="70" name="TextBox 69">
            <a:extLst>
              <a:ext uri="{FF2B5EF4-FFF2-40B4-BE49-F238E27FC236}">
                <a16:creationId xmlns:a16="http://schemas.microsoft.com/office/drawing/2014/main" id="{97483621-EA49-F475-9744-8AC84C8DE8A9}"/>
              </a:ext>
            </a:extLst>
          </p:cNvPr>
          <p:cNvSpPr txBox="1"/>
          <p:nvPr/>
        </p:nvSpPr>
        <p:spPr>
          <a:xfrm>
            <a:off x="8128000" y="5054600"/>
            <a:ext cx="3556000" cy="381000"/>
          </a:xfrm>
          <a:prstGeom prst="rect">
            <a:avLst/>
          </a:prstGeom>
          <a:noFill/>
        </p:spPr>
        <p:txBody>
          <a:bodyPr vert="horz" wrap="square" lIns="0" tIns="0" rIns="0" bIns="0" rtlCol="0" anchor="t">
            <a:noAutofit/>
          </a:bodyPr>
          <a:lstStyle/>
          <a:p>
            <a:r>
              <a:rPr lang="en-US" sz="1000" i="1">
                <a:solidFill>
                  <a:srgbClr val="5B6475"/>
                </a:solidFill>
                <a:latin typeface="Calibri" panose="020F0502020204030204" pitchFamily="34" charset="0"/>
              </a:rPr>
              <a:t>The third format is the network diagram, which shows dependencies and the critical path.</a:t>
            </a:r>
          </a:p>
        </p:txBody>
      </p:sp>
      <p:sp>
        <p:nvSpPr>
          <p:cNvPr id="71" name="Rectangle: Rounded Corners 70">
            <a:extLst>
              <a:ext uri="{FF2B5EF4-FFF2-40B4-BE49-F238E27FC236}">
                <a16:creationId xmlns:a16="http://schemas.microsoft.com/office/drawing/2014/main" id="{17115863-1310-5C36-BFD2-0D67BF11E5CD}"/>
              </a:ext>
            </a:extLst>
          </p:cNvPr>
          <p:cNvSpPr/>
          <p:nvPr/>
        </p:nvSpPr>
        <p:spPr>
          <a:xfrm>
            <a:off x="508000" y="5486400"/>
            <a:ext cx="11176000" cy="838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0C637D30-1C8B-3C6C-13C1-A1A3143B1264}"/>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sponsors and executives want the milestone chart; the team works from the Gantt chart; the network diagram shows the logic and the critical path.</a:t>
            </a:r>
          </a:p>
        </p:txBody>
      </p:sp>
      <p:sp>
        <p:nvSpPr>
          <p:cNvPr id="73" name="Footer">
            <a:extLst>
              <a:ext uri="{FF2B5EF4-FFF2-40B4-BE49-F238E27FC236}">
                <a16:creationId xmlns:a16="http://schemas.microsoft.com/office/drawing/2014/main" id="{75CF1E53-D28D-B013-2128-4732F7E2EBD2}"/>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6.5.3.2 (project schedule); Henry L. Gantt (1910s)</a:t>
            </a:r>
          </a:p>
        </p:txBody>
      </p:sp>
      <p:sp>
        <p:nvSpPr>
          <p:cNvPr id="74" name="SlideNum">
            <a:extLst>
              <a:ext uri="{FF2B5EF4-FFF2-40B4-BE49-F238E27FC236}">
                <a16:creationId xmlns:a16="http://schemas.microsoft.com/office/drawing/2014/main" id="{355E71B7-97D6-DB54-7173-FB9E0517414D}"/>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41</a:t>
            </a:r>
          </a:p>
        </p:txBody>
      </p:sp>
      <p:sp>
        <p:nvSpPr>
          <p:cNvPr id="5" name="TextBox 4">
            <a:extLst>
              <a:ext uri="{FF2B5EF4-FFF2-40B4-BE49-F238E27FC236}">
                <a16:creationId xmlns:a16="http://schemas.microsoft.com/office/drawing/2014/main" id="{E234E1AC-7946-15E1-5B00-7FE3F7DC6746}"/>
              </a:ext>
            </a:extLst>
          </p:cNvPr>
          <p:cNvSpPr txBox="1"/>
          <p:nvPr/>
        </p:nvSpPr>
        <p:spPr>
          <a:xfrm>
            <a:off x="7772400" y="1320800"/>
            <a:ext cx="381000" cy="177800"/>
          </a:xfrm>
          <a:prstGeom prst="rect">
            <a:avLst/>
          </a:prstGeom>
          <a:noFill/>
        </p:spPr>
        <p:txBody>
          <a:bodyPr vert="horz" wrap="square" lIns="0" tIns="0" rIns="0" bIns="0" rtlCol="0" anchor="t">
            <a:noAutofit/>
          </a:bodyPr>
          <a:lstStyle/>
          <a:p>
            <a:r>
              <a:rPr lang="en-US" sz="900" i="1">
                <a:solidFill>
                  <a:srgbClr val="5B6475"/>
                </a:solidFill>
                <a:latin typeface="Calibri" panose="020F0502020204030204" pitchFamily="34" charset="0"/>
              </a:rPr>
              <a:t>weeks</a:t>
            </a:r>
          </a:p>
        </p:txBody>
      </p:sp>
      <p:sp>
        <p:nvSpPr>
          <p:cNvPr id="75"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673150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D795B07-0F0B-3E6E-674E-6B88AD92ABF1}"/>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The schedule baseline</a:t>
            </a:r>
          </a:p>
        </p:txBody>
      </p:sp>
      <p:sp>
        <p:nvSpPr>
          <p:cNvPr id="3" name="Tag">
            <a:extLst>
              <a:ext uri="{FF2B5EF4-FFF2-40B4-BE49-F238E27FC236}">
                <a16:creationId xmlns:a16="http://schemas.microsoft.com/office/drawing/2014/main" id="{39D17180-18DA-488F-9F7F-1AD36C8E7AEB}"/>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8 (Plan and manage schedule: baseline, analyze schedule variation)</a:t>
            </a:r>
          </a:p>
        </p:txBody>
      </p:sp>
      <p:sp>
        <p:nvSpPr>
          <p:cNvPr id="4" name="TextBox 3">
            <a:extLst>
              <a:ext uri="{FF2B5EF4-FFF2-40B4-BE49-F238E27FC236}">
                <a16:creationId xmlns:a16="http://schemas.microsoft.com/office/drawing/2014/main" id="{00F29F03-AAF5-876B-E25D-3E97261C7701}"/>
              </a:ext>
            </a:extLst>
          </p:cNvPr>
          <p:cNvSpPr txBox="1"/>
          <p:nvPr/>
        </p:nvSpPr>
        <p:spPr>
          <a:xfrm>
            <a:off x="508000" y="1320800"/>
            <a:ext cx="5588000" cy="203200"/>
          </a:xfrm>
          <a:prstGeom prst="rect">
            <a:avLst/>
          </a:prstGeom>
          <a:noFill/>
        </p:spPr>
        <p:txBody>
          <a:bodyPr vert="horz" wrap="square" lIns="0" tIns="0" rIns="0" bIns="0" rtlCol="0" anchor="t">
            <a:noAutofit/>
          </a:bodyPr>
          <a:lstStyle/>
          <a:p>
            <a:r>
              <a:rPr lang="en-US" sz="1200" b="1">
                <a:solidFill>
                  <a:srgbClr val="14213D"/>
                </a:solidFill>
                <a:latin typeface="Calibri" panose="020F0502020204030204" pitchFamily="34" charset="0"/>
              </a:rPr>
              <a:t>Baseline vs. current schedule (status: end of week 9)</a:t>
            </a:r>
          </a:p>
        </p:txBody>
      </p:sp>
      <p:cxnSp>
        <p:nvCxnSpPr>
          <p:cNvPr id="5" name="Straight Connector 4">
            <a:extLst>
              <a:ext uri="{FF2B5EF4-FFF2-40B4-BE49-F238E27FC236}">
                <a16:creationId xmlns:a16="http://schemas.microsoft.com/office/drawing/2014/main" id="{90754066-CBF4-683A-59C7-9DC959A35F2A}"/>
              </a:ext>
            </a:extLst>
          </p:cNvPr>
          <p:cNvCxnSpPr/>
          <p:nvPr/>
        </p:nvCxnSpPr>
        <p:spPr>
          <a:xfrm>
            <a:off x="1905000" y="1600200"/>
            <a:ext cx="0" cy="21844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27CF694A-AB5A-3280-739D-39784D8E02C0}"/>
              </a:ext>
            </a:extLst>
          </p:cNvPr>
          <p:cNvSpPr txBox="1"/>
          <p:nvPr/>
        </p:nvSpPr>
        <p:spPr>
          <a:xfrm>
            <a:off x="1879600" y="1600200"/>
            <a:ext cx="304800" cy="177800"/>
          </a:xfrm>
          <a:prstGeom prst="rect">
            <a:avLst/>
          </a:prstGeom>
          <a:noFill/>
        </p:spPr>
        <p:txBody>
          <a:bodyPr vert="horz" wrap="square" lIns="0" tIns="0" rIns="0" bIns="0" rtlCol="0" anchor="t">
            <a:noAutofit/>
          </a:bodyPr>
          <a:lstStyle/>
          <a:p>
            <a:r>
              <a:rPr lang="en-US" sz="900">
                <a:solidFill>
                  <a:srgbClr val="5B6475"/>
                </a:solidFill>
                <a:latin typeface="Calibri" panose="020F0502020204030204" pitchFamily="34" charset="0"/>
              </a:rPr>
              <a:t>0</a:t>
            </a:r>
          </a:p>
        </p:txBody>
      </p:sp>
      <p:cxnSp>
        <p:nvCxnSpPr>
          <p:cNvPr id="7" name="Straight Connector 6">
            <a:extLst>
              <a:ext uri="{FF2B5EF4-FFF2-40B4-BE49-F238E27FC236}">
                <a16:creationId xmlns:a16="http://schemas.microsoft.com/office/drawing/2014/main" id="{8C189D72-5BCF-46A2-7683-1D9897297E2E}"/>
              </a:ext>
            </a:extLst>
          </p:cNvPr>
          <p:cNvCxnSpPr/>
          <p:nvPr/>
        </p:nvCxnSpPr>
        <p:spPr>
          <a:xfrm>
            <a:off x="2235200" y="1600200"/>
            <a:ext cx="0" cy="21844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41308C7-437E-59B5-8862-2583FC079219}"/>
              </a:ext>
            </a:extLst>
          </p:cNvPr>
          <p:cNvCxnSpPr/>
          <p:nvPr/>
        </p:nvCxnSpPr>
        <p:spPr>
          <a:xfrm>
            <a:off x="2565400" y="1600200"/>
            <a:ext cx="0" cy="21844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35B522A5-CE97-EF75-23A4-B229846ECBA9}"/>
              </a:ext>
            </a:extLst>
          </p:cNvPr>
          <p:cNvSpPr txBox="1"/>
          <p:nvPr/>
        </p:nvSpPr>
        <p:spPr>
          <a:xfrm>
            <a:off x="2540000" y="1600200"/>
            <a:ext cx="304800" cy="177800"/>
          </a:xfrm>
          <a:prstGeom prst="rect">
            <a:avLst/>
          </a:prstGeom>
          <a:noFill/>
        </p:spPr>
        <p:txBody>
          <a:bodyPr vert="horz" wrap="square" lIns="0" tIns="0" rIns="0" bIns="0" rtlCol="0" anchor="t">
            <a:noAutofit/>
          </a:bodyPr>
          <a:lstStyle/>
          <a:p>
            <a:r>
              <a:rPr lang="en-US" sz="900">
                <a:solidFill>
                  <a:srgbClr val="5B6475"/>
                </a:solidFill>
                <a:latin typeface="Calibri" panose="020F0502020204030204" pitchFamily="34" charset="0"/>
              </a:rPr>
              <a:t>2</a:t>
            </a:r>
          </a:p>
        </p:txBody>
      </p:sp>
      <p:cxnSp>
        <p:nvCxnSpPr>
          <p:cNvPr id="10" name="Straight Connector 9">
            <a:extLst>
              <a:ext uri="{FF2B5EF4-FFF2-40B4-BE49-F238E27FC236}">
                <a16:creationId xmlns:a16="http://schemas.microsoft.com/office/drawing/2014/main" id="{17E69318-40D3-743D-24AB-660D732151D4}"/>
              </a:ext>
            </a:extLst>
          </p:cNvPr>
          <p:cNvCxnSpPr/>
          <p:nvPr/>
        </p:nvCxnSpPr>
        <p:spPr>
          <a:xfrm>
            <a:off x="2895600" y="1600200"/>
            <a:ext cx="0" cy="21844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0DD0214-BBC5-219E-A8B5-75D2F185676E}"/>
              </a:ext>
            </a:extLst>
          </p:cNvPr>
          <p:cNvCxnSpPr/>
          <p:nvPr/>
        </p:nvCxnSpPr>
        <p:spPr>
          <a:xfrm>
            <a:off x="3225800" y="1600200"/>
            <a:ext cx="0" cy="21844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95BEA8FF-FE1F-42D1-09F3-7D293FC067E7}"/>
              </a:ext>
            </a:extLst>
          </p:cNvPr>
          <p:cNvSpPr txBox="1"/>
          <p:nvPr/>
        </p:nvSpPr>
        <p:spPr>
          <a:xfrm>
            <a:off x="3200400" y="1600200"/>
            <a:ext cx="304800" cy="177800"/>
          </a:xfrm>
          <a:prstGeom prst="rect">
            <a:avLst/>
          </a:prstGeom>
          <a:noFill/>
        </p:spPr>
        <p:txBody>
          <a:bodyPr vert="horz" wrap="square" lIns="0" tIns="0" rIns="0" bIns="0" rtlCol="0" anchor="t">
            <a:noAutofit/>
          </a:bodyPr>
          <a:lstStyle/>
          <a:p>
            <a:r>
              <a:rPr lang="en-US" sz="900">
                <a:solidFill>
                  <a:srgbClr val="5B6475"/>
                </a:solidFill>
                <a:latin typeface="Calibri" panose="020F0502020204030204" pitchFamily="34" charset="0"/>
              </a:rPr>
              <a:t>4</a:t>
            </a:r>
          </a:p>
        </p:txBody>
      </p:sp>
      <p:cxnSp>
        <p:nvCxnSpPr>
          <p:cNvPr id="13" name="Straight Connector 12">
            <a:extLst>
              <a:ext uri="{FF2B5EF4-FFF2-40B4-BE49-F238E27FC236}">
                <a16:creationId xmlns:a16="http://schemas.microsoft.com/office/drawing/2014/main" id="{CD54445C-160E-29D4-DF51-F8F7B4E54BC4}"/>
              </a:ext>
            </a:extLst>
          </p:cNvPr>
          <p:cNvCxnSpPr/>
          <p:nvPr/>
        </p:nvCxnSpPr>
        <p:spPr>
          <a:xfrm>
            <a:off x="3556000" y="1600200"/>
            <a:ext cx="0" cy="21844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9C29FF6-4BF2-33A8-E5B1-98440AAE1753}"/>
              </a:ext>
            </a:extLst>
          </p:cNvPr>
          <p:cNvCxnSpPr/>
          <p:nvPr/>
        </p:nvCxnSpPr>
        <p:spPr>
          <a:xfrm>
            <a:off x="3886200" y="1600200"/>
            <a:ext cx="0" cy="21844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9F9C2CB1-2B3D-E677-E5C8-61CB35558CEE}"/>
              </a:ext>
            </a:extLst>
          </p:cNvPr>
          <p:cNvSpPr txBox="1"/>
          <p:nvPr/>
        </p:nvSpPr>
        <p:spPr>
          <a:xfrm>
            <a:off x="3860800" y="1600200"/>
            <a:ext cx="304800" cy="177800"/>
          </a:xfrm>
          <a:prstGeom prst="rect">
            <a:avLst/>
          </a:prstGeom>
          <a:noFill/>
        </p:spPr>
        <p:txBody>
          <a:bodyPr vert="horz" wrap="square" lIns="0" tIns="0" rIns="0" bIns="0" rtlCol="0" anchor="t">
            <a:noAutofit/>
          </a:bodyPr>
          <a:lstStyle/>
          <a:p>
            <a:r>
              <a:rPr lang="en-US" sz="900">
                <a:solidFill>
                  <a:srgbClr val="5B6475"/>
                </a:solidFill>
                <a:latin typeface="Calibri" panose="020F0502020204030204" pitchFamily="34" charset="0"/>
              </a:rPr>
              <a:t>6</a:t>
            </a:r>
          </a:p>
        </p:txBody>
      </p:sp>
      <p:cxnSp>
        <p:nvCxnSpPr>
          <p:cNvPr id="16" name="Straight Connector 15">
            <a:extLst>
              <a:ext uri="{FF2B5EF4-FFF2-40B4-BE49-F238E27FC236}">
                <a16:creationId xmlns:a16="http://schemas.microsoft.com/office/drawing/2014/main" id="{6465EB8D-07FD-A741-4090-4C5001ACD7E2}"/>
              </a:ext>
            </a:extLst>
          </p:cNvPr>
          <p:cNvCxnSpPr/>
          <p:nvPr/>
        </p:nvCxnSpPr>
        <p:spPr>
          <a:xfrm>
            <a:off x="4216400" y="1600200"/>
            <a:ext cx="0" cy="21844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C3275CF2-2AB9-BAC2-DBE3-51D66285F0CA}"/>
              </a:ext>
            </a:extLst>
          </p:cNvPr>
          <p:cNvCxnSpPr/>
          <p:nvPr/>
        </p:nvCxnSpPr>
        <p:spPr>
          <a:xfrm>
            <a:off x="4546600" y="1600200"/>
            <a:ext cx="0" cy="21844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5FDDBA03-BEFD-D101-2859-B811D44B7AF9}"/>
              </a:ext>
            </a:extLst>
          </p:cNvPr>
          <p:cNvSpPr txBox="1"/>
          <p:nvPr/>
        </p:nvSpPr>
        <p:spPr>
          <a:xfrm>
            <a:off x="4521200" y="1600200"/>
            <a:ext cx="304800" cy="177800"/>
          </a:xfrm>
          <a:prstGeom prst="rect">
            <a:avLst/>
          </a:prstGeom>
          <a:noFill/>
        </p:spPr>
        <p:txBody>
          <a:bodyPr vert="horz" wrap="square" lIns="0" tIns="0" rIns="0" bIns="0" rtlCol="0" anchor="t">
            <a:noAutofit/>
          </a:bodyPr>
          <a:lstStyle/>
          <a:p>
            <a:r>
              <a:rPr lang="en-US" sz="900">
                <a:solidFill>
                  <a:srgbClr val="5B6475"/>
                </a:solidFill>
                <a:latin typeface="Calibri" panose="020F0502020204030204" pitchFamily="34" charset="0"/>
              </a:rPr>
              <a:t>8</a:t>
            </a:r>
          </a:p>
        </p:txBody>
      </p:sp>
      <p:cxnSp>
        <p:nvCxnSpPr>
          <p:cNvPr id="19" name="Straight Connector 18">
            <a:extLst>
              <a:ext uri="{FF2B5EF4-FFF2-40B4-BE49-F238E27FC236}">
                <a16:creationId xmlns:a16="http://schemas.microsoft.com/office/drawing/2014/main" id="{76C373EA-D83C-990F-FEC1-7CA969D6BD59}"/>
              </a:ext>
            </a:extLst>
          </p:cNvPr>
          <p:cNvCxnSpPr/>
          <p:nvPr/>
        </p:nvCxnSpPr>
        <p:spPr>
          <a:xfrm>
            <a:off x="4876800" y="1600200"/>
            <a:ext cx="0" cy="21844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2E5ED6F4-7FF8-20FF-2B9B-C3E36A036ADB}"/>
              </a:ext>
            </a:extLst>
          </p:cNvPr>
          <p:cNvCxnSpPr/>
          <p:nvPr/>
        </p:nvCxnSpPr>
        <p:spPr>
          <a:xfrm>
            <a:off x="5207000" y="1600200"/>
            <a:ext cx="0" cy="21844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932B86D0-2E67-9028-E790-FD2EF7D1B1EB}"/>
              </a:ext>
            </a:extLst>
          </p:cNvPr>
          <p:cNvSpPr txBox="1"/>
          <p:nvPr/>
        </p:nvSpPr>
        <p:spPr>
          <a:xfrm>
            <a:off x="5181600" y="1600200"/>
            <a:ext cx="304800" cy="177800"/>
          </a:xfrm>
          <a:prstGeom prst="rect">
            <a:avLst/>
          </a:prstGeom>
          <a:noFill/>
        </p:spPr>
        <p:txBody>
          <a:bodyPr vert="horz" wrap="square" lIns="0" tIns="0" rIns="0" bIns="0" rtlCol="0" anchor="t">
            <a:noAutofit/>
          </a:bodyPr>
          <a:lstStyle/>
          <a:p>
            <a:r>
              <a:rPr lang="en-US" sz="900">
                <a:solidFill>
                  <a:srgbClr val="5B6475"/>
                </a:solidFill>
                <a:latin typeface="Calibri" panose="020F0502020204030204" pitchFamily="34" charset="0"/>
              </a:rPr>
              <a:t>10</a:t>
            </a:r>
          </a:p>
        </p:txBody>
      </p:sp>
      <p:cxnSp>
        <p:nvCxnSpPr>
          <p:cNvPr id="22" name="Straight Connector 21">
            <a:extLst>
              <a:ext uri="{FF2B5EF4-FFF2-40B4-BE49-F238E27FC236}">
                <a16:creationId xmlns:a16="http://schemas.microsoft.com/office/drawing/2014/main" id="{FA738A24-34E4-A3EC-791D-0C769CB62747}"/>
              </a:ext>
            </a:extLst>
          </p:cNvPr>
          <p:cNvCxnSpPr/>
          <p:nvPr/>
        </p:nvCxnSpPr>
        <p:spPr>
          <a:xfrm>
            <a:off x="5537200" y="1600200"/>
            <a:ext cx="0" cy="21844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6B0093E8-6552-48DC-6349-5C7A6148F6A7}"/>
              </a:ext>
            </a:extLst>
          </p:cNvPr>
          <p:cNvCxnSpPr/>
          <p:nvPr/>
        </p:nvCxnSpPr>
        <p:spPr>
          <a:xfrm>
            <a:off x="5867400" y="1600200"/>
            <a:ext cx="0" cy="21844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E32F2212-2C7D-6B69-0CED-E051A6C566DE}"/>
              </a:ext>
            </a:extLst>
          </p:cNvPr>
          <p:cNvSpPr txBox="1"/>
          <p:nvPr/>
        </p:nvSpPr>
        <p:spPr>
          <a:xfrm>
            <a:off x="5842000" y="1600200"/>
            <a:ext cx="304800" cy="177800"/>
          </a:xfrm>
          <a:prstGeom prst="rect">
            <a:avLst/>
          </a:prstGeom>
          <a:noFill/>
        </p:spPr>
        <p:txBody>
          <a:bodyPr vert="horz" wrap="square" lIns="0" tIns="0" rIns="0" bIns="0" rtlCol="0" anchor="t">
            <a:noAutofit/>
          </a:bodyPr>
          <a:lstStyle/>
          <a:p>
            <a:r>
              <a:rPr lang="en-US" sz="900">
                <a:solidFill>
                  <a:srgbClr val="5B6475"/>
                </a:solidFill>
                <a:latin typeface="Calibri" panose="020F0502020204030204" pitchFamily="34" charset="0"/>
              </a:rPr>
              <a:t>12</a:t>
            </a:r>
          </a:p>
        </p:txBody>
      </p:sp>
      <p:cxnSp>
        <p:nvCxnSpPr>
          <p:cNvPr id="25" name="Straight Connector 24">
            <a:extLst>
              <a:ext uri="{FF2B5EF4-FFF2-40B4-BE49-F238E27FC236}">
                <a16:creationId xmlns:a16="http://schemas.microsoft.com/office/drawing/2014/main" id="{6FBAB6E4-EB1C-6708-D6F0-837146B53087}"/>
              </a:ext>
            </a:extLst>
          </p:cNvPr>
          <p:cNvCxnSpPr/>
          <p:nvPr/>
        </p:nvCxnSpPr>
        <p:spPr>
          <a:xfrm>
            <a:off x="6197600" y="1600200"/>
            <a:ext cx="0" cy="21844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297B6DD9-B41A-04E2-D4D2-4E88A8CEAB02}"/>
              </a:ext>
            </a:extLst>
          </p:cNvPr>
          <p:cNvCxnSpPr/>
          <p:nvPr/>
        </p:nvCxnSpPr>
        <p:spPr>
          <a:xfrm>
            <a:off x="6527800" y="1600200"/>
            <a:ext cx="0" cy="21844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CBB7834C-2A3E-EC41-3A1A-C38577610CB0}"/>
              </a:ext>
            </a:extLst>
          </p:cNvPr>
          <p:cNvSpPr txBox="1"/>
          <p:nvPr/>
        </p:nvSpPr>
        <p:spPr>
          <a:xfrm>
            <a:off x="6502400" y="1600200"/>
            <a:ext cx="304800" cy="177800"/>
          </a:xfrm>
          <a:prstGeom prst="rect">
            <a:avLst/>
          </a:prstGeom>
          <a:noFill/>
        </p:spPr>
        <p:txBody>
          <a:bodyPr vert="horz" wrap="square" lIns="0" tIns="0" rIns="0" bIns="0" rtlCol="0" anchor="t">
            <a:noAutofit/>
          </a:bodyPr>
          <a:lstStyle/>
          <a:p>
            <a:r>
              <a:rPr lang="en-US" sz="900">
                <a:solidFill>
                  <a:srgbClr val="5B6475"/>
                </a:solidFill>
                <a:latin typeface="Calibri" panose="020F0502020204030204" pitchFamily="34" charset="0"/>
              </a:rPr>
              <a:t>14</a:t>
            </a:r>
          </a:p>
        </p:txBody>
      </p:sp>
      <p:cxnSp>
        <p:nvCxnSpPr>
          <p:cNvPr id="28" name="Straight Connector 27">
            <a:extLst>
              <a:ext uri="{FF2B5EF4-FFF2-40B4-BE49-F238E27FC236}">
                <a16:creationId xmlns:a16="http://schemas.microsoft.com/office/drawing/2014/main" id="{325C203A-3301-D0B2-F143-4915B0D4A14B}"/>
              </a:ext>
            </a:extLst>
          </p:cNvPr>
          <p:cNvCxnSpPr/>
          <p:nvPr/>
        </p:nvCxnSpPr>
        <p:spPr>
          <a:xfrm>
            <a:off x="6858000" y="1600200"/>
            <a:ext cx="0" cy="21844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8AE9E7A9-74EB-E2C7-85CF-BB40231BBEE0}"/>
              </a:ext>
            </a:extLst>
          </p:cNvPr>
          <p:cNvCxnSpPr/>
          <p:nvPr/>
        </p:nvCxnSpPr>
        <p:spPr>
          <a:xfrm>
            <a:off x="7188200" y="1600200"/>
            <a:ext cx="0" cy="21844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5CC9B1DB-9811-C08D-0285-51D7CB12C63F}"/>
              </a:ext>
            </a:extLst>
          </p:cNvPr>
          <p:cNvSpPr txBox="1"/>
          <p:nvPr/>
        </p:nvSpPr>
        <p:spPr>
          <a:xfrm>
            <a:off x="7162800" y="1600200"/>
            <a:ext cx="304800" cy="177800"/>
          </a:xfrm>
          <a:prstGeom prst="rect">
            <a:avLst/>
          </a:prstGeom>
          <a:noFill/>
        </p:spPr>
        <p:txBody>
          <a:bodyPr vert="horz" wrap="square" lIns="0" tIns="0" rIns="0" bIns="0" rtlCol="0" anchor="t">
            <a:noAutofit/>
          </a:bodyPr>
          <a:lstStyle/>
          <a:p>
            <a:r>
              <a:rPr lang="en-US" sz="900">
                <a:solidFill>
                  <a:srgbClr val="5B6475"/>
                </a:solidFill>
                <a:latin typeface="Calibri" panose="020F0502020204030204" pitchFamily="34" charset="0"/>
              </a:rPr>
              <a:t>16</a:t>
            </a:r>
          </a:p>
        </p:txBody>
      </p:sp>
      <p:cxnSp>
        <p:nvCxnSpPr>
          <p:cNvPr id="31" name="Straight Connector 30">
            <a:extLst>
              <a:ext uri="{FF2B5EF4-FFF2-40B4-BE49-F238E27FC236}">
                <a16:creationId xmlns:a16="http://schemas.microsoft.com/office/drawing/2014/main" id="{36989DEE-7824-70CC-1D20-52D5FEC0C08C}"/>
              </a:ext>
            </a:extLst>
          </p:cNvPr>
          <p:cNvCxnSpPr/>
          <p:nvPr/>
        </p:nvCxnSpPr>
        <p:spPr>
          <a:xfrm>
            <a:off x="7518400" y="1600200"/>
            <a:ext cx="0" cy="2184400"/>
          </a:xfrm>
          <a:prstGeom prst="line">
            <a:avLst/>
          </a:prstGeom>
          <a:ln w="9525">
            <a:solidFill>
              <a:srgbClr val="E5E8EC"/>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2F776541-490D-8D2A-7572-233E9B0B8FA0}"/>
              </a:ext>
            </a:extLst>
          </p:cNvPr>
          <p:cNvSpPr txBox="1"/>
          <p:nvPr/>
        </p:nvSpPr>
        <p:spPr>
          <a:xfrm>
            <a:off x="7442200" y="1600200"/>
            <a:ext cx="304800" cy="177800"/>
          </a:xfrm>
          <a:prstGeom prst="rect">
            <a:avLst/>
          </a:prstGeom>
          <a:noFill/>
        </p:spPr>
        <p:txBody>
          <a:bodyPr vert="horz" wrap="square" lIns="0" tIns="0" rIns="0" bIns="0" rtlCol="0" anchor="t">
            <a:noAutofit/>
          </a:bodyPr>
          <a:lstStyle/>
          <a:p>
            <a:r>
              <a:rPr lang="en-US" sz="900">
                <a:solidFill>
                  <a:srgbClr val="5B6475"/>
                </a:solidFill>
                <a:latin typeface="Calibri" panose="020F0502020204030204" pitchFamily="34" charset="0"/>
              </a:rPr>
              <a:t>17</a:t>
            </a:r>
          </a:p>
        </p:txBody>
      </p:sp>
      <p:sp>
        <p:nvSpPr>
          <p:cNvPr id="33" name="TextBox 32">
            <a:extLst>
              <a:ext uri="{FF2B5EF4-FFF2-40B4-BE49-F238E27FC236}">
                <a16:creationId xmlns:a16="http://schemas.microsoft.com/office/drawing/2014/main" id="{B83E5811-BC42-7E93-B34A-E6864B6B3D2F}"/>
              </a:ext>
            </a:extLst>
          </p:cNvPr>
          <p:cNvSpPr txBox="1"/>
          <p:nvPr/>
        </p:nvSpPr>
        <p:spPr>
          <a:xfrm>
            <a:off x="508000" y="1892300"/>
            <a:ext cx="1333500" cy="203200"/>
          </a:xfrm>
          <a:prstGeom prst="rect">
            <a:avLst/>
          </a:prstGeom>
          <a:noFill/>
        </p:spPr>
        <p:txBody>
          <a:bodyPr vert="horz" wrap="square" lIns="0" tIns="0" rIns="0" bIns="0" rtlCol="0" anchor="t">
            <a:noAutofit/>
          </a:bodyPr>
          <a:lstStyle/>
          <a:p>
            <a:r>
              <a:rPr lang="en-US" sz="1100">
                <a:solidFill>
                  <a:srgbClr val="1F2937"/>
                </a:solidFill>
                <a:latin typeface="Calibri" panose="020F0502020204030204" pitchFamily="34" charset="0"/>
              </a:rPr>
              <a:t>Activity 1</a:t>
            </a:r>
          </a:p>
        </p:txBody>
      </p:sp>
      <p:sp>
        <p:nvSpPr>
          <p:cNvPr id="34" name="Rectangle 33">
            <a:extLst>
              <a:ext uri="{FF2B5EF4-FFF2-40B4-BE49-F238E27FC236}">
                <a16:creationId xmlns:a16="http://schemas.microsoft.com/office/drawing/2014/main" id="{9A5DC505-2029-4582-7EBC-A6919651852D}"/>
              </a:ext>
            </a:extLst>
          </p:cNvPr>
          <p:cNvSpPr/>
          <p:nvPr/>
        </p:nvSpPr>
        <p:spPr>
          <a:xfrm>
            <a:off x="1905000" y="1879600"/>
            <a:ext cx="1981200" cy="101600"/>
          </a:xfrm>
          <a:prstGeom prst="rect">
            <a:avLst/>
          </a:prstGeom>
          <a:solidFill>
            <a:srgbClr val="B8C2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86621977-F4C4-849A-19A9-AF5203AECDCA}"/>
              </a:ext>
            </a:extLst>
          </p:cNvPr>
          <p:cNvSpPr/>
          <p:nvPr/>
        </p:nvSpPr>
        <p:spPr>
          <a:xfrm>
            <a:off x="1905000" y="1993900"/>
            <a:ext cx="2311400" cy="127000"/>
          </a:xfrm>
          <a:prstGeom prst="rect">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0E2B078C-3137-8CAA-5496-32D5A302798D}"/>
              </a:ext>
            </a:extLst>
          </p:cNvPr>
          <p:cNvSpPr txBox="1"/>
          <p:nvPr/>
        </p:nvSpPr>
        <p:spPr>
          <a:xfrm>
            <a:off x="508000" y="2222500"/>
            <a:ext cx="1333500" cy="203200"/>
          </a:xfrm>
          <a:prstGeom prst="rect">
            <a:avLst/>
          </a:prstGeom>
          <a:noFill/>
        </p:spPr>
        <p:txBody>
          <a:bodyPr vert="horz" wrap="square" lIns="0" tIns="0" rIns="0" bIns="0" rtlCol="0" anchor="t">
            <a:noAutofit/>
          </a:bodyPr>
          <a:lstStyle/>
          <a:p>
            <a:r>
              <a:rPr lang="en-US" sz="1100">
                <a:solidFill>
                  <a:srgbClr val="1F2937"/>
                </a:solidFill>
                <a:latin typeface="Calibri" panose="020F0502020204030204" pitchFamily="34" charset="0"/>
              </a:rPr>
              <a:t>Activity 2</a:t>
            </a:r>
          </a:p>
        </p:txBody>
      </p:sp>
      <p:sp>
        <p:nvSpPr>
          <p:cNvPr id="37" name="Rectangle 36">
            <a:extLst>
              <a:ext uri="{FF2B5EF4-FFF2-40B4-BE49-F238E27FC236}">
                <a16:creationId xmlns:a16="http://schemas.microsoft.com/office/drawing/2014/main" id="{4DEC563E-9266-D38A-D665-E27F0AAD6AE7}"/>
              </a:ext>
            </a:extLst>
          </p:cNvPr>
          <p:cNvSpPr/>
          <p:nvPr/>
        </p:nvSpPr>
        <p:spPr>
          <a:xfrm>
            <a:off x="3886200" y="2209800"/>
            <a:ext cx="1320800" cy="101600"/>
          </a:xfrm>
          <a:prstGeom prst="rect">
            <a:avLst/>
          </a:prstGeom>
          <a:solidFill>
            <a:srgbClr val="B8C2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CF0F8073-A58F-C4D2-1A59-99C84C9CE1C4}"/>
              </a:ext>
            </a:extLst>
          </p:cNvPr>
          <p:cNvSpPr/>
          <p:nvPr/>
        </p:nvSpPr>
        <p:spPr>
          <a:xfrm>
            <a:off x="4216400" y="2324100"/>
            <a:ext cx="1320800" cy="12700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B3DE98E3-8DDE-A1BD-3E1E-8917E9076CDE}"/>
              </a:ext>
            </a:extLst>
          </p:cNvPr>
          <p:cNvSpPr txBox="1"/>
          <p:nvPr/>
        </p:nvSpPr>
        <p:spPr>
          <a:xfrm>
            <a:off x="508000" y="2552700"/>
            <a:ext cx="1333500" cy="203200"/>
          </a:xfrm>
          <a:prstGeom prst="rect">
            <a:avLst/>
          </a:prstGeom>
          <a:noFill/>
        </p:spPr>
        <p:txBody>
          <a:bodyPr vert="horz" wrap="square" lIns="0" tIns="0" rIns="0" bIns="0" rtlCol="0" anchor="t">
            <a:noAutofit/>
          </a:bodyPr>
          <a:lstStyle/>
          <a:p>
            <a:r>
              <a:rPr lang="en-US" sz="1100">
                <a:solidFill>
                  <a:srgbClr val="1F2937"/>
                </a:solidFill>
                <a:latin typeface="Calibri" panose="020F0502020204030204" pitchFamily="34" charset="0"/>
              </a:rPr>
              <a:t>Activity 3</a:t>
            </a:r>
          </a:p>
        </p:txBody>
      </p:sp>
      <p:sp>
        <p:nvSpPr>
          <p:cNvPr id="40" name="Rectangle 39">
            <a:extLst>
              <a:ext uri="{FF2B5EF4-FFF2-40B4-BE49-F238E27FC236}">
                <a16:creationId xmlns:a16="http://schemas.microsoft.com/office/drawing/2014/main" id="{7A55468F-64E0-3ADD-91B3-0D7099BD3FA3}"/>
              </a:ext>
            </a:extLst>
          </p:cNvPr>
          <p:cNvSpPr/>
          <p:nvPr/>
        </p:nvSpPr>
        <p:spPr>
          <a:xfrm>
            <a:off x="3886200" y="2540000"/>
            <a:ext cx="1651000" cy="101600"/>
          </a:xfrm>
          <a:prstGeom prst="rect">
            <a:avLst/>
          </a:prstGeom>
          <a:solidFill>
            <a:srgbClr val="B8C2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B5E6B35B-B001-5DB5-95DA-B0A1BF43DA4C}"/>
              </a:ext>
            </a:extLst>
          </p:cNvPr>
          <p:cNvSpPr/>
          <p:nvPr/>
        </p:nvSpPr>
        <p:spPr>
          <a:xfrm>
            <a:off x="4216400" y="2654300"/>
            <a:ext cx="1651000" cy="127000"/>
          </a:xfrm>
          <a:prstGeom prst="rect">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0ECC3AB1-AB8A-3318-9835-5EF49E51AD51}"/>
              </a:ext>
            </a:extLst>
          </p:cNvPr>
          <p:cNvSpPr txBox="1"/>
          <p:nvPr/>
        </p:nvSpPr>
        <p:spPr>
          <a:xfrm>
            <a:off x="508000" y="2882900"/>
            <a:ext cx="1333500" cy="203200"/>
          </a:xfrm>
          <a:prstGeom prst="rect">
            <a:avLst/>
          </a:prstGeom>
          <a:noFill/>
        </p:spPr>
        <p:txBody>
          <a:bodyPr vert="horz" wrap="square" lIns="0" tIns="0" rIns="0" bIns="0" rtlCol="0" anchor="t">
            <a:noAutofit/>
          </a:bodyPr>
          <a:lstStyle/>
          <a:p>
            <a:r>
              <a:rPr lang="en-US" sz="1100">
                <a:solidFill>
                  <a:srgbClr val="1F2937"/>
                </a:solidFill>
                <a:latin typeface="Calibri" panose="020F0502020204030204" pitchFamily="34" charset="0"/>
              </a:rPr>
              <a:t>Activity 4</a:t>
            </a:r>
          </a:p>
        </p:txBody>
      </p:sp>
      <p:sp>
        <p:nvSpPr>
          <p:cNvPr id="43" name="Rectangle 42">
            <a:extLst>
              <a:ext uri="{FF2B5EF4-FFF2-40B4-BE49-F238E27FC236}">
                <a16:creationId xmlns:a16="http://schemas.microsoft.com/office/drawing/2014/main" id="{DBDE6B47-6388-9AB1-B336-2E03E990DDDC}"/>
              </a:ext>
            </a:extLst>
          </p:cNvPr>
          <p:cNvSpPr/>
          <p:nvPr/>
        </p:nvSpPr>
        <p:spPr>
          <a:xfrm>
            <a:off x="5207000" y="2870200"/>
            <a:ext cx="990600" cy="101600"/>
          </a:xfrm>
          <a:prstGeom prst="rect">
            <a:avLst/>
          </a:prstGeom>
          <a:solidFill>
            <a:srgbClr val="B8C2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FBEF4D45-DD02-467A-6DC9-52E150A8A5A1}"/>
              </a:ext>
            </a:extLst>
          </p:cNvPr>
          <p:cNvSpPr/>
          <p:nvPr/>
        </p:nvSpPr>
        <p:spPr>
          <a:xfrm>
            <a:off x="5537200" y="2984500"/>
            <a:ext cx="990600" cy="12700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87C6B2FE-469B-E6A8-4B32-AA87F1C574E6}"/>
              </a:ext>
            </a:extLst>
          </p:cNvPr>
          <p:cNvSpPr txBox="1"/>
          <p:nvPr/>
        </p:nvSpPr>
        <p:spPr>
          <a:xfrm>
            <a:off x="508000" y="3213100"/>
            <a:ext cx="1333500" cy="203200"/>
          </a:xfrm>
          <a:prstGeom prst="rect">
            <a:avLst/>
          </a:prstGeom>
          <a:noFill/>
        </p:spPr>
        <p:txBody>
          <a:bodyPr vert="horz" wrap="square" lIns="0" tIns="0" rIns="0" bIns="0" rtlCol="0" anchor="t">
            <a:noAutofit/>
          </a:bodyPr>
          <a:lstStyle/>
          <a:p>
            <a:r>
              <a:rPr lang="en-US" sz="1100">
                <a:solidFill>
                  <a:srgbClr val="1F2937"/>
                </a:solidFill>
                <a:latin typeface="Calibri" panose="020F0502020204030204" pitchFamily="34" charset="0"/>
              </a:rPr>
              <a:t>Activity 5</a:t>
            </a:r>
          </a:p>
        </p:txBody>
      </p:sp>
      <p:sp>
        <p:nvSpPr>
          <p:cNvPr id="46" name="Rectangle 45">
            <a:extLst>
              <a:ext uri="{FF2B5EF4-FFF2-40B4-BE49-F238E27FC236}">
                <a16:creationId xmlns:a16="http://schemas.microsoft.com/office/drawing/2014/main" id="{49989DE9-E06E-6F75-1DA6-FB76FE4D0012}"/>
              </a:ext>
            </a:extLst>
          </p:cNvPr>
          <p:cNvSpPr/>
          <p:nvPr/>
        </p:nvSpPr>
        <p:spPr>
          <a:xfrm>
            <a:off x="5537200" y="3200400"/>
            <a:ext cx="1320800" cy="101600"/>
          </a:xfrm>
          <a:prstGeom prst="rect">
            <a:avLst/>
          </a:prstGeom>
          <a:solidFill>
            <a:srgbClr val="B8C2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BD13E2C0-751F-5F36-59F3-329C3C8D7B02}"/>
              </a:ext>
            </a:extLst>
          </p:cNvPr>
          <p:cNvSpPr/>
          <p:nvPr/>
        </p:nvSpPr>
        <p:spPr>
          <a:xfrm>
            <a:off x="5867400" y="3314700"/>
            <a:ext cx="1320800" cy="127000"/>
          </a:xfrm>
          <a:prstGeom prst="rect">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E5E0D15B-7236-304D-08F1-DB9A17EC84A8}"/>
              </a:ext>
            </a:extLst>
          </p:cNvPr>
          <p:cNvSpPr txBox="1"/>
          <p:nvPr/>
        </p:nvSpPr>
        <p:spPr>
          <a:xfrm>
            <a:off x="508000" y="3543300"/>
            <a:ext cx="1333500" cy="203200"/>
          </a:xfrm>
          <a:prstGeom prst="rect">
            <a:avLst/>
          </a:prstGeom>
          <a:noFill/>
        </p:spPr>
        <p:txBody>
          <a:bodyPr vert="horz" wrap="square" lIns="0" tIns="0" rIns="0" bIns="0" rtlCol="0" anchor="t">
            <a:noAutofit/>
          </a:bodyPr>
          <a:lstStyle/>
          <a:p>
            <a:r>
              <a:rPr lang="en-US" sz="1100">
                <a:solidFill>
                  <a:srgbClr val="1F2937"/>
                </a:solidFill>
                <a:latin typeface="Calibri" panose="020F0502020204030204" pitchFamily="34" charset="0"/>
              </a:rPr>
              <a:t>Activity 6</a:t>
            </a:r>
          </a:p>
        </p:txBody>
      </p:sp>
      <p:sp>
        <p:nvSpPr>
          <p:cNvPr id="49" name="Rectangle 48">
            <a:extLst>
              <a:ext uri="{FF2B5EF4-FFF2-40B4-BE49-F238E27FC236}">
                <a16:creationId xmlns:a16="http://schemas.microsoft.com/office/drawing/2014/main" id="{1CF449A7-8436-CF71-3B21-AD57ADBB3E68}"/>
              </a:ext>
            </a:extLst>
          </p:cNvPr>
          <p:cNvSpPr/>
          <p:nvPr/>
        </p:nvSpPr>
        <p:spPr>
          <a:xfrm>
            <a:off x="6858000" y="3530600"/>
            <a:ext cx="330200" cy="101600"/>
          </a:xfrm>
          <a:prstGeom prst="rect">
            <a:avLst/>
          </a:prstGeom>
          <a:solidFill>
            <a:srgbClr val="B8C2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755471AE-E194-558A-F5C3-48C61D7CEAD9}"/>
              </a:ext>
            </a:extLst>
          </p:cNvPr>
          <p:cNvSpPr/>
          <p:nvPr/>
        </p:nvSpPr>
        <p:spPr>
          <a:xfrm>
            <a:off x="7188200" y="3644900"/>
            <a:ext cx="330200" cy="127000"/>
          </a:xfrm>
          <a:prstGeom prst="rect">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a:extLst>
              <a:ext uri="{FF2B5EF4-FFF2-40B4-BE49-F238E27FC236}">
                <a16:creationId xmlns:a16="http://schemas.microsoft.com/office/drawing/2014/main" id="{7B1BF407-017B-23FC-0F44-F2D603AB73A8}"/>
              </a:ext>
            </a:extLst>
          </p:cNvPr>
          <p:cNvCxnSpPr/>
          <p:nvPr/>
        </p:nvCxnSpPr>
        <p:spPr>
          <a:xfrm>
            <a:off x="4876800" y="1600200"/>
            <a:ext cx="0" cy="2235200"/>
          </a:xfrm>
          <a:prstGeom prst="line">
            <a:avLst/>
          </a:prstGeom>
          <a:ln w="25400">
            <a:solidFill>
              <a:srgbClr val="E3A63B"/>
            </a:solidFill>
          </a:ln>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BA287EE9-2976-F759-829E-19FB0CAA1685}"/>
              </a:ext>
            </a:extLst>
          </p:cNvPr>
          <p:cNvSpPr txBox="1"/>
          <p:nvPr/>
        </p:nvSpPr>
        <p:spPr>
          <a:xfrm>
            <a:off x="4927600" y="3657600"/>
            <a:ext cx="889000" cy="177800"/>
          </a:xfrm>
          <a:prstGeom prst="rect">
            <a:avLst/>
          </a:prstGeom>
          <a:noFill/>
        </p:spPr>
        <p:txBody>
          <a:bodyPr vert="horz" wrap="square" lIns="0" tIns="0" rIns="0" bIns="0" rtlCol="0" anchor="t">
            <a:noAutofit/>
          </a:bodyPr>
          <a:lstStyle/>
          <a:p>
            <a:r>
              <a:rPr lang="en-US" sz="900" b="1">
                <a:solidFill>
                  <a:srgbClr val="A86F0E"/>
                </a:solidFill>
                <a:latin typeface="Calibri" panose="020F0502020204030204" pitchFamily="34" charset="0"/>
              </a:rPr>
              <a:t>Status date</a:t>
            </a:r>
          </a:p>
        </p:txBody>
      </p:sp>
      <p:sp>
        <p:nvSpPr>
          <p:cNvPr id="53" name="Rectangle 52">
            <a:extLst>
              <a:ext uri="{FF2B5EF4-FFF2-40B4-BE49-F238E27FC236}">
                <a16:creationId xmlns:a16="http://schemas.microsoft.com/office/drawing/2014/main" id="{0D5A65B5-40CE-B259-12AA-9EF74B1DB6DC}"/>
              </a:ext>
            </a:extLst>
          </p:cNvPr>
          <p:cNvSpPr/>
          <p:nvPr/>
        </p:nvSpPr>
        <p:spPr>
          <a:xfrm>
            <a:off x="1905000" y="3911600"/>
            <a:ext cx="203200" cy="101600"/>
          </a:xfrm>
          <a:prstGeom prst="rect">
            <a:avLst/>
          </a:prstGeom>
          <a:solidFill>
            <a:srgbClr val="B8C2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73F1F7E4-0F84-6C6E-85C9-345A2E853E0E}"/>
              </a:ext>
            </a:extLst>
          </p:cNvPr>
          <p:cNvSpPr txBox="1"/>
          <p:nvPr/>
        </p:nvSpPr>
        <p:spPr>
          <a:xfrm>
            <a:off x="2159000" y="3860800"/>
            <a:ext cx="1651000" cy="177800"/>
          </a:xfrm>
          <a:prstGeom prst="rect">
            <a:avLst/>
          </a:prstGeom>
          <a:noFill/>
        </p:spPr>
        <p:txBody>
          <a:bodyPr vert="horz" wrap="square" lIns="0" tIns="0" rIns="0" bIns="0" rtlCol="0" anchor="t">
            <a:noAutofit/>
          </a:bodyPr>
          <a:lstStyle/>
          <a:p>
            <a:r>
              <a:rPr lang="en-US" sz="900" b="1">
                <a:solidFill>
                  <a:srgbClr val="5B6475"/>
                </a:solidFill>
                <a:latin typeface="Calibri" panose="020F0502020204030204" pitchFamily="34" charset="0"/>
              </a:rPr>
              <a:t>Baseline (approved)</a:t>
            </a:r>
          </a:p>
        </p:txBody>
      </p:sp>
      <p:sp>
        <p:nvSpPr>
          <p:cNvPr id="55" name="Rectangle 54">
            <a:extLst>
              <a:ext uri="{FF2B5EF4-FFF2-40B4-BE49-F238E27FC236}">
                <a16:creationId xmlns:a16="http://schemas.microsoft.com/office/drawing/2014/main" id="{2CDB8FC6-C5C1-026B-A009-408A36A98D25}"/>
              </a:ext>
            </a:extLst>
          </p:cNvPr>
          <p:cNvSpPr/>
          <p:nvPr/>
        </p:nvSpPr>
        <p:spPr>
          <a:xfrm>
            <a:off x="3810000" y="3911600"/>
            <a:ext cx="203200" cy="101600"/>
          </a:xfrm>
          <a:prstGeom prst="rect">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F694C0C9-FF7C-DA05-02D3-897AB04E51C8}"/>
              </a:ext>
            </a:extLst>
          </p:cNvPr>
          <p:cNvSpPr txBox="1"/>
          <p:nvPr/>
        </p:nvSpPr>
        <p:spPr>
          <a:xfrm>
            <a:off x="4064000" y="3860800"/>
            <a:ext cx="1524000" cy="177800"/>
          </a:xfrm>
          <a:prstGeom prst="rect">
            <a:avLst/>
          </a:prstGeom>
          <a:noFill/>
        </p:spPr>
        <p:txBody>
          <a:bodyPr vert="horz" wrap="square" lIns="0" tIns="0" rIns="0" bIns="0" rtlCol="0" anchor="t">
            <a:noAutofit/>
          </a:bodyPr>
          <a:lstStyle/>
          <a:p>
            <a:r>
              <a:rPr lang="en-US" sz="900" b="1">
                <a:solidFill>
                  <a:srgbClr val="A84A2E"/>
                </a:solidFill>
                <a:latin typeface="Calibri" panose="020F0502020204030204" pitchFamily="34" charset="0"/>
              </a:rPr>
              <a:t>Current schedule</a:t>
            </a:r>
          </a:p>
        </p:txBody>
      </p:sp>
      <p:sp>
        <p:nvSpPr>
          <p:cNvPr id="57" name="TextBox 56">
            <a:extLst>
              <a:ext uri="{FF2B5EF4-FFF2-40B4-BE49-F238E27FC236}">
                <a16:creationId xmlns:a16="http://schemas.microsoft.com/office/drawing/2014/main" id="{8D729F18-9643-4DC3-3123-802E121564C7}"/>
              </a:ext>
            </a:extLst>
          </p:cNvPr>
          <p:cNvSpPr txBox="1"/>
          <p:nvPr/>
        </p:nvSpPr>
        <p:spPr>
          <a:xfrm>
            <a:off x="508000" y="4089400"/>
            <a:ext cx="7112000" cy="381000"/>
          </a:xfrm>
          <a:prstGeom prst="rect">
            <a:avLst/>
          </a:prstGeom>
          <a:noFill/>
        </p:spPr>
        <p:txBody>
          <a:bodyPr vert="horz" wrap="square" lIns="0" tIns="0" rIns="0" bIns="0" rtlCol="0" anchor="t">
            <a:noAutofit/>
          </a:bodyPr>
          <a:lstStyle/>
          <a:p>
            <a:r>
              <a:rPr lang="en-US" sz="1000" i="1">
                <a:solidFill>
                  <a:srgbClr val="5B6475"/>
                </a:solidFill>
                <a:latin typeface="Calibri" panose="020F0502020204030204" pitchFamily="34" charset="0"/>
              </a:rPr>
              <a:t>Activity 1 finished a week late, so the finish moves from week 16 to week 17: a schedule variance to analyze and act on.</a:t>
            </a:r>
          </a:p>
        </p:txBody>
      </p:sp>
      <p:sp>
        <p:nvSpPr>
          <p:cNvPr id="58" name="Rectangle: Rounded Corners 57">
            <a:extLst>
              <a:ext uri="{FF2B5EF4-FFF2-40B4-BE49-F238E27FC236}">
                <a16:creationId xmlns:a16="http://schemas.microsoft.com/office/drawing/2014/main" id="{5C78F43E-C508-702B-828E-EB24CFCE6A49}"/>
              </a:ext>
            </a:extLst>
          </p:cNvPr>
          <p:cNvSpPr/>
          <p:nvPr/>
        </p:nvSpPr>
        <p:spPr>
          <a:xfrm>
            <a:off x="8128000" y="1320800"/>
            <a:ext cx="3556000" cy="1270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6B8B47FD-AE5C-A843-AA3B-4BCADBEEE29C}"/>
              </a:ext>
            </a:extLst>
          </p:cNvPr>
          <p:cNvSpPr txBox="1"/>
          <p:nvPr/>
        </p:nvSpPr>
        <p:spPr>
          <a:xfrm>
            <a:off x="8255000" y="1447800"/>
            <a:ext cx="3302000" cy="10160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What it is</a:t>
            </a:r>
          </a:p>
          <a:p>
            <a:pPr marL="127000" indent="-127000">
              <a:spcAft>
                <a:spcPts val="400"/>
              </a:spcAft>
              <a:buClr>
                <a:srgbClr val="34509A"/>
              </a:buClr>
              <a:buFont typeface="+mj-lt"/>
              <a:buChar char="•"/>
            </a:pPr>
            <a:r>
              <a:rPr lang="en-US" sz="1100">
                <a:solidFill>
                  <a:srgbClr val="1F2937"/>
                </a:solidFill>
                <a:latin typeface="Calibri" panose="020F0502020204030204" pitchFamily="34" charset="0"/>
              </a:rPr>
              <a:t>The approved version of the schedule model: baseline start and finish dates, durations, and milestones</a:t>
            </a:r>
          </a:p>
          <a:p>
            <a:pPr marL="127000" indent="-127000">
              <a:spcAft>
                <a:spcPts val="400"/>
              </a:spcAft>
              <a:buClr>
                <a:srgbClr val="34509A"/>
              </a:buClr>
              <a:buFont typeface="+mj-lt"/>
              <a:buChar char="•"/>
            </a:pPr>
            <a:r>
              <a:rPr lang="en-US" sz="1100">
                <a:solidFill>
                  <a:srgbClr val="1F2937"/>
                </a:solidFill>
                <a:latin typeface="Calibri" panose="020F0502020204030204" pitchFamily="34" charset="0"/>
              </a:rPr>
              <a:t>Part of the project management plan</a:t>
            </a:r>
          </a:p>
        </p:txBody>
      </p:sp>
      <p:sp>
        <p:nvSpPr>
          <p:cNvPr id="60" name="Rectangle: Rounded Corners 59">
            <a:extLst>
              <a:ext uri="{FF2B5EF4-FFF2-40B4-BE49-F238E27FC236}">
                <a16:creationId xmlns:a16="http://schemas.microsoft.com/office/drawing/2014/main" id="{22EF5DF9-5115-0CC5-2CF3-64AD02AC0522}"/>
              </a:ext>
            </a:extLst>
          </p:cNvPr>
          <p:cNvSpPr/>
          <p:nvPr/>
        </p:nvSpPr>
        <p:spPr>
          <a:xfrm>
            <a:off x="8128000" y="2692400"/>
            <a:ext cx="3556000" cy="1473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A970EF80-BE46-A29B-EFC0-276DA7C9239B}"/>
              </a:ext>
            </a:extLst>
          </p:cNvPr>
          <p:cNvSpPr txBox="1"/>
          <p:nvPr/>
        </p:nvSpPr>
        <p:spPr>
          <a:xfrm>
            <a:off x="8255000" y="2819400"/>
            <a:ext cx="3302000" cy="12192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How it is used</a:t>
            </a:r>
          </a:p>
          <a:p>
            <a:pPr marL="127000" indent="-127000">
              <a:spcAft>
                <a:spcPts val="400"/>
              </a:spcAft>
              <a:buClr>
                <a:srgbClr val="34509A"/>
              </a:buClr>
              <a:buFont typeface="+mj-lt"/>
              <a:buChar char="•"/>
            </a:pPr>
            <a:r>
              <a:rPr lang="en-US" sz="1100">
                <a:solidFill>
                  <a:srgbClr val="1F2937"/>
                </a:solidFill>
                <a:latin typeface="Calibri" panose="020F0502020204030204" pitchFamily="34" charset="0"/>
              </a:rPr>
              <a:t>Compare actual progress to it: SV and SPI, variance analysis</a:t>
            </a:r>
          </a:p>
          <a:p>
            <a:pPr marL="127000" indent="-127000">
              <a:spcAft>
                <a:spcPts val="400"/>
              </a:spcAft>
              <a:buClr>
                <a:srgbClr val="34509A"/>
              </a:buClr>
              <a:buFont typeface="+mj-lt"/>
              <a:buChar char="•"/>
            </a:pPr>
            <a:r>
              <a:rPr lang="en-US" sz="1100">
                <a:solidFill>
                  <a:srgbClr val="1F2937"/>
                </a:solidFill>
                <a:latin typeface="Calibri" panose="020F0502020204030204" pitchFamily="34" charset="0"/>
              </a:rPr>
              <a:t>With scope and cost baselines, it forms the performance measurement baseline</a:t>
            </a:r>
          </a:p>
        </p:txBody>
      </p:sp>
      <p:sp>
        <p:nvSpPr>
          <p:cNvPr id="62" name="Rectangle: Rounded Corners 61">
            <a:extLst>
              <a:ext uri="{FF2B5EF4-FFF2-40B4-BE49-F238E27FC236}">
                <a16:creationId xmlns:a16="http://schemas.microsoft.com/office/drawing/2014/main" id="{E337E7E9-1F07-C40D-A6D9-FAEE4B4CC0AB}"/>
              </a:ext>
            </a:extLst>
          </p:cNvPr>
          <p:cNvSpPr/>
          <p:nvPr/>
        </p:nvSpPr>
        <p:spPr>
          <a:xfrm>
            <a:off x="8128000" y="4267200"/>
            <a:ext cx="3556000" cy="1092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1E0A5468-DD39-5586-B453-DB0FBE7333E1}"/>
              </a:ext>
            </a:extLst>
          </p:cNvPr>
          <p:cNvSpPr txBox="1"/>
          <p:nvPr/>
        </p:nvSpPr>
        <p:spPr>
          <a:xfrm>
            <a:off x="8255000" y="4394200"/>
            <a:ext cx="3302000" cy="838200"/>
          </a:xfrm>
          <a:prstGeom prst="rect">
            <a:avLst/>
          </a:prstGeom>
          <a:noFill/>
        </p:spPr>
        <p:txBody>
          <a:bodyPr vert="horz" wrap="square" lIns="0" tIns="0" rIns="0" bIns="0" rtlCol="0" anchor="t">
            <a:noAutofit/>
          </a:bodyPr>
          <a:lstStyle/>
          <a:p>
            <a:pPr>
              <a:spcAft>
                <a:spcPts val="600"/>
              </a:spcAft>
            </a:pPr>
            <a:r>
              <a:rPr lang="en-US" sz="1400" b="1">
                <a:solidFill>
                  <a:srgbClr val="A84A2E"/>
                </a:solidFill>
                <a:latin typeface="Calibri" panose="020F0502020204030204" pitchFamily="34" charset="0"/>
              </a:rPr>
              <a:t>Changing it</a:t>
            </a:r>
          </a:p>
          <a:p>
            <a:r>
              <a:rPr lang="en-US" sz="1100">
                <a:solidFill>
                  <a:srgbClr val="1F2937"/>
                </a:solidFill>
                <a:latin typeface="Calibri" panose="020F0502020204030204" pitchFamily="34" charset="0"/>
              </a:rPr>
              <a:t>Only through integrated change control. The current schedule updates with progress; the baseline stays frozen.</a:t>
            </a:r>
          </a:p>
        </p:txBody>
      </p:sp>
      <p:sp>
        <p:nvSpPr>
          <p:cNvPr id="64" name="Rectangle: Rounded Corners 63">
            <a:extLst>
              <a:ext uri="{FF2B5EF4-FFF2-40B4-BE49-F238E27FC236}">
                <a16:creationId xmlns:a16="http://schemas.microsoft.com/office/drawing/2014/main" id="{7628A8D0-9B34-286E-A487-0E303A947848}"/>
              </a:ext>
            </a:extLst>
          </p:cNvPr>
          <p:cNvSpPr/>
          <p:nvPr/>
        </p:nvSpPr>
        <p:spPr>
          <a:xfrm>
            <a:off x="508000" y="5486400"/>
            <a:ext cx="11176000" cy="838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B4993650-F684-53EE-9E28-2C155D2B7383}"/>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never re-baseline to hide a variance. Measure against the baseline, take corrective action, and change it only for an approved change. In agile, the release plan and roadmap play this role.</a:t>
            </a:r>
          </a:p>
        </p:txBody>
      </p:sp>
      <p:sp>
        <p:nvSpPr>
          <p:cNvPr id="66" name="Footer">
            <a:extLst>
              <a:ext uri="{FF2B5EF4-FFF2-40B4-BE49-F238E27FC236}">
                <a16:creationId xmlns:a16="http://schemas.microsoft.com/office/drawing/2014/main" id="{D8D870CC-5DEB-A4B9-966D-A3CA56846A99}"/>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6.5.3.1 (schedule baseline), 6.6 (Control Schedule), and 4.2 (project management plan)</a:t>
            </a:r>
          </a:p>
        </p:txBody>
      </p:sp>
      <p:sp>
        <p:nvSpPr>
          <p:cNvPr id="67" name="SlideNum">
            <a:extLst>
              <a:ext uri="{FF2B5EF4-FFF2-40B4-BE49-F238E27FC236}">
                <a16:creationId xmlns:a16="http://schemas.microsoft.com/office/drawing/2014/main" id="{4F184F53-B610-1DD3-214E-5DB235FDA109}"/>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42</a:t>
            </a:r>
          </a:p>
        </p:txBody>
      </p:sp>
      <p:sp>
        <p:nvSpPr>
          <p:cNvPr id="68"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9033530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917640F-8849-3154-2171-A6F782D32A36}"/>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Root cause analysis with a fishbone diagram</a:t>
            </a:r>
          </a:p>
        </p:txBody>
      </p:sp>
      <p:sp>
        <p:nvSpPr>
          <p:cNvPr id="3" name="Tag">
            <a:extLst>
              <a:ext uri="{FF2B5EF4-FFF2-40B4-BE49-F238E27FC236}">
                <a16:creationId xmlns:a16="http://schemas.microsoft.com/office/drawing/2014/main" id="{9E24A5E8-E6D1-F9B6-BF58-B8B32B2D34E4}"/>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7 (quality), Business Environment Task 4 (issues), and People Task 1 (root cause) · Lean link: jidoka</a:t>
            </a:r>
          </a:p>
        </p:txBody>
      </p:sp>
      <p:cxnSp>
        <p:nvCxnSpPr>
          <p:cNvPr id="4" name="Straight Connector 3">
            <a:extLst>
              <a:ext uri="{FF2B5EF4-FFF2-40B4-BE49-F238E27FC236}">
                <a16:creationId xmlns:a16="http://schemas.microsoft.com/office/drawing/2014/main" id="{6E8FE4EF-52A3-C004-069E-FBDC3BCEF176}"/>
              </a:ext>
            </a:extLst>
          </p:cNvPr>
          <p:cNvCxnSpPr/>
          <p:nvPr/>
        </p:nvCxnSpPr>
        <p:spPr>
          <a:xfrm>
            <a:off x="762000" y="3683000"/>
            <a:ext cx="8128000" cy="0"/>
          </a:xfrm>
          <a:prstGeom prst="line">
            <a:avLst/>
          </a:prstGeom>
          <a:ln w="50800">
            <a:solidFill>
              <a:srgbClr val="14213D"/>
            </a:solidFill>
            <a:tailEnd type="triangle"/>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14673729-3B36-6010-BE6C-1A879CC5FBD3}"/>
              </a:ext>
            </a:extLst>
          </p:cNvPr>
          <p:cNvSpPr/>
          <p:nvPr/>
        </p:nvSpPr>
        <p:spPr>
          <a:xfrm>
            <a:off x="9042400" y="2997200"/>
            <a:ext cx="2641600" cy="1371600"/>
          </a:xfrm>
          <a:prstGeom prst="roundRect">
            <a:avLst>
              <a:gd name="adj" fmla="val 8000"/>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52400" tIns="25400" rIns="152400" bIns="25400" rtlCol="0" anchor="ctr"/>
          <a:lstStyle/>
          <a:p>
            <a:r>
              <a:rPr lang="en-US" sz="1500" b="1">
                <a:solidFill>
                  <a:srgbClr val="FFFFFF"/>
                </a:solidFill>
                <a:latin typeface="Calibri" panose="020F0502020204030204" pitchFamily="34" charset="0"/>
              </a:rPr>
              <a:t>Effect: shorted motor coils</a:t>
            </a:r>
          </a:p>
          <a:p>
            <a:r>
              <a:rPr lang="en-US" sz="1500" b="1">
                <a:solidFill>
                  <a:srgbClr val="FFFFFF"/>
                </a:solidFill>
                <a:latin typeface="Calibri" panose="020F0502020204030204" pitchFamily="34" charset="0"/>
              </a:rPr>
              <a:t>23% failure rate on cycle test</a:t>
            </a:r>
          </a:p>
        </p:txBody>
      </p:sp>
      <p:cxnSp>
        <p:nvCxnSpPr>
          <p:cNvPr id="6" name="Straight Connector 5">
            <a:extLst>
              <a:ext uri="{FF2B5EF4-FFF2-40B4-BE49-F238E27FC236}">
                <a16:creationId xmlns:a16="http://schemas.microsoft.com/office/drawing/2014/main" id="{D52A4E72-44FF-1E83-EE6A-02DD50F4D65A}"/>
              </a:ext>
            </a:extLst>
          </p:cNvPr>
          <p:cNvCxnSpPr/>
          <p:nvPr/>
        </p:nvCxnSpPr>
        <p:spPr>
          <a:xfrm>
            <a:off x="1905000" y="1752600"/>
            <a:ext cx="1270000" cy="1930400"/>
          </a:xfrm>
          <a:prstGeom prst="line">
            <a:avLst/>
          </a:prstGeom>
          <a:ln w="31750">
            <a:solidFill>
              <a:srgbClr val="34509A"/>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5152F507-ED3D-FA2D-5BED-D76E1298E4AC}"/>
              </a:ext>
            </a:extLst>
          </p:cNvPr>
          <p:cNvSpPr txBox="1"/>
          <p:nvPr/>
        </p:nvSpPr>
        <p:spPr>
          <a:xfrm>
            <a:off x="1016000" y="1422400"/>
            <a:ext cx="1778000" cy="279400"/>
          </a:xfrm>
          <a:prstGeom prst="rect">
            <a:avLst/>
          </a:prstGeom>
          <a:noFill/>
        </p:spPr>
        <p:txBody>
          <a:bodyPr vert="horz" wrap="square" lIns="0" tIns="0" rIns="0" bIns="0" rtlCol="0" anchor="t">
            <a:noAutofit/>
          </a:bodyPr>
          <a:lstStyle/>
          <a:p>
            <a:pPr algn="r"/>
            <a:r>
              <a:rPr lang="en-US" sz="1600" b="1">
                <a:solidFill>
                  <a:srgbClr val="34509A"/>
                </a:solidFill>
                <a:latin typeface="Calibri" panose="020F0502020204030204" pitchFamily="34" charset="0"/>
              </a:rPr>
              <a:t>Manpower</a:t>
            </a:r>
          </a:p>
        </p:txBody>
      </p:sp>
      <p:sp>
        <p:nvSpPr>
          <p:cNvPr id="8" name="TextBox 7">
            <a:extLst>
              <a:ext uri="{FF2B5EF4-FFF2-40B4-BE49-F238E27FC236}">
                <a16:creationId xmlns:a16="http://schemas.microsoft.com/office/drawing/2014/main" id="{814DAC77-91A2-C146-C540-0A7B3B265885}"/>
              </a:ext>
            </a:extLst>
          </p:cNvPr>
          <p:cNvSpPr txBox="1"/>
          <p:nvPr/>
        </p:nvSpPr>
        <p:spPr>
          <a:xfrm>
            <a:off x="431800" y="2489200"/>
            <a:ext cx="1905000" cy="584200"/>
          </a:xfrm>
          <a:prstGeom prst="rect">
            <a:avLst/>
          </a:prstGeom>
          <a:noFill/>
        </p:spPr>
        <p:txBody>
          <a:bodyPr vert="horz" wrap="square" lIns="0" tIns="0" rIns="0" bIns="0" rtlCol="0" anchor="t">
            <a:noAutofit/>
          </a:bodyPr>
          <a:lstStyle/>
          <a:p>
            <a:pPr algn="r"/>
            <a:r>
              <a:rPr lang="en-US" sz="1300">
                <a:solidFill>
                  <a:srgbClr val="1F2937"/>
                </a:solidFill>
                <a:latin typeface="Calibri" panose="020F0502020204030204" pitchFamily="34" charset="0"/>
              </a:rPr>
              <a:t>New mechanics not trained on winder setup</a:t>
            </a:r>
          </a:p>
        </p:txBody>
      </p:sp>
      <p:cxnSp>
        <p:nvCxnSpPr>
          <p:cNvPr id="9" name="Straight Connector 8">
            <a:extLst>
              <a:ext uri="{FF2B5EF4-FFF2-40B4-BE49-F238E27FC236}">
                <a16:creationId xmlns:a16="http://schemas.microsoft.com/office/drawing/2014/main" id="{21D9B6A0-2E5D-FDF8-1E44-B7BC21325DA4}"/>
              </a:ext>
            </a:extLst>
          </p:cNvPr>
          <p:cNvCxnSpPr/>
          <p:nvPr/>
        </p:nvCxnSpPr>
        <p:spPr>
          <a:xfrm>
            <a:off x="4445000" y="1752600"/>
            <a:ext cx="1270000" cy="1930400"/>
          </a:xfrm>
          <a:prstGeom prst="line">
            <a:avLst/>
          </a:prstGeom>
          <a:ln w="31750">
            <a:solidFill>
              <a:srgbClr val="34509A"/>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266E5E02-6111-3DE9-413E-551439410DE5}"/>
              </a:ext>
            </a:extLst>
          </p:cNvPr>
          <p:cNvSpPr txBox="1"/>
          <p:nvPr/>
        </p:nvSpPr>
        <p:spPr>
          <a:xfrm>
            <a:off x="3556000" y="1422400"/>
            <a:ext cx="1778000" cy="279400"/>
          </a:xfrm>
          <a:prstGeom prst="rect">
            <a:avLst/>
          </a:prstGeom>
          <a:noFill/>
        </p:spPr>
        <p:txBody>
          <a:bodyPr vert="horz" wrap="square" lIns="0" tIns="0" rIns="0" bIns="0" rtlCol="0" anchor="t">
            <a:noAutofit/>
          </a:bodyPr>
          <a:lstStyle/>
          <a:p>
            <a:pPr algn="r"/>
            <a:r>
              <a:rPr lang="en-US" sz="1600" b="1">
                <a:solidFill>
                  <a:srgbClr val="34509A"/>
                </a:solidFill>
                <a:latin typeface="Calibri" panose="020F0502020204030204" pitchFamily="34" charset="0"/>
              </a:rPr>
              <a:t>Methods</a:t>
            </a:r>
          </a:p>
        </p:txBody>
      </p:sp>
      <p:sp>
        <p:nvSpPr>
          <p:cNvPr id="11" name="TextBox 10">
            <a:extLst>
              <a:ext uri="{FF2B5EF4-FFF2-40B4-BE49-F238E27FC236}">
                <a16:creationId xmlns:a16="http://schemas.microsoft.com/office/drawing/2014/main" id="{2615FBDC-AB05-0C53-F0E0-E53281173C3C}"/>
              </a:ext>
            </a:extLst>
          </p:cNvPr>
          <p:cNvSpPr txBox="1"/>
          <p:nvPr/>
        </p:nvSpPr>
        <p:spPr>
          <a:xfrm>
            <a:off x="2971800" y="2489200"/>
            <a:ext cx="1905000" cy="584200"/>
          </a:xfrm>
          <a:prstGeom prst="rect">
            <a:avLst/>
          </a:prstGeom>
          <a:noFill/>
        </p:spPr>
        <p:txBody>
          <a:bodyPr vert="horz" wrap="square" lIns="0" tIns="0" rIns="0" bIns="0" rtlCol="0" anchor="t">
            <a:noAutofit/>
          </a:bodyPr>
          <a:lstStyle/>
          <a:p>
            <a:pPr algn="r"/>
            <a:r>
              <a:rPr lang="en-US" sz="1300">
                <a:solidFill>
                  <a:srgbClr val="1F2937"/>
                </a:solidFill>
                <a:latin typeface="Calibri" panose="020F0502020204030204" pitchFamily="34" charset="0"/>
              </a:rPr>
              <a:t>Lamination alignment not in the setup SOP</a:t>
            </a:r>
          </a:p>
        </p:txBody>
      </p:sp>
      <p:cxnSp>
        <p:nvCxnSpPr>
          <p:cNvPr id="12" name="Straight Connector 11">
            <a:extLst>
              <a:ext uri="{FF2B5EF4-FFF2-40B4-BE49-F238E27FC236}">
                <a16:creationId xmlns:a16="http://schemas.microsoft.com/office/drawing/2014/main" id="{CD84E78E-8048-0576-5082-33654B018B8D}"/>
              </a:ext>
            </a:extLst>
          </p:cNvPr>
          <p:cNvCxnSpPr/>
          <p:nvPr/>
        </p:nvCxnSpPr>
        <p:spPr>
          <a:xfrm>
            <a:off x="6985000" y="1752600"/>
            <a:ext cx="1270000" cy="1930400"/>
          </a:xfrm>
          <a:prstGeom prst="line">
            <a:avLst/>
          </a:prstGeom>
          <a:ln w="31750">
            <a:solidFill>
              <a:srgbClr val="34509A"/>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F2A0EDC-6C55-988A-6F74-37B597E9A337}"/>
              </a:ext>
            </a:extLst>
          </p:cNvPr>
          <p:cNvSpPr txBox="1"/>
          <p:nvPr/>
        </p:nvSpPr>
        <p:spPr>
          <a:xfrm>
            <a:off x="6096000" y="1422400"/>
            <a:ext cx="1778000" cy="279400"/>
          </a:xfrm>
          <a:prstGeom prst="rect">
            <a:avLst/>
          </a:prstGeom>
          <a:noFill/>
        </p:spPr>
        <p:txBody>
          <a:bodyPr vert="horz" wrap="square" lIns="0" tIns="0" rIns="0" bIns="0" rtlCol="0" anchor="t">
            <a:noAutofit/>
          </a:bodyPr>
          <a:lstStyle/>
          <a:p>
            <a:pPr algn="r"/>
            <a:r>
              <a:rPr lang="en-US" sz="1600" b="1">
                <a:solidFill>
                  <a:srgbClr val="34509A"/>
                </a:solidFill>
                <a:latin typeface="Calibri" panose="020F0502020204030204" pitchFamily="34" charset="0"/>
              </a:rPr>
              <a:t>Machines</a:t>
            </a:r>
          </a:p>
        </p:txBody>
      </p:sp>
      <p:sp>
        <p:nvSpPr>
          <p:cNvPr id="14" name="TextBox 13">
            <a:extLst>
              <a:ext uri="{FF2B5EF4-FFF2-40B4-BE49-F238E27FC236}">
                <a16:creationId xmlns:a16="http://schemas.microsoft.com/office/drawing/2014/main" id="{5BE20461-DDE4-1188-B0C4-D6F536E13A16}"/>
              </a:ext>
            </a:extLst>
          </p:cNvPr>
          <p:cNvSpPr txBox="1"/>
          <p:nvPr/>
        </p:nvSpPr>
        <p:spPr>
          <a:xfrm>
            <a:off x="5511800" y="2489200"/>
            <a:ext cx="1905000" cy="584200"/>
          </a:xfrm>
          <a:prstGeom prst="rect">
            <a:avLst/>
          </a:prstGeom>
          <a:noFill/>
        </p:spPr>
        <p:txBody>
          <a:bodyPr vert="horz" wrap="square" lIns="0" tIns="0" rIns="0" bIns="0" rtlCol="0" anchor="t">
            <a:noAutofit/>
          </a:bodyPr>
          <a:lstStyle/>
          <a:p>
            <a:pPr algn="r"/>
            <a:r>
              <a:rPr lang="en-US" sz="1300">
                <a:solidFill>
                  <a:srgbClr val="1F2937"/>
                </a:solidFill>
                <a:latin typeface="Calibri" panose="020F0502020204030204" pitchFamily="34" charset="0"/>
              </a:rPr>
              <a:t>Stacker misplacing slot liners</a:t>
            </a:r>
          </a:p>
        </p:txBody>
      </p:sp>
      <p:cxnSp>
        <p:nvCxnSpPr>
          <p:cNvPr id="15" name="Straight Connector 14">
            <a:extLst>
              <a:ext uri="{FF2B5EF4-FFF2-40B4-BE49-F238E27FC236}">
                <a16:creationId xmlns:a16="http://schemas.microsoft.com/office/drawing/2014/main" id="{2813D150-D6F0-B70B-7B72-4A32EDDFA859}"/>
              </a:ext>
            </a:extLst>
          </p:cNvPr>
          <p:cNvCxnSpPr/>
          <p:nvPr/>
        </p:nvCxnSpPr>
        <p:spPr>
          <a:xfrm flipV="1">
            <a:off x="1905000" y="3683000"/>
            <a:ext cx="1270000" cy="1930400"/>
          </a:xfrm>
          <a:prstGeom prst="line">
            <a:avLst/>
          </a:prstGeom>
          <a:ln w="31750">
            <a:solidFill>
              <a:srgbClr val="34509A"/>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5BA11333-9B7D-F57B-F7F0-BCF860B1A69A}"/>
              </a:ext>
            </a:extLst>
          </p:cNvPr>
          <p:cNvSpPr txBox="1"/>
          <p:nvPr/>
        </p:nvSpPr>
        <p:spPr>
          <a:xfrm>
            <a:off x="1016000" y="5689600"/>
            <a:ext cx="1778000" cy="279400"/>
          </a:xfrm>
          <a:prstGeom prst="rect">
            <a:avLst/>
          </a:prstGeom>
          <a:noFill/>
        </p:spPr>
        <p:txBody>
          <a:bodyPr vert="horz" wrap="square" lIns="0" tIns="0" rIns="0" bIns="0" rtlCol="0" anchor="t">
            <a:noAutofit/>
          </a:bodyPr>
          <a:lstStyle/>
          <a:p>
            <a:pPr algn="r"/>
            <a:r>
              <a:rPr lang="en-US" sz="1600" b="1">
                <a:solidFill>
                  <a:srgbClr val="34509A"/>
                </a:solidFill>
                <a:latin typeface="Calibri" panose="020F0502020204030204" pitchFamily="34" charset="0"/>
              </a:rPr>
              <a:t>Metrics</a:t>
            </a:r>
          </a:p>
        </p:txBody>
      </p:sp>
      <p:sp>
        <p:nvSpPr>
          <p:cNvPr id="17" name="TextBox 16">
            <a:extLst>
              <a:ext uri="{FF2B5EF4-FFF2-40B4-BE49-F238E27FC236}">
                <a16:creationId xmlns:a16="http://schemas.microsoft.com/office/drawing/2014/main" id="{24989536-0737-DEA0-FE69-07A93148A3CA}"/>
              </a:ext>
            </a:extLst>
          </p:cNvPr>
          <p:cNvSpPr txBox="1"/>
          <p:nvPr/>
        </p:nvSpPr>
        <p:spPr>
          <a:xfrm>
            <a:off x="431800" y="4318000"/>
            <a:ext cx="1905000" cy="584200"/>
          </a:xfrm>
          <a:prstGeom prst="rect">
            <a:avLst/>
          </a:prstGeom>
          <a:noFill/>
        </p:spPr>
        <p:txBody>
          <a:bodyPr vert="horz" wrap="square" lIns="0" tIns="0" rIns="0" bIns="0" rtlCol="0" anchor="t">
            <a:noAutofit/>
          </a:bodyPr>
          <a:lstStyle/>
          <a:p>
            <a:pPr algn="r"/>
            <a:r>
              <a:rPr lang="en-US" sz="1300">
                <a:solidFill>
                  <a:srgbClr val="1F2937"/>
                </a:solidFill>
                <a:latin typeface="Calibri" panose="020F0502020204030204" pitchFamily="34" charset="0"/>
              </a:rPr>
              <a:t>Cycle test times not trended on a control chart</a:t>
            </a:r>
          </a:p>
        </p:txBody>
      </p:sp>
      <p:cxnSp>
        <p:nvCxnSpPr>
          <p:cNvPr id="18" name="Straight Connector 17">
            <a:extLst>
              <a:ext uri="{FF2B5EF4-FFF2-40B4-BE49-F238E27FC236}">
                <a16:creationId xmlns:a16="http://schemas.microsoft.com/office/drawing/2014/main" id="{3C79E419-C0DB-DEE3-E0EE-8B6D045F7D82}"/>
              </a:ext>
            </a:extLst>
          </p:cNvPr>
          <p:cNvCxnSpPr/>
          <p:nvPr/>
        </p:nvCxnSpPr>
        <p:spPr>
          <a:xfrm flipV="1">
            <a:off x="4445000" y="3683000"/>
            <a:ext cx="1270000" cy="1930400"/>
          </a:xfrm>
          <a:prstGeom prst="line">
            <a:avLst/>
          </a:prstGeom>
          <a:ln w="31750">
            <a:solidFill>
              <a:srgbClr val="34509A"/>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CA3BE755-684E-FCBB-C6DC-80AC3F698257}"/>
              </a:ext>
            </a:extLst>
          </p:cNvPr>
          <p:cNvSpPr txBox="1"/>
          <p:nvPr/>
        </p:nvSpPr>
        <p:spPr>
          <a:xfrm>
            <a:off x="3556000" y="5689600"/>
            <a:ext cx="1778000" cy="279400"/>
          </a:xfrm>
          <a:prstGeom prst="rect">
            <a:avLst/>
          </a:prstGeom>
          <a:noFill/>
        </p:spPr>
        <p:txBody>
          <a:bodyPr vert="horz" wrap="square" lIns="0" tIns="0" rIns="0" bIns="0" rtlCol="0" anchor="t">
            <a:noAutofit/>
          </a:bodyPr>
          <a:lstStyle/>
          <a:p>
            <a:pPr algn="r"/>
            <a:r>
              <a:rPr lang="en-US" sz="1600" b="1">
                <a:solidFill>
                  <a:srgbClr val="34509A"/>
                </a:solidFill>
                <a:latin typeface="Calibri" panose="020F0502020204030204" pitchFamily="34" charset="0"/>
              </a:rPr>
              <a:t>Materials</a:t>
            </a:r>
          </a:p>
        </p:txBody>
      </p:sp>
      <p:sp>
        <p:nvSpPr>
          <p:cNvPr id="20" name="TextBox 19">
            <a:extLst>
              <a:ext uri="{FF2B5EF4-FFF2-40B4-BE49-F238E27FC236}">
                <a16:creationId xmlns:a16="http://schemas.microsoft.com/office/drawing/2014/main" id="{E18FC6FC-C1CE-7A67-4D07-58E33F5B2983}"/>
              </a:ext>
            </a:extLst>
          </p:cNvPr>
          <p:cNvSpPr txBox="1"/>
          <p:nvPr/>
        </p:nvSpPr>
        <p:spPr>
          <a:xfrm>
            <a:off x="2971800" y="4318000"/>
            <a:ext cx="1905000" cy="584200"/>
          </a:xfrm>
          <a:prstGeom prst="rect">
            <a:avLst/>
          </a:prstGeom>
          <a:noFill/>
        </p:spPr>
        <p:txBody>
          <a:bodyPr vert="horz" wrap="square" lIns="0" tIns="0" rIns="0" bIns="0" rtlCol="0" anchor="t">
            <a:noAutofit/>
          </a:bodyPr>
          <a:lstStyle/>
          <a:p>
            <a:pPr algn="r"/>
            <a:r>
              <a:rPr lang="en-US" sz="1300">
                <a:solidFill>
                  <a:srgbClr val="1F2937"/>
                </a:solidFill>
                <a:latin typeface="Calibri" panose="020F0502020204030204" pitchFamily="34" charset="0"/>
              </a:rPr>
              <a:t>Resin cure time and viscosity</a:t>
            </a:r>
          </a:p>
        </p:txBody>
      </p:sp>
      <p:cxnSp>
        <p:nvCxnSpPr>
          <p:cNvPr id="21" name="Straight Connector 20">
            <a:extLst>
              <a:ext uri="{FF2B5EF4-FFF2-40B4-BE49-F238E27FC236}">
                <a16:creationId xmlns:a16="http://schemas.microsoft.com/office/drawing/2014/main" id="{222CE301-D2D8-8748-911F-F2643B3A8925}"/>
              </a:ext>
            </a:extLst>
          </p:cNvPr>
          <p:cNvCxnSpPr/>
          <p:nvPr/>
        </p:nvCxnSpPr>
        <p:spPr>
          <a:xfrm flipV="1">
            <a:off x="6985000" y="3683000"/>
            <a:ext cx="1270000" cy="1930400"/>
          </a:xfrm>
          <a:prstGeom prst="line">
            <a:avLst/>
          </a:prstGeom>
          <a:ln w="31750">
            <a:solidFill>
              <a:srgbClr val="34509A"/>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D39678C4-B10D-268F-08DD-458646D48AA7}"/>
              </a:ext>
            </a:extLst>
          </p:cNvPr>
          <p:cNvSpPr txBox="1"/>
          <p:nvPr/>
        </p:nvSpPr>
        <p:spPr>
          <a:xfrm>
            <a:off x="6096000" y="5689600"/>
            <a:ext cx="1778000" cy="279400"/>
          </a:xfrm>
          <a:prstGeom prst="rect">
            <a:avLst/>
          </a:prstGeom>
          <a:noFill/>
        </p:spPr>
        <p:txBody>
          <a:bodyPr vert="horz" wrap="square" lIns="0" tIns="0" rIns="0" bIns="0" rtlCol="0" anchor="t">
            <a:noAutofit/>
          </a:bodyPr>
          <a:lstStyle/>
          <a:p>
            <a:pPr algn="r"/>
            <a:r>
              <a:rPr lang="en-US" sz="1600" b="1">
                <a:solidFill>
                  <a:srgbClr val="34509A"/>
                </a:solidFill>
                <a:latin typeface="Calibri" panose="020F0502020204030204" pitchFamily="34" charset="0"/>
              </a:rPr>
              <a:t>Minutes (time)</a:t>
            </a:r>
          </a:p>
        </p:txBody>
      </p:sp>
      <p:sp>
        <p:nvSpPr>
          <p:cNvPr id="23" name="TextBox 22">
            <a:extLst>
              <a:ext uri="{FF2B5EF4-FFF2-40B4-BE49-F238E27FC236}">
                <a16:creationId xmlns:a16="http://schemas.microsoft.com/office/drawing/2014/main" id="{F3BF86B0-2A31-A126-8E26-0F3E5A053452}"/>
              </a:ext>
            </a:extLst>
          </p:cNvPr>
          <p:cNvSpPr txBox="1"/>
          <p:nvPr/>
        </p:nvSpPr>
        <p:spPr>
          <a:xfrm>
            <a:off x="5511800" y="4318000"/>
            <a:ext cx="1905000" cy="584200"/>
          </a:xfrm>
          <a:prstGeom prst="rect">
            <a:avLst/>
          </a:prstGeom>
          <a:noFill/>
        </p:spPr>
        <p:txBody>
          <a:bodyPr vert="horz" wrap="square" lIns="0" tIns="0" rIns="0" bIns="0" rtlCol="0" anchor="t">
            <a:noAutofit/>
          </a:bodyPr>
          <a:lstStyle/>
          <a:p>
            <a:pPr algn="r"/>
            <a:r>
              <a:rPr lang="en-US" sz="1300">
                <a:solidFill>
                  <a:srgbClr val="1F2937"/>
                </a:solidFill>
                <a:latin typeface="Calibri" panose="020F0502020204030204" pitchFamily="34" charset="0"/>
              </a:rPr>
              <a:t>No time allotted for weekly preventive maintenance</a:t>
            </a:r>
          </a:p>
        </p:txBody>
      </p:sp>
      <p:sp>
        <p:nvSpPr>
          <p:cNvPr id="24" name="TextBox 23">
            <a:extLst>
              <a:ext uri="{FF2B5EF4-FFF2-40B4-BE49-F238E27FC236}">
                <a16:creationId xmlns:a16="http://schemas.microsoft.com/office/drawing/2014/main" id="{05449C3A-ADA4-DEE4-CC76-F73C43A8A38A}"/>
              </a:ext>
            </a:extLst>
          </p:cNvPr>
          <p:cNvSpPr txBox="1"/>
          <p:nvPr/>
        </p:nvSpPr>
        <p:spPr>
          <a:xfrm>
            <a:off x="508000" y="6070600"/>
            <a:ext cx="11176000" cy="254000"/>
          </a:xfrm>
          <a:prstGeom prst="rect">
            <a:avLst/>
          </a:prstGeom>
          <a:noFill/>
        </p:spPr>
        <p:txBody>
          <a:bodyPr vert="horz" wrap="square" lIns="0" tIns="0" rIns="0" bIns="0" rtlCol="0" anchor="t">
            <a:noAutofit/>
          </a:bodyPr>
          <a:lstStyle/>
          <a:p>
            <a:r>
              <a:rPr lang="en-US" sz="1400" i="1">
                <a:solidFill>
                  <a:srgbClr val="14213D"/>
                </a:solidFill>
                <a:latin typeface="Calibri" panose="020F0502020204030204" pitchFamily="34" charset="0"/>
              </a:rPr>
              <a:t>Brainstorm causes under each category (the 6 Ms), then confirm the real root causes with data, for example a Pareto chart.</a:t>
            </a:r>
          </a:p>
        </p:txBody>
      </p:sp>
      <p:sp>
        <p:nvSpPr>
          <p:cNvPr id="25" name="Footer">
            <a:extLst>
              <a:ext uri="{FF2B5EF4-FFF2-40B4-BE49-F238E27FC236}">
                <a16:creationId xmlns:a16="http://schemas.microsoft.com/office/drawing/2014/main" id="{BCA7206C-3F56-A574-E191-2D13AAFE263B}"/>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Kaoru Ishikawa, Guide to Quality Control (1976); PMI, PMBOK® Guide — Sixth Edition, 8.2 (Manage Quality); adapted from PMI course material</a:t>
            </a:r>
          </a:p>
        </p:txBody>
      </p:sp>
      <p:sp>
        <p:nvSpPr>
          <p:cNvPr id="26" name="SlideNum">
            <a:extLst>
              <a:ext uri="{FF2B5EF4-FFF2-40B4-BE49-F238E27FC236}">
                <a16:creationId xmlns:a16="http://schemas.microsoft.com/office/drawing/2014/main" id="{9D368247-F35B-EA74-D756-8B7FDACC6B8D}"/>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43</a:t>
            </a:r>
          </a:p>
        </p:txBody>
      </p:sp>
      <p:sp>
        <p:nvSpPr>
          <p:cNvPr id="27"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1853304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9B51219-8319-B8BF-31CA-9773ADBEF439}"/>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Control charts and the rule of seven</a:t>
            </a:r>
          </a:p>
        </p:txBody>
      </p:sp>
      <p:sp>
        <p:nvSpPr>
          <p:cNvPr id="3" name="Tag">
            <a:extLst>
              <a:ext uri="{FF2B5EF4-FFF2-40B4-BE49-F238E27FC236}">
                <a16:creationId xmlns:a16="http://schemas.microsoft.com/office/drawing/2014/main" id="{68867B4E-A284-C558-F9BF-FA14E6EBE42C}"/>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7 (Plan and optimize quality of products/deliverables)</a:t>
            </a:r>
          </a:p>
        </p:txBody>
      </p:sp>
      <p:cxnSp>
        <p:nvCxnSpPr>
          <p:cNvPr id="4" name="Straight Connector 3">
            <a:extLst>
              <a:ext uri="{FF2B5EF4-FFF2-40B4-BE49-F238E27FC236}">
                <a16:creationId xmlns:a16="http://schemas.microsoft.com/office/drawing/2014/main" id="{B25AC26A-0A50-3D8D-2F23-C06CA03623D8}"/>
              </a:ext>
            </a:extLst>
          </p:cNvPr>
          <p:cNvCxnSpPr/>
          <p:nvPr/>
        </p:nvCxnSpPr>
        <p:spPr>
          <a:xfrm>
            <a:off x="1168400" y="1600200"/>
            <a:ext cx="5842000" cy="0"/>
          </a:xfrm>
          <a:prstGeom prst="line">
            <a:avLst/>
          </a:prstGeom>
          <a:ln w="15875">
            <a:solidFill>
              <a:srgbClr val="E3A63B"/>
            </a:solidFill>
            <a:prstDash val="dash"/>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26A60F25-0D3C-E2E4-2070-A5B5B10F644B}"/>
              </a:ext>
            </a:extLst>
          </p:cNvPr>
          <p:cNvSpPr txBox="1"/>
          <p:nvPr/>
        </p:nvSpPr>
        <p:spPr>
          <a:xfrm>
            <a:off x="508000" y="1498600"/>
            <a:ext cx="609600" cy="203200"/>
          </a:xfrm>
          <a:prstGeom prst="rect">
            <a:avLst/>
          </a:prstGeom>
          <a:noFill/>
        </p:spPr>
        <p:txBody>
          <a:bodyPr vert="horz" wrap="square" lIns="0" tIns="0" rIns="0" bIns="0" rtlCol="0" anchor="t">
            <a:noAutofit/>
          </a:bodyPr>
          <a:lstStyle/>
          <a:p>
            <a:pPr algn="r"/>
            <a:r>
              <a:rPr lang="en-US" sz="1000" b="1">
                <a:solidFill>
                  <a:srgbClr val="E3A63B"/>
                </a:solidFill>
                <a:latin typeface="Calibri" panose="020F0502020204030204" pitchFamily="34" charset="0"/>
              </a:rPr>
              <a:t>USL</a:t>
            </a:r>
          </a:p>
        </p:txBody>
      </p:sp>
      <p:cxnSp>
        <p:nvCxnSpPr>
          <p:cNvPr id="6" name="Straight Connector 5">
            <a:extLst>
              <a:ext uri="{FF2B5EF4-FFF2-40B4-BE49-F238E27FC236}">
                <a16:creationId xmlns:a16="http://schemas.microsoft.com/office/drawing/2014/main" id="{07869456-913F-AA13-8B0C-3A755A917A4F}"/>
              </a:ext>
            </a:extLst>
          </p:cNvPr>
          <p:cNvCxnSpPr/>
          <p:nvPr/>
        </p:nvCxnSpPr>
        <p:spPr>
          <a:xfrm>
            <a:off x="1168400" y="1854200"/>
            <a:ext cx="5842000" cy="0"/>
          </a:xfrm>
          <a:prstGeom prst="line">
            <a:avLst/>
          </a:prstGeom>
          <a:ln w="15875">
            <a:solidFill>
              <a:srgbClr val="C0392B"/>
            </a:solidFill>
            <a:prstDash val="dash"/>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A10F951D-7FAC-F3D4-2F1C-09F0E634F992}"/>
              </a:ext>
            </a:extLst>
          </p:cNvPr>
          <p:cNvSpPr txBox="1"/>
          <p:nvPr/>
        </p:nvSpPr>
        <p:spPr>
          <a:xfrm>
            <a:off x="508000" y="1752600"/>
            <a:ext cx="609600" cy="203200"/>
          </a:xfrm>
          <a:prstGeom prst="rect">
            <a:avLst/>
          </a:prstGeom>
          <a:noFill/>
        </p:spPr>
        <p:txBody>
          <a:bodyPr vert="horz" wrap="square" lIns="0" tIns="0" rIns="0" bIns="0" rtlCol="0" anchor="t">
            <a:noAutofit/>
          </a:bodyPr>
          <a:lstStyle/>
          <a:p>
            <a:pPr algn="r"/>
            <a:r>
              <a:rPr lang="en-US" sz="1000" b="1">
                <a:solidFill>
                  <a:srgbClr val="C0392B"/>
                </a:solidFill>
                <a:latin typeface="Calibri" panose="020F0502020204030204" pitchFamily="34" charset="0"/>
              </a:rPr>
              <a:t>UCL</a:t>
            </a:r>
          </a:p>
        </p:txBody>
      </p:sp>
      <p:cxnSp>
        <p:nvCxnSpPr>
          <p:cNvPr id="8" name="Straight Connector 7">
            <a:extLst>
              <a:ext uri="{FF2B5EF4-FFF2-40B4-BE49-F238E27FC236}">
                <a16:creationId xmlns:a16="http://schemas.microsoft.com/office/drawing/2014/main" id="{B35DD427-1BD5-C2B2-EDC1-C27AE7EFE16A}"/>
              </a:ext>
            </a:extLst>
          </p:cNvPr>
          <p:cNvCxnSpPr/>
          <p:nvPr/>
        </p:nvCxnSpPr>
        <p:spPr>
          <a:xfrm>
            <a:off x="1168400" y="2616200"/>
            <a:ext cx="5842000" cy="0"/>
          </a:xfrm>
          <a:prstGeom prst="line">
            <a:avLst/>
          </a:prstGeom>
          <a:ln w="15875">
            <a:solidFill>
              <a:srgbClr val="5B6475"/>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FB35B36B-9E1D-00C3-EC49-18E55AD163B6}"/>
              </a:ext>
            </a:extLst>
          </p:cNvPr>
          <p:cNvSpPr txBox="1"/>
          <p:nvPr/>
        </p:nvSpPr>
        <p:spPr>
          <a:xfrm>
            <a:off x="508000" y="2514600"/>
            <a:ext cx="609600" cy="203200"/>
          </a:xfrm>
          <a:prstGeom prst="rect">
            <a:avLst/>
          </a:prstGeom>
          <a:noFill/>
        </p:spPr>
        <p:txBody>
          <a:bodyPr vert="horz" wrap="square" lIns="0" tIns="0" rIns="0" bIns="0" rtlCol="0" anchor="t">
            <a:noAutofit/>
          </a:bodyPr>
          <a:lstStyle/>
          <a:p>
            <a:pPr algn="r"/>
            <a:r>
              <a:rPr lang="en-US" sz="1000" b="1">
                <a:solidFill>
                  <a:srgbClr val="5B6475"/>
                </a:solidFill>
                <a:latin typeface="Calibri" panose="020F0502020204030204" pitchFamily="34" charset="0"/>
              </a:rPr>
              <a:t>Mean</a:t>
            </a:r>
          </a:p>
        </p:txBody>
      </p:sp>
      <p:cxnSp>
        <p:nvCxnSpPr>
          <p:cNvPr id="10" name="Straight Connector 9">
            <a:extLst>
              <a:ext uri="{FF2B5EF4-FFF2-40B4-BE49-F238E27FC236}">
                <a16:creationId xmlns:a16="http://schemas.microsoft.com/office/drawing/2014/main" id="{B225AC9F-2D51-F074-56AC-BF577266F1E6}"/>
              </a:ext>
            </a:extLst>
          </p:cNvPr>
          <p:cNvCxnSpPr/>
          <p:nvPr/>
        </p:nvCxnSpPr>
        <p:spPr>
          <a:xfrm>
            <a:off x="1168400" y="3378200"/>
            <a:ext cx="5842000" cy="0"/>
          </a:xfrm>
          <a:prstGeom prst="line">
            <a:avLst/>
          </a:prstGeom>
          <a:ln w="15875">
            <a:solidFill>
              <a:srgbClr val="C0392B"/>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5AD47B94-6F39-789E-3EAC-E7EAE0679573}"/>
              </a:ext>
            </a:extLst>
          </p:cNvPr>
          <p:cNvSpPr txBox="1"/>
          <p:nvPr/>
        </p:nvSpPr>
        <p:spPr>
          <a:xfrm>
            <a:off x="508000" y="3276600"/>
            <a:ext cx="609600" cy="203200"/>
          </a:xfrm>
          <a:prstGeom prst="rect">
            <a:avLst/>
          </a:prstGeom>
          <a:noFill/>
        </p:spPr>
        <p:txBody>
          <a:bodyPr vert="horz" wrap="square" lIns="0" tIns="0" rIns="0" bIns="0" rtlCol="0" anchor="t">
            <a:noAutofit/>
          </a:bodyPr>
          <a:lstStyle/>
          <a:p>
            <a:pPr algn="r"/>
            <a:r>
              <a:rPr lang="en-US" sz="1000" b="1">
                <a:solidFill>
                  <a:srgbClr val="C0392B"/>
                </a:solidFill>
                <a:latin typeface="Calibri" panose="020F0502020204030204" pitchFamily="34" charset="0"/>
              </a:rPr>
              <a:t>LCL</a:t>
            </a:r>
          </a:p>
        </p:txBody>
      </p:sp>
      <p:cxnSp>
        <p:nvCxnSpPr>
          <p:cNvPr id="12" name="Straight Connector 11">
            <a:extLst>
              <a:ext uri="{FF2B5EF4-FFF2-40B4-BE49-F238E27FC236}">
                <a16:creationId xmlns:a16="http://schemas.microsoft.com/office/drawing/2014/main" id="{D433C6BA-3D79-2CEB-9385-E15EE04D05B4}"/>
              </a:ext>
            </a:extLst>
          </p:cNvPr>
          <p:cNvCxnSpPr/>
          <p:nvPr/>
        </p:nvCxnSpPr>
        <p:spPr>
          <a:xfrm>
            <a:off x="1168400" y="3632200"/>
            <a:ext cx="5842000" cy="0"/>
          </a:xfrm>
          <a:prstGeom prst="line">
            <a:avLst/>
          </a:prstGeom>
          <a:ln w="15875">
            <a:solidFill>
              <a:srgbClr val="E3A63B"/>
            </a:solidFill>
            <a:prstDash val="dash"/>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C4C9217A-963E-96DF-98DA-41091CAB52C5}"/>
              </a:ext>
            </a:extLst>
          </p:cNvPr>
          <p:cNvSpPr txBox="1"/>
          <p:nvPr/>
        </p:nvSpPr>
        <p:spPr>
          <a:xfrm>
            <a:off x="508000" y="3530600"/>
            <a:ext cx="609600" cy="203200"/>
          </a:xfrm>
          <a:prstGeom prst="rect">
            <a:avLst/>
          </a:prstGeom>
          <a:noFill/>
        </p:spPr>
        <p:txBody>
          <a:bodyPr vert="horz" wrap="square" lIns="0" tIns="0" rIns="0" bIns="0" rtlCol="0" anchor="t">
            <a:noAutofit/>
          </a:bodyPr>
          <a:lstStyle/>
          <a:p>
            <a:pPr algn="r"/>
            <a:r>
              <a:rPr lang="en-US" sz="1000" b="1">
                <a:solidFill>
                  <a:srgbClr val="E3A63B"/>
                </a:solidFill>
                <a:latin typeface="Calibri" panose="020F0502020204030204" pitchFamily="34" charset="0"/>
              </a:rPr>
              <a:t>LSL</a:t>
            </a:r>
          </a:p>
        </p:txBody>
      </p:sp>
      <p:cxnSp>
        <p:nvCxnSpPr>
          <p:cNvPr id="14" name="Straight Connector 13">
            <a:extLst>
              <a:ext uri="{FF2B5EF4-FFF2-40B4-BE49-F238E27FC236}">
                <a16:creationId xmlns:a16="http://schemas.microsoft.com/office/drawing/2014/main" id="{6D0CC27C-D22A-62F9-F712-0C55A32F0224}"/>
              </a:ext>
            </a:extLst>
          </p:cNvPr>
          <p:cNvCxnSpPr/>
          <p:nvPr/>
        </p:nvCxnSpPr>
        <p:spPr>
          <a:xfrm>
            <a:off x="1295400" y="2489200"/>
            <a:ext cx="317500" cy="330200"/>
          </a:xfrm>
          <a:prstGeom prst="line">
            <a:avLst/>
          </a:prstGeom>
          <a:ln w="1587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E1251D03-46B6-CC0E-F61C-959D2D7B762E}"/>
              </a:ext>
            </a:extLst>
          </p:cNvPr>
          <p:cNvCxnSpPr/>
          <p:nvPr/>
        </p:nvCxnSpPr>
        <p:spPr>
          <a:xfrm flipV="1">
            <a:off x="1612900" y="2311400"/>
            <a:ext cx="317500" cy="508000"/>
          </a:xfrm>
          <a:prstGeom prst="line">
            <a:avLst/>
          </a:prstGeom>
          <a:ln w="1587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FF93B16-4DE8-5800-3C1B-0D8B9D717F59}"/>
              </a:ext>
            </a:extLst>
          </p:cNvPr>
          <p:cNvCxnSpPr/>
          <p:nvPr/>
        </p:nvCxnSpPr>
        <p:spPr>
          <a:xfrm>
            <a:off x="1930400" y="2311400"/>
            <a:ext cx="317500" cy="381000"/>
          </a:xfrm>
          <a:prstGeom prst="line">
            <a:avLst/>
          </a:prstGeom>
          <a:ln w="1587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1A40B8D3-4B27-12D5-D931-3A941615087A}"/>
              </a:ext>
            </a:extLst>
          </p:cNvPr>
          <p:cNvCxnSpPr/>
          <p:nvPr/>
        </p:nvCxnSpPr>
        <p:spPr>
          <a:xfrm flipV="1">
            <a:off x="2247900" y="2387600"/>
            <a:ext cx="317500" cy="304800"/>
          </a:xfrm>
          <a:prstGeom prst="line">
            <a:avLst/>
          </a:prstGeom>
          <a:ln w="1587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1461665A-7655-E5DC-7CDE-6730EBDD94BD}"/>
              </a:ext>
            </a:extLst>
          </p:cNvPr>
          <p:cNvCxnSpPr/>
          <p:nvPr/>
        </p:nvCxnSpPr>
        <p:spPr>
          <a:xfrm>
            <a:off x="2565400" y="2387600"/>
            <a:ext cx="317500" cy="584200"/>
          </a:xfrm>
          <a:prstGeom prst="line">
            <a:avLst/>
          </a:prstGeom>
          <a:ln w="1587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71BEB11-0920-079E-87C9-B6794B3E0DF4}"/>
              </a:ext>
            </a:extLst>
          </p:cNvPr>
          <p:cNvCxnSpPr/>
          <p:nvPr/>
        </p:nvCxnSpPr>
        <p:spPr>
          <a:xfrm flipV="1">
            <a:off x="2882900" y="2565400"/>
            <a:ext cx="317500" cy="406400"/>
          </a:xfrm>
          <a:prstGeom prst="line">
            <a:avLst/>
          </a:prstGeom>
          <a:ln w="1587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C56A9BA-1B26-24A4-B1FE-798291C57F5D}"/>
              </a:ext>
            </a:extLst>
          </p:cNvPr>
          <p:cNvCxnSpPr/>
          <p:nvPr/>
        </p:nvCxnSpPr>
        <p:spPr>
          <a:xfrm>
            <a:off x="3200400" y="2565400"/>
            <a:ext cx="317500" cy="203200"/>
          </a:xfrm>
          <a:prstGeom prst="line">
            <a:avLst/>
          </a:prstGeom>
          <a:ln w="1587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2A8B4261-7C58-D545-9C71-71F621254C5B}"/>
              </a:ext>
            </a:extLst>
          </p:cNvPr>
          <p:cNvCxnSpPr/>
          <p:nvPr/>
        </p:nvCxnSpPr>
        <p:spPr>
          <a:xfrm flipV="1">
            <a:off x="3517900" y="2463800"/>
            <a:ext cx="317500" cy="304800"/>
          </a:xfrm>
          <a:prstGeom prst="line">
            <a:avLst/>
          </a:prstGeom>
          <a:ln w="1587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E4EA10BB-4F19-9813-A044-8C8D1CEAADFF}"/>
              </a:ext>
            </a:extLst>
          </p:cNvPr>
          <p:cNvCxnSpPr/>
          <p:nvPr/>
        </p:nvCxnSpPr>
        <p:spPr>
          <a:xfrm flipV="1">
            <a:off x="3835400" y="2336800"/>
            <a:ext cx="317500" cy="127000"/>
          </a:xfrm>
          <a:prstGeom prst="line">
            <a:avLst/>
          </a:prstGeom>
          <a:ln w="1587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2DAF1EFF-FA42-5362-7C4D-68BBCCBC0EA5}"/>
              </a:ext>
            </a:extLst>
          </p:cNvPr>
          <p:cNvCxnSpPr/>
          <p:nvPr/>
        </p:nvCxnSpPr>
        <p:spPr>
          <a:xfrm>
            <a:off x="4152900" y="2336800"/>
            <a:ext cx="317500" cy="177800"/>
          </a:xfrm>
          <a:prstGeom prst="line">
            <a:avLst/>
          </a:prstGeom>
          <a:ln w="1587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ED9F2715-FDBF-853B-1D29-DDA5A2739712}"/>
              </a:ext>
            </a:extLst>
          </p:cNvPr>
          <p:cNvCxnSpPr/>
          <p:nvPr/>
        </p:nvCxnSpPr>
        <p:spPr>
          <a:xfrm flipV="1">
            <a:off x="4470400" y="2235200"/>
            <a:ext cx="317500" cy="279400"/>
          </a:xfrm>
          <a:prstGeom prst="line">
            <a:avLst/>
          </a:prstGeom>
          <a:ln w="1587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ACE8CE5E-0B3C-EBAD-387F-C36064B906A1}"/>
              </a:ext>
            </a:extLst>
          </p:cNvPr>
          <p:cNvCxnSpPr/>
          <p:nvPr/>
        </p:nvCxnSpPr>
        <p:spPr>
          <a:xfrm>
            <a:off x="4787900" y="2235200"/>
            <a:ext cx="317500" cy="177800"/>
          </a:xfrm>
          <a:prstGeom prst="line">
            <a:avLst/>
          </a:prstGeom>
          <a:ln w="1587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BC30B040-65C1-2E91-EE23-CCEB08C9940D}"/>
              </a:ext>
            </a:extLst>
          </p:cNvPr>
          <p:cNvCxnSpPr/>
          <p:nvPr/>
        </p:nvCxnSpPr>
        <p:spPr>
          <a:xfrm flipV="1">
            <a:off x="5105400" y="2286000"/>
            <a:ext cx="317500" cy="127000"/>
          </a:xfrm>
          <a:prstGeom prst="line">
            <a:avLst/>
          </a:prstGeom>
          <a:ln w="1587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98BD016-C89F-2B61-33D7-F8A0BA379364}"/>
              </a:ext>
            </a:extLst>
          </p:cNvPr>
          <p:cNvCxnSpPr/>
          <p:nvPr/>
        </p:nvCxnSpPr>
        <p:spPr>
          <a:xfrm>
            <a:off x="5422900" y="2286000"/>
            <a:ext cx="317500" cy="152400"/>
          </a:xfrm>
          <a:prstGeom prst="line">
            <a:avLst/>
          </a:prstGeom>
          <a:ln w="1587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319AF447-6341-1691-BF7F-4D316C47FBA3}"/>
              </a:ext>
            </a:extLst>
          </p:cNvPr>
          <p:cNvCxnSpPr/>
          <p:nvPr/>
        </p:nvCxnSpPr>
        <p:spPr>
          <a:xfrm>
            <a:off x="5740400" y="2438400"/>
            <a:ext cx="317500" cy="304800"/>
          </a:xfrm>
          <a:prstGeom prst="line">
            <a:avLst/>
          </a:prstGeom>
          <a:ln w="1587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A84F882-7DB5-C31D-C0A1-9EEA193C4E13}"/>
              </a:ext>
            </a:extLst>
          </p:cNvPr>
          <p:cNvCxnSpPr/>
          <p:nvPr/>
        </p:nvCxnSpPr>
        <p:spPr>
          <a:xfrm flipV="1">
            <a:off x="6057900" y="1727200"/>
            <a:ext cx="317500" cy="1016000"/>
          </a:xfrm>
          <a:prstGeom prst="line">
            <a:avLst/>
          </a:prstGeom>
          <a:ln w="1587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8B47B379-AAB0-F0CD-211F-BEC1A6138083}"/>
              </a:ext>
            </a:extLst>
          </p:cNvPr>
          <p:cNvCxnSpPr/>
          <p:nvPr/>
        </p:nvCxnSpPr>
        <p:spPr>
          <a:xfrm>
            <a:off x="6375400" y="1727200"/>
            <a:ext cx="317500" cy="990600"/>
          </a:xfrm>
          <a:prstGeom prst="line">
            <a:avLst/>
          </a:prstGeom>
          <a:ln w="15875">
            <a:solidFill>
              <a:srgbClr val="9AA8CC"/>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2FA7A991-EF0A-1368-03B3-DAD4B03CD523}"/>
              </a:ext>
            </a:extLst>
          </p:cNvPr>
          <p:cNvCxnSpPr/>
          <p:nvPr/>
        </p:nvCxnSpPr>
        <p:spPr>
          <a:xfrm flipV="1">
            <a:off x="6692900" y="2540000"/>
            <a:ext cx="317500" cy="177800"/>
          </a:xfrm>
          <a:prstGeom prst="line">
            <a:avLst/>
          </a:prstGeom>
          <a:ln w="15875">
            <a:solidFill>
              <a:srgbClr val="9AA8CC"/>
            </a:solidFill>
          </a:ln>
        </p:spPr>
        <p:style>
          <a:lnRef idx="2">
            <a:schemeClr val="accent1"/>
          </a:lnRef>
          <a:fillRef idx="0">
            <a:schemeClr val="accent1"/>
          </a:fillRef>
          <a:effectRef idx="1">
            <a:schemeClr val="accent1"/>
          </a:effectRef>
          <a:fontRef idx="minor">
            <a:schemeClr val="tx1"/>
          </a:fontRef>
        </p:style>
      </p:cxnSp>
      <p:sp>
        <p:nvSpPr>
          <p:cNvPr id="32" name="Oval 31">
            <a:extLst>
              <a:ext uri="{FF2B5EF4-FFF2-40B4-BE49-F238E27FC236}">
                <a16:creationId xmlns:a16="http://schemas.microsoft.com/office/drawing/2014/main" id="{D6333515-F290-BBDB-E6BB-93F01B005AE5}"/>
              </a:ext>
            </a:extLst>
          </p:cNvPr>
          <p:cNvSpPr/>
          <p:nvPr/>
        </p:nvSpPr>
        <p:spPr>
          <a:xfrm>
            <a:off x="1244600" y="2438400"/>
            <a:ext cx="101600" cy="1016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39C9DC39-FFDF-1CE9-6653-2BC17DDC7DE7}"/>
              </a:ext>
            </a:extLst>
          </p:cNvPr>
          <p:cNvSpPr/>
          <p:nvPr/>
        </p:nvSpPr>
        <p:spPr>
          <a:xfrm>
            <a:off x="1562100" y="2768600"/>
            <a:ext cx="101600" cy="1016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80C1763C-FBD9-B18C-74D9-F6D304CA3EE6}"/>
              </a:ext>
            </a:extLst>
          </p:cNvPr>
          <p:cNvSpPr/>
          <p:nvPr/>
        </p:nvSpPr>
        <p:spPr>
          <a:xfrm>
            <a:off x="1879600" y="2260600"/>
            <a:ext cx="101600" cy="1016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A6658BA8-7C79-6447-81A6-DC039C5AF020}"/>
              </a:ext>
            </a:extLst>
          </p:cNvPr>
          <p:cNvSpPr/>
          <p:nvPr/>
        </p:nvSpPr>
        <p:spPr>
          <a:xfrm>
            <a:off x="2197100" y="2641600"/>
            <a:ext cx="101600" cy="1016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B4535B10-A475-D26F-270D-C536762BC0C2}"/>
              </a:ext>
            </a:extLst>
          </p:cNvPr>
          <p:cNvSpPr/>
          <p:nvPr/>
        </p:nvSpPr>
        <p:spPr>
          <a:xfrm>
            <a:off x="2514600" y="2336800"/>
            <a:ext cx="101600" cy="1016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744E7E32-055A-515D-2E21-464341584D2D}"/>
              </a:ext>
            </a:extLst>
          </p:cNvPr>
          <p:cNvSpPr/>
          <p:nvPr/>
        </p:nvSpPr>
        <p:spPr>
          <a:xfrm>
            <a:off x="2832100" y="2921000"/>
            <a:ext cx="101600" cy="1016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D52AA715-2C44-4C27-80BD-2B32AFEAC113}"/>
              </a:ext>
            </a:extLst>
          </p:cNvPr>
          <p:cNvSpPr/>
          <p:nvPr/>
        </p:nvSpPr>
        <p:spPr>
          <a:xfrm>
            <a:off x="3149600" y="2514600"/>
            <a:ext cx="101600" cy="1016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426D0C83-0332-0A84-7E8C-8E07F23B5DEA}"/>
              </a:ext>
            </a:extLst>
          </p:cNvPr>
          <p:cNvSpPr/>
          <p:nvPr/>
        </p:nvSpPr>
        <p:spPr>
          <a:xfrm>
            <a:off x="3467100" y="2717800"/>
            <a:ext cx="101600" cy="1016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EC12D09-A1DC-9149-07E1-05E1C1C31464}"/>
              </a:ext>
            </a:extLst>
          </p:cNvPr>
          <p:cNvSpPr/>
          <p:nvPr/>
        </p:nvSpPr>
        <p:spPr>
          <a:xfrm>
            <a:off x="3784600" y="2413000"/>
            <a:ext cx="101600" cy="1016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7CD41065-801A-A6F9-6B20-182DDB9413ED}"/>
              </a:ext>
            </a:extLst>
          </p:cNvPr>
          <p:cNvSpPr/>
          <p:nvPr/>
        </p:nvSpPr>
        <p:spPr>
          <a:xfrm>
            <a:off x="4102100" y="2286000"/>
            <a:ext cx="101600" cy="1016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D9D88D44-9E5B-9EC6-4384-54FB95891B65}"/>
              </a:ext>
            </a:extLst>
          </p:cNvPr>
          <p:cNvSpPr/>
          <p:nvPr/>
        </p:nvSpPr>
        <p:spPr>
          <a:xfrm>
            <a:off x="4419600" y="2463800"/>
            <a:ext cx="101600" cy="1016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77D7A1D6-ED4C-B1C2-FAC6-C21C4AF7E5D8}"/>
              </a:ext>
            </a:extLst>
          </p:cNvPr>
          <p:cNvSpPr/>
          <p:nvPr/>
        </p:nvSpPr>
        <p:spPr>
          <a:xfrm>
            <a:off x="4737100" y="2184400"/>
            <a:ext cx="101600" cy="1016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0CE0995A-6B0F-A558-C3D3-E43F8DA9B89B}"/>
              </a:ext>
            </a:extLst>
          </p:cNvPr>
          <p:cNvSpPr/>
          <p:nvPr/>
        </p:nvSpPr>
        <p:spPr>
          <a:xfrm>
            <a:off x="5054600" y="2362200"/>
            <a:ext cx="101600" cy="1016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6CB1565F-D871-E1A7-817A-A194FF971236}"/>
              </a:ext>
            </a:extLst>
          </p:cNvPr>
          <p:cNvSpPr/>
          <p:nvPr/>
        </p:nvSpPr>
        <p:spPr>
          <a:xfrm>
            <a:off x="5372100" y="2235200"/>
            <a:ext cx="101600" cy="1016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299B1FFA-9E6D-C04B-0D8C-6FAEBC2B461E}"/>
              </a:ext>
            </a:extLst>
          </p:cNvPr>
          <p:cNvSpPr/>
          <p:nvPr/>
        </p:nvSpPr>
        <p:spPr>
          <a:xfrm>
            <a:off x="5689600" y="2387600"/>
            <a:ext cx="101600" cy="1016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91C1430A-F8F0-F34F-E994-5FF1EAD3D840}"/>
              </a:ext>
            </a:extLst>
          </p:cNvPr>
          <p:cNvSpPr/>
          <p:nvPr/>
        </p:nvSpPr>
        <p:spPr>
          <a:xfrm>
            <a:off x="6007100" y="2692400"/>
            <a:ext cx="101600" cy="1016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310F72FE-9490-363E-EC6E-E1FF86C484C7}"/>
              </a:ext>
            </a:extLst>
          </p:cNvPr>
          <p:cNvSpPr/>
          <p:nvPr/>
        </p:nvSpPr>
        <p:spPr>
          <a:xfrm>
            <a:off x="6305550" y="1657350"/>
            <a:ext cx="139700" cy="139700"/>
          </a:xfrm>
          <a:prstGeom prst="ellipse">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F05476C3-D37E-FEC5-3DB0-C1660B28F11D}"/>
              </a:ext>
            </a:extLst>
          </p:cNvPr>
          <p:cNvSpPr/>
          <p:nvPr/>
        </p:nvSpPr>
        <p:spPr>
          <a:xfrm>
            <a:off x="6642100" y="2667000"/>
            <a:ext cx="101600" cy="1016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516339AA-36E4-EA8C-A7EE-A98D486D98AA}"/>
              </a:ext>
            </a:extLst>
          </p:cNvPr>
          <p:cNvSpPr/>
          <p:nvPr/>
        </p:nvSpPr>
        <p:spPr>
          <a:xfrm>
            <a:off x="6959600" y="2489200"/>
            <a:ext cx="101600" cy="1016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Rounded Corners 50">
            <a:extLst>
              <a:ext uri="{FF2B5EF4-FFF2-40B4-BE49-F238E27FC236}">
                <a16:creationId xmlns:a16="http://schemas.microsoft.com/office/drawing/2014/main" id="{14A7ED5C-63CD-8974-C615-938E3B9D192D}"/>
              </a:ext>
            </a:extLst>
          </p:cNvPr>
          <p:cNvSpPr/>
          <p:nvPr/>
        </p:nvSpPr>
        <p:spPr>
          <a:xfrm>
            <a:off x="3721100" y="2120900"/>
            <a:ext cx="2133600" cy="508000"/>
          </a:xfrm>
          <a:prstGeom prst="roundRect">
            <a:avLst>
              <a:gd name="adj" fmla="val 8000"/>
            </a:avLst>
          </a:prstGeom>
          <a:noFill/>
          <a:ln w="19050" cap="flat" cmpd="sng" algn="ctr">
            <a:solidFill>
              <a:srgbClr val="A84A2E"/>
            </a:solidFill>
            <a:prstDash val="dash"/>
            <a:miter lim="800000"/>
          </a:ln>
          <a:effectLst/>
          <a:extLst>
            <a:ext uri="{909E8E84-426E-40DD-AFC4-6F175D3DCCD1}">
              <a14:hiddenFill xmlns:a14="http://schemas.microsoft.com/office/drawing/2010/main">
                <a:solidFill>
                  <a:srgbClr val="FFFFFF"/>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8C365387-64B9-6019-9C3B-B0417BEC7F2B}"/>
              </a:ext>
            </a:extLst>
          </p:cNvPr>
          <p:cNvSpPr txBox="1"/>
          <p:nvPr/>
        </p:nvSpPr>
        <p:spPr>
          <a:xfrm>
            <a:off x="3454400" y="2844800"/>
            <a:ext cx="3048000" cy="203200"/>
          </a:xfrm>
          <a:prstGeom prst="rect">
            <a:avLst/>
          </a:prstGeom>
          <a:noFill/>
        </p:spPr>
        <p:txBody>
          <a:bodyPr vert="horz" wrap="square" lIns="0" tIns="0" rIns="0" bIns="0" rtlCol="0" anchor="t">
            <a:noAutofit/>
          </a:bodyPr>
          <a:lstStyle/>
          <a:p>
            <a:r>
              <a:rPr lang="en-US" sz="1100" b="1">
                <a:solidFill>
                  <a:srgbClr val="A84A2E"/>
                </a:solidFill>
                <a:latin typeface="Calibri" panose="020F0502020204030204" pitchFamily="34" charset="0"/>
              </a:rPr>
              <a:t>Rule of seven: 7 in a row above the mean</a:t>
            </a:r>
          </a:p>
        </p:txBody>
      </p:sp>
      <p:sp>
        <p:nvSpPr>
          <p:cNvPr id="53" name="TextBox 52">
            <a:extLst>
              <a:ext uri="{FF2B5EF4-FFF2-40B4-BE49-F238E27FC236}">
                <a16:creationId xmlns:a16="http://schemas.microsoft.com/office/drawing/2014/main" id="{437A0574-9C48-891D-1A72-CAEB5FD61D38}"/>
              </a:ext>
            </a:extLst>
          </p:cNvPr>
          <p:cNvSpPr txBox="1"/>
          <p:nvPr/>
        </p:nvSpPr>
        <p:spPr>
          <a:xfrm>
            <a:off x="4953000" y="1625600"/>
            <a:ext cx="1270000" cy="203200"/>
          </a:xfrm>
          <a:prstGeom prst="rect">
            <a:avLst/>
          </a:prstGeom>
          <a:noFill/>
        </p:spPr>
        <p:txBody>
          <a:bodyPr vert="horz" wrap="square" lIns="0" tIns="0" rIns="0" bIns="0" rtlCol="0" anchor="t">
            <a:noAutofit/>
          </a:bodyPr>
          <a:lstStyle/>
          <a:p>
            <a:pPr algn="r"/>
            <a:r>
              <a:rPr lang="en-US" sz="1100" b="1">
                <a:solidFill>
                  <a:srgbClr val="A86F0E"/>
                </a:solidFill>
                <a:latin typeface="Calibri" panose="020F0502020204030204" pitchFamily="34" charset="0"/>
              </a:rPr>
              <a:t>Outside the UCL</a:t>
            </a:r>
          </a:p>
        </p:txBody>
      </p:sp>
      <p:sp>
        <p:nvSpPr>
          <p:cNvPr id="54" name="TextBox 53">
            <a:extLst>
              <a:ext uri="{FF2B5EF4-FFF2-40B4-BE49-F238E27FC236}">
                <a16:creationId xmlns:a16="http://schemas.microsoft.com/office/drawing/2014/main" id="{F30973D9-B658-AADA-F15A-009CAACB409A}"/>
              </a:ext>
            </a:extLst>
          </p:cNvPr>
          <p:cNvSpPr txBox="1"/>
          <p:nvPr/>
        </p:nvSpPr>
        <p:spPr>
          <a:xfrm>
            <a:off x="508000" y="3759200"/>
            <a:ext cx="6604000" cy="203200"/>
          </a:xfrm>
          <a:prstGeom prst="rect">
            <a:avLst/>
          </a:prstGeom>
          <a:noFill/>
        </p:spPr>
        <p:txBody>
          <a:bodyPr vert="horz" wrap="square" lIns="0" tIns="0" rIns="0" bIns="0" rtlCol="0" anchor="t">
            <a:noAutofit/>
          </a:bodyPr>
          <a:lstStyle/>
          <a:p>
            <a:r>
              <a:rPr lang="en-US" sz="1100" i="1">
                <a:solidFill>
                  <a:srgbClr val="5B6475"/>
                </a:solidFill>
                <a:latin typeface="Calibri" panose="020F0502020204030204" pitchFamily="34" charset="0"/>
              </a:rPr>
              <a:t>Each point is a measurement over time; values are illustrative.</a:t>
            </a:r>
          </a:p>
        </p:txBody>
      </p:sp>
      <p:sp>
        <p:nvSpPr>
          <p:cNvPr id="55" name="Rectangle: Rounded Corners 54">
            <a:extLst>
              <a:ext uri="{FF2B5EF4-FFF2-40B4-BE49-F238E27FC236}">
                <a16:creationId xmlns:a16="http://schemas.microsoft.com/office/drawing/2014/main" id="{12325675-41D2-F05E-6D6A-5554296F8936}"/>
              </a:ext>
            </a:extLst>
          </p:cNvPr>
          <p:cNvSpPr/>
          <p:nvPr/>
        </p:nvSpPr>
        <p:spPr>
          <a:xfrm>
            <a:off x="7366000" y="1320800"/>
            <a:ext cx="4318000" cy="25654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6D457A4F-D74E-1C1D-18C5-EF2EA1B9C84C}"/>
              </a:ext>
            </a:extLst>
          </p:cNvPr>
          <p:cNvSpPr txBox="1"/>
          <p:nvPr/>
        </p:nvSpPr>
        <p:spPr>
          <a:xfrm>
            <a:off x="7543800" y="1498600"/>
            <a:ext cx="3962400" cy="2209800"/>
          </a:xfrm>
          <a:prstGeom prst="rect">
            <a:avLst/>
          </a:prstGeom>
          <a:noFill/>
        </p:spPr>
        <p:txBody>
          <a:bodyPr vert="horz" wrap="square" lIns="0" tIns="0" rIns="0" bIns="0" rtlCol="0" anchor="t">
            <a:noAutofit/>
          </a:bodyPr>
          <a:lstStyle/>
          <a:p>
            <a:pPr>
              <a:spcAft>
                <a:spcPts val="600"/>
              </a:spcAft>
            </a:pPr>
            <a:r>
              <a:rPr lang="en-US" sz="1600" b="1">
                <a:solidFill>
                  <a:srgbClr val="A84A2E"/>
                </a:solidFill>
                <a:latin typeface="Calibri" panose="020F0502020204030204" pitchFamily="34" charset="0"/>
              </a:rPr>
              <a:t>The rule of seven</a:t>
            </a:r>
          </a:p>
          <a:p>
            <a:pPr>
              <a:spcAft>
                <a:spcPts val="500"/>
              </a:spcAft>
            </a:pPr>
            <a:r>
              <a:rPr lang="en-US" sz="1300">
                <a:solidFill>
                  <a:srgbClr val="1F2937"/>
                </a:solidFill>
                <a:latin typeface="Calibri" panose="020F0502020204030204" pitchFamily="34" charset="0"/>
              </a:rPr>
              <a:t>Seven consecutive points on one side of the mean, or seven trending steadily up or down, mean the process is out of control, even though every point is inside the control limits.</a:t>
            </a:r>
          </a:p>
          <a:p>
            <a:pPr>
              <a:spcAft>
                <a:spcPts val="500"/>
              </a:spcAft>
            </a:pPr>
            <a:r>
              <a:rPr lang="en-US" sz="1300" b="1">
                <a:solidFill>
                  <a:srgbClr val="14213D"/>
                </a:solidFill>
                <a:latin typeface="Calibri" panose="020F0502020204030204" pitchFamily="34" charset="0"/>
              </a:rPr>
              <a:t>Action:</a:t>
            </a:r>
            <a:r>
              <a:rPr lang="en-US" sz="1300">
                <a:solidFill>
                  <a:srgbClr val="1F2937"/>
                </a:solidFill>
                <a:latin typeface="Calibri" panose="020F0502020204030204" pitchFamily="34" charset="0"/>
              </a:rPr>
              <a:t> look for an assignable (special) cause.</a:t>
            </a:r>
          </a:p>
        </p:txBody>
      </p:sp>
      <p:sp>
        <p:nvSpPr>
          <p:cNvPr id="57" name="Rectangle: Rounded Corners 56">
            <a:extLst>
              <a:ext uri="{FF2B5EF4-FFF2-40B4-BE49-F238E27FC236}">
                <a16:creationId xmlns:a16="http://schemas.microsoft.com/office/drawing/2014/main" id="{D5E54C18-5CE6-4B73-7831-68C45D2234E8}"/>
              </a:ext>
            </a:extLst>
          </p:cNvPr>
          <p:cNvSpPr/>
          <p:nvPr/>
        </p:nvSpPr>
        <p:spPr>
          <a:xfrm>
            <a:off x="508000" y="4038600"/>
            <a:ext cx="5461000" cy="13208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31D9279A-0BC8-2CBC-91DC-E675F8B39E7E}"/>
              </a:ext>
            </a:extLst>
          </p:cNvPr>
          <p:cNvSpPr txBox="1"/>
          <p:nvPr/>
        </p:nvSpPr>
        <p:spPr>
          <a:xfrm>
            <a:off x="635000" y="4165600"/>
            <a:ext cx="5207000" cy="1066800"/>
          </a:xfrm>
          <a:prstGeom prst="rect">
            <a:avLst/>
          </a:prstGeom>
          <a:noFill/>
        </p:spPr>
        <p:txBody>
          <a:bodyPr vert="horz" wrap="square" lIns="0" tIns="0" rIns="0" bIns="0" rtlCol="0" anchor="t">
            <a:noAutofit/>
          </a:bodyPr>
          <a:lstStyle/>
          <a:p>
            <a:pPr>
              <a:spcAft>
                <a:spcPts val="600"/>
              </a:spcAft>
            </a:pPr>
            <a:r>
              <a:rPr lang="en-US" sz="1400" b="1">
                <a:solidFill>
                  <a:srgbClr val="14213D"/>
                </a:solidFill>
                <a:latin typeface="Calibri" panose="020F0502020204030204" pitchFamily="34" charset="0"/>
              </a:rPr>
              <a:t>A process is out of control when</a:t>
            </a:r>
          </a:p>
          <a:p>
            <a:r>
              <a:rPr lang="en-US" sz="1200">
                <a:solidFill>
                  <a:srgbClr val="1F2937"/>
                </a:solidFill>
                <a:latin typeface="Calibri" panose="020F0502020204030204" pitchFamily="34" charset="0"/>
              </a:rPr>
              <a:t>A point falls outside the upper or lower control limit.</a:t>
            </a:r>
          </a:p>
          <a:p>
            <a:r>
              <a:rPr lang="en-US" sz="1200">
                <a:solidFill>
                  <a:srgbClr val="1F2937"/>
                </a:solidFill>
                <a:latin typeface="Calibri" panose="020F0502020204030204" pitchFamily="34" charset="0"/>
              </a:rPr>
              <a:t>The rule of seven is triggered.</a:t>
            </a:r>
          </a:p>
          <a:p>
            <a:r>
              <a:rPr lang="en-US" sz="1200">
                <a:solidFill>
                  <a:srgbClr val="1F2937"/>
                </a:solidFill>
                <a:latin typeface="Calibri" panose="020F0502020204030204" pitchFamily="34" charset="0"/>
              </a:rPr>
              <a:t>Investigate either signal; don’t adjust a process that is in control.</a:t>
            </a:r>
          </a:p>
        </p:txBody>
      </p:sp>
      <p:sp>
        <p:nvSpPr>
          <p:cNvPr id="59" name="Rectangle: Rounded Corners 58">
            <a:extLst>
              <a:ext uri="{FF2B5EF4-FFF2-40B4-BE49-F238E27FC236}">
                <a16:creationId xmlns:a16="http://schemas.microsoft.com/office/drawing/2014/main" id="{C0E4CFD6-1669-9DCE-85D9-A56AD03FF496}"/>
              </a:ext>
            </a:extLst>
          </p:cNvPr>
          <p:cNvSpPr/>
          <p:nvPr/>
        </p:nvSpPr>
        <p:spPr>
          <a:xfrm>
            <a:off x="6223000" y="4038600"/>
            <a:ext cx="5461000" cy="13208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28D6CCB7-C743-702A-B36B-62C4F6D64146}"/>
              </a:ext>
            </a:extLst>
          </p:cNvPr>
          <p:cNvSpPr txBox="1"/>
          <p:nvPr/>
        </p:nvSpPr>
        <p:spPr>
          <a:xfrm>
            <a:off x="6350000" y="4165600"/>
            <a:ext cx="5207000" cy="10668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Control limits vs. specification limits</a:t>
            </a:r>
          </a:p>
          <a:p>
            <a:pPr>
              <a:spcAft>
                <a:spcPts val="500"/>
              </a:spcAft>
            </a:pPr>
            <a:r>
              <a:rPr lang="en-US" sz="1200" b="1">
                <a:solidFill>
                  <a:srgbClr val="14213D"/>
                </a:solidFill>
                <a:latin typeface="Calibri" panose="020F0502020204030204" pitchFamily="34" charset="0"/>
              </a:rPr>
              <a:t>Control limits (about ±3σ):</a:t>
            </a:r>
            <a:r>
              <a:rPr lang="en-US" sz="1200">
                <a:solidFill>
                  <a:srgbClr val="1F2937"/>
                </a:solidFill>
                <a:latin typeface="Calibri" panose="020F0502020204030204" pitchFamily="34" charset="0"/>
              </a:rPr>
              <a:t> the voice of the process, calculated from data.</a:t>
            </a:r>
          </a:p>
          <a:p>
            <a:pPr>
              <a:spcAft>
                <a:spcPts val="500"/>
              </a:spcAft>
            </a:pPr>
            <a:r>
              <a:rPr lang="en-US" sz="1200" b="1">
                <a:solidFill>
                  <a:srgbClr val="14213D"/>
                </a:solidFill>
                <a:latin typeface="Calibri" panose="020F0502020204030204" pitchFamily="34" charset="0"/>
              </a:rPr>
              <a:t>Specification limits:</a:t>
            </a:r>
            <a:r>
              <a:rPr lang="en-US" sz="1200">
                <a:solidFill>
                  <a:srgbClr val="1F2937"/>
                </a:solidFill>
                <a:latin typeface="Calibri" panose="020F0502020204030204" pitchFamily="34" charset="0"/>
              </a:rPr>
              <a:t> the voice of the customer, set by requirements or the contract.</a:t>
            </a:r>
          </a:p>
        </p:txBody>
      </p:sp>
      <p:sp>
        <p:nvSpPr>
          <p:cNvPr id="61" name="Rectangle: Rounded Corners 60">
            <a:extLst>
              <a:ext uri="{FF2B5EF4-FFF2-40B4-BE49-F238E27FC236}">
                <a16:creationId xmlns:a16="http://schemas.microsoft.com/office/drawing/2014/main" id="{D21B5DA7-6E82-E3AC-BBFC-68F129C198AB}"/>
              </a:ext>
            </a:extLst>
          </p:cNvPr>
          <p:cNvSpPr/>
          <p:nvPr/>
        </p:nvSpPr>
        <p:spPr>
          <a:xfrm>
            <a:off x="508000" y="5486400"/>
            <a:ext cx="11176000" cy="838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52A2A00F-A9CF-21A6-30ED-34E855CCD059}"/>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seven points in a row on one side of the mean signals a special cause even if no point crosses a control limit. Random variation inside the limits (common cause) needs no action.</a:t>
            </a:r>
          </a:p>
        </p:txBody>
      </p:sp>
      <p:sp>
        <p:nvSpPr>
          <p:cNvPr id="63" name="Footer">
            <a:extLst>
              <a:ext uri="{FF2B5EF4-FFF2-40B4-BE49-F238E27FC236}">
                <a16:creationId xmlns:a16="http://schemas.microsoft.com/office/drawing/2014/main" id="{A78D87F2-3CCE-9BF8-6120-3042DAF50132}"/>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Section 8.3 (Control Quality: control charts); Western Electric, Statistical Quality Control Handbook (1956)</a:t>
            </a:r>
          </a:p>
        </p:txBody>
      </p:sp>
      <p:sp>
        <p:nvSpPr>
          <p:cNvPr id="64" name="SlideNum">
            <a:extLst>
              <a:ext uri="{FF2B5EF4-FFF2-40B4-BE49-F238E27FC236}">
                <a16:creationId xmlns:a16="http://schemas.microsoft.com/office/drawing/2014/main" id="{28F597F8-1523-1722-3FF2-2FB09BC3EC27}"/>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44</a:t>
            </a:r>
          </a:p>
        </p:txBody>
      </p:sp>
      <p:sp>
        <p:nvSpPr>
          <p:cNvPr id="65"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7616451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A22F59B-4F27-7F4D-B31B-E216FA3A8A53}"/>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Cost of quality: prevent rather than inspect</a:t>
            </a:r>
          </a:p>
        </p:txBody>
      </p:sp>
      <p:sp>
        <p:nvSpPr>
          <p:cNvPr id="3" name="Tag">
            <a:extLst>
              <a:ext uri="{FF2B5EF4-FFF2-40B4-BE49-F238E27FC236}">
                <a16:creationId xmlns:a16="http://schemas.microsoft.com/office/drawing/2014/main" id="{70E865B2-9F88-24A1-262A-88893122C614}"/>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7 (Manage cost of quality (CoQ) and sustainability)</a:t>
            </a:r>
          </a:p>
        </p:txBody>
      </p:sp>
      <p:sp>
        <p:nvSpPr>
          <p:cNvPr id="4" name="Rectangle: Rounded Corners 3">
            <a:extLst>
              <a:ext uri="{FF2B5EF4-FFF2-40B4-BE49-F238E27FC236}">
                <a16:creationId xmlns:a16="http://schemas.microsoft.com/office/drawing/2014/main" id="{8D5D3A21-C1E4-E80B-E270-D3E10F37F2A4}"/>
              </a:ext>
            </a:extLst>
          </p:cNvPr>
          <p:cNvSpPr/>
          <p:nvPr/>
        </p:nvSpPr>
        <p:spPr>
          <a:xfrm>
            <a:off x="508000" y="1320800"/>
            <a:ext cx="5461000" cy="406400"/>
          </a:xfrm>
          <a:prstGeom prst="roundRect">
            <a:avLst>
              <a:gd name="adj" fmla="val 8000"/>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a:solidFill>
                  <a:srgbClr val="FFFFFF"/>
                </a:solidFill>
                <a:latin typeface="Calibri" panose="020F0502020204030204" pitchFamily="34" charset="0"/>
              </a:rPr>
              <a:t>Cost of conformance: money spent to avoid failures</a:t>
            </a:r>
          </a:p>
        </p:txBody>
      </p:sp>
      <p:sp>
        <p:nvSpPr>
          <p:cNvPr id="5" name="Rectangle: Rounded Corners 4">
            <a:extLst>
              <a:ext uri="{FF2B5EF4-FFF2-40B4-BE49-F238E27FC236}">
                <a16:creationId xmlns:a16="http://schemas.microsoft.com/office/drawing/2014/main" id="{A931D41C-AC05-EA15-5C2E-B76BBB14A4DB}"/>
              </a:ext>
            </a:extLst>
          </p:cNvPr>
          <p:cNvSpPr/>
          <p:nvPr/>
        </p:nvSpPr>
        <p:spPr>
          <a:xfrm>
            <a:off x="6223000" y="1320800"/>
            <a:ext cx="5461000" cy="406400"/>
          </a:xfrm>
          <a:prstGeom prst="roundRect">
            <a:avLst>
              <a:gd name="adj" fmla="val 8000"/>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a:solidFill>
                  <a:srgbClr val="FFFFFF"/>
                </a:solidFill>
                <a:latin typeface="Calibri" panose="020F0502020204030204" pitchFamily="34" charset="0"/>
              </a:rPr>
              <a:t>Cost of nonconformance: money spent because of failures</a:t>
            </a:r>
          </a:p>
        </p:txBody>
      </p:sp>
      <p:sp>
        <p:nvSpPr>
          <p:cNvPr id="6" name="Rectangle: Rounded Corners 5">
            <a:extLst>
              <a:ext uri="{FF2B5EF4-FFF2-40B4-BE49-F238E27FC236}">
                <a16:creationId xmlns:a16="http://schemas.microsoft.com/office/drawing/2014/main" id="{03F3A470-BAA1-3648-C091-050CBEA4BF40}"/>
              </a:ext>
            </a:extLst>
          </p:cNvPr>
          <p:cNvSpPr/>
          <p:nvPr/>
        </p:nvSpPr>
        <p:spPr>
          <a:xfrm>
            <a:off x="508000" y="1803400"/>
            <a:ext cx="2667000" cy="17780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8702B5A-1A18-AEDB-A9B3-2C269055288F}"/>
              </a:ext>
            </a:extLst>
          </p:cNvPr>
          <p:cNvSpPr txBox="1"/>
          <p:nvPr/>
        </p:nvSpPr>
        <p:spPr>
          <a:xfrm>
            <a:off x="660400" y="1955800"/>
            <a:ext cx="2362200" cy="1473200"/>
          </a:xfrm>
          <a:prstGeom prst="rect">
            <a:avLst/>
          </a:prstGeom>
          <a:noFill/>
        </p:spPr>
        <p:txBody>
          <a:bodyPr vert="horz" wrap="square" lIns="0" tIns="0" rIns="0" bIns="0" rtlCol="0" anchor="t">
            <a:noAutofit/>
          </a:bodyPr>
          <a:lstStyle/>
          <a:p>
            <a:pPr>
              <a:spcAft>
                <a:spcPts val="600"/>
              </a:spcAft>
            </a:pPr>
            <a:r>
              <a:rPr lang="en-US" sz="1500" b="1">
                <a:solidFill>
                  <a:srgbClr val="0F7C80"/>
                </a:solidFill>
                <a:latin typeface="Calibri" panose="020F0502020204030204" pitchFamily="34" charset="0"/>
              </a:rPr>
              <a:t>Prevention</a:t>
            </a:r>
          </a:p>
          <a:p>
            <a:r>
              <a:rPr lang="en-US" sz="1200">
                <a:solidFill>
                  <a:srgbClr val="1F2937"/>
                </a:solidFill>
                <a:latin typeface="Calibri" panose="020F0502020204030204" pitchFamily="34" charset="0"/>
              </a:rPr>
              <a:t>Training, process design, quality planning, the right tools, and time to do it right.</a:t>
            </a:r>
          </a:p>
        </p:txBody>
      </p:sp>
      <p:sp>
        <p:nvSpPr>
          <p:cNvPr id="8" name="Rectangle: Rounded Corners 7">
            <a:extLst>
              <a:ext uri="{FF2B5EF4-FFF2-40B4-BE49-F238E27FC236}">
                <a16:creationId xmlns:a16="http://schemas.microsoft.com/office/drawing/2014/main" id="{06D75586-DD78-05F4-AA38-BE3265E5557D}"/>
              </a:ext>
            </a:extLst>
          </p:cNvPr>
          <p:cNvSpPr/>
          <p:nvPr/>
        </p:nvSpPr>
        <p:spPr>
          <a:xfrm>
            <a:off x="3302000" y="1803400"/>
            <a:ext cx="2667000" cy="17780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CA1B50E-BC87-EB0C-A91C-6A8438A604AE}"/>
              </a:ext>
            </a:extLst>
          </p:cNvPr>
          <p:cNvSpPr txBox="1"/>
          <p:nvPr/>
        </p:nvSpPr>
        <p:spPr>
          <a:xfrm>
            <a:off x="3454400" y="1955800"/>
            <a:ext cx="2362200" cy="1473200"/>
          </a:xfrm>
          <a:prstGeom prst="rect">
            <a:avLst/>
          </a:prstGeom>
          <a:noFill/>
        </p:spPr>
        <p:txBody>
          <a:bodyPr vert="horz" wrap="square" lIns="0" tIns="0" rIns="0" bIns="0" rtlCol="0" anchor="t">
            <a:noAutofit/>
          </a:bodyPr>
          <a:lstStyle/>
          <a:p>
            <a:pPr>
              <a:spcAft>
                <a:spcPts val="600"/>
              </a:spcAft>
            </a:pPr>
            <a:r>
              <a:rPr lang="en-US" sz="1500" b="1">
                <a:solidFill>
                  <a:srgbClr val="0F7C80"/>
                </a:solidFill>
                <a:latin typeface="Calibri" panose="020F0502020204030204" pitchFamily="34" charset="0"/>
              </a:rPr>
              <a:t>Appraisal</a:t>
            </a:r>
          </a:p>
          <a:p>
            <a:r>
              <a:rPr lang="en-US" sz="1200">
                <a:solidFill>
                  <a:srgbClr val="1F2937"/>
                </a:solidFill>
                <a:latin typeface="Calibri" panose="020F0502020204030204" pitchFamily="34" charset="0"/>
              </a:rPr>
              <a:t>Testing, inspections, audits, and reviews, plus losses from destructive testing.</a:t>
            </a:r>
          </a:p>
        </p:txBody>
      </p:sp>
      <p:sp>
        <p:nvSpPr>
          <p:cNvPr id="10" name="Rectangle: Rounded Corners 9">
            <a:extLst>
              <a:ext uri="{FF2B5EF4-FFF2-40B4-BE49-F238E27FC236}">
                <a16:creationId xmlns:a16="http://schemas.microsoft.com/office/drawing/2014/main" id="{88335872-3887-3C53-CD9D-371AD3F6D25E}"/>
              </a:ext>
            </a:extLst>
          </p:cNvPr>
          <p:cNvSpPr/>
          <p:nvPr/>
        </p:nvSpPr>
        <p:spPr>
          <a:xfrm>
            <a:off x="6223000" y="1803400"/>
            <a:ext cx="2667000" cy="17780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4580D28-1ABF-A24C-6264-07D6FE5DACA7}"/>
              </a:ext>
            </a:extLst>
          </p:cNvPr>
          <p:cNvSpPr txBox="1"/>
          <p:nvPr/>
        </p:nvSpPr>
        <p:spPr>
          <a:xfrm>
            <a:off x="6375400" y="1955800"/>
            <a:ext cx="2362200" cy="1473200"/>
          </a:xfrm>
          <a:prstGeom prst="rect">
            <a:avLst/>
          </a:prstGeom>
          <a:noFill/>
        </p:spPr>
        <p:txBody>
          <a:bodyPr vert="horz" wrap="square" lIns="0" tIns="0" rIns="0" bIns="0" rtlCol="0" anchor="t">
            <a:noAutofit/>
          </a:bodyPr>
          <a:lstStyle/>
          <a:p>
            <a:pPr>
              <a:spcAft>
                <a:spcPts val="600"/>
              </a:spcAft>
            </a:pPr>
            <a:r>
              <a:rPr lang="en-US" sz="1500" b="1">
                <a:solidFill>
                  <a:srgbClr val="A84A2E"/>
                </a:solidFill>
                <a:latin typeface="Calibri" panose="020F0502020204030204" pitchFamily="34" charset="0"/>
              </a:rPr>
              <a:t>Internal failure</a:t>
            </a:r>
          </a:p>
          <a:p>
            <a:r>
              <a:rPr lang="en-US" sz="1200">
                <a:solidFill>
                  <a:srgbClr val="1F2937"/>
                </a:solidFill>
                <a:latin typeface="Calibri" panose="020F0502020204030204" pitchFamily="34" charset="0"/>
              </a:rPr>
              <a:t>Found by the project: rework, scrap, retesting, and delay.</a:t>
            </a:r>
          </a:p>
        </p:txBody>
      </p:sp>
      <p:sp>
        <p:nvSpPr>
          <p:cNvPr id="12" name="Rectangle: Rounded Corners 11">
            <a:extLst>
              <a:ext uri="{FF2B5EF4-FFF2-40B4-BE49-F238E27FC236}">
                <a16:creationId xmlns:a16="http://schemas.microsoft.com/office/drawing/2014/main" id="{1D61E506-28DC-A0CE-10CE-DE7845024230}"/>
              </a:ext>
            </a:extLst>
          </p:cNvPr>
          <p:cNvSpPr/>
          <p:nvPr/>
        </p:nvSpPr>
        <p:spPr>
          <a:xfrm>
            <a:off x="9017000" y="1803400"/>
            <a:ext cx="2667000" cy="17780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E53F9C0-1BF3-8804-B2CC-158EAFCE70F9}"/>
              </a:ext>
            </a:extLst>
          </p:cNvPr>
          <p:cNvSpPr txBox="1"/>
          <p:nvPr/>
        </p:nvSpPr>
        <p:spPr>
          <a:xfrm>
            <a:off x="9169400" y="1955800"/>
            <a:ext cx="2362200" cy="1473200"/>
          </a:xfrm>
          <a:prstGeom prst="rect">
            <a:avLst/>
          </a:prstGeom>
          <a:noFill/>
        </p:spPr>
        <p:txBody>
          <a:bodyPr vert="horz" wrap="square" lIns="0" tIns="0" rIns="0" bIns="0" rtlCol="0" anchor="t">
            <a:noAutofit/>
          </a:bodyPr>
          <a:lstStyle/>
          <a:p>
            <a:pPr>
              <a:spcAft>
                <a:spcPts val="600"/>
              </a:spcAft>
            </a:pPr>
            <a:r>
              <a:rPr lang="en-US" sz="1500" b="1">
                <a:solidFill>
                  <a:srgbClr val="A84A2E"/>
                </a:solidFill>
                <a:latin typeface="Calibri" panose="020F0502020204030204" pitchFamily="34" charset="0"/>
              </a:rPr>
              <a:t>External failure</a:t>
            </a:r>
          </a:p>
          <a:p>
            <a:r>
              <a:rPr lang="en-US" sz="1200">
                <a:solidFill>
                  <a:srgbClr val="1F2937"/>
                </a:solidFill>
                <a:latin typeface="Calibri" panose="020F0502020204030204" pitchFamily="34" charset="0"/>
              </a:rPr>
              <a:t>Found by the customer: warranty claims, liability, lost business, and reputation.</a:t>
            </a:r>
          </a:p>
        </p:txBody>
      </p:sp>
      <p:cxnSp>
        <p:nvCxnSpPr>
          <p:cNvPr id="14" name="Straight Connector 13">
            <a:extLst>
              <a:ext uri="{FF2B5EF4-FFF2-40B4-BE49-F238E27FC236}">
                <a16:creationId xmlns:a16="http://schemas.microsoft.com/office/drawing/2014/main" id="{6EC8916F-79CC-4EA5-AF6D-35FBAEFB5D0E}"/>
              </a:ext>
            </a:extLst>
          </p:cNvPr>
          <p:cNvCxnSpPr/>
          <p:nvPr/>
        </p:nvCxnSpPr>
        <p:spPr>
          <a:xfrm>
            <a:off x="762000" y="3810000"/>
            <a:ext cx="10668000" cy="0"/>
          </a:xfrm>
          <a:prstGeom prst="line">
            <a:avLst/>
          </a:prstGeom>
          <a:ln w="25400">
            <a:solidFill>
              <a:srgbClr val="5B6475"/>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9A82637B-2E82-2747-9CD5-F62B473F0202}"/>
              </a:ext>
            </a:extLst>
          </p:cNvPr>
          <p:cNvSpPr txBox="1"/>
          <p:nvPr/>
        </p:nvSpPr>
        <p:spPr>
          <a:xfrm>
            <a:off x="508000" y="3886200"/>
            <a:ext cx="2540000" cy="203200"/>
          </a:xfrm>
          <a:prstGeom prst="rect">
            <a:avLst/>
          </a:prstGeom>
          <a:noFill/>
        </p:spPr>
        <p:txBody>
          <a:bodyPr vert="horz" wrap="square" lIns="0" tIns="0" rIns="0" bIns="0" rtlCol="0" anchor="t">
            <a:noAutofit/>
          </a:bodyPr>
          <a:lstStyle/>
          <a:p>
            <a:r>
              <a:rPr lang="en-US" sz="1100" b="1">
                <a:solidFill>
                  <a:srgbClr val="0F7C80"/>
                </a:solidFill>
                <a:latin typeface="Calibri" panose="020F0502020204030204" pitchFamily="34" charset="0"/>
              </a:rPr>
              <a:t>Cheapest</a:t>
            </a:r>
          </a:p>
        </p:txBody>
      </p:sp>
      <p:sp>
        <p:nvSpPr>
          <p:cNvPr id="16" name="TextBox 15">
            <a:extLst>
              <a:ext uri="{FF2B5EF4-FFF2-40B4-BE49-F238E27FC236}">
                <a16:creationId xmlns:a16="http://schemas.microsoft.com/office/drawing/2014/main" id="{D50FF842-B12F-81D3-5D2C-E1C0405AECBD}"/>
              </a:ext>
            </a:extLst>
          </p:cNvPr>
          <p:cNvSpPr txBox="1"/>
          <p:nvPr/>
        </p:nvSpPr>
        <p:spPr>
          <a:xfrm>
            <a:off x="9144000" y="3886200"/>
            <a:ext cx="2540000" cy="203200"/>
          </a:xfrm>
          <a:prstGeom prst="rect">
            <a:avLst/>
          </a:prstGeom>
          <a:noFill/>
        </p:spPr>
        <p:txBody>
          <a:bodyPr vert="horz" wrap="square" lIns="0" tIns="0" rIns="0" bIns="0" rtlCol="0" anchor="t">
            <a:noAutofit/>
          </a:bodyPr>
          <a:lstStyle/>
          <a:p>
            <a:pPr algn="r"/>
            <a:r>
              <a:rPr lang="en-US" sz="1100" b="1">
                <a:solidFill>
                  <a:srgbClr val="A84A2E"/>
                </a:solidFill>
                <a:latin typeface="Calibri" panose="020F0502020204030204" pitchFamily="34" charset="0"/>
              </a:rPr>
              <a:t>Most expensive</a:t>
            </a:r>
          </a:p>
        </p:txBody>
      </p:sp>
      <p:sp>
        <p:nvSpPr>
          <p:cNvPr id="17" name="Rectangle: Rounded Corners 16">
            <a:extLst>
              <a:ext uri="{FF2B5EF4-FFF2-40B4-BE49-F238E27FC236}">
                <a16:creationId xmlns:a16="http://schemas.microsoft.com/office/drawing/2014/main" id="{8EB0F82C-C89F-5CB3-AA5F-A276FA0A4469}"/>
              </a:ext>
            </a:extLst>
          </p:cNvPr>
          <p:cNvSpPr/>
          <p:nvPr/>
        </p:nvSpPr>
        <p:spPr>
          <a:xfrm>
            <a:off x="508000" y="4216400"/>
            <a:ext cx="5461000" cy="1143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1ECF9FB-4B1C-6CC1-1FF6-352C77FEE249}"/>
              </a:ext>
            </a:extLst>
          </p:cNvPr>
          <p:cNvSpPr txBox="1"/>
          <p:nvPr/>
        </p:nvSpPr>
        <p:spPr>
          <a:xfrm>
            <a:off x="660400" y="4368800"/>
            <a:ext cx="5156200" cy="8382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Quality vs. grade</a:t>
            </a:r>
          </a:p>
          <a:p>
            <a:r>
              <a:rPr lang="en-US" sz="1200">
                <a:solidFill>
                  <a:srgbClr val="1F2937"/>
                </a:solidFill>
                <a:latin typeface="Calibri" panose="020F0502020204030204" pitchFamily="34" charset="0"/>
              </a:rPr>
              <a:t>Quality: how well the product meets requirements. Grade: its category of features. Low grade can be acceptable; low quality never is.</a:t>
            </a:r>
          </a:p>
        </p:txBody>
      </p:sp>
      <p:sp>
        <p:nvSpPr>
          <p:cNvPr id="19" name="Rectangle: Rounded Corners 18">
            <a:extLst>
              <a:ext uri="{FF2B5EF4-FFF2-40B4-BE49-F238E27FC236}">
                <a16:creationId xmlns:a16="http://schemas.microsoft.com/office/drawing/2014/main" id="{231042C5-C287-6813-AC51-8E3FDBC56FC4}"/>
              </a:ext>
            </a:extLst>
          </p:cNvPr>
          <p:cNvSpPr/>
          <p:nvPr/>
        </p:nvSpPr>
        <p:spPr>
          <a:xfrm>
            <a:off x="6223000" y="4216400"/>
            <a:ext cx="5461000" cy="11430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3D6065F-E688-E199-86AE-03AB41DFA020}"/>
              </a:ext>
            </a:extLst>
          </p:cNvPr>
          <p:cNvSpPr txBox="1"/>
          <p:nvPr/>
        </p:nvSpPr>
        <p:spPr>
          <a:xfrm>
            <a:off x="6375400" y="4368800"/>
            <a:ext cx="5156200" cy="838200"/>
          </a:xfrm>
          <a:prstGeom prst="rect">
            <a:avLst/>
          </a:prstGeom>
          <a:noFill/>
        </p:spPr>
        <p:txBody>
          <a:bodyPr vert="horz" wrap="square" lIns="0" tIns="0" rIns="0" bIns="0" rtlCol="0" anchor="t">
            <a:noAutofit/>
          </a:bodyPr>
          <a:lstStyle/>
          <a:p>
            <a:pPr>
              <a:spcAft>
                <a:spcPts val="600"/>
              </a:spcAft>
            </a:pPr>
            <a:r>
              <a:rPr lang="en-US" sz="1400" b="1">
                <a:solidFill>
                  <a:srgbClr val="A86F0E"/>
                </a:solidFill>
                <a:latin typeface="Calibri" panose="020F0502020204030204" pitchFamily="34" charset="0"/>
              </a:rPr>
              <a:t>Sustainability link</a:t>
            </a:r>
          </a:p>
          <a:p>
            <a:r>
              <a:rPr lang="en-US" sz="1200">
                <a:solidFill>
                  <a:srgbClr val="1F2937"/>
                </a:solidFill>
                <a:latin typeface="Calibri" panose="020F0502020204030204" pitchFamily="34" charset="0"/>
              </a:rPr>
              <a:t>The July 2026 outline pairs cost of quality with sustainability: preventing defects also cuts waste, rework, and resource use.</a:t>
            </a:r>
          </a:p>
        </p:txBody>
      </p:sp>
      <p:sp>
        <p:nvSpPr>
          <p:cNvPr id="21" name="Rectangle: Rounded Corners 20">
            <a:extLst>
              <a:ext uri="{FF2B5EF4-FFF2-40B4-BE49-F238E27FC236}">
                <a16:creationId xmlns:a16="http://schemas.microsoft.com/office/drawing/2014/main" id="{372A560A-7830-3118-51A6-D6B25500E890}"/>
              </a:ext>
            </a:extLst>
          </p:cNvPr>
          <p:cNvSpPr/>
          <p:nvPr/>
        </p:nvSpPr>
        <p:spPr>
          <a:xfrm>
            <a:off x="508000" y="5486400"/>
            <a:ext cx="11176000" cy="838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C003D6E3-B6E4-AC69-08A1-D6769F46742C}"/>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prevention over inspection. The most expensive defect is the one the customer finds.</a:t>
            </a:r>
          </a:p>
        </p:txBody>
      </p:sp>
      <p:sp>
        <p:nvSpPr>
          <p:cNvPr id="23" name="Footer">
            <a:extLst>
              <a:ext uri="{FF2B5EF4-FFF2-40B4-BE49-F238E27FC236}">
                <a16:creationId xmlns:a16="http://schemas.microsoft.com/office/drawing/2014/main" id="{439AF0C5-1892-9F5B-0D24-51F900CEFE99}"/>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8.1.2.3 (cost of quality); Philip B. Crosby, Quality Is Free (1979)</a:t>
            </a:r>
          </a:p>
        </p:txBody>
      </p:sp>
      <p:sp>
        <p:nvSpPr>
          <p:cNvPr id="24" name="SlideNum">
            <a:extLst>
              <a:ext uri="{FF2B5EF4-FFF2-40B4-BE49-F238E27FC236}">
                <a16:creationId xmlns:a16="http://schemas.microsoft.com/office/drawing/2014/main" id="{BA222C6D-4908-88A8-4FD0-FCC60BF9F148}"/>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45</a:t>
            </a:r>
          </a:p>
        </p:txBody>
      </p:sp>
      <p:sp>
        <p:nvSpPr>
          <p:cNvPr id="25"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3052980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2CB70E5-92BE-E520-7632-5FBB9ADA36F0}"/>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Contracts: negotiating productive relationships</a:t>
            </a:r>
          </a:p>
        </p:txBody>
      </p:sp>
      <p:sp>
        <p:nvSpPr>
          <p:cNvPr id="3" name="Tag">
            <a:extLst>
              <a:ext uri="{FF2B5EF4-FFF2-40B4-BE49-F238E27FC236}">
                <a16:creationId xmlns:a16="http://schemas.microsoft.com/office/drawing/2014/main" id="{95E425F4-4A23-AEE7-926A-1B1D1B2E1D6E}"/>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5 (Plan and manage procurement: negotiation strategy and agreements)</a:t>
            </a:r>
          </a:p>
        </p:txBody>
      </p:sp>
      <p:sp>
        <p:nvSpPr>
          <p:cNvPr id="4" name="Rectangle: Rounded Corners 3">
            <a:extLst>
              <a:ext uri="{FF2B5EF4-FFF2-40B4-BE49-F238E27FC236}">
                <a16:creationId xmlns:a16="http://schemas.microsoft.com/office/drawing/2014/main" id="{9CDBA165-71EA-D6B7-DCD6-541A9B7E2EA8}"/>
              </a:ext>
            </a:extLst>
          </p:cNvPr>
          <p:cNvSpPr/>
          <p:nvPr/>
        </p:nvSpPr>
        <p:spPr>
          <a:xfrm>
            <a:off x="508000" y="1371600"/>
            <a:ext cx="11176000" cy="18542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9722B6E-5814-BF35-5C58-5ECD2AA3910D}"/>
              </a:ext>
            </a:extLst>
          </p:cNvPr>
          <p:cNvSpPr txBox="1"/>
          <p:nvPr/>
        </p:nvSpPr>
        <p:spPr>
          <a:xfrm>
            <a:off x="762000" y="1524000"/>
            <a:ext cx="5080000" cy="279400"/>
          </a:xfrm>
          <a:prstGeom prst="rect">
            <a:avLst/>
          </a:prstGeom>
          <a:noFill/>
        </p:spPr>
        <p:txBody>
          <a:bodyPr vert="horz" wrap="square" lIns="0" tIns="0" rIns="0" bIns="0" rtlCol="0" anchor="t">
            <a:noAutofit/>
          </a:bodyPr>
          <a:lstStyle/>
          <a:p>
            <a:r>
              <a:rPr lang="en-US" sz="1700" b="1">
                <a:solidFill>
                  <a:srgbClr val="14213D"/>
                </a:solidFill>
                <a:latin typeface="Calibri" panose="020F0502020204030204" pitchFamily="34" charset="0"/>
              </a:rPr>
              <a:t>A good contract helps you</a:t>
            </a:r>
          </a:p>
        </p:txBody>
      </p:sp>
      <p:sp>
        <p:nvSpPr>
          <p:cNvPr id="6" name="TextBox 5">
            <a:extLst>
              <a:ext uri="{FF2B5EF4-FFF2-40B4-BE49-F238E27FC236}">
                <a16:creationId xmlns:a16="http://schemas.microsoft.com/office/drawing/2014/main" id="{957F6FDD-6FFD-5C5B-85A1-6D28B7AC3D92}"/>
              </a:ext>
            </a:extLst>
          </p:cNvPr>
          <p:cNvSpPr txBox="1"/>
          <p:nvPr/>
        </p:nvSpPr>
        <p:spPr>
          <a:xfrm>
            <a:off x="762000" y="1905000"/>
            <a:ext cx="5080000" cy="1524000"/>
          </a:xfrm>
          <a:prstGeom prst="rect">
            <a:avLst/>
          </a:prstGeom>
          <a:noFill/>
        </p:spPr>
        <p:txBody>
          <a:bodyPr vert="horz" wrap="square" lIns="0" tIns="0" rIns="0" bIns="0" rtlCol="0" anchor="t">
            <a:noAutofit/>
          </a:bodyPr>
          <a:lstStyle/>
          <a:p>
            <a:pPr marL="203200" indent="-203200">
              <a:spcAft>
                <a:spcPts val="500"/>
              </a:spcAft>
              <a:buClr>
                <a:srgbClr val="34509A"/>
              </a:buClr>
              <a:buFont typeface="+mj-lt"/>
              <a:buChar char="•"/>
            </a:pPr>
            <a:r>
              <a:rPr lang="en-US" sz="1500">
                <a:solidFill>
                  <a:srgbClr val="1F2937"/>
                </a:solidFill>
                <a:latin typeface="Calibri" panose="020F0502020204030204" pitchFamily="34" charset="0"/>
              </a:rPr>
              <a:t>Legalize working agreements</a:t>
            </a:r>
          </a:p>
          <a:p>
            <a:pPr marL="203200" indent="-203200">
              <a:spcAft>
                <a:spcPts val="500"/>
              </a:spcAft>
              <a:buClr>
                <a:srgbClr val="34509A"/>
              </a:buClr>
              <a:buFont typeface="+mj-lt"/>
              <a:buChar char="•"/>
            </a:pPr>
            <a:r>
              <a:rPr lang="en-US" sz="1500">
                <a:solidFill>
                  <a:srgbClr val="1F2937"/>
                </a:solidFill>
                <a:latin typeface="Calibri" panose="020F0502020204030204" pitchFamily="34" charset="0"/>
              </a:rPr>
              <a:t>Give structure to working relationships</a:t>
            </a:r>
          </a:p>
          <a:p>
            <a:pPr marL="203200" indent="-203200">
              <a:spcAft>
                <a:spcPts val="500"/>
              </a:spcAft>
              <a:buClr>
                <a:srgbClr val="34509A"/>
              </a:buClr>
              <a:buFont typeface="+mj-lt"/>
              <a:buChar char="•"/>
            </a:pPr>
            <a:r>
              <a:rPr lang="en-US" sz="1500">
                <a:solidFill>
                  <a:srgbClr val="1F2937"/>
                </a:solidFill>
                <a:latin typeface="Calibri" panose="020F0502020204030204" pitchFamily="34" charset="0"/>
              </a:rPr>
              <a:t>Collaborate further with partners</a:t>
            </a:r>
          </a:p>
        </p:txBody>
      </p:sp>
      <p:sp>
        <p:nvSpPr>
          <p:cNvPr id="7" name="TextBox 6">
            <a:extLst>
              <a:ext uri="{FF2B5EF4-FFF2-40B4-BE49-F238E27FC236}">
                <a16:creationId xmlns:a16="http://schemas.microsoft.com/office/drawing/2014/main" id="{1676F115-159B-4B9F-94DF-D8E083F5A943}"/>
              </a:ext>
            </a:extLst>
          </p:cNvPr>
          <p:cNvSpPr txBox="1"/>
          <p:nvPr/>
        </p:nvSpPr>
        <p:spPr>
          <a:xfrm>
            <a:off x="6223000" y="1905000"/>
            <a:ext cx="5080000" cy="1524000"/>
          </a:xfrm>
          <a:prstGeom prst="rect">
            <a:avLst/>
          </a:prstGeom>
          <a:noFill/>
        </p:spPr>
        <p:txBody>
          <a:bodyPr vert="horz" wrap="square" lIns="0" tIns="0" rIns="0" bIns="0" rtlCol="0" anchor="t">
            <a:noAutofit/>
          </a:bodyPr>
          <a:lstStyle/>
          <a:p>
            <a:pPr marL="203200" indent="-203200">
              <a:spcAft>
                <a:spcPts val="500"/>
              </a:spcAft>
              <a:buClr>
                <a:srgbClr val="34509A"/>
              </a:buClr>
              <a:buFont typeface="+mj-lt"/>
              <a:buChar char="•"/>
            </a:pPr>
            <a:r>
              <a:rPr lang="en-US" sz="1500">
                <a:solidFill>
                  <a:srgbClr val="1F2937"/>
                </a:solidFill>
                <a:latin typeface="Calibri" panose="020F0502020204030204" pitchFamily="34" charset="0"/>
              </a:rPr>
              <a:t>Consider the risks of each contract type</a:t>
            </a:r>
          </a:p>
          <a:p>
            <a:pPr marL="203200" indent="-203200">
              <a:spcAft>
                <a:spcPts val="500"/>
              </a:spcAft>
              <a:buClr>
                <a:srgbClr val="34509A"/>
              </a:buClr>
              <a:buFont typeface="+mj-lt"/>
              <a:buChar char="•"/>
            </a:pPr>
            <a:r>
              <a:rPr lang="en-US" sz="1500">
                <a:solidFill>
                  <a:srgbClr val="1F2937"/>
                </a:solidFill>
                <a:latin typeface="Calibri" panose="020F0502020204030204" pitchFamily="34" charset="0"/>
              </a:rPr>
              <a:t>Deliver benefits to the buyer (they differ by type)</a:t>
            </a:r>
          </a:p>
          <a:p>
            <a:pPr marL="203200" indent="-203200">
              <a:spcAft>
                <a:spcPts val="500"/>
              </a:spcAft>
              <a:buClr>
                <a:srgbClr val="34509A"/>
              </a:buClr>
              <a:buFont typeface="+mj-lt"/>
              <a:buChar char="•"/>
            </a:pPr>
            <a:r>
              <a:rPr lang="en-US" sz="1500">
                <a:solidFill>
                  <a:srgbClr val="1F2937"/>
                </a:solidFill>
                <a:latin typeface="Calibri" panose="020F0502020204030204" pitchFamily="34" charset="0"/>
              </a:rPr>
              <a:t>Tailor the agreement to the partnership</a:t>
            </a:r>
          </a:p>
        </p:txBody>
      </p:sp>
      <p:sp>
        <p:nvSpPr>
          <p:cNvPr id="8" name="Arrow: Pentagon 7">
            <a:extLst>
              <a:ext uri="{FF2B5EF4-FFF2-40B4-BE49-F238E27FC236}">
                <a16:creationId xmlns:a16="http://schemas.microsoft.com/office/drawing/2014/main" id="{61A8860F-9BEF-4640-671B-D4AE69C96142}"/>
              </a:ext>
            </a:extLst>
          </p:cNvPr>
          <p:cNvSpPr/>
          <p:nvPr/>
        </p:nvSpPr>
        <p:spPr>
          <a:xfrm>
            <a:off x="508000" y="3556000"/>
            <a:ext cx="2997200" cy="762000"/>
          </a:xfrm>
          <a:prstGeom prst="homePlate">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04800" tIns="25400" rIns="304800" bIns="25400" rtlCol="0" anchor="ctr"/>
          <a:lstStyle/>
          <a:p>
            <a:pPr algn="ctr"/>
            <a:r>
              <a:rPr lang="en-US" sz="1500" b="1">
                <a:solidFill>
                  <a:srgbClr val="FFFFFF"/>
                </a:solidFill>
                <a:latin typeface="Calibri" panose="020F0502020204030204" pitchFamily="34" charset="0"/>
              </a:rPr>
              <a:t>Need determination</a:t>
            </a:r>
          </a:p>
        </p:txBody>
      </p:sp>
      <p:sp>
        <p:nvSpPr>
          <p:cNvPr id="9" name="TextBox 8">
            <a:extLst>
              <a:ext uri="{FF2B5EF4-FFF2-40B4-BE49-F238E27FC236}">
                <a16:creationId xmlns:a16="http://schemas.microsoft.com/office/drawing/2014/main" id="{A362E5AA-4038-9ABE-AEAF-7346314F3CF2}"/>
              </a:ext>
            </a:extLst>
          </p:cNvPr>
          <p:cNvSpPr txBox="1"/>
          <p:nvPr/>
        </p:nvSpPr>
        <p:spPr>
          <a:xfrm>
            <a:off x="609600" y="4470400"/>
            <a:ext cx="2540000" cy="1143000"/>
          </a:xfrm>
          <a:prstGeom prst="rect">
            <a:avLst/>
          </a:prstGeom>
          <a:noFill/>
        </p:spPr>
        <p:txBody>
          <a:bodyPr vert="horz" wrap="square" lIns="0" tIns="0" rIns="0" bIns="0" rtlCol="0" anchor="t">
            <a:noAutofit/>
          </a:bodyPr>
          <a:lstStyle/>
          <a:p>
            <a:r>
              <a:rPr lang="en-US" sz="1500">
                <a:solidFill>
                  <a:srgbClr val="1F2937"/>
                </a:solidFill>
                <a:latin typeface="Calibri" panose="020F0502020204030204" pitchFamily="34" charset="0"/>
              </a:rPr>
              <a:t>Decide what must be bought rather than built (make-or-buy).</a:t>
            </a:r>
          </a:p>
        </p:txBody>
      </p:sp>
      <p:sp>
        <p:nvSpPr>
          <p:cNvPr id="10" name="Arrow: Chevron 9">
            <a:extLst>
              <a:ext uri="{FF2B5EF4-FFF2-40B4-BE49-F238E27FC236}">
                <a16:creationId xmlns:a16="http://schemas.microsoft.com/office/drawing/2014/main" id="{A170A3B4-8354-6BBD-5AE9-4979798DCBE8}"/>
              </a:ext>
            </a:extLst>
          </p:cNvPr>
          <p:cNvSpPr/>
          <p:nvPr/>
        </p:nvSpPr>
        <p:spPr>
          <a:xfrm>
            <a:off x="3327400" y="3556000"/>
            <a:ext cx="2997200" cy="762000"/>
          </a:xfrm>
          <a:prstGeom prst="chevron">
            <a:avLst/>
          </a:prstGeom>
          <a:solidFill>
            <a:srgbClr val="2A3A5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04800" tIns="25400" rIns="304800" bIns="25400" rtlCol="0" anchor="ctr"/>
          <a:lstStyle/>
          <a:p>
            <a:pPr algn="ctr"/>
            <a:r>
              <a:rPr lang="en-US" sz="1500" b="1">
                <a:solidFill>
                  <a:srgbClr val="FFFFFF"/>
                </a:solidFill>
                <a:latin typeface="Calibri" panose="020F0502020204030204" pitchFamily="34" charset="0"/>
              </a:rPr>
              <a:t>Request</a:t>
            </a:r>
          </a:p>
        </p:txBody>
      </p:sp>
      <p:sp>
        <p:nvSpPr>
          <p:cNvPr id="11" name="TextBox 10">
            <a:extLst>
              <a:ext uri="{FF2B5EF4-FFF2-40B4-BE49-F238E27FC236}">
                <a16:creationId xmlns:a16="http://schemas.microsoft.com/office/drawing/2014/main" id="{2347C831-0A76-A901-2173-CECEA7C0B0F3}"/>
              </a:ext>
            </a:extLst>
          </p:cNvPr>
          <p:cNvSpPr txBox="1"/>
          <p:nvPr/>
        </p:nvSpPr>
        <p:spPr>
          <a:xfrm>
            <a:off x="3429000" y="4470400"/>
            <a:ext cx="2540000" cy="1143000"/>
          </a:xfrm>
          <a:prstGeom prst="rect">
            <a:avLst/>
          </a:prstGeom>
          <a:noFill/>
        </p:spPr>
        <p:txBody>
          <a:bodyPr vert="horz" wrap="square" lIns="0" tIns="0" rIns="0" bIns="0" rtlCol="0" anchor="t">
            <a:noAutofit/>
          </a:bodyPr>
          <a:lstStyle/>
          <a:p>
            <a:r>
              <a:rPr lang="en-US" sz="1500">
                <a:solidFill>
                  <a:srgbClr val="1F2937"/>
                </a:solidFill>
                <a:latin typeface="Calibri" panose="020F0502020204030204" pitchFamily="34" charset="0"/>
              </a:rPr>
              <a:t>Ask sellers for information, proposals, or quotes (RFI, RFP, RFQ).</a:t>
            </a:r>
          </a:p>
        </p:txBody>
      </p:sp>
      <p:sp>
        <p:nvSpPr>
          <p:cNvPr id="12" name="Arrow: Chevron 11">
            <a:extLst>
              <a:ext uri="{FF2B5EF4-FFF2-40B4-BE49-F238E27FC236}">
                <a16:creationId xmlns:a16="http://schemas.microsoft.com/office/drawing/2014/main" id="{4BB021D9-9B3E-4ED0-4944-7B9B3DBB2473}"/>
              </a:ext>
            </a:extLst>
          </p:cNvPr>
          <p:cNvSpPr/>
          <p:nvPr/>
        </p:nvSpPr>
        <p:spPr>
          <a:xfrm>
            <a:off x="6146800" y="3556000"/>
            <a:ext cx="2997200" cy="762000"/>
          </a:xfrm>
          <a:prstGeom prst="chevron">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04800" tIns="25400" rIns="304800" bIns="25400" rtlCol="0" anchor="ctr"/>
          <a:lstStyle/>
          <a:p>
            <a:pPr algn="ctr"/>
            <a:r>
              <a:rPr lang="en-US" sz="1500" b="1">
                <a:solidFill>
                  <a:srgbClr val="FFFFFF"/>
                </a:solidFill>
                <a:latin typeface="Calibri" panose="020F0502020204030204" pitchFamily="34" charset="0"/>
              </a:rPr>
              <a:t>Proposal</a:t>
            </a:r>
          </a:p>
        </p:txBody>
      </p:sp>
      <p:sp>
        <p:nvSpPr>
          <p:cNvPr id="13" name="TextBox 12">
            <a:extLst>
              <a:ext uri="{FF2B5EF4-FFF2-40B4-BE49-F238E27FC236}">
                <a16:creationId xmlns:a16="http://schemas.microsoft.com/office/drawing/2014/main" id="{9E7D1639-F196-D942-8270-14B3A57D7FE4}"/>
              </a:ext>
            </a:extLst>
          </p:cNvPr>
          <p:cNvSpPr txBox="1"/>
          <p:nvPr/>
        </p:nvSpPr>
        <p:spPr>
          <a:xfrm>
            <a:off x="6248400" y="4470400"/>
            <a:ext cx="2540000" cy="1143000"/>
          </a:xfrm>
          <a:prstGeom prst="rect">
            <a:avLst/>
          </a:prstGeom>
          <a:noFill/>
        </p:spPr>
        <p:txBody>
          <a:bodyPr vert="horz" wrap="square" lIns="0" tIns="0" rIns="0" bIns="0" rtlCol="0" anchor="t">
            <a:noAutofit/>
          </a:bodyPr>
          <a:lstStyle/>
          <a:p>
            <a:r>
              <a:rPr lang="en-US" sz="1500">
                <a:solidFill>
                  <a:srgbClr val="1F2937"/>
                </a:solidFill>
                <a:latin typeface="Calibri" panose="020F0502020204030204" pitchFamily="34" charset="0"/>
              </a:rPr>
              <a:t>Sellers respond; evaluate the responses and select a seller.</a:t>
            </a:r>
          </a:p>
        </p:txBody>
      </p:sp>
      <p:sp>
        <p:nvSpPr>
          <p:cNvPr id="14" name="Arrow: Chevron 13">
            <a:extLst>
              <a:ext uri="{FF2B5EF4-FFF2-40B4-BE49-F238E27FC236}">
                <a16:creationId xmlns:a16="http://schemas.microsoft.com/office/drawing/2014/main" id="{5F9662C6-8971-4E01-B106-2C0C9C89F506}"/>
              </a:ext>
            </a:extLst>
          </p:cNvPr>
          <p:cNvSpPr/>
          <p:nvPr/>
        </p:nvSpPr>
        <p:spPr>
          <a:xfrm>
            <a:off x="8966200" y="3556000"/>
            <a:ext cx="2997200" cy="762000"/>
          </a:xfrm>
          <a:prstGeom prst="chevron">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04800" tIns="25400" rIns="304800" bIns="25400" rtlCol="0" anchor="ctr"/>
          <a:lstStyle/>
          <a:p>
            <a:pPr algn="ctr"/>
            <a:r>
              <a:rPr lang="en-US" sz="1500" b="1">
                <a:solidFill>
                  <a:srgbClr val="FFFFFF"/>
                </a:solidFill>
                <a:latin typeface="Calibri" panose="020F0502020204030204" pitchFamily="34" charset="0"/>
              </a:rPr>
              <a:t>Contract</a:t>
            </a:r>
          </a:p>
        </p:txBody>
      </p:sp>
      <p:sp>
        <p:nvSpPr>
          <p:cNvPr id="15" name="TextBox 14">
            <a:extLst>
              <a:ext uri="{FF2B5EF4-FFF2-40B4-BE49-F238E27FC236}">
                <a16:creationId xmlns:a16="http://schemas.microsoft.com/office/drawing/2014/main" id="{2692A1BD-EACF-CE59-C26B-3628FE611443}"/>
              </a:ext>
            </a:extLst>
          </p:cNvPr>
          <p:cNvSpPr txBox="1"/>
          <p:nvPr/>
        </p:nvSpPr>
        <p:spPr>
          <a:xfrm>
            <a:off x="9067800" y="4470400"/>
            <a:ext cx="2540000" cy="1143000"/>
          </a:xfrm>
          <a:prstGeom prst="rect">
            <a:avLst/>
          </a:prstGeom>
          <a:noFill/>
        </p:spPr>
        <p:txBody>
          <a:bodyPr vert="horz" wrap="square" lIns="0" tIns="0" rIns="0" bIns="0" rtlCol="0" anchor="t">
            <a:noAutofit/>
          </a:bodyPr>
          <a:lstStyle/>
          <a:p>
            <a:r>
              <a:rPr lang="en-US" sz="1500">
                <a:solidFill>
                  <a:srgbClr val="1F2937"/>
                </a:solidFill>
                <a:latin typeface="Calibri" panose="020F0502020204030204" pitchFamily="34" charset="0"/>
              </a:rPr>
              <a:t>Negotiate terms and award the agreement.</a:t>
            </a:r>
          </a:p>
        </p:txBody>
      </p:sp>
      <p:sp>
        <p:nvSpPr>
          <p:cNvPr id="16" name="Footer">
            <a:extLst>
              <a:ext uri="{FF2B5EF4-FFF2-40B4-BE49-F238E27FC236}">
                <a16:creationId xmlns:a16="http://schemas.microsoft.com/office/drawing/2014/main" id="{0E75CD24-2B6F-F99B-44D0-AC8F5D8C8829}"/>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fr-FR" sz="1000">
                <a:solidFill>
                  <a:srgbClr val="5B6475"/>
                </a:solidFill>
                <a:latin typeface="Calibri" panose="020F0502020204030204" pitchFamily="34" charset="0"/>
              </a:rPr>
              <a:t>Source: PMI, PMBOK® Guide — Sixth Edition, Chapter 12 (Project Procurement Management)</a:t>
            </a:r>
            <a:endParaRPr lang="en-US" sz="1000">
              <a:solidFill>
                <a:srgbClr val="5B6475"/>
              </a:solidFill>
              <a:latin typeface="Calibri" panose="020F0502020204030204" pitchFamily="34" charset="0"/>
            </a:endParaRPr>
          </a:p>
        </p:txBody>
      </p:sp>
      <p:sp>
        <p:nvSpPr>
          <p:cNvPr id="17" name="SlideNum">
            <a:extLst>
              <a:ext uri="{FF2B5EF4-FFF2-40B4-BE49-F238E27FC236}">
                <a16:creationId xmlns:a16="http://schemas.microsoft.com/office/drawing/2014/main" id="{987E8F5F-DBB3-E2CC-971E-A919C510F85A}"/>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46</a:t>
            </a:r>
          </a:p>
        </p:txBody>
      </p:sp>
      <p:sp>
        <p:nvSpPr>
          <p:cNvPr id="18"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5019216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73B2715B-473C-11A7-7055-FB8DB13ECA5C}"/>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Contract types: who carries the cost risk?</a:t>
            </a:r>
          </a:p>
        </p:txBody>
      </p:sp>
      <p:sp>
        <p:nvSpPr>
          <p:cNvPr id="3" name="Tag">
            <a:extLst>
              <a:ext uri="{FF2B5EF4-FFF2-40B4-BE49-F238E27FC236}">
                <a16:creationId xmlns:a16="http://schemas.microsoft.com/office/drawing/2014/main" id="{12681B69-FACA-8CAF-FD7D-B951D7E35B2A}"/>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5 (Plan and manage procurement)</a:t>
            </a:r>
          </a:p>
        </p:txBody>
      </p:sp>
      <p:sp>
        <p:nvSpPr>
          <p:cNvPr id="4" name="Rectangle 3">
            <a:extLst>
              <a:ext uri="{FF2B5EF4-FFF2-40B4-BE49-F238E27FC236}">
                <a16:creationId xmlns:a16="http://schemas.microsoft.com/office/drawing/2014/main" id="{3ED85FA6-7663-9373-0DFD-A5F1E01162B7}"/>
              </a:ext>
            </a:extLst>
          </p:cNvPr>
          <p:cNvSpPr/>
          <p:nvPr/>
        </p:nvSpPr>
        <p:spPr>
          <a:xfrm>
            <a:off x="508000" y="1371600"/>
            <a:ext cx="3683000" cy="558800"/>
          </a:xfrm>
          <a:prstGeom prst="rect">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500" b="1">
                <a:solidFill>
                  <a:srgbClr val="FFFFFF"/>
                </a:solidFill>
                <a:latin typeface="Calibri" panose="020F0502020204030204" pitchFamily="34" charset="0"/>
              </a:rPr>
              <a:t>Buyer carries more risk</a:t>
            </a:r>
          </a:p>
        </p:txBody>
      </p:sp>
      <p:sp>
        <p:nvSpPr>
          <p:cNvPr id="5" name="Rectangle 4">
            <a:extLst>
              <a:ext uri="{FF2B5EF4-FFF2-40B4-BE49-F238E27FC236}">
                <a16:creationId xmlns:a16="http://schemas.microsoft.com/office/drawing/2014/main" id="{4373AF62-650C-3438-B053-C1510C47E1A0}"/>
              </a:ext>
            </a:extLst>
          </p:cNvPr>
          <p:cNvSpPr/>
          <p:nvPr/>
        </p:nvSpPr>
        <p:spPr>
          <a:xfrm>
            <a:off x="4254500" y="1371600"/>
            <a:ext cx="3683000" cy="558800"/>
          </a:xfrm>
          <a:prstGeom prst="rect">
            <a:avLst/>
          </a:prstGeom>
          <a:solidFill>
            <a:srgbClr val="D5DB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500" b="1">
                <a:solidFill>
                  <a:srgbClr val="14213D"/>
                </a:solidFill>
                <a:latin typeface="Calibri" panose="020F0502020204030204" pitchFamily="34" charset="0"/>
              </a:rPr>
              <a:t>Risk shared</a:t>
            </a:r>
          </a:p>
        </p:txBody>
      </p:sp>
      <p:sp>
        <p:nvSpPr>
          <p:cNvPr id="6" name="Rectangle 5">
            <a:extLst>
              <a:ext uri="{FF2B5EF4-FFF2-40B4-BE49-F238E27FC236}">
                <a16:creationId xmlns:a16="http://schemas.microsoft.com/office/drawing/2014/main" id="{95709127-7A5B-AEBF-C386-636AD8890231}"/>
              </a:ext>
            </a:extLst>
          </p:cNvPr>
          <p:cNvSpPr/>
          <p:nvPr/>
        </p:nvSpPr>
        <p:spPr>
          <a:xfrm>
            <a:off x="8001000" y="1371600"/>
            <a:ext cx="3683000" cy="558800"/>
          </a:xfrm>
          <a:prstGeom prst="rect">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500" b="1">
                <a:solidFill>
                  <a:srgbClr val="FFFFFF"/>
                </a:solidFill>
                <a:latin typeface="Calibri" panose="020F0502020204030204" pitchFamily="34" charset="0"/>
              </a:rPr>
              <a:t>Seller carries more risk</a:t>
            </a:r>
          </a:p>
        </p:txBody>
      </p:sp>
      <p:sp>
        <p:nvSpPr>
          <p:cNvPr id="7" name="Rectangle: Rounded Corners 6">
            <a:extLst>
              <a:ext uri="{FF2B5EF4-FFF2-40B4-BE49-F238E27FC236}">
                <a16:creationId xmlns:a16="http://schemas.microsoft.com/office/drawing/2014/main" id="{0AB428D1-577D-8983-A57B-0A05AA7011D4}"/>
              </a:ext>
            </a:extLst>
          </p:cNvPr>
          <p:cNvSpPr/>
          <p:nvPr/>
        </p:nvSpPr>
        <p:spPr>
          <a:xfrm>
            <a:off x="508000" y="2108200"/>
            <a:ext cx="3683000" cy="33274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C03C718-C90E-997E-82FD-066620E3430E}"/>
              </a:ext>
            </a:extLst>
          </p:cNvPr>
          <p:cNvSpPr txBox="1"/>
          <p:nvPr/>
        </p:nvSpPr>
        <p:spPr>
          <a:xfrm>
            <a:off x="711200" y="2286000"/>
            <a:ext cx="3276600" cy="3048000"/>
          </a:xfrm>
          <a:prstGeom prst="rect">
            <a:avLst/>
          </a:prstGeom>
          <a:noFill/>
        </p:spPr>
        <p:txBody>
          <a:bodyPr vert="horz" wrap="square" lIns="0" tIns="0" rIns="0" bIns="0" rtlCol="0" anchor="t">
            <a:noAutofit/>
          </a:bodyPr>
          <a:lstStyle/>
          <a:p>
            <a:pPr>
              <a:spcAft>
                <a:spcPts val="400"/>
              </a:spcAft>
            </a:pPr>
            <a:r>
              <a:rPr lang="en-US" b="1">
                <a:solidFill>
                  <a:srgbClr val="A84A2E"/>
                </a:solidFill>
                <a:latin typeface="Calibri" panose="020F0502020204030204" pitchFamily="34" charset="0"/>
              </a:rPr>
              <a:t>Cost reimbursable (CR)</a:t>
            </a:r>
          </a:p>
          <a:p>
            <a:pPr>
              <a:spcAft>
                <a:spcPts val="800"/>
              </a:spcAft>
            </a:pPr>
            <a:r>
              <a:rPr lang="en-US" sz="1400">
                <a:solidFill>
                  <a:srgbClr val="1F2937"/>
                </a:solidFill>
                <a:latin typeface="Calibri" panose="020F0502020204030204" pitchFamily="34" charset="0"/>
              </a:rPr>
              <a:t>Seller is paid allowable costs plus a fee.</a:t>
            </a:r>
          </a:p>
          <a:p>
            <a:pPr>
              <a:spcBef>
                <a:spcPts val="600"/>
              </a:spcBef>
            </a:pPr>
            <a:r>
              <a:rPr lang="en-US" sz="1200" b="1">
                <a:solidFill>
                  <a:srgbClr val="5B6475"/>
                </a:solidFill>
                <a:latin typeface="Calibri" panose="020F0502020204030204" pitchFamily="34" charset="0"/>
              </a:rPr>
              <a:t>Variants</a:t>
            </a:r>
          </a:p>
          <a:p>
            <a:r>
              <a:rPr lang="en-US" sz="1400">
                <a:solidFill>
                  <a:srgbClr val="1F2937"/>
                </a:solidFill>
                <a:latin typeface="Calibri" panose="020F0502020204030204" pitchFamily="34" charset="0"/>
              </a:rPr>
              <a:t>CPFF: cost plus fixed fee</a:t>
            </a:r>
          </a:p>
          <a:p>
            <a:r>
              <a:rPr lang="en-US" sz="1400">
                <a:solidFill>
                  <a:srgbClr val="1F2937"/>
                </a:solidFill>
                <a:latin typeface="Calibri" panose="020F0502020204030204" pitchFamily="34" charset="0"/>
              </a:rPr>
              <a:t>CPIF: cost plus incentive fee</a:t>
            </a:r>
          </a:p>
          <a:p>
            <a:r>
              <a:rPr lang="en-US" sz="1400">
                <a:solidFill>
                  <a:srgbClr val="1F2937"/>
                </a:solidFill>
                <a:latin typeface="Calibri" panose="020F0502020204030204" pitchFamily="34" charset="0"/>
              </a:rPr>
              <a:t>CPAF: cost plus award fee</a:t>
            </a:r>
          </a:p>
          <a:p>
            <a:pPr>
              <a:spcBef>
                <a:spcPts val="600"/>
              </a:spcBef>
            </a:pPr>
            <a:r>
              <a:rPr lang="en-US" sz="1200" b="1">
                <a:solidFill>
                  <a:srgbClr val="5B6475"/>
                </a:solidFill>
                <a:latin typeface="Calibri" panose="020F0502020204030204" pitchFamily="34" charset="0"/>
              </a:rPr>
              <a:t>Use when</a:t>
            </a:r>
          </a:p>
          <a:p>
            <a:r>
              <a:rPr lang="en-US" sz="1400">
                <a:solidFill>
                  <a:srgbClr val="1F2937"/>
                </a:solidFill>
                <a:latin typeface="Calibri" panose="020F0502020204030204" pitchFamily="34" charset="0"/>
              </a:rPr>
              <a:t>Scope is uncertain or likely to change.</a:t>
            </a:r>
          </a:p>
        </p:txBody>
      </p:sp>
      <p:sp>
        <p:nvSpPr>
          <p:cNvPr id="9" name="Rectangle: Rounded Corners 8">
            <a:extLst>
              <a:ext uri="{FF2B5EF4-FFF2-40B4-BE49-F238E27FC236}">
                <a16:creationId xmlns:a16="http://schemas.microsoft.com/office/drawing/2014/main" id="{5A495160-DF87-E4CD-D478-B82E11B303C6}"/>
              </a:ext>
            </a:extLst>
          </p:cNvPr>
          <p:cNvSpPr/>
          <p:nvPr/>
        </p:nvSpPr>
        <p:spPr>
          <a:xfrm>
            <a:off x="4254500" y="2108200"/>
            <a:ext cx="3683000" cy="3327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717867B-FE02-B548-61A6-95BB0FC7163A}"/>
              </a:ext>
            </a:extLst>
          </p:cNvPr>
          <p:cNvSpPr txBox="1"/>
          <p:nvPr/>
        </p:nvSpPr>
        <p:spPr>
          <a:xfrm>
            <a:off x="4457700" y="2286000"/>
            <a:ext cx="3276600" cy="3048000"/>
          </a:xfrm>
          <a:prstGeom prst="rect">
            <a:avLst/>
          </a:prstGeom>
          <a:noFill/>
        </p:spPr>
        <p:txBody>
          <a:bodyPr vert="horz" wrap="square" lIns="0" tIns="0" rIns="0" bIns="0" rtlCol="0" anchor="t">
            <a:noAutofit/>
          </a:bodyPr>
          <a:lstStyle/>
          <a:p>
            <a:pPr>
              <a:spcAft>
                <a:spcPts val="400"/>
              </a:spcAft>
            </a:pPr>
            <a:r>
              <a:rPr lang="en-US" b="1">
                <a:solidFill>
                  <a:srgbClr val="14213D"/>
                </a:solidFill>
                <a:latin typeface="Calibri" panose="020F0502020204030204" pitchFamily="34" charset="0"/>
              </a:rPr>
              <a:t>Time and material (T&amp;M)</a:t>
            </a:r>
          </a:p>
          <a:p>
            <a:pPr>
              <a:spcAft>
                <a:spcPts val="800"/>
              </a:spcAft>
            </a:pPr>
            <a:r>
              <a:rPr lang="en-US" sz="1400">
                <a:solidFill>
                  <a:srgbClr val="1F2937"/>
                </a:solidFill>
                <a:latin typeface="Calibri" panose="020F0502020204030204" pitchFamily="34" charset="0"/>
              </a:rPr>
              <a:t>A hybrid: pay a rate per hour or unit, plus materials, often with a not-to-exceed cap.</a:t>
            </a:r>
          </a:p>
          <a:p>
            <a:pPr>
              <a:spcBef>
                <a:spcPts val="600"/>
              </a:spcBef>
            </a:pPr>
            <a:r>
              <a:rPr lang="en-US" sz="1200" b="1">
                <a:solidFill>
                  <a:srgbClr val="5B6475"/>
                </a:solidFill>
                <a:latin typeface="Calibri" panose="020F0502020204030204" pitchFamily="34" charset="0"/>
              </a:rPr>
              <a:t>Variants</a:t>
            </a:r>
          </a:p>
          <a:p>
            <a:r>
              <a:rPr lang="en-US" sz="1400">
                <a:solidFill>
                  <a:srgbClr val="1F2937"/>
                </a:solidFill>
                <a:latin typeface="Calibri" panose="020F0502020204030204" pitchFamily="34" charset="0"/>
              </a:rPr>
              <a:t>Unit rates set up front; total cost grows with effort</a:t>
            </a:r>
          </a:p>
          <a:p>
            <a:pPr>
              <a:spcBef>
                <a:spcPts val="600"/>
              </a:spcBef>
            </a:pPr>
            <a:r>
              <a:rPr lang="en-US" sz="1200" b="1">
                <a:solidFill>
                  <a:srgbClr val="5B6475"/>
                </a:solidFill>
                <a:latin typeface="Calibri" panose="020F0502020204030204" pitchFamily="34" charset="0"/>
              </a:rPr>
              <a:t>Use when</a:t>
            </a:r>
          </a:p>
          <a:p>
            <a:r>
              <a:rPr lang="en-US" sz="1400">
                <a:solidFill>
                  <a:srgbClr val="1F2937"/>
                </a:solidFill>
                <a:latin typeface="Calibri" panose="020F0502020204030204" pitchFamily="34" charset="0"/>
              </a:rPr>
              <a:t>Staff augmentation, or scope that can’t be defined quickly.</a:t>
            </a:r>
          </a:p>
        </p:txBody>
      </p:sp>
      <p:sp>
        <p:nvSpPr>
          <p:cNvPr id="11" name="Rectangle: Rounded Corners 10">
            <a:extLst>
              <a:ext uri="{FF2B5EF4-FFF2-40B4-BE49-F238E27FC236}">
                <a16:creationId xmlns:a16="http://schemas.microsoft.com/office/drawing/2014/main" id="{E752153F-6258-E128-C772-56357D724B00}"/>
              </a:ext>
            </a:extLst>
          </p:cNvPr>
          <p:cNvSpPr/>
          <p:nvPr/>
        </p:nvSpPr>
        <p:spPr>
          <a:xfrm>
            <a:off x="8001000" y="2108200"/>
            <a:ext cx="3683000" cy="33274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C7072D5-3128-43B0-C32E-0A1AF17C1E9A}"/>
              </a:ext>
            </a:extLst>
          </p:cNvPr>
          <p:cNvSpPr txBox="1"/>
          <p:nvPr/>
        </p:nvSpPr>
        <p:spPr>
          <a:xfrm>
            <a:off x="8204200" y="2286000"/>
            <a:ext cx="3276600" cy="3048000"/>
          </a:xfrm>
          <a:prstGeom prst="rect">
            <a:avLst/>
          </a:prstGeom>
          <a:noFill/>
        </p:spPr>
        <p:txBody>
          <a:bodyPr vert="horz" wrap="square" lIns="0" tIns="0" rIns="0" bIns="0" rtlCol="0" anchor="t">
            <a:noAutofit/>
          </a:bodyPr>
          <a:lstStyle/>
          <a:p>
            <a:pPr>
              <a:spcAft>
                <a:spcPts val="400"/>
              </a:spcAft>
            </a:pPr>
            <a:r>
              <a:rPr lang="en-US" b="1">
                <a:solidFill>
                  <a:srgbClr val="0F7C80"/>
                </a:solidFill>
                <a:latin typeface="Calibri" panose="020F0502020204030204" pitchFamily="34" charset="0"/>
              </a:rPr>
              <a:t>Fixed price (FP)</a:t>
            </a:r>
          </a:p>
          <a:p>
            <a:pPr>
              <a:spcAft>
                <a:spcPts val="800"/>
              </a:spcAft>
            </a:pPr>
            <a:r>
              <a:rPr lang="en-US" sz="1400">
                <a:solidFill>
                  <a:srgbClr val="1F2937"/>
                </a:solidFill>
                <a:latin typeface="Calibri" panose="020F0502020204030204" pitchFamily="34" charset="0"/>
              </a:rPr>
              <a:t>Seller delivers the defined scope for a set price.</a:t>
            </a:r>
          </a:p>
          <a:p>
            <a:pPr>
              <a:spcBef>
                <a:spcPts val="600"/>
              </a:spcBef>
            </a:pPr>
            <a:r>
              <a:rPr lang="en-US" sz="1200" b="1">
                <a:solidFill>
                  <a:srgbClr val="5B6475"/>
                </a:solidFill>
                <a:latin typeface="Calibri" panose="020F0502020204030204" pitchFamily="34" charset="0"/>
              </a:rPr>
              <a:t>Variants</a:t>
            </a:r>
          </a:p>
          <a:p>
            <a:r>
              <a:rPr lang="en-US" sz="1400">
                <a:solidFill>
                  <a:srgbClr val="1F2937"/>
                </a:solidFill>
                <a:latin typeface="Calibri" panose="020F0502020204030204" pitchFamily="34" charset="0"/>
              </a:rPr>
              <a:t>FFP: firm fixed price (most common)</a:t>
            </a:r>
          </a:p>
          <a:p>
            <a:r>
              <a:rPr lang="en-US" sz="1400">
                <a:solidFill>
                  <a:srgbClr val="1F2937"/>
                </a:solidFill>
                <a:latin typeface="Calibri" panose="020F0502020204030204" pitchFamily="34" charset="0"/>
              </a:rPr>
              <a:t>FPIF: fixed price incentive fee</a:t>
            </a:r>
          </a:p>
          <a:p>
            <a:r>
              <a:rPr lang="en-US" sz="1400">
                <a:solidFill>
                  <a:srgbClr val="1F2937"/>
                </a:solidFill>
                <a:latin typeface="Calibri" panose="020F0502020204030204" pitchFamily="34" charset="0"/>
              </a:rPr>
              <a:t>FP-EPA: with economic price adjustment</a:t>
            </a:r>
          </a:p>
          <a:p>
            <a:pPr>
              <a:spcBef>
                <a:spcPts val="600"/>
              </a:spcBef>
            </a:pPr>
            <a:r>
              <a:rPr lang="en-US" sz="1200" b="1">
                <a:solidFill>
                  <a:srgbClr val="5B6475"/>
                </a:solidFill>
                <a:latin typeface="Calibri" panose="020F0502020204030204" pitchFamily="34" charset="0"/>
              </a:rPr>
              <a:t>Use when</a:t>
            </a:r>
          </a:p>
          <a:p>
            <a:r>
              <a:rPr lang="en-US" sz="1400">
                <a:solidFill>
                  <a:srgbClr val="1F2937"/>
                </a:solidFill>
                <a:latin typeface="Calibri" panose="020F0502020204030204" pitchFamily="34" charset="0"/>
              </a:rPr>
              <a:t>Requirements are well defined and stable.</a:t>
            </a:r>
          </a:p>
        </p:txBody>
      </p:sp>
      <p:sp>
        <p:nvSpPr>
          <p:cNvPr id="13" name="Rectangle: Rounded Corners 12">
            <a:extLst>
              <a:ext uri="{FF2B5EF4-FFF2-40B4-BE49-F238E27FC236}">
                <a16:creationId xmlns:a16="http://schemas.microsoft.com/office/drawing/2014/main" id="{482367BC-7B98-F04A-A938-F6A52804A6C4}"/>
              </a:ext>
            </a:extLst>
          </p:cNvPr>
          <p:cNvSpPr/>
          <p:nvPr/>
        </p:nvSpPr>
        <p:spPr>
          <a:xfrm>
            <a:off x="508000" y="5588000"/>
            <a:ext cx="11176000" cy="635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1E727C0-C1DD-CD6D-B015-A01A52314987}"/>
              </a:ext>
            </a:extLst>
          </p:cNvPr>
          <p:cNvSpPr txBox="1"/>
          <p:nvPr/>
        </p:nvSpPr>
        <p:spPr>
          <a:xfrm>
            <a:off x="736600" y="5588000"/>
            <a:ext cx="10718800" cy="635000"/>
          </a:xfrm>
          <a:prstGeom prst="rect">
            <a:avLst/>
          </a:prstGeom>
          <a:noFill/>
        </p:spPr>
        <p:txBody>
          <a:bodyPr vert="horz" wrap="square" lIns="0" tIns="0" rIns="0" bIns="0" rtlCol="0" anchor="ctr">
            <a:noAutofit/>
          </a:bodyPr>
          <a:lstStyle/>
          <a:p>
            <a:r>
              <a:rPr lang="en-US" sz="1500" i="1">
                <a:solidFill>
                  <a:srgbClr val="14213D"/>
                </a:solidFill>
                <a:latin typeface="Calibri" panose="020F0502020204030204" pitchFamily="34" charset="0"/>
              </a:rPr>
              <a:t>Exam tip: firm fixed price is the most common. Under fixed price, the seller absorbs cost increases such as rising material prices. Buyer risk is highest with CPFF and lowest with FFP.</a:t>
            </a:r>
          </a:p>
        </p:txBody>
      </p:sp>
      <p:sp>
        <p:nvSpPr>
          <p:cNvPr id="15" name="Footer">
            <a:extLst>
              <a:ext uri="{FF2B5EF4-FFF2-40B4-BE49-F238E27FC236}">
                <a16:creationId xmlns:a16="http://schemas.microsoft.com/office/drawing/2014/main" id="{DB398999-4147-53AB-FC65-078753C38944}"/>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fr-FR" sz="1000">
                <a:solidFill>
                  <a:srgbClr val="5B6475"/>
                </a:solidFill>
                <a:latin typeface="Calibri" panose="020F0502020204030204" pitchFamily="34" charset="0"/>
              </a:rPr>
              <a:t>Source: PMI, PMBOK® Guide — Sixth Edition, Section 12.1 (Plan Procurement Management)</a:t>
            </a:r>
            <a:endParaRPr lang="en-US" sz="1000">
              <a:solidFill>
                <a:srgbClr val="5B6475"/>
              </a:solidFill>
              <a:latin typeface="Calibri" panose="020F0502020204030204" pitchFamily="34" charset="0"/>
            </a:endParaRPr>
          </a:p>
        </p:txBody>
      </p:sp>
      <p:sp>
        <p:nvSpPr>
          <p:cNvPr id="16" name="SlideNum">
            <a:extLst>
              <a:ext uri="{FF2B5EF4-FFF2-40B4-BE49-F238E27FC236}">
                <a16:creationId xmlns:a16="http://schemas.microsoft.com/office/drawing/2014/main" id="{FF10130C-AC1C-2589-6D90-C775F00907DB}"/>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47</a:t>
            </a:r>
          </a:p>
        </p:txBody>
      </p:sp>
      <p:sp>
        <p:nvSpPr>
          <p:cNvPr id="17"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8550537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62061AD-7172-6159-6FE2-2C42CB17FD15}"/>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Procurement runs in three processes</a:t>
            </a:r>
          </a:p>
        </p:txBody>
      </p:sp>
      <p:sp>
        <p:nvSpPr>
          <p:cNvPr id="3" name="Tag">
            <a:extLst>
              <a:ext uri="{FF2B5EF4-FFF2-40B4-BE49-F238E27FC236}">
                <a16:creationId xmlns:a16="http://schemas.microsoft.com/office/drawing/2014/main" id="{BA6F280E-A14A-6680-D863-1595D9BBE0FC}"/>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5 (Plan and manage procurement)</a:t>
            </a:r>
          </a:p>
        </p:txBody>
      </p:sp>
      <p:sp>
        <p:nvSpPr>
          <p:cNvPr id="4" name="Arrow: Pentagon 3">
            <a:extLst>
              <a:ext uri="{FF2B5EF4-FFF2-40B4-BE49-F238E27FC236}">
                <a16:creationId xmlns:a16="http://schemas.microsoft.com/office/drawing/2014/main" id="{D5B82D64-070C-95F4-8273-202269977B92}"/>
              </a:ext>
            </a:extLst>
          </p:cNvPr>
          <p:cNvSpPr/>
          <p:nvPr/>
        </p:nvSpPr>
        <p:spPr>
          <a:xfrm>
            <a:off x="508000" y="1371600"/>
            <a:ext cx="3759200" cy="711200"/>
          </a:xfrm>
          <a:prstGeom prst="homePlate">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79400" tIns="25400" rIns="279400" bIns="25400" rtlCol="0" anchor="ctr"/>
          <a:lstStyle/>
          <a:p>
            <a:pPr algn="ctr"/>
            <a:r>
              <a:rPr lang="en-US" sz="1500" b="1">
                <a:solidFill>
                  <a:srgbClr val="FFFFFF"/>
                </a:solidFill>
                <a:latin typeface="Calibri" panose="020F0502020204030204" pitchFamily="34" charset="0"/>
              </a:rPr>
              <a:t>1  Plan Procurement Management</a:t>
            </a:r>
          </a:p>
        </p:txBody>
      </p:sp>
      <p:sp>
        <p:nvSpPr>
          <p:cNvPr id="5" name="Rectangle: Rounded Corners 4">
            <a:extLst>
              <a:ext uri="{FF2B5EF4-FFF2-40B4-BE49-F238E27FC236}">
                <a16:creationId xmlns:a16="http://schemas.microsoft.com/office/drawing/2014/main" id="{E7F08A37-3E37-6E5D-DD09-7E7B04D2C5FD}"/>
              </a:ext>
            </a:extLst>
          </p:cNvPr>
          <p:cNvSpPr/>
          <p:nvPr/>
        </p:nvSpPr>
        <p:spPr>
          <a:xfrm>
            <a:off x="508000" y="2235200"/>
            <a:ext cx="3606800" cy="30988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AF0A3F4-7F35-4F5D-3B72-BDB47FA5C386}"/>
              </a:ext>
            </a:extLst>
          </p:cNvPr>
          <p:cNvSpPr txBox="1"/>
          <p:nvPr/>
        </p:nvSpPr>
        <p:spPr>
          <a:xfrm>
            <a:off x="711200" y="2413000"/>
            <a:ext cx="3200400" cy="2819400"/>
          </a:xfrm>
          <a:prstGeom prst="rect">
            <a:avLst/>
          </a:prstGeom>
          <a:noFill/>
        </p:spPr>
        <p:txBody>
          <a:bodyPr vert="horz" wrap="square" lIns="0" tIns="0" rIns="0" bIns="0" rtlCol="0" anchor="t">
            <a:noAutofit/>
          </a:bodyPr>
          <a:lstStyle/>
          <a:p>
            <a:pPr>
              <a:spcAft>
                <a:spcPts val="1000"/>
              </a:spcAft>
            </a:pPr>
            <a:r>
              <a:rPr lang="en-US" sz="1500" i="1">
                <a:solidFill>
                  <a:srgbClr val="14213D"/>
                </a:solidFill>
                <a:latin typeface="Calibri" panose="020F0502020204030204" pitchFamily="34" charset="0"/>
              </a:rPr>
              <a:t>Decide what to buy, how, and from whom.</a:t>
            </a:r>
          </a:p>
          <a:p>
            <a:pPr marL="203200" indent="-203200">
              <a:spcAft>
                <a:spcPts val="400"/>
              </a:spcAft>
              <a:buClr>
                <a:srgbClr val="14213D"/>
              </a:buClr>
              <a:buFont typeface="+mj-lt"/>
              <a:buChar char="•"/>
            </a:pPr>
            <a:r>
              <a:rPr lang="en-US" sz="1400">
                <a:solidFill>
                  <a:srgbClr val="1F2937"/>
                </a:solidFill>
                <a:latin typeface="Calibri" panose="020F0502020204030204" pitchFamily="34" charset="0"/>
              </a:rPr>
              <a:t>Make-or-buy decisions</a:t>
            </a:r>
          </a:p>
          <a:p>
            <a:pPr marL="203200" indent="-203200">
              <a:spcAft>
                <a:spcPts val="400"/>
              </a:spcAft>
              <a:buClr>
                <a:srgbClr val="14213D"/>
              </a:buClr>
              <a:buFont typeface="+mj-lt"/>
              <a:buChar char="•"/>
            </a:pPr>
            <a:r>
              <a:rPr lang="en-US" sz="1400">
                <a:solidFill>
                  <a:srgbClr val="1F2937"/>
                </a:solidFill>
                <a:latin typeface="Calibri" panose="020F0502020204030204" pitchFamily="34" charset="0"/>
              </a:rPr>
              <a:t>Procurement strategy: delivery method, contract type, phases</a:t>
            </a:r>
          </a:p>
          <a:p>
            <a:pPr marL="203200" indent="-203200">
              <a:spcAft>
                <a:spcPts val="400"/>
              </a:spcAft>
              <a:buClr>
                <a:srgbClr val="14213D"/>
              </a:buClr>
              <a:buFont typeface="+mj-lt"/>
              <a:buChar char="•"/>
            </a:pPr>
            <a:r>
              <a:rPr lang="en-US" sz="1400">
                <a:solidFill>
                  <a:srgbClr val="1F2937"/>
                </a:solidFill>
                <a:latin typeface="Calibri" panose="020F0502020204030204" pitchFamily="34" charset="0"/>
              </a:rPr>
              <a:t>Bid documents</a:t>
            </a:r>
          </a:p>
          <a:p>
            <a:pPr marL="203200" indent="-203200">
              <a:spcAft>
                <a:spcPts val="400"/>
              </a:spcAft>
              <a:buClr>
                <a:srgbClr val="14213D"/>
              </a:buClr>
              <a:buFont typeface="+mj-lt"/>
              <a:buChar char="•"/>
            </a:pPr>
            <a:r>
              <a:rPr lang="en-US" sz="1400">
                <a:solidFill>
                  <a:srgbClr val="1F2937"/>
                </a:solidFill>
                <a:latin typeface="Calibri" panose="020F0502020204030204" pitchFamily="34" charset="0"/>
              </a:rPr>
              <a:t>Procurement statement of work</a:t>
            </a:r>
          </a:p>
          <a:p>
            <a:pPr marL="203200" indent="-203200">
              <a:spcAft>
                <a:spcPts val="400"/>
              </a:spcAft>
              <a:buClr>
                <a:srgbClr val="14213D"/>
              </a:buClr>
              <a:buFont typeface="+mj-lt"/>
              <a:buChar char="•"/>
            </a:pPr>
            <a:r>
              <a:rPr lang="en-US" sz="1400">
                <a:solidFill>
                  <a:srgbClr val="1F2937"/>
                </a:solidFill>
                <a:latin typeface="Calibri" panose="020F0502020204030204" pitchFamily="34" charset="0"/>
              </a:rPr>
              <a:t>Source selection criteria</a:t>
            </a:r>
          </a:p>
          <a:p>
            <a:pPr marL="203200" indent="-203200">
              <a:spcAft>
                <a:spcPts val="400"/>
              </a:spcAft>
              <a:buClr>
                <a:srgbClr val="14213D"/>
              </a:buClr>
              <a:buFont typeface="+mj-lt"/>
              <a:buChar char="•"/>
            </a:pPr>
            <a:r>
              <a:rPr lang="en-US" sz="1400">
                <a:solidFill>
                  <a:srgbClr val="1F2937"/>
                </a:solidFill>
                <a:latin typeface="Calibri" panose="020F0502020204030204" pitchFamily="34" charset="0"/>
              </a:rPr>
              <a:t>Independent cost estimates</a:t>
            </a:r>
          </a:p>
        </p:txBody>
      </p:sp>
      <p:sp>
        <p:nvSpPr>
          <p:cNvPr id="7" name="Arrow: Chevron 6">
            <a:extLst>
              <a:ext uri="{FF2B5EF4-FFF2-40B4-BE49-F238E27FC236}">
                <a16:creationId xmlns:a16="http://schemas.microsoft.com/office/drawing/2014/main" id="{BDDBBCC8-EA9C-CA19-B438-EAC72522E1CA}"/>
              </a:ext>
            </a:extLst>
          </p:cNvPr>
          <p:cNvSpPr/>
          <p:nvPr/>
        </p:nvSpPr>
        <p:spPr>
          <a:xfrm>
            <a:off x="4216400" y="1371600"/>
            <a:ext cx="3759200" cy="711200"/>
          </a:xfrm>
          <a:prstGeom prst="chevron">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79400" tIns="25400" rIns="279400" bIns="25400" rtlCol="0" anchor="ctr"/>
          <a:lstStyle/>
          <a:p>
            <a:pPr algn="ctr"/>
            <a:r>
              <a:rPr lang="en-US" sz="1500" b="1">
                <a:solidFill>
                  <a:srgbClr val="FFFFFF"/>
                </a:solidFill>
                <a:latin typeface="Calibri" panose="020F0502020204030204" pitchFamily="34" charset="0"/>
              </a:rPr>
              <a:t>2  Conduct Procurements</a:t>
            </a:r>
          </a:p>
        </p:txBody>
      </p:sp>
      <p:sp>
        <p:nvSpPr>
          <p:cNvPr id="8" name="Rectangle: Rounded Corners 7">
            <a:extLst>
              <a:ext uri="{FF2B5EF4-FFF2-40B4-BE49-F238E27FC236}">
                <a16:creationId xmlns:a16="http://schemas.microsoft.com/office/drawing/2014/main" id="{ABFB2384-3FF1-CB85-F507-9D88ED14BE5F}"/>
              </a:ext>
            </a:extLst>
          </p:cNvPr>
          <p:cNvSpPr/>
          <p:nvPr/>
        </p:nvSpPr>
        <p:spPr>
          <a:xfrm>
            <a:off x="4216400" y="2235200"/>
            <a:ext cx="3606800" cy="30988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830869C-F340-BAAE-6CC8-9836BEFDB32D}"/>
              </a:ext>
            </a:extLst>
          </p:cNvPr>
          <p:cNvSpPr txBox="1"/>
          <p:nvPr/>
        </p:nvSpPr>
        <p:spPr>
          <a:xfrm>
            <a:off x="4419600" y="2413000"/>
            <a:ext cx="3200400" cy="2819400"/>
          </a:xfrm>
          <a:prstGeom prst="rect">
            <a:avLst/>
          </a:prstGeom>
          <a:noFill/>
        </p:spPr>
        <p:txBody>
          <a:bodyPr vert="horz" wrap="square" lIns="0" tIns="0" rIns="0" bIns="0" rtlCol="0" anchor="t">
            <a:noAutofit/>
          </a:bodyPr>
          <a:lstStyle/>
          <a:p>
            <a:pPr>
              <a:spcAft>
                <a:spcPts val="1000"/>
              </a:spcAft>
            </a:pPr>
            <a:r>
              <a:rPr lang="en-US" sz="1500" i="1">
                <a:solidFill>
                  <a:srgbClr val="34509A"/>
                </a:solidFill>
                <a:latin typeface="Calibri" panose="020F0502020204030204" pitchFamily="34" charset="0"/>
              </a:rPr>
              <a:t>Get seller responses, select a seller, award the agreement.</a:t>
            </a:r>
          </a:p>
          <a:p>
            <a:pPr marL="203200" indent="-203200">
              <a:spcAft>
                <a:spcPts val="400"/>
              </a:spcAft>
              <a:buClr>
                <a:srgbClr val="34509A"/>
              </a:buClr>
              <a:buFont typeface="+mj-lt"/>
              <a:buChar char="•"/>
            </a:pPr>
            <a:r>
              <a:rPr lang="en-US" sz="1400">
                <a:solidFill>
                  <a:srgbClr val="1F2937"/>
                </a:solidFill>
                <a:latin typeface="Calibri" panose="020F0502020204030204" pitchFamily="34" charset="0"/>
              </a:rPr>
              <a:t>Advertising to find sellers</a:t>
            </a:r>
          </a:p>
          <a:p>
            <a:pPr marL="203200" indent="-203200">
              <a:spcAft>
                <a:spcPts val="400"/>
              </a:spcAft>
              <a:buClr>
                <a:srgbClr val="34509A"/>
              </a:buClr>
              <a:buFont typeface="+mj-lt"/>
              <a:buChar char="•"/>
            </a:pPr>
            <a:r>
              <a:rPr lang="en-US" sz="1400">
                <a:solidFill>
                  <a:srgbClr val="1F2937"/>
                </a:solidFill>
                <a:latin typeface="Calibri" panose="020F0502020204030204" pitchFamily="34" charset="0"/>
              </a:rPr>
              <a:t>Bidder conferences</a:t>
            </a:r>
          </a:p>
          <a:p>
            <a:pPr marL="203200" indent="-203200">
              <a:spcAft>
                <a:spcPts val="400"/>
              </a:spcAft>
              <a:buClr>
                <a:srgbClr val="34509A"/>
              </a:buClr>
              <a:buFont typeface="+mj-lt"/>
              <a:buChar char="•"/>
            </a:pPr>
            <a:r>
              <a:rPr lang="en-US" sz="1400">
                <a:solidFill>
                  <a:srgbClr val="1F2937"/>
                </a:solidFill>
                <a:latin typeface="Calibri" panose="020F0502020204030204" pitchFamily="34" charset="0"/>
              </a:rPr>
              <a:t>Proposal evaluation</a:t>
            </a:r>
          </a:p>
          <a:p>
            <a:pPr marL="203200" indent="-203200">
              <a:spcAft>
                <a:spcPts val="400"/>
              </a:spcAft>
              <a:buClr>
                <a:srgbClr val="34509A"/>
              </a:buClr>
              <a:buFont typeface="+mj-lt"/>
              <a:buChar char="•"/>
            </a:pPr>
            <a:r>
              <a:rPr lang="en-US" sz="1400">
                <a:solidFill>
                  <a:srgbClr val="1F2937"/>
                </a:solidFill>
                <a:latin typeface="Calibri" panose="020F0502020204030204" pitchFamily="34" charset="0"/>
              </a:rPr>
              <a:t>Negotiation</a:t>
            </a:r>
          </a:p>
          <a:p>
            <a:pPr marL="203200" indent="-203200">
              <a:spcAft>
                <a:spcPts val="400"/>
              </a:spcAft>
              <a:buClr>
                <a:srgbClr val="34509A"/>
              </a:buClr>
              <a:buFont typeface="+mj-lt"/>
              <a:buChar char="•"/>
            </a:pPr>
            <a:r>
              <a:rPr lang="en-US" sz="1400">
                <a:solidFill>
                  <a:srgbClr val="1F2937"/>
                </a:solidFill>
                <a:latin typeface="Calibri" panose="020F0502020204030204" pitchFamily="34" charset="0"/>
              </a:rPr>
              <a:t>Outputs: selected sellers and agreements</a:t>
            </a:r>
          </a:p>
        </p:txBody>
      </p:sp>
      <p:sp>
        <p:nvSpPr>
          <p:cNvPr id="10" name="Arrow: Chevron 9">
            <a:extLst>
              <a:ext uri="{FF2B5EF4-FFF2-40B4-BE49-F238E27FC236}">
                <a16:creationId xmlns:a16="http://schemas.microsoft.com/office/drawing/2014/main" id="{28733576-2451-5452-81B0-2F1FE6592D28}"/>
              </a:ext>
            </a:extLst>
          </p:cNvPr>
          <p:cNvSpPr/>
          <p:nvPr/>
        </p:nvSpPr>
        <p:spPr>
          <a:xfrm>
            <a:off x="7924800" y="1371600"/>
            <a:ext cx="3759200" cy="711200"/>
          </a:xfrm>
          <a:prstGeom prst="chevron">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79400" tIns="25400" rIns="279400" bIns="25400" rtlCol="0" anchor="ctr"/>
          <a:lstStyle/>
          <a:p>
            <a:pPr algn="ctr"/>
            <a:r>
              <a:rPr lang="en-US" sz="1500" b="1">
                <a:solidFill>
                  <a:srgbClr val="FFFFFF"/>
                </a:solidFill>
                <a:latin typeface="Calibri" panose="020F0502020204030204" pitchFamily="34" charset="0"/>
              </a:rPr>
              <a:t>3  Control Procurements</a:t>
            </a:r>
          </a:p>
        </p:txBody>
      </p:sp>
      <p:sp>
        <p:nvSpPr>
          <p:cNvPr id="11" name="Rectangle: Rounded Corners 10">
            <a:extLst>
              <a:ext uri="{FF2B5EF4-FFF2-40B4-BE49-F238E27FC236}">
                <a16:creationId xmlns:a16="http://schemas.microsoft.com/office/drawing/2014/main" id="{C3144FDF-2850-9776-7B7F-0D3672D86DC2}"/>
              </a:ext>
            </a:extLst>
          </p:cNvPr>
          <p:cNvSpPr/>
          <p:nvPr/>
        </p:nvSpPr>
        <p:spPr>
          <a:xfrm>
            <a:off x="7924800" y="2235200"/>
            <a:ext cx="3606800" cy="30988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6E0C98F-5A54-A9BA-D1AE-01F917CAA1D7}"/>
              </a:ext>
            </a:extLst>
          </p:cNvPr>
          <p:cNvSpPr txBox="1"/>
          <p:nvPr/>
        </p:nvSpPr>
        <p:spPr>
          <a:xfrm>
            <a:off x="8128000" y="2413000"/>
            <a:ext cx="3200400" cy="2819400"/>
          </a:xfrm>
          <a:prstGeom prst="rect">
            <a:avLst/>
          </a:prstGeom>
          <a:noFill/>
        </p:spPr>
        <p:txBody>
          <a:bodyPr vert="horz" wrap="square" lIns="0" tIns="0" rIns="0" bIns="0" rtlCol="0" anchor="t">
            <a:noAutofit/>
          </a:bodyPr>
          <a:lstStyle/>
          <a:p>
            <a:pPr>
              <a:spcAft>
                <a:spcPts val="1000"/>
              </a:spcAft>
            </a:pPr>
            <a:r>
              <a:rPr lang="en-US" sz="1500" i="1">
                <a:solidFill>
                  <a:srgbClr val="0F7C80"/>
                </a:solidFill>
                <a:latin typeface="Calibri" panose="020F0502020204030204" pitchFamily="34" charset="0"/>
              </a:rPr>
              <a:t>Manage the relationship and close out the contract.</a:t>
            </a:r>
          </a:p>
          <a:p>
            <a:pPr marL="203200" indent="-203200">
              <a:spcAft>
                <a:spcPts val="400"/>
              </a:spcAft>
              <a:buClr>
                <a:srgbClr val="0F7C80"/>
              </a:buClr>
              <a:buFont typeface="+mj-lt"/>
              <a:buChar char="•"/>
            </a:pPr>
            <a:r>
              <a:rPr lang="en-US" sz="1400">
                <a:solidFill>
                  <a:srgbClr val="1F2937"/>
                </a:solidFill>
                <a:latin typeface="Calibri" panose="020F0502020204030204" pitchFamily="34" charset="0"/>
              </a:rPr>
              <a:t>Monitor seller performance against the agreement</a:t>
            </a:r>
          </a:p>
          <a:p>
            <a:pPr marL="203200" indent="-203200">
              <a:spcAft>
                <a:spcPts val="400"/>
              </a:spcAft>
              <a:buClr>
                <a:srgbClr val="0F7C80"/>
              </a:buClr>
              <a:buFont typeface="+mj-lt"/>
              <a:buChar char="•"/>
            </a:pPr>
            <a:r>
              <a:rPr lang="en-US" sz="1400">
                <a:solidFill>
                  <a:srgbClr val="1F2937"/>
                </a:solidFill>
                <a:latin typeface="Calibri" panose="020F0502020204030204" pitchFamily="34" charset="0"/>
              </a:rPr>
              <a:t>Inspections and audits</a:t>
            </a:r>
          </a:p>
          <a:p>
            <a:pPr marL="203200" indent="-203200">
              <a:spcAft>
                <a:spcPts val="400"/>
              </a:spcAft>
              <a:buClr>
                <a:srgbClr val="0F7C80"/>
              </a:buClr>
              <a:buFont typeface="+mj-lt"/>
              <a:buChar char="•"/>
            </a:pPr>
            <a:r>
              <a:rPr lang="en-US" sz="1400">
                <a:solidFill>
                  <a:srgbClr val="1F2937"/>
                </a:solidFill>
                <a:latin typeface="Calibri" panose="020F0502020204030204" pitchFamily="34" charset="0"/>
              </a:rPr>
              <a:t>Claims administration and approved changes</a:t>
            </a:r>
          </a:p>
          <a:p>
            <a:pPr marL="203200" indent="-203200">
              <a:spcAft>
                <a:spcPts val="400"/>
              </a:spcAft>
              <a:buClr>
                <a:srgbClr val="0F7C80"/>
              </a:buClr>
              <a:buFont typeface="+mj-lt"/>
              <a:buChar char="•"/>
            </a:pPr>
            <a:r>
              <a:rPr lang="en-US" sz="1400">
                <a:solidFill>
                  <a:srgbClr val="1F2937"/>
                </a:solidFill>
                <a:latin typeface="Calibri" panose="020F0502020204030204" pitchFamily="34" charset="0"/>
              </a:rPr>
              <a:t>Formal acceptance and procurement closure</a:t>
            </a:r>
          </a:p>
        </p:txBody>
      </p:sp>
      <p:sp>
        <p:nvSpPr>
          <p:cNvPr id="13" name="Rectangle: Rounded Corners 12">
            <a:extLst>
              <a:ext uri="{FF2B5EF4-FFF2-40B4-BE49-F238E27FC236}">
                <a16:creationId xmlns:a16="http://schemas.microsoft.com/office/drawing/2014/main" id="{20C1FD6C-77CD-836E-8AFE-1A3F593E9E11}"/>
              </a:ext>
            </a:extLst>
          </p:cNvPr>
          <p:cNvSpPr/>
          <p:nvPr/>
        </p:nvSpPr>
        <p:spPr>
          <a:xfrm>
            <a:off x="508000" y="5511800"/>
            <a:ext cx="11074400" cy="711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F4D6AC0-DB60-3600-D7DC-A6EA7BE93E26}"/>
              </a:ext>
            </a:extLst>
          </p:cNvPr>
          <p:cNvSpPr txBox="1"/>
          <p:nvPr/>
        </p:nvSpPr>
        <p:spPr>
          <a:xfrm>
            <a:off x="736600" y="5511800"/>
            <a:ext cx="10617200" cy="711200"/>
          </a:xfrm>
          <a:prstGeom prst="rect">
            <a:avLst/>
          </a:prstGeom>
          <a:noFill/>
        </p:spPr>
        <p:txBody>
          <a:bodyPr vert="horz" wrap="square" lIns="0" tIns="0" rIns="0" bIns="0" rtlCol="0" anchor="ctr">
            <a:noAutofit/>
          </a:bodyPr>
          <a:lstStyle/>
          <a:p>
            <a:r>
              <a:rPr lang="en-US" sz="1500" i="1">
                <a:solidFill>
                  <a:srgbClr val="14213D"/>
                </a:solidFill>
                <a:latin typeface="Calibri" panose="020F0502020204030204" pitchFamily="34" charset="0"/>
              </a:rPr>
              <a:t>Exam cue: bid documents, the statement of work, and source selection criteria are all prepared in planning, before any seller is approached.</a:t>
            </a:r>
          </a:p>
        </p:txBody>
      </p:sp>
      <p:sp>
        <p:nvSpPr>
          <p:cNvPr id="15" name="Footer">
            <a:extLst>
              <a:ext uri="{FF2B5EF4-FFF2-40B4-BE49-F238E27FC236}">
                <a16:creationId xmlns:a16="http://schemas.microsoft.com/office/drawing/2014/main" id="{7E43E120-1A14-6541-AE8E-6B823E385227}"/>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fr-FR" sz="1000">
                <a:solidFill>
                  <a:srgbClr val="5B6475"/>
                </a:solidFill>
                <a:latin typeface="Calibri" panose="020F0502020204030204" pitchFamily="34" charset="0"/>
              </a:rPr>
              <a:t>Source: PMI, PMBOK® Guide — Sixth Edition, Chapter 12 (Project Procurement Management)</a:t>
            </a:r>
            <a:endParaRPr lang="en-US" sz="1000">
              <a:solidFill>
                <a:srgbClr val="5B6475"/>
              </a:solidFill>
              <a:latin typeface="Calibri" panose="020F0502020204030204" pitchFamily="34" charset="0"/>
            </a:endParaRPr>
          </a:p>
        </p:txBody>
      </p:sp>
      <p:sp>
        <p:nvSpPr>
          <p:cNvPr id="16" name="SlideNum">
            <a:extLst>
              <a:ext uri="{FF2B5EF4-FFF2-40B4-BE49-F238E27FC236}">
                <a16:creationId xmlns:a16="http://schemas.microsoft.com/office/drawing/2014/main" id="{6C96720A-1DFB-BB73-91D6-A7A8E01192A9}"/>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48</a:t>
            </a:r>
          </a:p>
        </p:txBody>
      </p:sp>
      <p:sp>
        <p:nvSpPr>
          <p:cNvPr id="17"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3043847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D1A903D-84F2-A2EC-3749-EAFCEAC71A89}"/>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Bid documents: which request to send</a:t>
            </a:r>
          </a:p>
        </p:txBody>
      </p:sp>
      <p:sp>
        <p:nvSpPr>
          <p:cNvPr id="3" name="Tag">
            <a:extLst>
              <a:ext uri="{FF2B5EF4-FFF2-40B4-BE49-F238E27FC236}">
                <a16:creationId xmlns:a16="http://schemas.microsoft.com/office/drawing/2014/main" id="{86EB1CC6-DECD-035A-9E17-112528FAE814}"/>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5 (Plan and manage procurement)</a:t>
            </a:r>
          </a:p>
        </p:txBody>
      </p:sp>
      <p:graphicFrame>
        <p:nvGraphicFramePr>
          <p:cNvPr id="4" name="Table">
            <a:extLst>
              <a:ext uri="{FF2B5EF4-FFF2-40B4-BE49-F238E27FC236}">
                <a16:creationId xmlns:a16="http://schemas.microsoft.com/office/drawing/2014/main" id="{034B0494-D0D3-F4BE-21C0-9219BBF67557}"/>
              </a:ext>
            </a:extLst>
          </p:cNvPr>
          <p:cNvGraphicFramePr>
            <a:graphicFrameLocks noGrp="1"/>
          </p:cNvGraphicFramePr>
          <p:nvPr>
            <p:extLst>
              <p:ext uri="{D42A27DB-BD31-4B8C-83A1-F6EECF244321}">
                <p14:modId xmlns:p14="http://schemas.microsoft.com/office/powerpoint/2010/main" val="1012338178"/>
              </p:ext>
            </p:extLst>
          </p:nvPr>
        </p:nvGraphicFramePr>
        <p:xfrm>
          <a:off x="508000" y="1371600"/>
          <a:ext cx="11176000" cy="3302000"/>
        </p:xfrm>
        <a:graphic>
          <a:graphicData uri="http://schemas.openxmlformats.org/drawingml/2006/table">
            <a:tbl>
              <a:tblPr firstRow="1" bandRow="1">
                <a:tableStyleId>{2D5ABB26-0587-4C30-8999-92F81FD0307C}</a:tableStyleId>
              </a:tblPr>
              <a:tblGrid>
                <a:gridCol w="2921000">
                  <a:extLst>
                    <a:ext uri="{9D8B030D-6E8A-4147-A177-3AD203B41FA5}">
                      <a16:colId xmlns:a16="http://schemas.microsoft.com/office/drawing/2014/main" val="3018029528"/>
                    </a:ext>
                  </a:extLst>
                </a:gridCol>
                <a:gridCol w="3683000">
                  <a:extLst>
                    <a:ext uri="{9D8B030D-6E8A-4147-A177-3AD203B41FA5}">
                      <a16:colId xmlns:a16="http://schemas.microsoft.com/office/drawing/2014/main" val="1159207218"/>
                    </a:ext>
                  </a:extLst>
                </a:gridCol>
                <a:gridCol w="4572000">
                  <a:extLst>
                    <a:ext uri="{9D8B030D-6E8A-4147-A177-3AD203B41FA5}">
                      <a16:colId xmlns:a16="http://schemas.microsoft.com/office/drawing/2014/main" val="3719363400"/>
                    </a:ext>
                  </a:extLst>
                </a:gridCol>
              </a:tblGrid>
              <a:tr h="660400">
                <a:tc>
                  <a:txBody>
                    <a:bodyPr/>
                    <a:lstStyle/>
                    <a:p>
                      <a:r>
                        <a:rPr lang="en-US" sz="1400" b="1">
                          <a:solidFill>
                            <a:srgbClr val="FFFFFF"/>
                          </a:solidFill>
                          <a:latin typeface="Calibri" panose="020F0502020204030204" pitchFamily="34" charset="0"/>
                        </a:rPr>
                        <a:t>Document</a:t>
                      </a:r>
                    </a:p>
                  </a:txBody>
                  <a:tcPr marL="127000" marR="101600" marT="63500" marB="63500" anchor="ctr">
                    <a:solidFill>
                      <a:srgbClr val="14213D"/>
                    </a:solidFill>
                  </a:tcPr>
                </a:tc>
                <a:tc>
                  <a:txBody>
                    <a:bodyPr/>
                    <a:lstStyle/>
                    <a:p>
                      <a:r>
                        <a:rPr lang="en-US" sz="1400" b="1">
                          <a:solidFill>
                            <a:srgbClr val="FFFFFF"/>
                          </a:solidFill>
                          <a:latin typeface="Calibri" panose="020F0502020204030204" pitchFamily="34" charset="0"/>
                        </a:rPr>
                        <a:t>What you ask sellers for</a:t>
                      </a:r>
                    </a:p>
                  </a:txBody>
                  <a:tcPr marL="127000" marR="101600" marT="63500" marB="63500" anchor="ctr">
                    <a:solidFill>
                      <a:srgbClr val="14213D"/>
                    </a:solidFill>
                  </a:tcPr>
                </a:tc>
                <a:tc>
                  <a:txBody>
                    <a:bodyPr/>
                    <a:lstStyle/>
                    <a:p>
                      <a:r>
                        <a:rPr lang="en-US" sz="1400" b="1">
                          <a:solidFill>
                            <a:srgbClr val="FFFFFF"/>
                          </a:solidFill>
                          <a:latin typeface="Calibri" panose="020F0502020204030204" pitchFamily="34" charset="0"/>
                        </a:rPr>
                        <a:t>Use it when</a:t>
                      </a:r>
                    </a:p>
                  </a:txBody>
                  <a:tcPr marL="127000" marR="101600" marT="63500" marB="63500" anchor="ctr">
                    <a:solidFill>
                      <a:srgbClr val="14213D"/>
                    </a:solidFill>
                  </a:tcPr>
                </a:tc>
                <a:extLst>
                  <a:ext uri="{0D108BD9-81ED-4DB2-BD59-A6C34878D82A}">
                    <a16:rowId xmlns:a16="http://schemas.microsoft.com/office/drawing/2014/main" val="3130990986"/>
                  </a:ext>
                </a:extLst>
              </a:tr>
              <a:tr h="660400">
                <a:tc>
                  <a:txBody>
                    <a:bodyPr/>
                    <a:lstStyle/>
                    <a:p>
                      <a:r>
                        <a:rPr lang="en-US" sz="1400" b="1">
                          <a:solidFill>
                            <a:srgbClr val="14213D"/>
                          </a:solidFill>
                          <a:latin typeface="Calibri" panose="020F0502020204030204" pitchFamily="34" charset="0"/>
                        </a:rPr>
                        <a:t>RFI — request for information</a:t>
                      </a:r>
                    </a:p>
                  </a:txBody>
                  <a:tcPr marL="127000" marR="101600" marT="63500" marB="63500" anchor="ctr">
                    <a:solidFill>
                      <a:srgbClr val="FFFFFF"/>
                    </a:solidFill>
                  </a:tcPr>
                </a:tc>
                <a:tc>
                  <a:txBody>
                    <a:bodyPr/>
                    <a:lstStyle/>
                    <a:p>
                      <a:r>
                        <a:rPr lang="en-US" sz="1400">
                          <a:solidFill>
                            <a:srgbClr val="1F2937"/>
                          </a:solidFill>
                          <a:latin typeface="Calibri" panose="020F0502020204030204" pitchFamily="34" charset="0"/>
                        </a:rPr>
                        <a:t>Information about their capabilities and possible approaches</a:t>
                      </a:r>
                    </a:p>
                  </a:txBody>
                  <a:tcPr marL="127000" marR="101600" marT="63500" marB="63500" anchor="ctr">
                    <a:solidFill>
                      <a:srgbClr val="FFFFFF"/>
                    </a:solidFill>
                  </a:tcPr>
                </a:tc>
                <a:tc>
                  <a:txBody>
                    <a:bodyPr/>
                    <a:lstStyle/>
                    <a:p>
                      <a:r>
                        <a:rPr lang="en-US" sz="1400">
                          <a:solidFill>
                            <a:srgbClr val="1F2937"/>
                          </a:solidFill>
                          <a:latin typeface="Calibri" panose="020F0502020204030204" pitchFamily="34" charset="0"/>
                        </a:rPr>
                        <a:t>Early on, before you know what is feasible or who can deliver; often comes before an RFP</a:t>
                      </a:r>
                    </a:p>
                  </a:txBody>
                  <a:tcPr marL="127000" marR="101600" marT="63500" marB="63500" anchor="ctr">
                    <a:solidFill>
                      <a:srgbClr val="FFFFFF"/>
                    </a:solidFill>
                  </a:tcPr>
                </a:tc>
                <a:extLst>
                  <a:ext uri="{0D108BD9-81ED-4DB2-BD59-A6C34878D82A}">
                    <a16:rowId xmlns:a16="http://schemas.microsoft.com/office/drawing/2014/main" val="2113402815"/>
                  </a:ext>
                </a:extLst>
              </a:tr>
              <a:tr h="660400">
                <a:tc>
                  <a:txBody>
                    <a:bodyPr/>
                    <a:lstStyle/>
                    <a:p>
                      <a:r>
                        <a:rPr lang="en-US" sz="1400" b="1">
                          <a:solidFill>
                            <a:srgbClr val="14213D"/>
                          </a:solidFill>
                          <a:latin typeface="Calibri" panose="020F0502020204030204" pitchFamily="34" charset="0"/>
                        </a:rPr>
                        <a:t>RFQ — request for quotation</a:t>
                      </a:r>
                    </a:p>
                  </a:txBody>
                  <a:tcPr marL="127000" marR="101600" marT="63500" marB="63500" anchor="ctr">
                    <a:solidFill>
                      <a:srgbClr val="F3F5F8"/>
                    </a:solidFill>
                  </a:tcPr>
                </a:tc>
                <a:tc>
                  <a:txBody>
                    <a:bodyPr/>
                    <a:lstStyle/>
                    <a:p>
                      <a:r>
                        <a:rPr lang="en-US" sz="1400">
                          <a:solidFill>
                            <a:srgbClr val="1F2937"/>
                          </a:solidFill>
                          <a:latin typeface="Calibri" panose="020F0502020204030204" pitchFamily="34" charset="0"/>
                        </a:rPr>
                        <a:t>A price for a clearly defined item</a:t>
                      </a:r>
                    </a:p>
                  </a:txBody>
                  <a:tcPr marL="127000" marR="101600" marT="63500" marB="63500" anchor="ctr">
                    <a:solidFill>
                      <a:srgbClr val="F3F5F8"/>
                    </a:solidFill>
                  </a:tcPr>
                </a:tc>
                <a:tc>
                  <a:txBody>
                    <a:bodyPr/>
                    <a:lstStyle/>
                    <a:p>
                      <a:r>
                        <a:rPr lang="en-US" sz="1400">
                          <a:solidFill>
                            <a:srgbClr val="1F2937"/>
                          </a:solidFill>
                          <a:latin typeface="Calibri" panose="020F0502020204030204" pitchFamily="34" charset="0"/>
                        </a:rPr>
                        <a:t>The need is well defined and price is the main deciding factor</a:t>
                      </a:r>
                    </a:p>
                  </a:txBody>
                  <a:tcPr marL="127000" marR="101600" marT="63500" marB="63500" anchor="ctr">
                    <a:solidFill>
                      <a:srgbClr val="F3F5F8"/>
                    </a:solidFill>
                  </a:tcPr>
                </a:tc>
                <a:extLst>
                  <a:ext uri="{0D108BD9-81ED-4DB2-BD59-A6C34878D82A}">
                    <a16:rowId xmlns:a16="http://schemas.microsoft.com/office/drawing/2014/main" val="1140662769"/>
                  </a:ext>
                </a:extLst>
              </a:tr>
              <a:tr h="660400">
                <a:tc>
                  <a:txBody>
                    <a:bodyPr/>
                    <a:lstStyle/>
                    <a:p>
                      <a:r>
                        <a:rPr lang="en-US" sz="1400" b="1">
                          <a:solidFill>
                            <a:srgbClr val="14213D"/>
                          </a:solidFill>
                          <a:latin typeface="Calibri" panose="020F0502020204030204" pitchFamily="34" charset="0"/>
                        </a:rPr>
                        <a:t>RFP — request for proposal</a:t>
                      </a:r>
                    </a:p>
                  </a:txBody>
                  <a:tcPr marL="127000" marR="101600" marT="63500" marB="63500" anchor="ctr">
                    <a:solidFill>
                      <a:srgbClr val="FFFFFF"/>
                    </a:solidFill>
                  </a:tcPr>
                </a:tc>
                <a:tc>
                  <a:txBody>
                    <a:bodyPr/>
                    <a:lstStyle/>
                    <a:p>
                      <a:r>
                        <a:rPr lang="en-US" sz="1400">
                          <a:solidFill>
                            <a:srgbClr val="1F2937"/>
                          </a:solidFill>
                          <a:latin typeface="Calibri" panose="020F0502020204030204" pitchFamily="34" charset="0"/>
                        </a:rPr>
                        <a:t>A proposed solution and approach, with a price</a:t>
                      </a:r>
                    </a:p>
                  </a:txBody>
                  <a:tcPr marL="127000" marR="101600" marT="63500" marB="63500" anchor="ctr">
                    <a:solidFill>
                      <a:srgbClr val="FFFFFF"/>
                    </a:solidFill>
                  </a:tcPr>
                </a:tc>
                <a:tc>
                  <a:txBody>
                    <a:bodyPr/>
                    <a:lstStyle/>
                    <a:p>
                      <a:r>
                        <a:rPr lang="en-US" sz="1400">
                          <a:solidFill>
                            <a:srgbClr val="1F2937"/>
                          </a:solidFill>
                          <a:latin typeface="Calibri" panose="020F0502020204030204" pitchFamily="34" charset="0"/>
                        </a:rPr>
                        <a:t>The need is complex and you want to compare how sellers would meet it</a:t>
                      </a:r>
                    </a:p>
                  </a:txBody>
                  <a:tcPr marL="127000" marR="101600" marT="63500" marB="63500" anchor="ctr">
                    <a:solidFill>
                      <a:srgbClr val="FFFFFF"/>
                    </a:solidFill>
                  </a:tcPr>
                </a:tc>
                <a:extLst>
                  <a:ext uri="{0D108BD9-81ED-4DB2-BD59-A6C34878D82A}">
                    <a16:rowId xmlns:a16="http://schemas.microsoft.com/office/drawing/2014/main" val="1943088629"/>
                  </a:ext>
                </a:extLst>
              </a:tr>
              <a:tr h="660400">
                <a:tc>
                  <a:txBody>
                    <a:bodyPr/>
                    <a:lstStyle/>
                    <a:p>
                      <a:r>
                        <a:rPr lang="en-US" sz="1400" b="1">
                          <a:solidFill>
                            <a:srgbClr val="14213D"/>
                          </a:solidFill>
                          <a:latin typeface="Calibri" panose="020F0502020204030204" pitchFamily="34" charset="0"/>
                        </a:rPr>
                        <a:t>IFB / RFB — invitation or request for bid</a:t>
                      </a:r>
                    </a:p>
                  </a:txBody>
                  <a:tcPr marL="127000" marR="101600" marT="63500" marB="63500" anchor="ctr">
                    <a:solidFill>
                      <a:srgbClr val="F3F5F8"/>
                    </a:solidFill>
                  </a:tcPr>
                </a:tc>
                <a:tc>
                  <a:txBody>
                    <a:bodyPr/>
                    <a:lstStyle/>
                    <a:p>
                      <a:r>
                        <a:rPr lang="en-US" sz="1400">
                          <a:solidFill>
                            <a:srgbClr val="1F2937"/>
                          </a:solidFill>
                          <a:latin typeface="Calibri" panose="020F0502020204030204" pitchFamily="34" charset="0"/>
                        </a:rPr>
                        <a:t>A firm, often sealed, bid against detailed specifications</a:t>
                      </a:r>
                    </a:p>
                  </a:txBody>
                  <a:tcPr marL="127000" marR="101600" marT="63500" marB="63500" anchor="ctr">
                    <a:solidFill>
                      <a:srgbClr val="F3F5F8"/>
                    </a:solidFill>
                  </a:tcPr>
                </a:tc>
                <a:tc>
                  <a:txBody>
                    <a:bodyPr/>
                    <a:lstStyle/>
                    <a:p>
                      <a:r>
                        <a:rPr lang="en-US" sz="1400">
                          <a:solidFill>
                            <a:srgbClr val="1F2937"/>
                          </a:solidFill>
                          <a:latin typeface="Calibri" panose="020F0502020204030204" pitchFamily="34" charset="0"/>
                        </a:rPr>
                        <a:t>Specs are complete; award goes to the lowest responsive, responsible bidder</a:t>
                      </a:r>
                    </a:p>
                  </a:txBody>
                  <a:tcPr marL="127000" marR="101600" marT="63500" marB="63500" anchor="ctr">
                    <a:solidFill>
                      <a:srgbClr val="F3F5F8"/>
                    </a:solidFill>
                  </a:tcPr>
                </a:tc>
                <a:extLst>
                  <a:ext uri="{0D108BD9-81ED-4DB2-BD59-A6C34878D82A}">
                    <a16:rowId xmlns:a16="http://schemas.microsoft.com/office/drawing/2014/main" val="136232197"/>
                  </a:ext>
                </a:extLst>
              </a:tr>
            </a:tbl>
          </a:graphicData>
        </a:graphic>
      </p:graphicFrame>
      <p:sp>
        <p:nvSpPr>
          <p:cNvPr id="5" name="Rectangle: Rounded Corners 4">
            <a:extLst>
              <a:ext uri="{FF2B5EF4-FFF2-40B4-BE49-F238E27FC236}">
                <a16:creationId xmlns:a16="http://schemas.microsoft.com/office/drawing/2014/main" id="{97FE5CC8-A4B8-C307-0E03-47007CDFC67E}"/>
              </a:ext>
            </a:extLst>
          </p:cNvPr>
          <p:cNvSpPr/>
          <p:nvPr/>
        </p:nvSpPr>
        <p:spPr>
          <a:xfrm>
            <a:off x="508000" y="4876800"/>
            <a:ext cx="3556000" cy="1346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16F63C0-BDD3-D34E-A205-BB28304A6E91}"/>
              </a:ext>
            </a:extLst>
          </p:cNvPr>
          <p:cNvSpPr txBox="1"/>
          <p:nvPr/>
        </p:nvSpPr>
        <p:spPr>
          <a:xfrm>
            <a:off x="660400" y="5029200"/>
            <a:ext cx="3251200" cy="10414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Procurement statement of work</a:t>
            </a:r>
          </a:p>
          <a:p>
            <a:r>
              <a:rPr lang="en-US" sz="1300">
                <a:solidFill>
                  <a:srgbClr val="1F2937"/>
                </a:solidFill>
                <a:latin typeface="Calibri" panose="020F0502020204030204" pitchFamily="34" charset="0"/>
              </a:rPr>
              <a:t>Describes the item being bought in enough detail for sellers to decide whether they can provide it.</a:t>
            </a:r>
          </a:p>
        </p:txBody>
      </p:sp>
      <p:sp>
        <p:nvSpPr>
          <p:cNvPr id="7" name="Rectangle: Rounded Corners 6">
            <a:extLst>
              <a:ext uri="{FF2B5EF4-FFF2-40B4-BE49-F238E27FC236}">
                <a16:creationId xmlns:a16="http://schemas.microsoft.com/office/drawing/2014/main" id="{241AB029-9FD9-8036-5B88-6170EE431083}"/>
              </a:ext>
            </a:extLst>
          </p:cNvPr>
          <p:cNvSpPr/>
          <p:nvPr/>
        </p:nvSpPr>
        <p:spPr>
          <a:xfrm>
            <a:off x="4318000" y="4876800"/>
            <a:ext cx="3556000" cy="1346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2B407D8-B829-2063-27FD-F4804F1C3AE8}"/>
              </a:ext>
            </a:extLst>
          </p:cNvPr>
          <p:cNvSpPr txBox="1"/>
          <p:nvPr/>
        </p:nvSpPr>
        <p:spPr>
          <a:xfrm>
            <a:off x="4470400" y="5029200"/>
            <a:ext cx="3251200" cy="10414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Terms of reference</a:t>
            </a:r>
          </a:p>
          <a:p>
            <a:r>
              <a:rPr lang="en-US" sz="1300">
                <a:solidFill>
                  <a:srgbClr val="1F2937"/>
                </a:solidFill>
                <a:latin typeface="Calibri" panose="020F0502020204030204" pitchFamily="34" charset="0"/>
              </a:rPr>
              <a:t>Used instead of a SOW when buying services: the tasks, standards, reporting, and deliverables expected.</a:t>
            </a:r>
          </a:p>
        </p:txBody>
      </p:sp>
      <p:sp>
        <p:nvSpPr>
          <p:cNvPr id="9" name="Rectangle: Rounded Corners 8">
            <a:extLst>
              <a:ext uri="{FF2B5EF4-FFF2-40B4-BE49-F238E27FC236}">
                <a16:creationId xmlns:a16="http://schemas.microsoft.com/office/drawing/2014/main" id="{2F774D65-C497-639D-F130-7AC3B849A04F}"/>
              </a:ext>
            </a:extLst>
          </p:cNvPr>
          <p:cNvSpPr/>
          <p:nvPr/>
        </p:nvSpPr>
        <p:spPr>
          <a:xfrm>
            <a:off x="8128000" y="4876800"/>
            <a:ext cx="3556000" cy="1346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8277929-326F-7E7A-152F-6258F40AAFA8}"/>
              </a:ext>
            </a:extLst>
          </p:cNvPr>
          <p:cNvSpPr txBox="1"/>
          <p:nvPr/>
        </p:nvSpPr>
        <p:spPr>
          <a:xfrm>
            <a:off x="8280400" y="5029200"/>
            <a:ext cx="3251200" cy="10414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Bid vs. proposal</a:t>
            </a:r>
          </a:p>
          <a:p>
            <a:r>
              <a:rPr lang="en-US" sz="1300">
                <a:solidFill>
                  <a:srgbClr val="1F2937"/>
                </a:solidFill>
                <a:latin typeface="Calibri" panose="020F0502020204030204" pitchFamily="34" charset="0"/>
              </a:rPr>
              <a:t>PMI uses ‘bid’ or ‘quotation’ when selection is price-based, and ‘proposal’ when capability or approach matters.</a:t>
            </a:r>
          </a:p>
        </p:txBody>
      </p:sp>
      <p:sp>
        <p:nvSpPr>
          <p:cNvPr id="11" name="Footer">
            <a:extLst>
              <a:ext uri="{FF2B5EF4-FFF2-40B4-BE49-F238E27FC236}">
                <a16:creationId xmlns:a16="http://schemas.microsoft.com/office/drawing/2014/main" id="{DF5BCC61-B3E7-24A4-4822-ADFA5E53AFC9}"/>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fr-FR" sz="1000">
                <a:solidFill>
                  <a:srgbClr val="5B6475"/>
                </a:solidFill>
                <a:latin typeface="Calibri" panose="020F0502020204030204" pitchFamily="34" charset="0"/>
              </a:rPr>
              <a:t>Source: PMI, PMBOK® Guide — Sixth Edition, Chapter 12 (Project Procurement Management)</a:t>
            </a:r>
            <a:endParaRPr lang="en-US" sz="1000">
              <a:solidFill>
                <a:srgbClr val="5B6475"/>
              </a:solidFill>
              <a:latin typeface="Calibri" panose="020F0502020204030204" pitchFamily="34" charset="0"/>
            </a:endParaRPr>
          </a:p>
        </p:txBody>
      </p:sp>
      <p:sp>
        <p:nvSpPr>
          <p:cNvPr id="12" name="SlideNum">
            <a:extLst>
              <a:ext uri="{FF2B5EF4-FFF2-40B4-BE49-F238E27FC236}">
                <a16:creationId xmlns:a16="http://schemas.microsoft.com/office/drawing/2014/main" id="{2AA86242-601A-23E3-54AB-BB8E0DC40441}"/>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49</a:t>
            </a:r>
          </a:p>
        </p:txBody>
      </p:sp>
      <p:sp>
        <p:nvSpPr>
          <p:cNvPr id="13"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5216897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A8520F0-1800-B1C7-6F83-224C9A65860C}"/>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Selecting a seller fairly</a:t>
            </a:r>
          </a:p>
        </p:txBody>
      </p:sp>
      <p:sp>
        <p:nvSpPr>
          <p:cNvPr id="3" name="Tag">
            <a:extLst>
              <a:ext uri="{FF2B5EF4-FFF2-40B4-BE49-F238E27FC236}">
                <a16:creationId xmlns:a16="http://schemas.microsoft.com/office/drawing/2014/main" id="{22DECB48-8C17-ABE0-B1E9-FBA4979A7BAF}"/>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5 (Plan and manage procurement)</a:t>
            </a:r>
          </a:p>
        </p:txBody>
      </p:sp>
      <p:sp>
        <p:nvSpPr>
          <p:cNvPr id="4" name="TextBox 3">
            <a:extLst>
              <a:ext uri="{FF2B5EF4-FFF2-40B4-BE49-F238E27FC236}">
                <a16:creationId xmlns:a16="http://schemas.microsoft.com/office/drawing/2014/main" id="{7DDCB087-800E-BDE1-25E0-AA687E5078ED}"/>
              </a:ext>
            </a:extLst>
          </p:cNvPr>
          <p:cNvSpPr txBox="1"/>
          <p:nvPr/>
        </p:nvSpPr>
        <p:spPr>
          <a:xfrm>
            <a:off x="508000" y="1320800"/>
            <a:ext cx="6604000" cy="279400"/>
          </a:xfrm>
          <a:prstGeom prst="rect">
            <a:avLst/>
          </a:prstGeom>
          <a:noFill/>
        </p:spPr>
        <p:txBody>
          <a:bodyPr vert="horz" wrap="square" lIns="0" tIns="0" rIns="0" bIns="0" rtlCol="0" anchor="t">
            <a:noAutofit/>
          </a:bodyPr>
          <a:lstStyle/>
          <a:p>
            <a:r>
              <a:rPr lang="en-US" sz="1600" b="1">
                <a:solidFill>
                  <a:srgbClr val="14213D"/>
                </a:solidFill>
                <a:latin typeface="Calibri" panose="020F0502020204030204" pitchFamily="34" charset="0"/>
              </a:rPr>
              <a:t>Source selection methods</a:t>
            </a:r>
          </a:p>
        </p:txBody>
      </p:sp>
      <p:sp>
        <p:nvSpPr>
          <p:cNvPr id="5" name="TextBox 4">
            <a:extLst>
              <a:ext uri="{FF2B5EF4-FFF2-40B4-BE49-F238E27FC236}">
                <a16:creationId xmlns:a16="http://schemas.microsoft.com/office/drawing/2014/main" id="{AC8D7BD0-021F-9BF2-220B-A8CC7AAF3F05}"/>
              </a:ext>
            </a:extLst>
          </p:cNvPr>
          <p:cNvSpPr txBox="1"/>
          <p:nvPr/>
        </p:nvSpPr>
        <p:spPr>
          <a:xfrm>
            <a:off x="7366000" y="1320800"/>
            <a:ext cx="4318000" cy="279400"/>
          </a:xfrm>
          <a:prstGeom prst="rect">
            <a:avLst/>
          </a:prstGeom>
          <a:noFill/>
        </p:spPr>
        <p:txBody>
          <a:bodyPr vert="horz" wrap="square" lIns="0" tIns="0" rIns="0" bIns="0" rtlCol="0" anchor="t">
            <a:noAutofit/>
          </a:bodyPr>
          <a:lstStyle/>
          <a:p>
            <a:r>
              <a:rPr lang="en-US" sz="1600" b="1">
                <a:solidFill>
                  <a:srgbClr val="14213D"/>
                </a:solidFill>
                <a:latin typeface="Calibri" panose="020F0502020204030204" pitchFamily="34" charset="0"/>
              </a:rPr>
              <a:t>Keeping it fair</a:t>
            </a:r>
          </a:p>
        </p:txBody>
      </p:sp>
      <p:sp>
        <p:nvSpPr>
          <p:cNvPr id="6" name="Rectangle: Rounded Corners 5">
            <a:extLst>
              <a:ext uri="{FF2B5EF4-FFF2-40B4-BE49-F238E27FC236}">
                <a16:creationId xmlns:a16="http://schemas.microsoft.com/office/drawing/2014/main" id="{85E1F154-05CC-76C8-5257-2858A406AFFC}"/>
              </a:ext>
            </a:extLst>
          </p:cNvPr>
          <p:cNvSpPr/>
          <p:nvPr/>
        </p:nvSpPr>
        <p:spPr>
          <a:xfrm>
            <a:off x="508000" y="1676400"/>
            <a:ext cx="3225800" cy="1397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F576FFE-017A-81B0-4C45-D7665ABC15FB}"/>
              </a:ext>
            </a:extLst>
          </p:cNvPr>
          <p:cNvSpPr txBox="1"/>
          <p:nvPr/>
        </p:nvSpPr>
        <p:spPr>
          <a:xfrm>
            <a:off x="660400" y="1828800"/>
            <a:ext cx="2921000" cy="1092200"/>
          </a:xfrm>
          <a:prstGeom prst="rect">
            <a:avLst/>
          </a:prstGeom>
          <a:noFill/>
        </p:spPr>
        <p:txBody>
          <a:bodyPr vert="horz" wrap="square" lIns="0" tIns="0" rIns="0" bIns="0" rtlCol="0" anchor="t">
            <a:noAutofit/>
          </a:bodyPr>
          <a:lstStyle/>
          <a:p>
            <a:pPr>
              <a:spcAft>
                <a:spcPts val="600"/>
              </a:spcAft>
            </a:pPr>
            <a:r>
              <a:rPr lang="en-US" sz="1500" b="1">
                <a:solidFill>
                  <a:srgbClr val="14213D"/>
                </a:solidFill>
                <a:latin typeface="Calibri" panose="020F0502020204030204" pitchFamily="34" charset="0"/>
              </a:rPr>
              <a:t>Least cost</a:t>
            </a:r>
          </a:p>
          <a:p>
            <a:r>
              <a:rPr lang="en-US" sz="1400">
                <a:solidFill>
                  <a:srgbClr val="1F2937"/>
                </a:solidFill>
                <a:latin typeface="Calibri" panose="020F0502020204030204" pitchFamily="34" charset="0"/>
              </a:rPr>
              <a:t>Routine, standardized work; the lowest price wins.</a:t>
            </a:r>
          </a:p>
        </p:txBody>
      </p:sp>
      <p:sp>
        <p:nvSpPr>
          <p:cNvPr id="8" name="Rectangle: Rounded Corners 7">
            <a:extLst>
              <a:ext uri="{FF2B5EF4-FFF2-40B4-BE49-F238E27FC236}">
                <a16:creationId xmlns:a16="http://schemas.microsoft.com/office/drawing/2014/main" id="{6DB95B4C-6E26-B3A2-C822-6C3E46ECA9DB}"/>
              </a:ext>
            </a:extLst>
          </p:cNvPr>
          <p:cNvSpPr/>
          <p:nvPr/>
        </p:nvSpPr>
        <p:spPr>
          <a:xfrm>
            <a:off x="3860800" y="1676400"/>
            <a:ext cx="3225800" cy="1397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6F4D40B-AE8A-EBC2-F0B5-F55F93E5CCAC}"/>
              </a:ext>
            </a:extLst>
          </p:cNvPr>
          <p:cNvSpPr txBox="1"/>
          <p:nvPr/>
        </p:nvSpPr>
        <p:spPr>
          <a:xfrm>
            <a:off x="4013200" y="1828800"/>
            <a:ext cx="2921000" cy="1092200"/>
          </a:xfrm>
          <a:prstGeom prst="rect">
            <a:avLst/>
          </a:prstGeom>
          <a:noFill/>
        </p:spPr>
        <p:txBody>
          <a:bodyPr vert="horz" wrap="square" lIns="0" tIns="0" rIns="0" bIns="0" rtlCol="0" anchor="t">
            <a:noAutofit/>
          </a:bodyPr>
          <a:lstStyle/>
          <a:p>
            <a:pPr>
              <a:spcAft>
                <a:spcPts val="600"/>
              </a:spcAft>
            </a:pPr>
            <a:r>
              <a:rPr lang="en-US" sz="1500" b="1">
                <a:solidFill>
                  <a:srgbClr val="14213D"/>
                </a:solidFill>
                <a:latin typeface="Calibri" panose="020F0502020204030204" pitchFamily="34" charset="0"/>
              </a:rPr>
              <a:t>Qualifications only</a:t>
            </a:r>
          </a:p>
          <a:p>
            <a:r>
              <a:rPr lang="en-US" sz="1400">
                <a:solidFill>
                  <a:srgbClr val="1F2937"/>
                </a:solidFill>
                <a:latin typeface="Calibri" panose="020F0502020204030204" pitchFamily="34" charset="0"/>
              </a:rPr>
              <a:t>Small purchases; choose the most qualified seller.</a:t>
            </a:r>
          </a:p>
        </p:txBody>
      </p:sp>
      <p:sp>
        <p:nvSpPr>
          <p:cNvPr id="10" name="Rectangle: Rounded Corners 9">
            <a:extLst>
              <a:ext uri="{FF2B5EF4-FFF2-40B4-BE49-F238E27FC236}">
                <a16:creationId xmlns:a16="http://schemas.microsoft.com/office/drawing/2014/main" id="{62B7FC8E-0E74-7968-9640-E8BEABE6B4FF}"/>
              </a:ext>
            </a:extLst>
          </p:cNvPr>
          <p:cNvSpPr/>
          <p:nvPr/>
        </p:nvSpPr>
        <p:spPr>
          <a:xfrm>
            <a:off x="508000" y="3200400"/>
            <a:ext cx="3225800" cy="1397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4320963-95AE-39BF-2588-D0A47EB389ED}"/>
              </a:ext>
            </a:extLst>
          </p:cNvPr>
          <p:cNvSpPr txBox="1"/>
          <p:nvPr/>
        </p:nvSpPr>
        <p:spPr>
          <a:xfrm>
            <a:off x="660400" y="3352800"/>
            <a:ext cx="2921000" cy="1092200"/>
          </a:xfrm>
          <a:prstGeom prst="rect">
            <a:avLst/>
          </a:prstGeom>
          <a:noFill/>
        </p:spPr>
        <p:txBody>
          <a:bodyPr vert="horz" wrap="square" lIns="0" tIns="0" rIns="0" bIns="0" rtlCol="0" anchor="t">
            <a:noAutofit/>
          </a:bodyPr>
          <a:lstStyle/>
          <a:p>
            <a:pPr>
              <a:spcAft>
                <a:spcPts val="600"/>
              </a:spcAft>
            </a:pPr>
            <a:r>
              <a:rPr lang="en-US" sz="1500" b="1">
                <a:solidFill>
                  <a:srgbClr val="14213D"/>
                </a:solidFill>
                <a:latin typeface="Calibri" panose="020F0502020204030204" pitchFamily="34" charset="0"/>
              </a:rPr>
              <a:t>Quality-based</a:t>
            </a:r>
          </a:p>
          <a:p>
            <a:r>
              <a:rPr lang="en-US" sz="1400">
                <a:solidFill>
                  <a:srgbClr val="1F2937"/>
                </a:solidFill>
                <a:latin typeface="Calibri" panose="020F0502020204030204" pitchFamily="34" charset="0"/>
              </a:rPr>
              <a:t>Highest technical score wins, then negotiate cost.</a:t>
            </a:r>
          </a:p>
        </p:txBody>
      </p:sp>
      <p:sp>
        <p:nvSpPr>
          <p:cNvPr id="12" name="Rectangle: Rounded Corners 11">
            <a:extLst>
              <a:ext uri="{FF2B5EF4-FFF2-40B4-BE49-F238E27FC236}">
                <a16:creationId xmlns:a16="http://schemas.microsoft.com/office/drawing/2014/main" id="{8CCFC8D1-6490-B8D7-79EB-62D5CFDB538A}"/>
              </a:ext>
            </a:extLst>
          </p:cNvPr>
          <p:cNvSpPr/>
          <p:nvPr/>
        </p:nvSpPr>
        <p:spPr>
          <a:xfrm>
            <a:off x="3860800" y="3200400"/>
            <a:ext cx="3225800" cy="1397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F312F27-0139-4602-8B68-2FA19C17F85C}"/>
              </a:ext>
            </a:extLst>
          </p:cNvPr>
          <p:cNvSpPr txBox="1"/>
          <p:nvPr/>
        </p:nvSpPr>
        <p:spPr>
          <a:xfrm>
            <a:off x="4013200" y="3352800"/>
            <a:ext cx="2921000" cy="1092200"/>
          </a:xfrm>
          <a:prstGeom prst="rect">
            <a:avLst/>
          </a:prstGeom>
          <a:noFill/>
        </p:spPr>
        <p:txBody>
          <a:bodyPr vert="horz" wrap="square" lIns="0" tIns="0" rIns="0" bIns="0" rtlCol="0" anchor="t">
            <a:noAutofit/>
          </a:bodyPr>
          <a:lstStyle/>
          <a:p>
            <a:pPr>
              <a:spcAft>
                <a:spcPts val="600"/>
              </a:spcAft>
            </a:pPr>
            <a:r>
              <a:rPr lang="en-US" sz="1500" b="1">
                <a:solidFill>
                  <a:srgbClr val="14213D"/>
                </a:solidFill>
                <a:latin typeface="Calibri" panose="020F0502020204030204" pitchFamily="34" charset="0"/>
              </a:rPr>
              <a:t>Quality and cost-based</a:t>
            </a:r>
          </a:p>
          <a:p>
            <a:r>
              <a:rPr lang="en-US" sz="1400">
                <a:solidFill>
                  <a:srgbClr val="1F2937"/>
                </a:solidFill>
                <a:latin typeface="Calibri" panose="020F0502020204030204" pitchFamily="34" charset="0"/>
              </a:rPr>
              <a:t>Weigh technical score and cost together.</a:t>
            </a:r>
          </a:p>
        </p:txBody>
      </p:sp>
      <p:sp>
        <p:nvSpPr>
          <p:cNvPr id="14" name="Rectangle: Rounded Corners 13">
            <a:extLst>
              <a:ext uri="{FF2B5EF4-FFF2-40B4-BE49-F238E27FC236}">
                <a16:creationId xmlns:a16="http://schemas.microsoft.com/office/drawing/2014/main" id="{2D5451C8-5A78-2C45-5AC2-CE118B0DC614}"/>
              </a:ext>
            </a:extLst>
          </p:cNvPr>
          <p:cNvSpPr/>
          <p:nvPr/>
        </p:nvSpPr>
        <p:spPr>
          <a:xfrm>
            <a:off x="508000" y="4724400"/>
            <a:ext cx="3225800" cy="1397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4ED3EA3-9A87-F3D2-2EDF-AC6F279B794A}"/>
              </a:ext>
            </a:extLst>
          </p:cNvPr>
          <p:cNvSpPr txBox="1"/>
          <p:nvPr/>
        </p:nvSpPr>
        <p:spPr>
          <a:xfrm>
            <a:off x="660400" y="4876800"/>
            <a:ext cx="2921000" cy="1092200"/>
          </a:xfrm>
          <a:prstGeom prst="rect">
            <a:avLst/>
          </a:prstGeom>
          <a:noFill/>
        </p:spPr>
        <p:txBody>
          <a:bodyPr vert="horz" wrap="square" lIns="0" tIns="0" rIns="0" bIns="0" rtlCol="0" anchor="t">
            <a:noAutofit/>
          </a:bodyPr>
          <a:lstStyle/>
          <a:p>
            <a:pPr>
              <a:spcAft>
                <a:spcPts val="600"/>
              </a:spcAft>
            </a:pPr>
            <a:r>
              <a:rPr lang="en-US" sz="1500" b="1">
                <a:solidFill>
                  <a:srgbClr val="14213D"/>
                </a:solidFill>
                <a:latin typeface="Calibri" panose="020F0502020204030204" pitchFamily="34" charset="0"/>
              </a:rPr>
              <a:t>Sole source</a:t>
            </a:r>
          </a:p>
          <a:p>
            <a:r>
              <a:rPr lang="en-US" sz="1400">
                <a:solidFill>
                  <a:srgbClr val="1F2937"/>
                </a:solidFill>
                <a:latin typeface="Calibri" panose="020F0502020204030204" pitchFamily="34" charset="0"/>
              </a:rPr>
              <a:t>Only one seller can do it; negotiate directly.</a:t>
            </a:r>
          </a:p>
        </p:txBody>
      </p:sp>
      <p:sp>
        <p:nvSpPr>
          <p:cNvPr id="16" name="Rectangle: Rounded Corners 15">
            <a:extLst>
              <a:ext uri="{FF2B5EF4-FFF2-40B4-BE49-F238E27FC236}">
                <a16:creationId xmlns:a16="http://schemas.microsoft.com/office/drawing/2014/main" id="{C084A01D-EAE3-9427-8EA4-28D033DE7AF0}"/>
              </a:ext>
            </a:extLst>
          </p:cNvPr>
          <p:cNvSpPr/>
          <p:nvPr/>
        </p:nvSpPr>
        <p:spPr>
          <a:xfrm>
            <a:off x="3860800" y="4724400"/>
            <a:ext cx="3225800" cy="1397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EB19F2BE-29A5-0352-F771-242D18D86C75}"/>
              </a:ext>
            </a:extLst>
          </p:cNvPr>
          <p:cNvSpPr txBox="1"/>
          <p:nvPr/>
        </p:nvSpPr>
        <p:spPr>
          <a:xfrm>
            <a:off x="4013200" y="4876800"/>
            <a:ext cx="2921000" cy="1092200"/>
          </a:xfrm>
          <a:prstGeom prst="rect">
            <a:avLst/>
          </a:prstGeom>
          <a:noFill/>
        </p:spPr>
        <p:txBody>
          <a:bodyPr vert="horz" wrap="square" lIns="0" tIns="0" rIns="0" bIns="0" rtlCol="0" anchor="t">
            <a:noAutofit/>
          </a:bodyPr>
          <a:lstStyle/>
          <a:p>
            <a:pPr>
              <a:spcAft>
                <a:spcPts val="600"/>
              </a:spcAft>
            </a:pPr>
            <a:r>
              <a:rPr lang="en-US" sz="1500" b="1">
                <a:solidFill>
                  <a:srgbClr val="14213D"/>
                </a:solidFill>
                <a:latin typeface="Calibri" panose="020F0502020204030204" pitchFamily="34" charset="0"/>
              </a:rPr>
              <a:t>Fixed budget</a:t>
            </a:r>
          </a:p>
          <a:p>
            <a:r>
              <a:rPr lang="en-US" sz="1400">
                <a:solidFill>
                  <a:srgbClr val="1F2937"/>
                </a:solidFill>
                <a:latin typeface="Calibri" panose="020F0502020204030204" pitchFamily="34" charset="0"/>
              </a:rPr>
              <a:t>The budget is disclosed; best technical proposal within it.</a:t>
            </a:r>
          </a:p>
        </p:txBody>
      </p:sp>
      <p:sp>
        <p:nvSpPr>
          <p:cNvPr id="18" name="Rectangle: Rounded Corners 17">
            <a:extLst>
              <a:ext uri="{FF2B5EF4-FFF2-40B4-BE49-F238E27FC236}">
                <a16:creationId xmlns:a16="http://schemas.microsoft.com/office/drawing/2014/main" id="{963E178A-0867-9DF9-93C5-322E7F371663}"/>
              </a:ext>
            </a:extLst>
          </p:cNvPr>
          <p:cNvSpPr/>
          <p:nvPr/>
        </p:nvSpPr>
        <p:spPr>
          <a:xfrm>
            <a:off x="7366000" y="1676400"/>
            <a:ext cx="4318000" cy="13970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1929CA96-4FA5-29FD-F43D-44DBB348A7C4}"/>
              </a:ext>
            </a:extLst>
          </p:cNvPr>
          <p:cNvSpPr txBox="1"/>
          <p:nvPr/>
        </p:nvSpPr>
        <p:spPr>
          <a:xfrm>
            <a:off x="7518400" y="1828800"/>
            <a:ext cx="4013200" cy="1092200"/>
          </a:xfrm>
          <a:prstGeom prst="rect">
            <a:avLst/>
          </a:prstGeom>
          <a:noFill/>
        </p:spPr>
        <p:txBody>
          <a:bodyPr vert="horz" wrap="square" lIns="0" tIns="0" rIns="0" bIns="0" rtlCol="0" anchor="t">
            <a:noAutofit/>
          </a:bodyPr>
          <a:lstStyle/>
          <a:p>
            <a:pPr>
              <a:spcAft>
                <a:spcPts val="600"/>
              </a:spcAft>
            </a:pPr>
            <a:r>
              <a:rPr lang="en-US" sz="1500" b="1">
                <a:solidFill>
                  <a:srgbClr val="0F7C80"/>
                </a:solidFill>
                <a:latin typeface="Calibri" panose="020F0502020204030204" pitchFamily="34" charset="0"/>
              </a:rPr>
              <a:t>Bidder conferences</a:t>
            </a:r>
          </a:p>
          <a:p>
            <a:r>
              <a:rPr lang="en-US" sz="1400">
                <a:solidFill>
                  <a:srgbClr val="1F2937"/>
                </a:solidFill>
                <a:latin typeface="Calibri" panose="020F0502020204030204" pitchFamily="34" charset="0"/>
              </a:rPr>
              <a:t>Meet all prospective sellers before proposals are due. Its purpose is transparency: everyone gets the same information. Share every answer with every bidder.</a:t>
            </a:r>
          </a:p>
        </p:txBody>
      </p:sp>
      <p:sp>
        <p:nvSpPr>
          <p:cNvPr id="20" name="Rectangle: Rounded Corners 19">
            <a:extLst>
              <a:ext uri="{FF2B5EF4-FFF2-40B4-BE49-F238E27FC236}">
                <a16:creationId xmlns:a16="http://schemas.microsoft.com/office/drawing/2014/main" id="{20D293CA-B24E-AD4B-D4EF-F237752D1E7E}"/>
              </a:ext>
            </a:extLst>
          </p:cNvPr>
          <p:cNvSpPr/>
          <p:nvPr/>
        </p:nvSpPr>
        <p:spPr>
          <a:xfrm>
            <a:off x="7366000" y="3200400"/>
            <a:ext cx="4318000" cy="1397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15C80155-9899-C117-BF0E-DF22A66471B8}"/>
              </a:ext>
            </a:extLst>
          </p:cNvPr>
          <p:cNvSpPr txBox="1"/>
          <p:nvPr/>
        </p:nvSpPr>
        <p:spPr>
          <a:xfrm>
            <a:off x="7518400" y="3352800"/>
            <a:ext cx="4013200" cy="10922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Proposal evaluation</a:t>
            </a:r>
          </a:p>
          <a:p>
            <a:r>
              <a:rPr lang="en-US" sz="1400">
                <a:solidFill>
                  <a:srgbClr val="1F2937"/>
                </a:solidFill>
                <a:latin typeface="Calibri" panose="020F0502020204030204" pitchFamily="34" charset="0"/>
              </a:rPr>
              <a:t>Score proposals against weighted source selection criteria; keep technical and price proposals separate.</a:t>
            </a:r>
          </a:p>
        </p:txBody>
      </p:sp>
      <p:sp>
        <p:nvSpPr>
          <p:cNvPr id="22" name="Rectangle: Rounded Corners 21">
            <a:extLst>
              <a:ext uri="{FF2B5EF4-FFF2-40B4-BE49-F238E27FC236}">
                <a16:creationId xmlns:a16="http://schemas.microsoft.com/office/drawing/2014/main" id="{F9D39CCD-4681-07C6-815A-C9D00D45B5BA}"/>
              </a:ext>
            </a:extLst>
          </p:cNvPr>
          <p:cNvSpPr/>
          <p:nvPr/>
        </p:nvSpPr>
        <p:spPr>
          <a:xfrm>
            <a:off x="7366000" y="4724400"/>
            <a:ext cx="4318000" cy="13970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163A2380-8FC5-0045-EDF8-00087740CE4A}"/>
              </a:ext>
            </a:extLst>
          </p:cNvPr>
          <p:cNvSpPr txBox="1"/>
          <p:nvPr/>
        </p:nvSpPr>
        <p:spPr>
          <a:xfrm>
            <a:off x="7518400" y="4876800"/>
            <a:ext cx="4013200" cy="1092200"/>
          </a:xfrm>
          <a:prstGeom prst="rect">
            <a:avLst/>
          </a:prstGeom>
          <a:noFill/>
        </p:spPr>
        <p:txBody>
          <a:bodyPr vert="horz" wrap="square" lIns="0" tIns="0" rIns="0" bIns="0" rtlCol="0" anchor="t">
            <a:noAutofit/>
          </a:bodyPr>
          <a:lstStyle/>
          <a:p>
            <a:pPr>
              <a:spcAft>
                <a:spcPts val="600"/>
              </a:spcAft>
            </a:pPr>
            <a:r>
              <a:rPr lang="en-US" sz="1500" b="1">
                <a:solidFill>
                  <a:srgbClr val="A86F0E"/>
                </a:solidFill>
                <a:latin typeface="Calibri" panose="020F0502020204030204" pitchFamily="34" charset="0"/>
              </a:rPr>
              <a:t>Independent cost estimate</a:t>
            </a:r>
          </a:p>
          <a:p>
            <a:r>
              <a:rPr lang="en-US" sz="1400">
                <a:solidFill>
                  <a:srgbClr val="1F2937"/>
                </a:solidFill>
                <a:latin typeface="Calibri" panose="020F0502020204030204" pitchFamily="34" charset="0"/>
              </a:rPr>
              <a:t>Your own estimate tests whether bids are reasonable; a big gap can mean sellers misread the SOW.</a:t>
            </a:r>
          </a:p>
        </p:txBody>
      </p:sp>
      <p:sp>
        <p:nvSpPr>
          <p:cNvPr id="24" name="Footer">
            <a:extLst>
              <a:ext uri="{FF2B5EF4-FFF2-40B4-BE49-F238E27FC236}">
                <a16:creationId xmlns:a16="http://schemas.microsoft.com/office/drawing/2014/main" id="{A3324EB3-788C-29B2-EAD6-7385455AADA8}"/>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fr-FR" sz="1000">
                <a:solidFill>
                  <a:srgbClr val="5B6475"/>
                </a:solidFill>
                <a:latin typeface="Calibri" panose="020F0502020204030204" pitchFamily="34" charset="0"/>
              </a:rPr>
              <a:t>Source: PMI, PMBOK® Guide — Sixth Edition, Chapter 12 (Project Procurement Management)</a:t>
            </a:r>
            <a:endParaRPr lang="en-US" sz="1000">
              <a:solidFill>
                <a:srgbClr val="5B6475"/>
              </a:solidFill>
              <a:latin typeface="Calibri" panose="020F0502020204030204" pitchFamily="34" charset="0"/>
            </a:endParaRPr>
          </a:p>
        </p:txBody>
      </p:sp>
      <p:sp>
        <p:nvSpPr>
          <p:cNvPr id="25" name="SlideNum">
            <a:extLst>
              <a:ext uri="{FF2B5EF4-FFF2-40B4-BE49-F238E27FC236}">
                <a16:creationId xmlns:a16="http://schemas.microsoft.com/office/drawing/2014/main" id="{47404E85-4762-8378-9799-D64F5C71BE71}"/>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50</a:t>
            </a:r>
          </a:p>
        </p:txBody>
      </p:sp>
      <p:sp>
        <p:nvSpPr>
          <p:cNvPr id="26"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8519515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3D3862-919B-BEAE-F9F4-E2DA02D6CD22}"/>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Contract change control: amending agreements</a:t>
            </a:r>
          </a:p>
        </p:txBody>
      </p:sp>
      <p:sp>
        <p:nvSpPr>
          <p:cNvPr id="3" name="Tag">
            <a:extLst>
              <a:ext uri="{FF2B5EF4-FFF2-40B4-BE49-F238E27FC236}">
                <a16:creationId xmlns:a16="http://schemas.microsoft.com/office/drawing/2014/main" id="{768BC0CA-598D-60B6-67BD-92B43E2B6B5E}"/>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5 (Manage suppliers and contracts) and Business Environment Task 3 (Manage and control changes)</a:t>
            </a:r>
          </a:p>
        </p:txBody>
      </p:sp>
      <p:sp>
        <p:nvSpPr>
          <p:cNvPr id="4" name="Rectangle 3">
            <a:extLst>
              <a:ext uri="{FF2B5EF4-FFF2-40B4-BE49-F238E27FC236}">
                <a16:creationId xmlns:a16="http://schemas.microsoft.com/office/drawing/2014/main" id="{E5C55476-6E95-EE54-0D35-0E6A63C78001}"/>
              </a:ext>
            </a:extLst>
          </p:cNvPr>
          <p:cNvSpPr/>
          <p:nvPr/>
        </p:nvSpPr>
        <p:spPr>
          <a:xfrm>
            <a:off x="508000" y="1371600"/>
            <a:ext cx="5334000" cy="508000"/>
          </a:xfrm>
          <a:prstGeom prst="rect">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600" b="1">
                <a:solidFill>
                  <a:srgbClr val="FFFFFF"/>
                </a:solidFill>
                <a:latin typeface="Calibri" panose="020F0502020204030204" pitchFamily="34" charset="0"/>
              </a:rPr>
              <a:t>Amend agreements as needed</a:t>
            </a:r>
          </a:p>
        </p:txBody>
      </p:sp>
      <p:sp>
        <p:nvSpPr>
          <p:cNvPr id="5" name="Rectangle 4">
            <a:extLst>
              <a:ext uri="{FF2B5EF4-FFF2-40B4-BE49-F238E27FC236}">
                <a16:creationId xmlns:a16="http://schemas.microsoft.com/office/drawing/2014/main" id="{84194047-4088-8A24-9EF7-25FE09DF0674}"/>
              </a:ext>
            </a:extLst>
          </p:cNvPr>
          <p:cNvSpPr/>
          <p:nvPr/>
        </p:nvSpPr>
        <p:spPr>
          <a:xfrm>
            <a:off x="508000" y="1879600"/>
            <a:ext cx="5334000" cy="736600"/>
          </a:xfrm>
          <a:prstGeom prst="rect">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25400" rIns="177800" bIns="25400" rtlCol="0" anchor="ctr"/>
          <a:lstStyle/>
          <a:p>
            <a:pPr algn="ctr"/>
            <a:r>
              <a:rPr lang="en-US" sz="1400">
                <a:solidFill>
                  <a:srgbClr val="1F2937"/>
                </a:solidFill>
                <a:latin typeface="Calibri" panose="020F0502020204030204" pitchFamily="34" charset="0"/>
              </a:rPr>
              <a:t>Changes are allowed with mutual consent before contract closure.</a:t>
            </a:r>
          </a:p>
        </p:txBody>
      </p:sp>
      <p:sp>
        <p:nvSpPr>
          <p:cNvPr id="6" name="Rectangle 5">
            <a:extLst>
              <a:ext uri="{FF2B5EF4-FFF2-40B4-BE49-F238E27FC236}">
                <a16:creationId xmlns:a16="http://schemas.microsoft.com/office/drawing/2014/main" id="{AAEDB7D2-72FE-7669-E7A9-6FB095E485A4}"/>
              </a:ext>
            </a:extLst>
          </p:cNvPr>
          <p:cNvSpPr/>
          <p:nvPr/>
        </p:nvSpPr>
        <p:spPr>
          <a:xfrm>
            <a:off x="508000" y="2794000"/>
            <a:ext cx="5334000" cy="50800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600" b="1">
                <a:solidFill>
                  <a:srgbClr val="FFFFFF"/>
                </a:solidFill>
                <a:latin typeface="Calibri" panose="020F0502020204030204" pitchFamily="34" charset="0"/>
              </a:rPr>
              <a:t>Apply the change control process</a:t>
            </a:r>
          </a:p>
        </p:txBody>
      </p:sp>
      <p:sp>
        <p:nvSpPr>
          <p:cNvPr id="7" name="Rectangle 6">
            <a:extLst>
              <a:ext uri="{FF2B5EF4-FFF2-40B4-BE49-F238E27FC236}">
                <a16:creationId xmlns:a16="http://schemas.microsoft.com/office/drawing/2014/main" id="{AE2CC4B1-F5EE-4AFB-0E30-1088839E3E79}"/>
              </a:ext>
            </a:extLst>
          </p:cNvPr>
          <p:cNvSpPr/>
          <p:nvPr/>
        </p:nvSpPr>
        <p:spPr>
          <a:xfrm>
            <a:off x="508000" y="3302000"/>
            <a:ext cx="5334000" cy="736600"/>
          </a:xfrm>
          <a:prstGeom prst="rect">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25400" rIns="177800" bIns="25400" rtlCol="0" anchor="ctr"/>
          <a:lstStyle/>
          <a:p>
            <a:pPr algn="ctr"/>
            <a:r>
              <a:rPr lang="en-US" sz="1400">
                <a:solidFill>
                  <a:srgbClr val="1F2937"/>
                </a:solidFill>
                <a:latin typeface="Calibri" panose="020F0502020204030204" pitchFamily="34" charset="0"/>
              </a:rPr>
              <a:t>Changes must follow the procedures agreed in the contract.</a:t>
            </a:r>
          </a:p>
        </p:txBody>
      </p:sp>
      <p:sp>
        <p:nvSpPr>
          <p:cNvPr id="8" name="Rectangle 7">
            <a:extLst>
              <a:ext uri="{FF2B5EF4-FFF2-40B4-BE49-F238E27FC236}">
                <a16:creationId xmlns:a16="http://schemas.microsoft.com/office/drawing/2014/main" id="{6F2486F2-027C-37AD-A34E-6E055F014156}"/>
              </a:ext>
            </a:extLst>
          </p:cNvPr>
          <p:cNvSpPr/>
          <p:nvPr/>
        </p:nvSpPr>
        <p:spPr>
          <a:xfrm>
            <a:off x="508000" y="4216400"/>
            <a:ext cx="5334000" cy="508000"/>
          </a:xfrm>
          <a:prstGeom prst="rect">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600" b="1">
                <a:solidFill>
                  <a:srgbClr val="FFFFFF"/>
                </a:solidFill>
                <a:latin typeface="Calibri" panose="020F0502020204030204" pitchFamily="34" charset="0"/>
              </a:rPr>
              <a:t>Document all amendments</a:t>
            </a:r>
          </a:p>
        </p:txBody>
      </p:sp>
      <p:sp>
        <p:nvSpPr>
          <p:cNvPr id="9" name="Rectangle 8">
            <a:extLst>
              <a:ext uri="{FF2B5EF4-FFF2-40B4-BE49-F238E27FC236}">
                <a16:creationId xmlns:a16="http://schemas.microsoft.com/office/drawing/2014/main" id="{FEA27403-1C08-B36F-8386-2D2A54E9A8C1}"/>
              </a:ext>
            </a:extLst>
          </p:cNvPr>
          <p:cNvSpPr/>
          <p:nvPr/>
        </p:nvSpPr>
        <p:spPr>
          <a:xfrm>
            <a:off x="508000" y="4724400"/>
            <a:ext cx="5334000" cy="736600"/>
          </a:xfrm>
          <a:prstGeom prst="rect">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25400" rIns="177800" bIns="25400" rtlCol="0" anchor="ctr"/>
          <a:lstStyle/>
          <a:p>
            <a:pPr algn="ctr"/>
            <a:r>
              <a:rPr lang="en-US" sz="1400">
                <a:solidFill>
                  <a:srgbClr val="1F2937"/>
                </a:solidFill>
                <a:latin typeface="Calibri" panose="020F0502020204030204" pitchFamily="34" charset="0"/>
              </a:rPr>
              <a:t>Written records ensure clarity and accountability.</a:t>
            </a:r>
          </a:p>
        </p:txBody>
      </p:sp>
      <p:sp>
        <p:nvSpPr>
          <p:cNvPr id="10" name="TextBox 9">
            <a:extLst>
              <a:ext uri="{FF2B5EF4-FFF2-40B4-BE49-F238E27FC236}">
                <a16:creationId xmlns:a16="http://schemas.microsoft.com/office/drawing/2014/main" id="{96E99E67-0B5E-8E85-A2ED-C532A1FB24D1}"/>
              </a:ext>
            </a:extLst>
          </p:cNvPr>
          <p:cNvSpPr txBox="1"/>
          <p:nvPr/>
        </p:nvSpPr>
        <p:spPr>
          <a:xfrm>
            <a:off x="6223000" y="1320800"/>
            <a:ext cx="5461000" cy="279400"/>
          </a:xfrm>
          <a:prstGeom prst="rect">
            <a:avLst/>
          </a:prstGeom>
          <a:noFill/>
        </p:spPr>
        <p:txBody>
          <a:bodyPr vert="horz" wrap="square" lIns="0" tIns="0" rIns="0" bIns="0" rtlCol="0" anchor="t">
            <a:noAutofit/>
          </a:bodyPr>
          <a:lstStyle/>
          <a:p>
            <a:r>
              <a:rPr lang="en-US" sz="1600" b="1">
                <a:solidFill>
                  <a:srgbClr val="14213D"/>
                </a:solidFill>
                <a:latin typeface="Calibri" panose="020F0502020204030204" pitchFamily="34" charset="0"/>
              </a:rPr>
              <a:t>How a contract change flows</a:t>
            </a:r>
          </a:p>
        </p:txBody>
      </p:sp>
      <p:sp>
        <p:nvSpPr>
          <p:cNvPr id="11" name="Oval 10">
            <a:extLst>
              <a:ext uri="{FF2B5EF4-FFF2-40B4-BE49-F238E27FC236}">
                <a16:creationId xmlns:a16="http://schemas.microsoft.com/office/drawing/2014/main" id="{10E8BEBD-BD7C-7B83-0E39-F90EA4739AF2}"/>
              </a:ext>
            </a:extLst>
          </p:cNvPr>
          <p:cNvSpPr/>
          <p:nvPr/>
        </p:nvSpPr>
        <p:spPr>
          <a:xfrm>
            <a:off x="6223000" y="1727200"/>
            <a:ext cx="355600" cy="3556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1</a:t>
            </a:r>
          </a:p>
        </p:txBody>
      </p:sp>
      <p:sp>
        <p:nvSpPr>
          <p:cNvPr id="12" name="TextBox 11">
            <a:extLst>
              <a:ext uri="{FF2B5EF4-FFF2-40B4-BE49-F238E27FC236}">
                <a16:creationId xmlns:a16="http://schemas.microsoft.com/office/drawing/2014/main" id="{442502B0-5B41-3EED-5EC1-8F4FF2E27A7A}"/>
              </a:ext>
            </a:extLst>
          </p:cNvPr>
          <p:cNvSpPr txBox="1"/>
          <p:nvPr/>
        </p:nvSpPr>
        <p:spPr>
          <a:xfrm>
            <a:off x="6705600" y="1676400"/>
            <a:ext cx="4978400" cy="457200"/>
          </a:xfrm>
          <a:prstGeom prst="rect">
            <a:avLst/>
          </a:prstGeom>
          <a:noFill/>
        </p:spPr>
        <p:txBody>
          <a:bodyPr vert="horz" wrap="square" lIns="0" tIns="0" rIns="0" bIns="0" rtlCol="0" anchor="ctr">
            <a:noAutofit/>
          </a:bodyPr>
          <a:lstStyle/>
          <a:p>
            <a:r>
              <a:rPr lang="en-US" sz="1400">
                <a:solidFill>
                  <a:srgbClr val="1F2937"/>
                </a:solidFill>
                <a:latin typeface="Calibri" panose="020F0502020204030204" pitchFamily="34" charset="0"/>
              </a:rPr>
              <a:t>Change request raised (buyer or seller)</a:t>
            </a:r>
          </a:p>
        </p:txBody>
      </p:sp>
      <p:sp>
        <p:nvSpPr>
          <p:cNvPr id="13" name="Oval 12">
            <a:extLst>
              <a:ext uri="{FF2B5EF4-FFF2-40B4-BE49-F238E27FC236}">
                <a16:creationId xmlns:a16="http://schemas.microsoft.com/office/drawing/2014/main" id="{4EC7214D-E5A1-2942-4CD5-6B06204ACC7B}"/>
              </a:ext>
            </a:extLst>
          </p:cNvPr>
          <p:cNvSpPr/>
          <p:nvPr/>
        </p:nvSpPr>
        <p:spPr>
          <a:xfrm>
            <a:off x="6223000" y="2286000"/>
            <a:ext cx="355600" cy="3556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2</a:t>
            </a:r>
          </a:p>
        </p:txBody>
      </p:sp>
      <p:sp>
        <p:nvSpPr>
          <p:cNvPr id="14" name="TextBox 13">
            <a:extLst>
              <a:ext uri="{FF2B5EF4-FFF2-40B4-BE49-F238E27FC236}">
                <a16:creationId xmlns:a16="http://schemas.microsoft.com/office/drawing/2014/main" id="{F92CC8F7-DCF9-EE7B-B311-FB86DF876F8E}"/>
              </a:ext>
            </a:extLst>
          </p:cNvPr>
          <p:cNvSpPr txBox="1"/>
          <p:nvPr/>
        </p:nvSpPr>
        <p:spPr>
          <a:xfrm>
            <a:off x="6705600" y="2235200"/>
            <a:ext cx="4978400" cy="457200"/>
          </a:xfrm>
          <a:prstGeom prst="rect">
            <a:avLst/>
          </a:prstGeom>
          <a:noFill/>
        </p:spPr>
        <p:txBody>
          <a:bodyPr vert="horz" wrap="square" lIns="0" tIns="0" rIns="0" bIns="0" rtlCol="0" anchor="ctr">
            <a:noAutofit/>
          </a:bodyPr>
          <a:lstStyle/>
          <a:p>
            <a:r>
              <a:rPr lang="en-US" sz="1400">
                <a:solidFill>
                  <a:srgbClr val="1F2937"/>
                </a:solidFill>
                <a:latin typeface="Calibri" panose="020F0502020204030204" pitchFamily="34" charset="0"/>
              </a:rPr>
              <a:t>Impact analyzed: scope, cost, schedule, risk</a:t>
            </a:r>
          </a:p>
        </p:txBody>
      </p:sp>
      <p:sp>
        <p:nvSpPr>
          <p:cNvPr id="15" name="Oval 14">
            <a:extLst>
              <a:ext uri="{FF2B5EF4-FFF2-40B4-BE49-F238E27FC236}">
                <a16:creationId xmlns:a16="http://schemas.microsoft.com/office/drawing/2014/main" id="{DA48E9A0-CE30-087C-F474-E2814562670F}"/>
              </a:ext>
            </a:extLst>
          </p:cNvPr>
          <p:cNvSpPr/>
          <p:nvPr/>
        </p:nvSpPr>
        <p:spPr>
          <a:xfrm>
            <a:off x="6223000" y="2844800"/>
            <a:ext cx="355600" cy="3556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3</a:t>
            </a:r>
          </a:p>
        </p:txBody>
      </p:sp>
      <p:sp>
        <p:nvSpPr>
          <p:cNvPr id="16" name="TextBox 15">
            <a:extLst>
              <a:ext uri="{FF2B5EF4-FFF2-40B4-BE49-F238E27FC236}">
                <a16:creationId xmlns:a16="http://schemas.microsoft.com/office/drawing/2014/main" id="{9017695B-F114-CCD3-35F7-C4F030203DFC}"/>
              </a:ext>
            </a:extLst>
          </p:cNvPr>
          <p:cNvSpPr txBox="1"/>
          <p:nvPr/>
        </p:nvSpPr>
        <p:spPr>
          <a:xfrm>
            <a:off x="6705600" y="2794000"/>
            <a:ext cx="4978400" cy="457200"/>
          </a:xfrm>
          <a:prstGeom prst="rect">
            <a:avLst/>
          </a:prstGeom>
          <a:noFill/>
        </p:spPr>
        <p:txBody>
          <a:bodyPr vert="horz" wrap="square" lIns="0" tIns="0" rIns="0" bIns="0" rtlCol="0" anchor="ctr">
            <a:noAutofit/>
          </a:bodyPr>
          <a:lstStyle/>
          <a:p>
            <a:r>
              <a:rPr lang="en-US" sz="1400">
                <a:solidFill>
                  <a:srgbClr val="1F2937"/>
                </a:solidFill>
                <a:latin typeface="Calibri" panose="020F0502020204030204" pitchFamily="34" charset="0"/>
              </a:rPr>
              <a:t>Approved or rejected through integrated change control</a:t>
            </a:r>
          </a:p>
        </p:txBody>
      </p:sp>
      <p:sp>
        <p:nvSpPr>
          <p:cNvPr id="17" name="Oval 16">
            <a:extLst>
              <a:ext uri="{FF2B5EF4-FFF2-40B4-BE49-F238E27FC236}">
                <a16:creationId xmlns:a16="http://schemas.microsoft.com/office/drawing/2014/main" id="{B238489A-C49B-E5BE-8C57-FDFB092F0D72}"/>
              </a:ext>
            </a:extLst>
          </p:cNvPr>
          <p:cNvSpPr/>
          <p:nvPr/>
        </p:nvSpPr>
        <p:spPr>
          <a:xfrm>
            <a:off x="6223000" y="3403600"/>
            <a:ext cx="355600" cy="3556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4</a:t>
            </a:r>
          </a:p>
        </p:txBody>
      </p:sp>
      <p:sp>
        <p:nvSpPr>
          <p:cNvPr id="18" name="TextBox 17">
            <a:extLst>
              <a:ext uri="{FF2B5EF4-FFF2-40B4-BE49-F238E27FC236}">
                <a16:creationId xmlns:a16="http://schemas.microsoft.com/office/drawing/2014/main" id="{AD87056C-764A-EBF7-702A-E1D103350405}"/>
              </a:ext>
            </a:extLst>
          </p:cNvPr>
          <p:cNvSpPr txBox="1"/>
          <p:nvPr/>
        </p:nvSpPr>
        <p:spPr>
          <a:xfrm>
            <a:off x="6705600" y="3352800"/>
            <a:ext cx="4978400" cy="457200"/>
          </a:xfrm>
          <a:prstGeom prst="rect">
            <a:avLst/>
          </a:prstGeom>
          <a:noFill/>
        </p:spPr>
        <p:txBody>
          <a:bodyPr vert="horz" wrap="square" lIns="0" tIns="0" rIns="0" bIns="0" rtlCol="0" anchor="ctr">
            <a:noAutofit/>
          </a:bodyPr>
          <a:lstStyle/>
          <a:p>
            <a:r>
              <a:rPr lang="en-US" sz="1400">
                <a:solidFill>
                  <a:srgbClr val="1F2937"/>
                </a:solidFill>
                <a:latin typeface="Calibri" panose="020F0502020204030204" pitchFamily="34" charset="0"/>
              </a:rPr>
              <a:t>Agreement formally amended and signed</a:t>
            </a:r>
          </a:p>
        </p:txBody>
      </p:sp>
      <p:sp>
        <p:nvSpPr>
          <p:cNvPr id="19" name="Oval 18">
            <a:extLst>
              <a:ext uri="{FF2B5EF4-FFF2-40B4-BE49-F238E27FC236}">
                <a16:creationId xmlns:a16="http://schemas.microsoft.com/office/drawing/2014/main" id="{2A6D8CE6-CD8F-F98A-3D77-72E0657CE3C1}"/>
              </a:ext>
            </a:extLst>
          </p:cNvPr>
          <p:cNvSpPr/>
          <p:nvPr/>
        </p:nvSpPr>
        <p:spPr>
          <a:xfrm>
            <a:off x="6223000" y="3962400"/>
            <a:ext cx="355600" cy="3556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5</a:t>
            </a:r>
          </a:p>
        </p:txBody>
      </p:sp>
      <p:sp>
        <p:nvSpPr>
          <p:cNvPr id="20" name="TextBox 19">
            <a:extLst>
              <a:ext uri="{FF2B5EF4-FFF2-40B4-BE49-F238E27FC236}">
                <a16:creationId xmlns:a16="http://schemas.microsoft.com/office/drawing/2014/main" id="{4B27A01E-C57D-0E13-3B79-8D276CA821B4}"/>
              </a:ext>
            </a:extLst>
          </p:cNvPr>
          <p:cNvSpPr txBox="1"/>
          <p:nvPr/>
        </p:nvSpPr>
        <p:spPr>
          <a:xfrm>
            <a:off x="6705600" y="3911600"/>
            <a:ext cx="4978400" cy="457200"/>
          </a:xfrm>
          <a:prstGeom prst="rect">
            <a:avLst/>
          </a:prstGeom>
          <a:noFill/>
        </p:spPr>
        <p:txBody>
          <a:bodyPr vert="horz" wrap="square" lIns="0" tIns="0" rIns="0" bIns="0" rtlCol="0" anchor="ctr">
            <a:noAutofit/>
          </a:bodyPr>
          <a:lstStyle/>
          <a:p>
            <a:r>
              <a:rPr lang="en-US" sz="1400">
                <a:solidFill>
                  <a:srgbClr val="1F2937"/>
                </a:solidFill>
                <a:latin typeface="Calibri" panose="020F0502020204030204" pitchFamily="34" charset="0"/>
              </a:rPr>
              <a:t>Records, baselines, and procurement documents updated</a:t>
            </a:r>
          </a:p>
        </p:txBody>
      </p:sp>
      <p:sp>
        <p:nvSpPr>
          <p:cNvPr id="21" name="Rectangle: Rounded Corners 20">
            <a:extLst>
              <a:ext uri="{FF2B5EF4-FFF2-40B4-BE49-F238E27FC236}">
                <a16:creationId xmlns:a16="http://schemas.microsoft.com/office/drawing/2014/main" id="{A8A5736F-1D2D-A879-C369-A2D657F63137}"/>
              </a:ext>
            </a:extLst>
          </p:cNvPr>
          <p:cNvSpPr/>
          <p:nvPr/>
        </p:nvSpPr>
        <p:spPr>
          <a:xfrm>
            <a:off x="6223000" y="4597400"/>
            <a:ext cx="5461000" cy="16256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245DDC5-2E44-BF33-038F-04026C0D20EE}"/>
              </a:ext>
            </a:extLst>
          </p:cNvPr>
          <p:cNvSpPr txBox="1"/>
          <p:nvPr/>
        </p:nvSpPr>
        <p:spPr>
          <a:xfrm>
            <a:off x="6375400" y="4749800"/>
            <a:ext cx="5156200" cy="1320800"/>
          </a:xfrm>
          <a:prstGeom prst="rect">
            <a:avLst/>
          </a:prstGeom>
          <a:noFill/>
        </p:spPr>
        <p:txBody>
          <a:bodyPr vert="horz" wrap="square" lIns="0" tIns="0" rIns="0" bIns="0" rtlCol="0" anchor="t">
            <a:noAutofit/>
          </a:bodyPr>
          <a:lstStyle/>
          <a:p>
            <a:pPr>
              <a:spcAft>
                <a:spcPts val="600"/>
              </a:spcAft>
            </a:pPr>
            <a:r>
              <a:rPr lang="en-US" sz="1500" b="1">
                <a:solidFill>
                  <a:srgbClr val="A84A2E"/>
                </a:solidFill>
                <a:latin typeface="Calibri" panose="020F0502020204030204" pitchFamily="34" charset="0"/>
              </a:rPr>
              <a:t>When the parties disagree</a:t>
            </a:r>
          </a:p>
          <a:p>
            <a:r>
              <a:rPr lang="en-US" sz="1300">
                <a:solidFill>
                  <a:srgbClr val="1F2937"/>
                </a:solidFill>
                <a:latin typeface="Calibri" panose="020F0502020204030204" pitchFamily="34" charset="0"/>
              </a:rPr>
              <a:t>A contested change becomes a claim. Claims administration seeks settlement through negotiation first, then alternative dispute resolution (mediation, arbitration); litigation is the last resort.</a:t>
            </a:r>
          </a:p>
        </p:txBody>
      </p:sp>
      <p:sp>
        <p:nvSpPr>
          <p:cNvPr id="23" name="Footer">
            <a:extLst>
              <a:ext uri="{FF2B5EF4-FFF2-40B4-BE49-F238E27FC236}">
                <a16:creationId xmlns:a16="http://schemas.microsoft.com/office/drawing/2014/main" id="{E99B168E-0F97-59E4-4212-E6CD1ABE2D14}"/>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PMBOK® Guide — Sixth Edition, Sections 4.6 (Perform Integrated Change Control) and 12.3 (Control Procurements)</a:t>
            </a:r>
          </a:p>
        </p:txBody>
      </p:sp>
      <p:sp>
        <p:nvSpPr>
          <p:cNvPr id="24" name="SlideNum">
            <a:extLst>
              <a:ext uri="{FF2B5EF4-FFF2-40B4-BE49-F238E27FC236}">
                <a16:creationId xmlns:a16="http://schemas.microsoft.com/office/drawing/2014/main" id="{52AF7E4F-C754-B3DE-C8C6-6A55732043E9}"/>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51</a:t>
            </a:r>
          </a:p>
        </p:txBody>
      </p:sp>
      <p:sp>
        <p:nvSpPr>
          <p:cNvPr id="25"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7071403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D066FA5-CB37-B7E2-2E28-FAF30E3C6DE9}"/>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Measuring project performance</a:t>
            </a:r>
          </a:p>
        </p:txBody>
      </p:sp>
      <p:sp>
        <p:nvSpPr>
          <p:cNvPr id="3" name="Tag">
            <a:extLst>
              <a:ext uri="{FF2B5EF4-FFF2-40B4-BE49-F238E27FC236}">
                <a16:creationId xmlns:a16="http://schemas.microsoft.com/office/drawing/2014/main" id="{468A9B39-CB52-CA75-B4D2-42D8E405D913}"/>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9 (Evaluate project status: measure, analyze, and update metrics)</a:t>
            </a:r>
          </a:p>
        </p:txBody>
      </p:sp>
      <p:sp>
        <p:nvSpPr>
          <p:cNvPr id="4" name="TextBox 3">
            <a:extLst>
              <a:ext uri="{FF2B5EF4-FFF2-40B4-BE49-F238E27FC236}">
                <a16:creationId xmlns:a16="http://schemas.microsoft.com/office/drawing/2014/main" id="{6BBFB572-582E-9855-48CC-9A1D17151DD1}"/>
              </a:ext>
            </a:extLst>
          </p:cNvPr>
          <p:cNvSpPr txBox="1"/>
          <p:nvPr/>
        </p:nvSpPr>
        <p:spPr>
          <a:xfrm>
            <a:off x="508000" y="1320800"/>
            <a:ext cx="11176000" cy="254000"/>
          </a:xfrm>
          <a:prstGeom prst="rect">
            <a:avLst/>
          </a:prstGeom>
          <a:noFill/>
        </p:spPr>
        <p:txBody>
          <a:bodyPr vert="horz" wrap="square" lIns="0" tIns="0" rIns="0" bIns="0" rtlCol="0" anchor="t">
            <a:noAutofit/>
          </a:bodyPr>
          <a:lstStyle/>
          <a:p>
            <a:r>
              <a:rPr lang="en-US" sz="1400">
                <a:solidFill>
                  <a:srgbClr val="1F2937"/>
                </a:solidFill>
                <a:latin typeface="Calibri" panose="020F0502020204030204" pitchFamily="34" charset="0"/>
              </a:rPr>
              <a:t>Tailor measurement to the project context and its stakeholders. Measure each area against its baseline or goal.</a:t>
            </a:r>
          </a:p>
        </p:txBody>
      </p:sp>
      <p:sp>
        <p:nvSpPr>
          <p:cNvPr id="5" name="Rectangle: Rounded Corners 4">
            <a:extLst>
              <a:ext uri="{FF2B5EF4-FFF2-40B4-BE49-F238E27FC236}">
                <a16:creationId xmlns:a16="http://schemas.microsoft.com/office/drawing/2014/main" id="{E4F4A61C-4260-869F-72D8-C33EB378C5B2}"/>
              </a:ext>
            </a:extLst>
          </p:cNvPr>
          <p:cNvSpPr/>
          <p:nvPr/>
        </p:nvSpPr>
        <p:spPr>
          <a:xfrm>
            <a:off x="508000" y="1676400"/>
            <a:ext cx="3556000" cy="1778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C9173E7-FB09-339E-2110-9CDC22311532}"/>
              </a:ext>
            </a:extLst>
          </p:cNvPr>
          <p:cNvSpPr txBox="1"/>
          <p:nvPr/>
        </p:nvSpPr>
        <p:spPr>
          <a:xfrm>
            <a:off x="685800" y="1854200"/>
            <a:ext cx="3200400" cy="1422400"/>
          </a:xfrm>
          <a:prstGeom prst="rect">
            <a:avLst/>
          </a:prstGeom>
          <a:noFill/>
        </p:spPr>
        <p:txBody>
          <a:bodyPr vert="horz" wrap="square" lIns="0" tIns="0" rIns="0" bIns="0" rtlCol="0" anchor="t">
            <a:noAutofit/>
          </a:bodyPr>
          <a:lstStyle/>
          <a:p>
            <a:pPr>
              <a:spcAft>
                <a:spcPts val="600"/>
              </a:spcAft>
            </a:pPr>
            <a:r>
              <a:rPr lang="en-US" sz="1600" b="1">
                <a:solidFill>
                  <a:srgbClr val="34509A"/>
                </a:solidFill>
                <a:latin typeface="Calibri" panose="020F0502020204030204" pitchFamily="34" charset="0"/>
              </a:rPr>
              <a:t>Scope</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Percentage of work completed</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Change requests</a:t>
            </a:r>
          </a:p>
        </p:txBody>
      </p:sp>
      <p:sp>
        <p:nvSpPr>
          <p:cNvPr id="7" name="Rectangle: Rounded Corners 6">
            <a:extLst>
              <a:ext uri="{FF2B5EF4-FFF2-40B4-BE49-F238E27FC236}">
                <a16:creationId xmlns:a16="http://schemas.microsoft.com/office/drawing/2014/main" id="{D0D406A1-A109-AC04-6A15-299902129A80}"/>
              </a:ext>
            </a:extLst>
          </p:cNvPr>
          <p:cNvSpPr/>
          <p:nvPr/>
        </p:nvSpPr>
        <p:spPr>
          <a:xfrm>
            <a:off x="4318000" y="1676400"/>
            <a:ext cx="3556000" cy="1778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30F136A-64B6-BBF3-AE32-1616611A47D7}"/>
              </a:ext>
            </a:extLst>
          </p:cNvPr>
          <p:cNvSpPr txBox="1"/>
          <p:nvPr/>
        </p:nvSpPr>
        <p:spPr>
          <a:xfrm>
            <a:off x="4495800" y="1854200"/>
            <a:ext cx="3200400" cy="1422400"/>
          </a:xfrm>
          <a:prstGeom prst="rect">
            <a:avLst/>
          </a:prstGeom>
          <a:noFill/>
        </p:spPr>
        <p:txBody>
          <a:bodyPr vert="horz" wrap="square" lIns="0" tIns="0" rIns="0" bIns="0" rtlCol="0" anchor="t">
            <a:noAutofit/>
          </a:bodyPr>
          <a:lstStyle/>
          <a:p>
            <a:pPr>
              <a:spcAft>
                <a:spcPts val="600"/>
              </a:spcAft>
            </a:pPr>
            <a:r>
              <a:rPr lang="en-US" sz="1600" b="1">
                <a:solidFill>
                  <a:srgbClr val="34509A"/>
                </a:solidFill>
                <a:latin typeface="Calibri" panose="020F0502020204030204" pitchFamily="34" charset="0"/>
              </a:rPr>
              <a:t>Schedule</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Actual dates vs. planned start and finish</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SV and SPI</a:t>
            </a:r>
          </a:p>
        </p:txBody>
      </p:sp>
      <p:sp>
        <p:nvSpPr>
          <p:cNvPr id="9" name="Rectangle: Rounded Corners 8">
            <a:extLst>
              <a:ext uri="{FF2B5EF4-FFF2-40B4-BE49-F238E27FC236}">
                <a16:creationId xmlns:a16="http://schemas.microsoft.com/office/drawing/2014/main" id="{ECDF36AC-3271-069C-CCCC-C16CB21A16E9}"/>
              </a:ext>
            </a:extLst>
          </p:cNvPr>
          <p:cNvSpPr/>
          <p:nvPr/>
        </p:nvSpPr>
        <p:spPr>
          <a:xfrm>
            <a:off x="8128000" y="1676400"/>
            <a:ext cx="3556000" cy="1778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5998F44-6DFB-CE8E-1EE1-3E03CD31FE46}"/>
              </a:ext>
            </a:extLst>
          </p:cNvPr>
          <p:cNvSpPr txBox="1"/>
          <p:nvPr/>
        </p:nvSpPr>
        <p:spPr>
          <a:xfrm>
            <a:off x="8305800" y="1854200"/>
            <a:ext cx="3200400" cy="1422400"/>
          </a:xfrm>
          <a:prstGeom prst="rect">
            <a:avLst/>
          </a:prstGeom>
          <a:noFill/>
        </p:spPr>
        <p:txBody>
          <a:bodyPr vert="horz" wrap="square" lIns="0" tIns="0" rIns="0" bIns="0" rtlCol="0" anchor="t">
            <a:noAutofit/>
          </a:bodyPr>
          <a:lstStyle/>
          <a:p>
            <a:pPr>
              <a:spcAft>
                <a:spcPts val="600"/>
              </a:spcAft>
            </a:pPr>
            <a:r>
              <a:rPr lang="en-US" sz="1600" b="1">
                <a:solidFill>
                  <a:srgbClr val="34509A"/>
                </a:solidFill>
                <a:latin typeface="Calibri" panose="020F0502020204030204" pitchFamily="34" charset="0"/>
              </a:rPr>
              <a:t>Budget</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Actual costs; CV and CPI</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Are procurements sufficient for needs?</a:t>
            </a:r>
          </a:p>
        </p:txBody>
      </p:sp>
      <p:sp>
        <p:nvSpPr>
          <p:cNvPr id="11" name="Rectangle: Rounded Corners 10">
            <a:extLst>
              <a:ext uri="{FF2B5EF4-FFF2-40B4-BE49-F238E27FC236}">
                <a16:creationId xmlns:a16="http://schemas.microsoft.com/office/drawing/2014/main" id="{B685253B-7890-9649-C4A7-C3E6A1D4ADE0}"/>
              </a:ext>
            </a:extLst>
          </p:cNvPr>
          <p:cNvSpPr/>
          <p:nvPr/>
        </p:nvSpPr>
        <p:spPr>
          <a:xfrm>
            <a:off x="508000" y="3556000"/>
            <a:ext cx="3556000" cy="1778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ADD0FA3-CC1B-5AA7-1A8A-2E76CE5B4968}"/>
              </a:ext>
            </a:extLst>
          </p:cNvPr>
          <p:cNvSpPr txBox="1"/>
          <p:nvPr/>
        </p:nvSpPr>
        <p:spPr>
          <a:xfrm>
            <a:off x="685800" y="3733800"/>
            <a:ext cx="3200400" cy="1422400"/>
          </a:xfrm>
          <a:prstGeom prst="rect">
            <a:avLst/>
          </a:prstGeom>
          <a:noFill/>
        </p:spPr>
        <p:txBody>
          <a:bodyPr vert="horz" wrap="square" lIns="0" tIns="0" rIns="0" bIns="0" rtlCol="0" anchor="t">
            <a:noAutofit/>
          </a:bodyPr>
          <a:lstStyle/>
          <a:p>
            <a:pPr>
              <a:spcAft>
                <a:spcPts val="600"/>
              </a:spcAft>
            </a:pPr>
            <a:r>
              <a:rPr lang="en-US" sz="1600" b="1">
                <a:solidFill>
                  <a:srgbClr val="34509A"/>
                </a:solidFill>
                <a:latin typeface="Calibri" panose="020F0502020204030204" pitchFamily="34" charset="0"/>
              </a:rPr>
              <a:t>Resources</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Allocation, availability, procurement</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Performance appraisals, including vendors</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Contract management</a:t>
            </a:r>
          </a:p>
        </p:txBody>
      </p:sp>
      <p:sp>
        <p:nvSpPr>
          <p:cNvPr id="13" name="Rectangle: Rounded Corners 12">
            <a:extLst>
              <a:ext uri="{FF2B5EF4-FFF2-40B4-BE49-F238E27FC236}">
                <a16:creationId xmlns:a16="http://schemas.microsoft.com/office/drawing/2014/main" id="{E7533D65-1D87-244E-49BC-0FBA47CB7745}"/>
              </a:ext>
            </a:extLst>
          </p:cNvPr>
          <p:cNvSpPr/>
          <p:nvPr/>
        </p:nvSpPr>
        <p:spPr>
          <a:xfrm>
            <a:off x="4318000" y="3556000"/>
            <a:ext cx="3556000" cy="1778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09C0885-CAEE-CD06-AAB8-C368AA73E040}"/>
              </a:ext>
            </a:extLst>
          </p:cNvPr>
          <p:cNvSpPr txBox="1"/>
          <p:nvPr/>
        </p:nvSpPr>
        <p:spPr>
          <a:xfrm>
            <a:off x="4495800" y="3733800"/>
            <a:ext cx="3200400" cy="1422400"/>
          </a:xfrm>
          <a:prstGeom prst="rect">
            <a:avLst/>
          </a:prstGeom>
          <a:noFill/>
        </p:spPr>
        <p:txBody>
          <a:bodyPr vert="horz" wrap="square" lIns="0" tIns="0" rIns="0" bIns="0" rtlCol="0" anchor="t">
            <a:noAutofit/>
          </a:bodyPr>
          <a:lstStyle/>
          <a:p>
            <a:pPr>
              <a:spcAft>
                <a:spcPts val="600"/>
              </a:spcAft>
            </a:pPr>
            <a:r>
              <a:rPr lang="en-US" sz="1600" b="1">
                <a:solidFill>
                  <a:srgbClr val="34509A"/>
                </a:solidFill>
                <a:latin typeface="Calibri" panose="020F0502020204030204" pitchFamily="34" charset="0"/>
              </a:rPr>
              <a:t>Quality</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Technical performance</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Defects</a:t>
            </a:r>
          </a:p>
        </p:txBody>
      </p:sp>
      <p:sp>
        <p:nvSpPr>
          <p:cNvPr id="15" name="Rectangle: Rounded Corners 14">
            <a:extLst>
              <a:ext uri="{FF2B5EF4-FFF2-40B4-BE49-F238E27FC236}">
                <a16:creationId xmlns:a16="http://schemas.microsoft.com/office/drawing/2014/main" id="{9B38DFA5-718D-5097-E3DB-2EAF4DF88A8A}"/>
              </a:ext>
            </a:extLst>
          </p:cNvPr>
          <p:cNvSpPr/>
          <p:nvPr/>
        </p:nvSpPr>
        <p:spPr>
          <a:xfrm>
            <a:off x="8128000" y="3556000"/>
            <a:ext cx="3556000" cy="1778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FC457B2-03AB-02E8-DEF8-01F0DBBADB51}"/>
              </a:ext>
            </a:extLst>
          </p:cNvPr>
          <p:cNvSpPr txBox="1"/>
          <p:nvPr/>
        </p:nvSpPr>
        <p:spPr>
          <a:xfrm>
            <a:off x="8305800" y="3733800"/>
            <a:ext cx="3200400" cy="1422400"/>
          </a:xfrm>
          <a:prstGeom prst="rect">
            <a:avLst/>
          </a:prstGeom>
          <a:noFill/>
        </p:spPr>
        <p:txBody>
          <a:bodyPr vert="horz" wrap="square" lIns="0" tIns="0" rIns="0" bIns="0" rtlCol="0" anchor="t">
            <a:noAutofit/>
          </a:bodyPr>
          <a:lstStyle/>
          <a:p>
            <a:pPr>
              <a:spcAft>
                <a:spcPts val="600"/>
              </a:spcAft>
            </a:pPr>
            <a:r>
              <a:rPr lang="en-US" sz="1600" b="1">
                <a:solidFill>
                  <a:srgbClr val="34509A"/>
                </a:solidFill>
                <a:latin typeface="Calibri" panose="020F0502020204030204" pitchFamily="34" charset="0"/>
              </a:rPr>
              <a:t>Risk</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Risk register: new, triggered, and closed risks</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Risk report</a:t>
            </a:r>
          </a:p>
        </p:txBody>
      </p:sp>
      <p:sp>
        <p:nvSpPr>
          <p:cNvPr id="17" name="Rectangle: Rounded Corners 16">
            <a:extLst>
              <a:ext uri="{FF2B5EF4-FFF2-40B4-BE49-F238E27FC236}">
                <a16:creationId xmlns:a16="http://schemas.microsoft.com/office/drawing/2014/main" id="{D6D4ED21-A290-AD20-6F3A-D3E035B8082B}"/>
              </a:ext>
            </a:extLst>
          </p:cNvPr>
          <p:cNvSpPr/>
          <p:nvPr/>
        </p:nvSpPr>
        <p:spPr>
          <a:xfrm>
            <a:off x="508000" y="5486400"/>
            <a:ext cx="11176000" cy="838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7638C035-80EB-BF4A-4E8E-C400F1409327}"/>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measure what supports decisions. Compare actual results with the plan, analyze the variance, and act on it.</a:t>
            </a:r>
          </a:p>
        </p:txBody>
      </p:sp>
      <p:sp>
        <p:nvSpPr>
          <p:cNvPr id="19" name="Footer">
            <a:extLst>
              <a:ext uri="{FF2B5EF4-FFF2-40B4-BE49-F238E27FC236}">
                <a16:creationId xmlns:a16="http://schemas.microsoft.com/office/drawing/2014/main" id="{0B464A35-364C-2C2F-6CA4-B24B5EB6DD28}"/>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Seventh Edition, Measurement Performance Domain; PMBOK® Guide — Sixth Edition, 4.5 (Monitor and Control Project Work); adapted from PMI course material</a:t>
            </a:r>
          </a:p>
        </p:txBody>
      </p:sp>
      <p:sp>
        <p:nvSpPr>
          <p:cNvPr id="20" name="SlideNum">
            <a:extLst>
              <a:ext uri="{FF2B5EF4-FFF2-40B4-BE49-F238E27FC236}">
                <a16:creationId xmlns:a16="http://schemas.microsoft.com/office/drawing/2014/main" id="{8B2708BE-5E9B-CB9B-516D-761084B1738A}"/>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52</a:t>
            </a:r>
          </a:p>
        </p:txBody>
      </p:sp>
      <p:sp>
        <p:nvSpPr>
          <p:cNvPr id="21"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6712246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142D10A-BF9A-C401-5289-BC4030DEE875}"/>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Making measures useful</a:t>
            </a:r>
          </a:p>
        </p:txBody>
      </p:sp>
      <p:sp>
        <p:nvSpPr>
          <p:cNvPr id="3" name="Tag">
            <a:extLst>
              <a:ext uri="{FF2B5EF4-FFF2-40B4-BE49-F238E27FC236}">
                <a16:creationId xmlns:a16="http://schemas.microsoft.com/office/drawing/2014/main" id="{21EEE774-B38D-8D22-D19D-65C88A81D675}"/>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9 (Develop project metrics, analysis, and reconciliation)</a:t>
            </a:r>
          </a:p>
        </p:txBody>
      </p:sp>
      <p:sp>
        <p:nvSpPr>
          <p:cNvPr id="6" name="Rectangle: Rounded Corners 5">
            <a:extLst>
              <a:ext uri="{FF2B5EF4-FFF2-40B4-BE49-F238E27FC236}">
                <a16:creationId xmlns:a16="http://schemas.microsoft.com/office/drawing/2014/main" id="{599F874D-0188-5893-48E0-E4ED450551A1}"/>
              </a:ext>
            </a:extLst>
          </p:cNvPr>
          <p:cNvSpPr/>
          <p:nvPr/>
        </p:nvSpPr>
        <p:spPr>
          <a:xfrm>
            <a:off x="4318000" y="1320800"/>
            <a:ext cx="3556000" cy="1905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D3DA1FD-066B-7710-EA74-4182E61A41CB}"/>
              </a:ext>
            </a:extLst>
          </p:cNvPr>
          <p:cNvSpPr txBox="1"/>
          <p:nvPr/>
        </p:nvSpPr>
        <p:spPr>
          <a:xfrm>
            <a:off x="4470400" y="1473200"/>
            <a:ext cx="3251200" cy="16002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Leading vs. lagging</a:t>
            </a:r>
          </a:p>
          <a:p>
            <a:r>
              <a:rPr lang="en-US" sz="1200">
                <a:solidFill>
                  <a:srgbClr val="1F2937"/>
                </a:solidFill>
                <a:latin typeface="Calibri" panose="020F0502020204030204" pitchFamily="34" charset="0"/>
              </a:rPr>
              <a:t>Leading indicators predict, so you can act early: unresolved risks, open defects, work in progress. Lagging indicators confirm results: deliverables done, CV, SPI.</a:t>
            </a:r>
          </a:p>
        </p:txBody>
      </p:sp>
      <p:sp>
        <p:nvSpPr>
          <p:cNvPr id="8" name="Rectangle: Rounded Corners 7">
            <a:extLst>
              <a:ext uri="{FF2B5EF4-FFF2-40B4-BE49-F238E27FC236}">
                <a16:creationId xmlns:a16="http://schemas.microsoft.com/office/drawing/2014/main" id="{DC9ED68D-48E0-FD20-AD6C-59C94EA5FC85}"/>
              </a:ext>
            </a:extLst>
          </p:cNvPr>
          <p:cNvSpPr/>
          <p:nvPr/>
        </p:nvSpPr>
        <p:spPr>
          <a:xfrm>
            <a:off x="8128000" y="1320800"/>
            <a:ext cx="3556000" cy="1905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8AA64DB-A191-C3AE-6B56-49A721BBD682}"/>
              </a:ext>
            </a:extLst>
          </p:cNvPr>
          <p:cNvSpPr txBox="1"/>
          <p:nvPr/>
        </p:nvSpPr>
        <p:spPr>
          <a:xfrm>
            <a:off x="8280400" y="1473200"/>
            <a:ext cx="3251200" cy="16002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Thresholds and RAG</a:t>
            </a:r>
          </a:p>
          <a:p>
            <a:r>
              <a:rPr lang="en-US" sz="1200">
                <a:solidFill>
                  <a:srgbClr val="1F2937"/>
                </a:solidFill>
                <a:latin typeface="Calibri" panose="020F0502020204030204" pitchFamily="34" charset="0"/>
              </a:rPr>
              <a:t>Set tolerances up front (for example, CPI below 0.90 is red) so a variance triggers an agreed action, not a debate.</a:t>
            </a:r>
          </a:p>
        </p:txBody>
      </p:sp>
      <p:sp>
        <p:nvSpPr>
          <p:cNvPr id="10" name="Rectangle: Rounded Corners 9">
            <a:extLst>
              <a:ext uri="{FF2B5EF4-FFF2-40B4-BE49-F238E27FC236}">
                <a16:creationId xmlns:a16="http://schemas.microsoft.com/office/drawing/2014/main" id="{98F15EF2-F4B6-9410-B61C-5C639E28A01C}"/>
              </a:ext>
            </a:extLst>
          </p:cNvPr>
          <p:cNvSpPr/>
          <p:nvPr/>
        </p:nvSpPr>
        <p:spPr>
          <a:xfrm>
            <a:off x="508000" y="3378200"/>
            <a:ext cx="5461000" cy="1981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0588599-D6F7-28F0-C5AA-54F47B656FF5}"/>
              </a:ext>
            </a:extLst>
          </p:cNvPr>
          <p:cNvSpPr txBox="1"/>
          <p:nvPr/>
        </p:nvSpPr>
        <p:spPr>
          <a:xfrm>
            <a:off x="660400" y="3530600"/>
            <a:ext cx="5156200" cy="1676400"/>
          </a:xfrm>
          <a:prstGeom prst="rect">
            <a:avLst/>
          </a:prstGeom>
          <a:noFill/>
        </p:spPr>
        <p:txBody>
          <a:bodyPr vert="horz" wrap="square" lIns="0" tIns="0" rIns="0" bIns="0" rtlCol="0" anchor="t">
            <a:noAutofit/>
          </a:bodyPr>
          <a:lstStyle/>
          <a:p>
            <a:pPr>
              <a:spcAft>
                <a:spcPts val="600"/>
              </a:spcAft>
            </a:pPr>
            <a:r>
              <a:rPr lang="en-US" sz="1500" b="1">
                <a:solidFill>
                  <a:srgbClr val="A84A2E"/>
                </a:solidFill>
                <a:latin typeface="Calibri" panose="020F0502020204030204" pitchFamily="34" charset="0"/>
              </a:rPr>
              <a:t>Measurement pitfalls</a:t>
            </a:r>
          </a:p>
          <a:p>
            <a:pPr marL="203200" indent="-203200">
              <a:spcAft>
                <a:spcPts val="400"/>
              </a:spcAft>
              <a:buClr>
                <a:srgbClr val="A84A2E"/>
              </a:buClr>
              <a:buFont typeface="+mj-lt"/>
              <a:buChar char="•"/>
            </a:pPr>
            <a:r>
              <a:rPr lang="en-US" sz="1200">
                <a:solidFill>
                  <a:srgbClr val="1F2937"/>
                </a:solidFill>
                <a:latin typeface="Calibri" panose="020F0502020204030204" pitchFamily="34" charset="0"/>
              </a:rPr>
              <a:t>Hawthorne effect: measuring something changes behavior</a:t>
            </a:r>
          </a:p>
          <a:p>
            <a:pPr marL="203200" indent="-203200">
              <a:spcAft>
                <a:spcPts val="400"/>
              </a:spcAft>
              <a:buClr>
                <a:srgbClr val="A84A2E"/>
              </a:buClr>
              <a:buFont typeface="+mj-lt"/>
              <a:buChar char="•"/>
            </a:pPr>
            <a:r>
              <a:rPr lang="en-US" sz="1200">
                <a:solidFill>
                  <a:srgbClr val="1F2937"/>
                </a:solidFill>
                <a:latin typeface="Calibri" panose="020F0502020204030204" pitchFamily="34" charset="0"/>
              </a:rPr>
              <a:t>Vanity metrics: look good but drive no decision</a:t>
            </a:r>
          </a:p>
          <a:p>
            <a:pPr marL="203200" indent="-203200">
              <a:spcAft>
                <a:spcPts val="400"/>
              </a:spcAft>
              <a:buClr>
                <a:srgbClr val="A84A2E"/>
              </a:buClr>
              <a:buFont typeface="+mj-lt"/>
              <a:buChar char="•"/>
            </a:pPr>
            <a:r>
              <a:rPr lang="en-US" sz="1200">
                <a:solidFill>
                  <a:srgbClr val="1F2937"/>
                </a:solidFill>
                <a:latin typeface="Calibri" panose="020F0502020204030204" pitchFamily="34" charset="0"/>
              </a:rPr>
              <a:t>Demoralization: unreachable targets</a:t>
            </a:r>
          </a:p>
          <a:p>
            <a:pPr marL="203200" indent="-203200">
              <a:spcAft>
                <a:spcPts val="400"/>
              </a:spcAft>
              <a:buClr>
                <a:srgbClr val="A84A2E"/>
              </a:buClr>
              <a:buFont typeface="+mj-lt"/>
              <a:buChar char="•"/>
            </a:pPr>
            <a:r>
              <a:rPr lang="en-US" sz="1200">
                <a:solidFill>
                  <a:srgbClr val="1F2937"/>
                </a:solidFill>
                <a:latin typeface="Calibri" panose="020F0502020204030204" pitchFamily="34" charset="0"/>
              </a:rPr>
              <a:t>Misuse: gaming or overemphasizing one metric</a:t>
            </a:r>
          </a:p>
          <a:p>
            <a:pPr marL="203200" indent="-203200">
              <a:spcAft>
                <a:spcPts val="400"/>
              </a:spcAft>
              <a:buClr>
                <a:srgbClr val="A84A2E"/>
              </a:buClr>
              <a:buFont typeface="+mj-lt"/>
              <a:buChar char="•"/>
            </a:pPr>
            <a:r>
              <a:rPr lang="en-US" sz="1200">
                <a:solidFill>
                  <a:srgbClr val="1F2937"/>
                </a:solidFill>
                <a:latin typeface="Calibri" panose="020F0502020204030204" pitchFamily="34" charset="0"/>
              </a:rPr>
              <a:t>Confirmation bias; mistaking correlation for causation</a:t>
            </a:r>
          </a:p>
        </p:txBody>
      </p:sp>
      <p:sp>
        <p:nvSpPr>
          <p:cNvPr id="12" name="Rectangle: Rounded Corners 11">
            <a:extLst>
              <a:ext uri="{FF2B5EF4-FFF2-40B4-BE49-F238E27FC236}">
                <a16:creationId xmlns:a16="http://schemas.microsoft.com/office/drawing/2014/main" id="{016D9EE2-1413-40E1-35BF-3B852F701A8C}"/>
              </a:ext>
            </a:extLst>
          </p:cNvPr>
          <p:cNvSpPr/>
          <p:nvPr/>
        </p:nvSpPr>
        <p:spPr>
          <a:xfrm>
            <a:off x="6223000" y="3378200"/>
            <a:ext cx="5461000" cy="19812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6049A62-68C9-25A1-8BD6-8E5E26747FF8}"/>
              </a:ext>
            </a:extLst>
          </p:cNvPr>
          <p:cNvSpPr txBox="1"/>
          <p:nvPr/>
        </p:nvSpPr>
        <p:spPr>
          <a:xfrm>
            <a:off x="6375400" y="3530600"/>
            <a:ext cx="5156200" cy="1676400"/>
          </a:xfrm>
          <a:prstGeom prst="rect">
            <a:avLst/>
          </a:prstGeom>
          <a:noFill/>
        </p:spPr>
        <p:txBody>
          <a:bodyPr vert="horz" wrap="square" lIns="0" tIns="0" rIns="0" bIns="0" rtlCol="0" anchor="t">
            <a:noAutofit/>
          </a:bodyPr>
          <a:lstStyle/>
          <a:p>
            <a:pPr>
              <a:spcAft>
                <a:spcPts val="600"/>
              </a:spcAft>
            </a:pPr>
            <a:r>
              <a:rPr lang="en-US" sz="1500" b="1">
                <a:solidFill>
                  <a:srgbClr val="A86F0E"/>
                </a:solidFill>
                <a:latin typeface="Calibri" panose="020F0502020204030204" pitchFamily="34" charset="0"/>
              </a:rPr>
              <a:t>Information radiators</a:t>
            </a:r>
          </a:p>
          <a:p>
            <a:r>
              <a:rPr lang="en-US" sz="1200">
                <a:solidFill>
                  <a:srgbClr val="1F2937"/>
                </a:solidFill>
                <a:latin typeface="Calibri" panose="020F0502020204030204" pitchFamily="34" charset="0"/>
              </a:rPr>
              <a:t>Big visible charts (task boards, burndowns, dashboards) posted where everyone can see them. They make status transparent without a report, and are the agile counterpart of the status report.</a:t>
            </a:r>
          </a:p>
        </p:txBody>
      </p:sp>
      <p:sp>
        <p:nvSpPr>
          <p:cNvPr id="14" name="Rectangle: Rounded Corners 13">
            <a:extLst>
              <a:ext uri="{FF2B5EF4-FFF2-40B4-BE49-F238E27FC236}">
                <a16:creationId xmlns:a16="http://schemas.microsoft.com/office/drawing/2014/main" id="{285D418C-320A-88A8-2AB8-6690FA14CB7A}"/>
              </a:ext>
            </a:extLst>
          </p:cNvPr>
          <p:cNvSpPr/>
          <p:nvPr/>
        </p:nvSpPr>
        <p:spPr>
          <a:xfrm>
            <a:off x="508000" y="5486400"/>
            <a:ext cx="11176000" cy="838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3745C18-7390-A113-F7F1-E683D8F7A772}"/>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a good metric drives a decision. If a team is gaming a metric, change the measure and the conversation, not the people.</a:t>
            </a:r>
          </a:p>
        </p:txBody>
      </p:sp>
      <p:sp>
        <p:nvSpPr>
          <p:cNvPr id="16" name="Footer">
            <a:extLst>
              <a:ext uri="{FF2B5EF4-FFF2-40B4-BE49-F238E27FC236}">
                <a16:creationId xmlns:a16="http://schemas.microsoft.com/office/drawing/2014/main" id="{402F0963-D1FF-65F3-95A7-78F0B8CF08EB}"/>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Seventh Edition, Measurement Performance Domain; PMI and Agile Alliance, Agile Practice Guide (2017)</a:t>
            </a:r>
          </a:p>
        </p:txBody>
      </p:sp>
      <p:sp>
        <p:nvSpPr>
          <p:cNvPr id="17" name="SlideNum">
            <a:extLst>
              <a:ext uri="{FF2B5EF4-FFF2-40B4-BE49-F238E27FC236}">
                <a16:creationId xmlns:a16="http://schemas.microsoft.com/office/drawing/2014/main" id="{367B62A0-28BB-F47A-950E-45494FFFF577}"/>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53</a:t>
            </a:r>
          </a:p>
        </p:txBody>
      </p:sp>
      <p:sp>
        <p:nvSpPr>
          <p:cNvPr id="18" name="Rectangle: Rounded Corners 17">
            <a:extLst>
              <a:ext uri="{FF2B5EF4-FFF2-40B4-BE49-F238E27FC236}">
                <a16:creationId xmlns:a16="http://schemas.microsoft.com/office/drawing/2014/main" id="{8B90618F-3888-9C53-2622-BDC1E622A06B}"/>
              </a:ext>
            </a:extLst>
          </p:cNvPr>
          <p:cNvSpPr/>
          <p:nvPr/>
        </p:nvSpPr>
        <p:spPr>
          <a:xfrm>
            <a:off x="508000" y="1320800"/>
            <a:ext cx="3556000" cy="1905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4F84A143-AAD2-DE95-C3B0-5B19EC99D6C4}"/>
              </a:ext>
            </a:extLst>
          </p:cNvPr>
          <p:cNvSpPr txBox="1"/>
          <p:nvPr/>
        </p:nvSpPr>
        <p:spPr>
          <a:xfrm>
            <a:off x="660400" y="1473200"/>
            <a:ext cx="3251200" cy="16002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SMART measures</a:t>
            </a:r>
          </a:p>
          <a:p>
            <a:pPr marL="152400" indent="-152400">
              <a:spcAft>
                <a:spcPts val="400"/>
              </a:spcAft>
              <a:buClr>
                <a:srgbClr val="34509A"/>
              </a:buClr>
              <a:buFont typeface="+mj-lt"/>
              <a:buChar char="•"/>
            </a:pPr>
            <a:r>
              <a:rPr lang="en-US" sz="1200">
                <a:solidFill>
                  <a:srgbClr val="1F2937"/>
                </a:solidFill>
                <a:latin typeface="Calibri" panose="020F0502020204030204" pitchFamily="34" charset="0"/>
              </a:rPr>
              <a:t>Specific: exactly what is measured</a:t>
            </a:r>
          </a:p>
          <a:p>
            <a:pPr marL="152400" indent="-152400">
              <a:spcAft>
                <a:spcPts val="400"/>
              </a:spcAft>
              <a:buClr>
                <a:srgbClr val="34509A"/>
              </a:buClr>
              <a:buFont typeface="+mj-lt"/>
              <a:buChar char="•"/>
            </a:pPr>
            <a:r>
              <a:rPr lang="en-US" sz="1200">
                <a:solidFill>
                  <a:srgbClr val="1F2937"/>
                </a:solidFill>
                <a:latin typeface="Calibri" panose="020F0502020204030204" pitchFamily="34" charset="0"/>
              </a:rPr>
              <a:t>Meaningful: tied to objectives</a:t>
            </a:r>
          </a:p>
          <a:p>
            <a:pPr marL="152400" indent="-152400">
              <a:spcAft>
                <a:spcPts val="400"/>
              </a:spcAft>
              <a:buClr>
                <a:srgbClr val="34509A"/>
              </a:buClr>
              <a:buFont typeface="+mj-lt"/>
              <a:buChar char="•"/>
            </a:pPr>
            <a:r>
              <a:rPr lang="en-US" sz="1200">
                <a:solidFill>
                  <a:srgbClr val="1F2937"/>
                </a:solidFill>
                <a:latin typeface="Calibri" panose="020F0502020204030204" pitchFamily="34" charset="0"/>
              </a:rPr>
              <a:t>Achievable: a realistic target</a:t>
            </a:r>
          </a:p>
          <a:p>
            <a:pPr marL="152400" indent="-152400">
              <a:spcAft>
                <a:spcPts val="400"/>
              </a:spcAft>
              <a:buClr>
                <a:srgbClr val="34509A"/>
              </a:buClr>
              <a:buFont typeface="+mj-lt"/>
              <a:buChar char="•"/>
            </a:pPr>
            <a:r>
              <a:rPr lang="en-US" sz="1200">
                <a:solidFill>
                  <a:srgbClr val="1F2937"/>
                </a:solidFill>
                <a:latin typeface="Calibri" panose="020F0502020204030204" pitchFamily="34" charset="0"/>
              </a:rPr>
              <a:t>Relevant: informs a decision</a:t>
            </a:r>
          </a:p>
          <a:p>
            <a:pPr marL="152400" indent="-152400">
              <a:spcAft>
                <a:spcPts val="400"/>
              </a:spcAft>
              <a:buClr>
                <a:srgbClr val="34509A"/>
              </a:buClr>
              <a:buFont typeface="+mj-lt"/>
              <a:buChar char="•"/>
            </a:pPr>
            <a:r>
              <a:rPr lang="en-US" sz="1200">
                <a:solidFill>
                  <a:srgbClr val="1F2937"/>
                </a:solidFill>
                <a:latin typeface="Calibri" panose="020F0502020204030204" pitchFamily="34" charset="0"/>
              </a:rPr>
              <a:t>Timely: available when needed</a:t>
            </a:r>
          </a:p>
        </p:txBody>
      </p:sp>
      <p:sp>
        <p:nvSpPr>
          <p:cNvPr id="20"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4398481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E256519-7BBB-6DEB-D61A-F375FD3FE8F6}"/>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Reporting on performance</a:t>
            </a:r>
          </a:p>
        </p:txBody>
      </p:sp>
      <p:sp>
        <p:nvSpPr>
          <p:cNvPr id="3" name="Tag">
            <a:extLst>
              <a:ext uri="{FF2B5EF4-FFF2-40B4-BE49-F238E27FC236}">
                <a16:creationId xmlns:a16="http://schemas.microsoft.com/office/drawing/2014/main" id="{2B5BFEBF-5B61-FE75-47BF-A640FF33DC6B}"/>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9 (Evaluate project status: communicate project status)</a:t>
            </a:r>
          </a:p>
        </p:txBody>
      </p:sp>
      <p:graphicFrame>
        <p:nvGraphicFramePr>
          <p:cNvPr id="4" name="Table">
            <a:extLst>
              <a:ext uri="{FF2B5EF4-FFF2-40B4-BE49-F238E27FC236}">
                <a16:creationId xmlns:a16="http://schemas.microsoft.com/office/drawing/2014/main" id="{2599AA3C-0193-BFE5-C23F-3321DFD34F0D}"/>
              </a:ext>
            </a:extLst>
          </p:cNvPr>
          <p:cNvGraphicFramePr>
            <a:graphicFrameLocks noGrp="1"/>
          </p:cNvGraphicFramePr>
          <p:nvPr>
            <p:extLst>
              <p:ext uri="{D42A27DB-BD31-4B8C-83A1-F6EECF244321}">
                <p14:modId xmlns:p14="http://schemas.microsoft.com/office/powerpoint/2010/main" val="2956856019"/>
              </p:ext>
            </p:extLst>
          </p:nvPr>
        </p:nvGraphicFramePr>
        <p:xfrm>
          <a:off x="508000" y="1320800"/>
          <a:ext cx="11176000" cy="3556000"/>
        </p:xfrm>
        <a:graphic>
          <a:graphicData uri="http://schemas.openxmlformats.org/drawingml/2006/table">
            <a:tbl>
              <a:tblPr firstRow="1" bandRow="1">
                <a:tableStyleId>{2D5ABB26-0587-4C30-8999-92F81FD0307C}</a:tableStyleId>
              </a:tblPr>
              <a:tblGrid>
                <a:gridCol w="3175000">
                  <a:extLst>
                    <a:ext uri="{9D8B030D-6E8A-4147-A177-3AD203B41FA5}">
                      <a16:colId xmlns:a16="http://schemas.microsoft.com/office/drawing/2014/main" val="1210776975"/>
                    </a:ext>
                  </a:extLst>
                </a:gridCol>
                <a:gridCol w="8001000">
                  <a:extLst>
                    <a:ext uri="{9D8B030D-6E8A-4147-A177-3AD203B41FA5}">
                      <a16:colId xmlns:a16="http://schemas.microsoft.com/office/drawing/2014/main" val="382316089"/>
                    </a:ext>
                  </a:extLst>
                </a:gridCol>
              </a:tblGrid>
              <a:tr h="508000">
                <a:tc>
                  <a:txBody>
                    <a:bodyPr/>
                    <a:lstStyle/>
                    <a:p>
                      <a:r>
                        <a:rPr lang="en-US" sz="1300" b="1">
                          <a:solidFill>
                            <a:srgbClr val="FFFFFF"/>
                          </a:solidFill>
                          <a:latin typeface="Calibri" panose="020F0502020204030204" pitchFamily="34" charset="0"/>
                        </a:rPr>
                        <a:t>Report or tool</a:t>
                      </a:r>
                    </a:p>
                  </a:txBody>
                  <a:tcPr marL="127000" marR="101600" marT="63500" marB="63500" anchor="ctr">
                    <a:solidFill>
                      <a:srgbClr val="14213D"/>
                    </a:solidFill>
                  </a:tcPr>
                </a:tc>
                <a:tc>
                  <a:txBody>
                    <a:bodyPr/>
                    <a:lstStyle/>
                    <a:p>
                      <a:r>
                        <a:rPr lang="en-US" sz="1300" b="1">
                          <a:solidFill>
                            <a:srgbClr val="FFFFFF"/>
                          </a:solidFill>
                          <a:latin typeface="Calibri" panose="020F0502020204030204" pitchFamily="34" charset="0"/>
                        </a:rPr>
                        <a:t>What it shows</a:t>
                      </a:r>
                    </a:p>
                  </a:txBody>
                  <a:tcPr marL="127000" marR="101600" marT="63500" marB="63500" anchor="ctr">
                    <a:solidFill>
                      <a:srgbClr val="14213D"/>
                    </a:solidFill>
                  </a:tcPr>
                </a:tc>
                <a:extLst>
                  <a:ext uri="{0D108BD9-81ED-4DB2-BD59-A6C34878D82A}">
                    <a16:rowId xmlns:a16="http://schemas.microsoft.com/office/drawing/2014/main" val="3232436384"/>
                  </a:ext>
                </a:extLst>
              </a:tr>
              <a:tr h="508000">
                <a:tc>
                  <a:txBody>
                    <a:bodyPr/>
                    <a:lstStyle/>
                    <a:p>
                      <a:r>
                        <a:rPr lang="en-US" sz="1300" b="1">
                          <a:solidFill>
                            <a:srgbClr val="14213D"/>
                          </a:solidFill>
                          <a:latin typeface="Calibri" panose="020F0502020204030204" pitchFamily="34" charset="0"/>
                        </a:rPr>
                        <a:t>Milestone schedule</a:t>
                      </a:r>
                    </a:p>
                  </a:txBody>
                  <a:tcPr marL="127000" marR="101600" marT="63500" marB="63500" anchor="ctr">
                    <a:solidFill>
                      <a:srgbClr val="FFFFFF"/>
                    </a:solidFill>
                  </a:tcPr>
                </a:tc>
                <a:tc>
                  <a:txBody>
                    <a:bodyPr/>
                    <a:lstStyle/>
                    <a:p>
                      <a:r>
                        <a:rPr lang="en-US" sz="1300">
                          <a:solidFill>
                            <a:srgbClr val="1F2937"/>
                          </a:solidFill>
                          <a:latin typeface="Calibri" panose="020F0502020204030204" pitchFamily="34" charset="0"/>
                        </a:rPr>
                        <a:t>High-level view of progress against planned dates</a:t>
                      </a:r>
                    </a:p>
                  </a:txBody>
                  <a:tcPr marL="127000" marR="101600" marT="63500" marB="63500" anchor="ctr">
                    <a:solidFill>
                      <a:srgbClr val="FFFFFF"/>
                    </a:solidFill>
                  </a:tcPr>
                </a:tc>
                <a:extLst>
                  <a:ext uri="{0D108BD9-81ED-4DB2-BD59-A6C34878D82A}">
                    <a16:rowId xmlns:a16="http://schemas.microsoft.com/office/drawing/2014/main" val="1806325582"/>
                  </a:ext>
                </a:extLst>
              </a:tr>
              <a:tr h="508000">
                <a:tc>
                  <a:txBody>
                    <a:bodyPr/>
                    <a:lstStyle/>
                    <a:p>
                      <a:r>
                        <a:rPr lang="en-US" sz="1300" b="1">
                          <a:solidFill>
                            <a:srgbClr val="14213D"/>
                          </a:solidFill>
                          <a:latin typeface="Calibri" panose="020F0502020204030204" pitchFamily="34" charset="0"/>
                        </a:rPr>
                        <a:t>Quality reports</a:t>
                      </a:r>
                    </a:p>
                  </a:txBody>
                  <a:tcPr marL="127000" marR="101600" marT="63500" marB="63500" anchor="ctr">
                    <a:solidFill>
                      <a:srgbClr val="F3F5F8"/>
                    </a:solidFill>
                  </a:tcPr>
                </a:tc>
                <a:tc>
                  <a:txBody>
                    <a:bodyPr/>
                    <a:lstStyle/>
                    <a:p>
                      <a:r>
                        <a:rPr lang="en-US" sz="1300">
                          <a:solidFill>
                            <a:srgbClr val="1F2937"/>
                          </a:solidFill>
                          <a:latin typeface="Calibri" panose="020F0502020204030204" pitchFamily="34" charset="0"/>
                        </a:rPr>
                        <a:t>Charts and reports based on the collected quality metrics</a:t>
                      </a:r>
                    </a:p>
                  </a:txBody>
                  <a:tcPr marL="127000" marR="101600" marT="63500" marB="63500" anchor="ctr">
                    <a:solidFill>
                      <a:srgbClr val="F3F5F8"/>
                    </a:solidFill>
                  </a:tcPr>
                </a:tc>
                <a:extLst>
                  <a:ext uri="{0D108BD9-81ED-4DB2-BD59-A6C34878D82A}">
                    <a16:rowId xmlns:a16="http://schemas.microsoft.com/office/drawing/2014/main" val="4147982657"/>
                  </a:ext>
                </a:extLst>
              </a:tr>
              <a:tr h="508000">
                <a:tc>
                  <a:txBody>
                    <a:bodyPr/>
                    <a:lstStyle/>
                    <a:p>
                      <a:r>
                        <a:rPr lang="en-US" sz="1300" b="1">
                          <a:solidFill>
                            <a:srgbClr val="14213D"/>
                          </a:solidFill>
                          <a:latin typeface="Calibri" panose="020F0502020204030204" pitchFamily="34" charset="0"/>
                        </a:rPr>
                        <a:t>Earned value (EVM) reports</a:t>
                      </a:r>
                    </a:p>
                  </a:txBody>
                  <a:tcPr marL="127000" marR="101600" marT="63500" marB="63500" anchor="ctr">
                    <a:solidFill>
                      <a:srgbClr val="FFFFFF"/>
                    </a:solidFill>
                  </a:tcPr>
                </a:tc>
                <a:tc>
                  <a:txBody>
                    <a:bodyPr/>
                    <a:lstStyle/>
                    <a:p>
                      <a:r>
                        <a:rPr lang="en-US" sz="1300">
                          <a:solidFill>
                            <a:srgbClr val="1F2937"/>
                          </a:solidFill>
                          <a:latin typeface="Calibri" panose="020F0502020204030204" pitchFamily="34" charset="0"/>
                        </a:rPr>
                        <a:t>Graphs and values from the EVM equations: integrates scope, schedule, and cost</a:t>
                      </a:r>
                    </a:p>
                  </a:txBody>
                  <a:tcPr marL="127000" marR="101600" marT="63500" marB="63500" anchor="ctr">
                    <a:solidFill>
                      <a:srgbClr val="FFFFFF"/>
                    </a:solidFill>
                  </a:tcPr>
                </a:tc>
                <a:extLst>
                  <a:ext uri="{0D108BD9-81ED-4DB2-BD59-A6C34878D82A}">
                    <a16:rowId xmlns:a16="http://schemas.microsoft.com/office/drawing/2014/main" val="4150387179"/>
                  </a:ext>
                </a:extLst>
              </a:tr>
              <a:tr h="508000">
                <a:tc>
                  <a:txBody>
                    <a:bodyPr/>
                    <a:lstStyle/>
                    <a:p>
                      <a:r>
                        <a:rPr lang="en-US" sz="1300" b="1">
                          <a:solidFill>
                            <a:srgbClr val="14213D"/>
                          </a:solidFill>
                          <a:latin typeface="Calibri" panose="020F0502020204030204" pitchFamily="34" charset="0"/>
                        </a:rPr>
                        <a:t>Variance analysis reports</a:t>
                      </a:r>
                    </a:p>
                  </a:txBody>
                  <a:tcPr marL="127000" marR="101600" marT="63500" marB="63500" anchor="ctr">
                    <a:solidFill>
                      <a:srgbClr val="F3F5F8"/>
                    </a:solidFill>
                  </a:tcPr>
                </a:tc>
                <a:tc>
                  <a:txBody>
                    <a:bodyPr/>
                    <a:lstStyle/>
                    <a:p>
                      <a:r>
                        <a:rPr lang="en-US" sz="1300">
                          <a:solidFill>
                            <a:srgbClr val="1F2937"/>
                          </a:solidFill>
                          <a:latin typeface="Calibri" panose="020F0502020204030204" pitchFamily="34" charset="0"/>
                        </a:rPr>
                        <a:t>Actual results compared with expected results, with analysis</a:t>
                      </a:r>
                    </a:p>
                  </a:txBody>
                  <a:tcPr marL="127000" marR="101600" marT="63500" marB="63500" anchor="ctr">
                    <a:solidFill>
                      <a:srgbClr val="F3F5F8"/>
                    </a:solidFill>
                  </a:tcPr>
                </a:tc>
                <a:extLst>
                  <a:ext uri="{0D108BD9-81ED-4DB2-BD59-A6C34878D82A}">
                    <a16:rowId xmlns:a16="http://schemas.microsoft.com/office/drawing/2014/main" val="1667991096"/>
                  </a:ext>
                </a:extLst>
              </a:tr>
              <a:tr h="508000">
                <a:tc>
                  <a:txBody>
                    <a:bodyPr/>
                    <a:lstStyle/>
                    <a:p>
                      <a:r>
                        <a:rPr lang="en-US" sz="1300" b="1">
                          <a:solidFill>
                            <a:srgbClr val="14213D"/>
                          </a:solidFill>
                          <a:latin typeface="Calibri" panose="020F0502020204030204" pitchFamily="34" charset="0"/>
                        </a:rPr>
                        <a:t>Work performance reports</a:t>
                      </a:r>
                    </a:p>
                  </a:txBody>
                  <a:tcPr marL="127000" marR="101600" marT="63500" marB="63500" anchor="ctr">
                    <a:solidFill>
                      <a:srgbClr val="FFFFFF"/>
                    </a:solidFill>
                  </a:tcPr>
                </a:tc>
                <a:tc>
                  <a:txBody>
                    <a:bodyPr/>
                    <a:lstStyle/>
                    <a:p>
                      <a:r>
                        <a:rPr lang="en-US" sz="1300">
                          <a:solidFill>
                            <a:srgbClr val="1F2937"/>
                          </a:solidFill>
                          <a:latin typeface="Calibri" panose="020F0502020204030204" pitchFamily="34" charset="0"/>
                        </a:rPr>
                        <a:t>Work performance information compiled to prompt decisions, actions, or awareness</a:t>
                      </a:r>
                    </a:p>
                  </a:txBody>
                  <a:tcPr marL="127000" marR="101600" marT="63500" marB="63500" anchor="ctr">
                    <a:solidFill>
                      <a:srgbClr val="FFFFFF"/>
                    </a:solidFill>
                  </a:tcPr>
                </a:tc>
                <a:extLst>
                  <a:ext uri="{0D108BD9-81ED-4DB2-BD59-A6C34878D82A}">
                    <a16:rowId xmlns:a16="http://schemas.microsoft.com/office/drawing/2014/main" val="2449761418"/>
                  </a:ext>
                </a:extLst>
              </a:tr>
              <a:tr h="508000">
                <a:tc>
                  <a:txBody>
                    <a:bodyPr/>
                    <a:lstStyle/>
                    <a:p>
                      <a:r>
                        <a:rPr lang="en-US" sz="1300" b="1">
                          <a:solidFill>
                            <a:srgbClr val="14213D"/>
                          </a:solidFill>
                          <a:latin typeface="Calibri" panose="020F0502020204030204" pitchFamily="34" charset="0"/>
                        </a:rPr>
                        <a:t>Dashboards</a:t>
                      </a:r>
                    </a:p>
                  </a:txBody>
                  <a:tcPr marL="127000" marR="101600" marT="63500" marB="63500" anchor="ctr">
                    <a:solidFill>
                      <a:srgbClr val="F3F5F8"/>
                    </a:solidFill>
                  </a:tcPr>
                </a:tc>
                <a:tc>
                  <a:txBody>
                    <a:bodyPr/>
                    <a:lstStyle/>
                    <a:p>
                      <a:r>
                        <a:rPr lang="en-US" sz="1300">
                          <a:solidFill>
                            <a:srgbClr val="1F2937"/>
                          </a:solidFill>
                          <a:latin typeface="Calibri" panose="020F0502020204030204" pitchFamily="34" charset="0"/>
                        </a:rPr>
                        <a:t>Visual summaries of progress, often RAG status, that represent a larger dataset</a:t>
                      </a:r>
                    </a:p>
                  </a:txBody>
                  <a:tcPr marL="127000" marR="101600" marT="63500" marB="63500" anchor="ctr">
                    <a:solidFill>
                      <a:srgbClr val="F3F5F8"/>
                    </a:solidFill>
                  </a:tcPr>
                </a:tc>
                <a:extLst>
                  <a:ext uri="{0D108BD9-81ED-4DB2-BD59-A6C34878D82A}">
                    <a16:rowId xmlns:a16="http://schemas.microsoft.com/office/drawing/2014/main" val="1452442316"/>
                  </a:ext>
                </a:extLst>
              </a:tr>
            </a:tbl>
          </a:graphicData>
        </a:graphic>
      </p:graphicFrame>
      <p:sp>
        <p:nvSpPr>
          <p:cNvPr id="5" name="Arrow: Chevron 4">
            <a:extLst>
              <a:ext uri="{FF2B5EF4-FFF2-40B4-BE49-F238E27FC236}">
                <a16:creationId xmlns:a16="http://schemas.microsoft.com/office/drawing/2014/main" id="{921C9082-B8A6-0B12-4515-EFC661FA8FD0}"/>
              </a:ext>
            </a:extLst>
          </p:cNvPr>
          <p:cNvSpPr/>
          <p:nvPr/>
        </p:nvSpPr>
        <p:spPr>
          <a:xfrm>
            <a:off x="508000" y="4978400"/>
            <a:ext cx="3810000" cy="406400"/>
          </a:xfrm>
          <a:prstGeom prst="chevron">
            <a:avLst/>
          </a:prstGeom>
          <a:solidFill>
            <a:srgbClr val="6B82C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25400" rIns="177800" bIns="25400" rtlCol="0" anchor="ctr"/>
          <a:lstStyle/>
          <a:p>
            <a:pPr algn="ctr"/>
            <a:r>
              <a:rPr lang="en-US" sz="1100" b="1">
                <a:solidFill>
                  <a:srgbClr val="FFFFFF"/>
                </a:solidFill>
                <a:latin typeface="Calibri" panose="020F0502020204030204" pitchFamily="34" charset="0"/>
              </a:rPr>
              <a:t>Work performance data: raw observations</a:t>
            </a:r>
          </a:p>
        </p:txBody>
      </p:sp>
      <p:sp>
        <p:nvSpPr>
          <p:cNvPr id="6" name="Arrow: Chevron 5">
            <a:extLst>
              <a:ext uri="{FF2B5EF4-FFF2-40B4-BE49-F238E27FC236}">
                <a16:creationId xmlns:a16="http://schemas.microsoft.com/office/drawing/2014/main" id="{C239271E-E57F-97BC-1C80-B7D8CD627D66}"/>
              </a:ext>
            </a:extLst>
          </p:cNvPr>
          <p:cNvSpPr/>
          <p:nvPr/>
        </p:nvSpPr>
        <p:spPr>
          <a:xfrm>
            <a:off x="4267200" y="4978400"/>
            <a:ext cx="3810000" cy="406400"/>
          </a:xfrm>
          <a:prstGeom prst="chevron">
            <a:avLst/>
          </a:prstGeom>
          <a:solidFill>
            <a:srgbClr val="4F68A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25400" rIns="177800" bIns="25400" rtlCol="0" anchor="ctr"/>
          <a:lstStyle/>
          <a:p>
            <a:pPr algn="ctr"/>
            <a:r>
              <a:rPr lang="en-US" sz="1100" b="1">
                <a:solidFill>
                  <a:srgbClr val="FFFFFF"/>
                </a:solidFill>
                <a:latin typeface="Calibri" panose="020F0502020204030204" pitchFamily="34" charset="0"/>
              </a:rPr>
              <a:t>Work performance information: data analyzed against the plan</a:t>
            </a:r>
          </a:p>
        </p:txBody>
      </p:sp>
      <p:sp>
        <p:nvSpPr>
          <p:cNvPr id="7" name="Arrow: Chevron 6">
            <a:extLst>
              <a:ext uri="{FF2B5EF4-FFF2-40B4-BE49-F238E27FC236}">
                <a16:creationId xmlns:a16="http://schemas.microsoft.com/office/drawing/2014/main" id="{69034C64-9960-96C3-D582-01F1C845B99B}"/>
              </a:ext>
            </a:extLst>
          </p:cNvPr>
          <p:cNvSpPr/>
          <p:nvPr/>
        </p:nvSpPr>
        <p:spPr>
          <a:xfrm>
            <a:off x="8026400" y="4978400"/>
            <a:ext cx="3810000" cy="406400"/>
          </a:xfrm>
          <a:prstGeom prst="chevron">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25400" rIns="177800" bIns="25400" rtlCol="0" anchor="ctr"/>
          <a:lstStyle/>
          <a:p>
            <a:pPr algn="ctr"/>
            <a:r>
              <a:rPr lang="en-US" sz="1100" b="1">
                <a:solidFill>
                  <a:srgbClr val="FFFFFF"/>
                </a:solidFill>
                <a:latin typeface="Calibri" panose="020F0502020204030204" pitchFamily="34" charset="0"/>
              </a:rPr>
              <a:t>Work performance reports: compiled for decision-makers</a:t>
            </a:r>
          </a:p>
        </p:txBody>
      </p:sp>
      <p:sp>
        <p:nvSpPr>
          <p:cNvPr id="8" name="TextBox 7">
            <a:extLst>
              <a:ext uri="{FF2B5EF4-FFF2-40B4-BE49-F238E27FC236}">
                <a16:creationId xmlns:a16="http://schemas.microsoft.com/office/drawing/2014/main" id="{EF052F74-846D-9EFC-D95F-843C47A91D11}"/>
              </a:ext>
            </a:extLst>
          </p:cNvPr>
          <p:cNvSpPr txBox="1"/>
          <p:nvPr/>
        </p:nvSpPr>
        <p:spPr>
          <a:xfrm>
            <a:off x="508000" y="5537200"/>
            <a:ext cx="11176000" cy="508000"/>
          </a:xfrm>
          <a:prstGeom prst="rect">
            <a:avLst/>
          </a:prstGeom>
          <a:noFill/>
        </p:spPr>
        <p:txBody>
          <a:bodyPr vert="horz" wrap="square" lIns="0" tIns="0" rIns="0" bIns="0" rtlCol="0" anchor="t">
            <a:noAutofit/>
          </a:bodyPr>
          <a:lstStyle/>
          <a:p>
            <a:r>
              <a:rPr lang="en-US" sz="1400" i="1">
                <a:solidFill>
                  <a:srgbClr val="14213D"/>
                </a:solidFill>
                <a:latin typeface="Calibri" panose="020F0502020204030204" pitchFamily="34" charset="0"/>
              </a:rPr>
              <a:t>Exam cue: data becomes information when it is compared with the plan; reports package information for decisions.</a:t>
            </a:r>
          </a:p>
        </p:txBody>
      </p:sp>
      <p:sp>
        <p:nvSpPr>
          <p:cNvPr id="9" name="Footer">
            <a:extLst>
              <a:ext uri="{FF2B5EF4-FFF2-40B4-BE49-F238E27FC236}">
                <a16:creationId xmlns:a16="http://schemas.microsoft.com/office/drawing/2014/main" id="{3EB2FBED-1871-CCED-52E1-DE2C19582D9F}"/>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4.5 (work performance reports) and 1.2.4.7 (project management data and information); adapted from PMI course material</a:t>
            </a:r>
          </a:p>
        </p:txBody>
      </p:sp>
      <p:sp>
        <p:nvSpPr>
          <p:cNvPr id="10" name="SlideNum">
            <a:extLst>
              <a:ext uri="{FF2B5EF4-FFF2-40B4-BE49-F238E27FC236}">
                <a16:creationId xmlns:a16="http://schemas.microsoft.com/office/drawing/2014/main" id="{89134D56-C29B-3CDC-D3FC-D8F01C7B6FBF}"/>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54</a:t>
            </a:r>
          </a:p>
        </p:txBody>
      </p:sp>
      <p:sp>
        <p:nvSpPr>
          <p:cNvPr id="11"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4642289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1EA0222-B6F7-1AD2-4E15-F64B236B25FE}"/>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Project documents: the working records</a:t>
            </a:r>
          </a:p>
        </p:txBody>
      </p:sp>
      <p:sp>
        <p:nvSpPr>
          <p:cNvPr id="3" name="Tag">
            <a:extLst>
              <a:ext uri="{FF2B5EF4-FFF2-40B4-BE49-F238E27FC236}">
                <a16:creationId xmlns:a16="http://schemas.microsoft.com/office/drawing/2014/main" id="{8EC8DF58-0E16-0F64-64FD-51FBDC20C381}"/>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9 (Evaluate project status: identify and tailor needed artifacts)</a:t>
            </a:r>
          </a:p>
        </p:txBody>
      </p:sp>
      <p:sp>
        <p:nvSpPr>
          <p:cNvPr id="4" name="Rectangle: Rounded Corners 3">
            <a:extLst>
              <a:ext uri="{FF2B5EF4-FFF2-40B4-BE49-F238E27FC236}">
                <a16:creationId xmlns:a16="http://schemas.microsoft.com/office/drawing/2014/main" id="{F6E2368E-AB6B-EF3D-6B7E-0C3C96BE7E51}"/>
              </a:ext>
            </a:extLst>
          </p:cNvPr>
          <p:cNvSpPr/>
          <p:nvPr/>
        </p:nvSpPr>
        <p:spPr>
          <a:xfrm>
            <a:off x="508000" y="1320800"/>
            <a:ext cx="3556000" cy="1930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8C59736-2359-3073-79F6-CD037145AC46}"/>
              </a:ext>
            </a:extLst>
          </p:cNvPr>
          <p:cNvSpPr txBox="1"/>
          <p:nvPr/>
        </p:nvSpPr>
        <p:spPr>
          <a:xfrm>
            <a:off x="660400" y="1473200"/>
            <a:ext cx="3251200" cy="16256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Schedule</a:t>
            </a:r>
          </a:p>
          <a:p>
            <a:r>
              <a:rPr lang="en-US" sz="1200">
                <a:solidFill>
                  <a:srgbClr val="1F2937"/>
                </a:solidFill>
                <a:latin typeface="Calibri" panose="020F0502020204030204" pitchFamily="34" charset="0"/>
              </a:rPr>
              <a:t>Activity list · Activity attributes</a:t>
            </a:r>
          </a:p>
          <a:p>
            <a:r>
              <a:rPr lang="en-US" sz="1200">
                <a:solidFill>
                  <a:srgbClr val="1F2937"/>
                </a:solidFill>
                <a:latin typeface="Calibri" panose="020F0502020204030204" pitchFamily="34" charset="0"/>
              </a:rPr>
              <a:t>Milestone list · Duration estimates</a:t>
            </a:r>
          </a:p>
          <a:p>
            <a:r>
              <a:rPr lang="en-US" sz="1200">
                <a:solidFill>
                  <a:srgbClr val="1F2937"/>
                </a:solidFill>
                <a:latin typeface="Calibri" panose="020F0502020204030204" pitchFamily="34" charset="0"/>
              </a:rPr>
              <a:t>Project schedule network diagram</a:t>
            </a:r>
          </a:p>
          <a:p>
            <a:r>
              <a:rPr lang="en-US" sz="1200">
                <a:solidFill>
                  <a:srgbClr val="1F2937"/>
                </a:solidFill>
                <a:latin typeface="Calibri" panose="020F0502020204030204" pitchFamily="34" charset="0"/>
              </a:rPr>
              <a:t>Schedule data · Schedule forecasts</a:t>
            </a:r>
          </a:p>
          <a:p>
            <a:r>
              <a:rPr lang="en-US" sz="1200">
                <a:solidFill>
                  <a:srgbClr val="1F2937"/>
                </a:solidFill>
                <a:latin typeface="Calibri" panose="020F0502020204030204" pitchFamily="34" charset="0"/>
              </a:rPr>
              <a:t>Project calendars</a:t>
            </a:r>
          </a:p>
          <a:p>
            <a:r>
              <a:rPr lang="en-US" sz="1200">
                <a:solidFill>
                  <a:srgbClr val="1F2937"/>
                </a:solidFill>
                <a:latin typeface="Calibri" panose="020F0502020204030204" pitchFamily="34" charset="0"/>
              </a:rPr>
              <a:t>Project schedule</a:t>
            </a:r>
          </a:p>
        </p:txBody>
      </p:sp>
      <p:sp>
        <p:nvSpPr>
          <p:cNvPr id="6" name="Rectangle: Rounded Corners 5">
            <a:extLst>
              <a:ext uri="{FF2B5EF4-FFF2-40B4-BE49-F238E27FC236}">
                <a16:creationId xmlns:a16="http://schemas.microsoft.com/office/drawing/2014/main" id="{E4F3546D-E342-1802-2A7B-5A5D6E0E8350}"/>
              </a:ext>
            </a:extLst>
          </p:cNvPr>
          <p:cNvSpPr/>
          <p:nvPr/>
        </p:nvSpPr>
        <p:spPr>
          <a:xfrm>
            <a:off x="4318000" y="1320800"/>
            <a:ext cx="3556000" cy="1930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2C44194-B616-6466-26A1-B74D1C580315}"/>
              </a:ext>
            </a:extLst>
          </p:cNvPr>
          <p:cNvSpPr txBox="1"/>
          <p:nvPr/>
        </p:nvSpPr>
        <p:spPr>
          <a:xfrm>
            <a:off x="4470400" y="1473200"/>
            <a:ext cx="3251200" cy="16256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Integration and tracking</a:t>
            </a:r>
          </a:p>
          <a:p>
            <a:r>
              <a:rPr lang="en-US" sz="1200">
                <a:solidFill>
                  <a:srgbClr val="1F2937"/>
                </a:solidFill>
                <a:latin typeface="Calibri" panose="020F0502020204030204" pitchFamily="34" charset="0"/>
              </a:rPr>
              <a:t>Project charter</a:t>
            </a:r>
          </a:p>
          <a:p>
            <a:r>
              <a:rPr lang="en-US" sz="1200">
                <a:solidFill>
                  <a:srgbClr val="1F2937"/>
                </a:solidFill>
                <a:latin typeface="Calibri" panose="020F0502020204030204" pitchFamily="34" charset="0"/>
              </a:rPr>
              <a:t>Assumption log · Change log · Issue log</a:t>
            </a:r>
          </a:p>
          <a:p>
            <a:r>
              <a:rPr lang="en-US" sz="1200">
                <a:solidFill>
                  <a:srgbClr val="1F2937"/>
                </a:solidFill>
                <a:latin typeface="Calibri" panose="020F0502020204030204" pitchFamily="34" charset="0"/>
              </a:rPr>
              <a:t>Lessons learned register</a:t>
            </a:r>
          </a:p>
          <a:p>
            <a:r>
              <a:rPr lang="en-US" sz="1200">
                <a:solidFill>
                  <a:srgbClr val="1F2937"/>
                </a:solidFill>
                <a:latin typeface="Calibri" panose="020F0502020204030204" pitchFamily="34" charset="0"/>
              </a:rPr>
              <a:t>Project communications</a:t>
            </a:r>
          </a:p>
        </p:txBody>
      </p:sp>
      <p:sp>
        <p:nvSpPr>
          <p:cNvPr id="8" name="Rectangle: Rounded Corners 7">
            <a:extLst>
              <a:ext uri="{FF2B5EF4-FFF2-40B4-BE49-F238E27FC236}">
                <a16:creationId xmlns:a16="http://schemas.microsoft.com/office/drawing/2014/main" id="{ABD1863F-B5A1-AF89-1D6F-03FF6FE36E78}"/>
              </a:ext>
            </a:extLst>
          </p:cNvPr>
          <p:cNvSpPr/>
          <p:nvPr/>
        </p:nvSpPr>
        <p:spPr>
          <a:xfrm>
            <a:off x="8128000" y="1320800"/>
            <a:ext cx="3556000" cy="1930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516B3C2-DF67-0126-CE29-5BC7C822173F}"/>
              </a:ext>
            </a:extLst>
          </p:cNvPr>
          <p:cNvSpPr txBox="1"/>
          <p:nvPr/>
        </p:nvSpPr>
        <p:spPr>
          <a:xfrm>
            <a:off x="8280400" y="1473200"/>
            <a:ext cx="3251200" cy="16256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Cost</a:t>
            </a:r>
          </a:p>
          <a:p>
            <a:r>
              <a:rPr lang="en-US" sz="1200">
                <a:solidFill>
                  <a:srgbClr val="1F2937"/>
                </a:solidFill>
                <a:latin typeface="Calibri" panose="020F0502020204030204" pitchFamily="34" charset="0"/>
              </a:rPr>
              <a:t>Basis of estimates</a:t>
            </a:r>
          </a:p>
          <a:p>
            <a:r>
              <a:rPr lang="en-US" sz="1200">
                <a:solidFill>
                  <a:srgbClr val="1F2937"/>
                </a:solidFill>
                <a:latin typeface="Calibri" panose="020F0502020204030204" pitchFamily="34" charset="0"/>
              </a:rPr>
              <a:t>Cost estimates</a:t>
            </a:r>
          </a:p>
          <a:p>
            <a:r>
              <a:rPr lang="en-US" sz="1200">
                <a:solidFill>
                  <a:srgbClr val="1F2937"/>
                </a:solidFill>
                <a:latin typeface="Calibri" panose="020F0502020204030204" pitchFamily="34" charset="0"/>
              </a:rPr>
              <a:t>Cost forecasts</a:t>
            </a:r>
          </a:p>
        </p:txBody>
      </p:sp>
      <p:sp>
        <p:nvSpPr>
          <p:cNvPr id="10" name="Rectangle: Rounded Corners 9">
            <a:extLst>
              <a:ext uri="{FF2B5EF4-FFF2-40B4-BE49-F238E27FC236}">
                <a16:creationId xmlns:a16="http://schemas.microsoft.com/office/drawing/2014/main" id="{FCE3D939-CCF2-0A64-AF5B-7CBB59E658BC}"/>
              </a:ext>
            </a:extLst>
          </p:cNvPr>
          <p:cNvSpPr/>
          <p:nvPr/>
        </p:nvSpPr>
        <p:spPr>
          <a:xfrm>
            <a:off x="508000" y="3378200"/>
            <a:ext cx="3556000" cy="1930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E2F2A83-D741-007E-04E1-ED207EF81120}"/>
              </a:ext>
            </a:extLst>
          </p:cNvPr>
          <p:cNvSpPr txBox="1"/>
          <p:nvPr/>
        </p:nvSpPr>
        <p:spPr>
          <a:xfrm>
            <a:off x="660400" y="3530600"/>
            <a:ext cx="3251200" cy="16256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Scope and quality</a:t>
            </a:r>
          </a:p>
          <a:p>
            <a:r>
              <a:rPr lang="en-US" sz="1200">
                <a:solidFill>
                  <a:srgbClr val="1F2937"/>
                </a:solidFill>
                <a:latin typeface="Calibri" panose="020F0502020204030204" pitchFamily="34" charset="0"/>
              </a:rPr>
              <a:t>Requirements documentation</a:t>
            </a:r>
          </a:p>
          <a:p>
            <a:r>
              <a:rPr lang="en-US" sz="1200">
                <a:solidFill>
                  <a:srgbClr val="1F2937"/>
                </a:solidFill>
                <a:latin typeface="Calibri" panose="020F0502020204030204" pitchFamily="34" charset="0"/>
              </a:rPr>
              <a:t>Requirements traceability matrix</a:t>
            </a:r>
          </a:p>
          <a:p>
            <a:r>
              <a:rPr lang="en-US" sz="1200">
                <a:solidFill>
                  <a:srgbClr val="1F2937"/>
                </a:solidFill>
                <a:latin typeface="Calibri" panose="020F0502020204030204" pitchFamily="34" charset="0"/>
              </a:rPr>
              <a:t>Quality metrics · Quality report</a:t>
            </a:r>
          </a:p>
          <a:p>
            <a:r>
              <a:rPr lang="en-US" sz="1200">
                <a:solidFill>
                  <a:srgbClr val="1F2937"/>
                </a:solidFill>
                <a:latin typeface="Calibri" panose="020F0502020204030204" pitchFamily="34" charset="0"/>
              </a:rPr>
              <a:t>Quality control measurements</a:t>
            </a:r>
          </a:p>
          <a:p>
            <a:r>
              <a:rPr lang="en-US" sz="1200">
                <a:solidFill>
                  <a:srgbClr val="1F2937"/>
                </a:solidFill>
                <a:latin typeface="Calibri" panose="020F0502020204030204" pitchFamily="34" charset="0"/>
              </a:rPr>
              <a:t>Test and evaluation documents</a:t>
            </a:r>
          </a:p>
          <a:p>
            <a:r>
              <a:rPr lang="en-US" sz="1200">
                <a:solidFill>
                  <a:srgbClr val="1F2937"/>
                </a:solidFill>
                <a:latin typeface="Calibri" panose="020F0502020204030204" pitchFamily="34" charset="0"/>
              </a:rPr>
              <a:t>Project scope statement</a:t>
            </a:r>
          </a:p>
        </p:txBody>
      </p:sp>
      <p:sp>
        <p:nvSpPr>
          <p:cNvPr id="12" name="Rectangle: Rounded Corners 11">
            <a:extLst>
              <a:ext uri="{FF2B5EF4-FFF2-40B4-BE49-F238E27FC236}">
                <a16:creationId xmlns:a16="http://schemas.microsoft.com/office/drawing/2014/main" id="{BCD64B99-0700-9239-03E4-DAAF7B3BB357}"/>
              </a:ext>
            </a:extLst>
          </p:cNvPr>
          <p:cNvSpPr/>
          <p:nvPr/>
        </p:nvSpPr>
        <p:spPr>
          <a:xfrm>
            <a:off x="4318000" y="3378200"/>
            <a:ext cx="3556000" cy="1930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AC22FEF-5526-F6FE-9251-6D2CB24B3E5F}"/>
              </a:ext>
            </a:extLst>
          </p:cNvPr>
          <p:cNvSpPr txBox="1"/>
          <p:nvPr/>
        </p:nvSpPr>
        <p:spPr>
          <a:xfrm>
            <a:off x="4470400" y="3530600"/>
            <a:ext cx="3251200" cy="16256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Resources</a:t>
            </a:r>
          </a:p>
          <a:p>
            <a:r>
              <a:rPr lang="en-US" sz="1200">
                <a:solidFill>
                  <a:srgbClr val="1F2937"/>
                </a:solidFill>
                <a:latin typeface="Calibri" panose="020F0502020204030204" pitchFamily="34" charset="0"/>
              </a:rPr>
              <a:t>Resource requirements</a:t>
            </a:r>
          </a:p>
          <a:p>
            <a:r>
              <a:rPr lang="en-US" sz="1200">
                <a:solidFill>
                  <a:srgbClr val="1F2937"/>
                </a:solidFill>
                <a:latin typeface="Calibri" panose="020F0502020204030204" pitchFamily="34" charset="0"/>
              </a:rPr>
              <a:t>Resource breakdown structure</a:t>
            </a:r>
          </a:p>
          <a:p>
            <a:r>
              <a:rPr lang="en-US" sz="1200">
                <a:solidFill>
                  <a:srgbClr val="1F2937"/>
                </a:solidFill>
                <a:latin typeface="Calibri" panose="020F0502020204030204" pitchFamily="34" charset="0"/>
              </a:rPr>
              <a:t>Resource calendars · Team charter</a:t>
            </a:r>
          </a:p>
          <a:p>
            <a:r>
              <a:rPr lang="en-US" sz="1200">
                <a:solidFill>
                  <a:srgbClr val="1F2937"/>
                </a:solidFill>
                <a:latin typeface="Calibri" panose="020F0502020204030204" pitchFamily="34" charset="0"/>
              </a:rPr>
              <a:t>Physical resource assignments</a:t>
            </a:r>
          </a:p>
          <a:p>
            <a:r>
              <a:rPr lang="en-US" sz="1200">
                <a:solidFill>
                  <a:srgbClr val="1F2937"/>
                </a:solidFill>
                <a:latin typeface="Calibri" panose="020F0502020204030204" pitchFamily="34" charset="0"/>
              </a:rPr>
              <a:t>Project team assignments</a:t>
            </a:r>
          </a:p>
        </p:txBody>
      </p:sp>
      <p:sp>
        <p:nvSpPr>
          <p:cNvPr id="14" name="Rectangle: Rounded Corners 13">
            <a:extLst>
              <a:ext uri="{FF2B5EF4-FFF2-40B4-BE49-F238E27FC236}">
                <a16:creationId xmlns:a16="http://schemas.microsoft.com/office/drawing/2014/main" id="{5D2C0D65-FF39-0159-04F9-6C79DDF15520}"/>
              </a:ext>
            </a:extLst>
          </p:cNvPr>
          <p:cNvSpPr/>
          <p:nvPr/>
        </p:nvSpPr>
        <p:spPr>
          <a:xfrm>
            <a:off x="8128000" y="3378200"/>
            <a:ext cx="3556000" cy="1930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A8CE4AA-FB78-A8E6-657F-B27830158944}"/>
              </a:ext>
            </a:extLst>
          </p:cNvPr>
          <p:cNvSpPr txBox="1"/>
          <p:nvPr/>
        </p:nvSpPr>
        <p:spPr>
          <a:xfrm>
            <a:off x="8280400" y="3530600"/>
            <a:ext cx="3251200" cy="16256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Risk and stakeholders</a:t>
            </a:r>
          </a:p>
          <a:p>
            <a:r>
              <a:rPr lang="en-US" sz="1200">
                <a:solidFill>
                  <a:srgbClr val="1F2937"/>
                </a:solidFill>
                <a:latin typeface="Calibri" panose="020F0502020204030204" pitchFamily="34" charset="0"/>
              </a:rPr>
              <a:t>Risk register</a:t>
            </a:r>
          </a:p>
          <a:p>
            <a:r>
              <a:rPr lang="en-US" sz="1200">
                <a:solidFill>
                  <a:srgbClr val="1F2937"/>
                </a:solidFill>
                <a:latin typeface="Calibri" panose="020F0502020204030204" pitchFamily="34" charset="0"/>
              </a:rPr>
              <a:t>Risk report</a:t>
            </a:r>
          </a:p>
          <a:p>
            <a:r>
              <a:rPr lang="en-US" sz="1200">
                <a:solidFill>
                  <a:srgbClr val="1F2937"/>
                </a:solidFill>
                <a:latin typeface="Calibri" panose="020F0502020204030204" pitchFamily="34" charset="0"/>
              </a:rPr>
              <a:t>Stakeholder register</a:t>
            </a:r>
          </a:p>
        </p:txBody>
      </p:sp>
      <p:sp>
        <p:nvSpPr>
          <p:cNvPr id="16" name="Rectangle: Rounded Corners 15">
            <a:extLst>
              <a:ext uri="{FF2B5EF4-FFF2-40B4-BE49-F238E27FC236}">
                <a16:creationId xmlns:a16="http://schemas.microsoft.com/office/drawing/2014/main" id="{CFC169CF-5470-650A-06F9-95E40289E0DA}"/>
              </a:ext>
            </a:extLst>
          </p:cNvPr>
          <p:cNvSpPr/>
          <p:nvPr/>
        </p:nvSpPr>
        <p:spPr>
          <a:xfrm>
            <a:off x="508000" y="5486400"/>
            <a:ext cx="11176000" cy="838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03784B9-0176-19C9-AB80-9259C1DB692E}"/>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project documents are not part of the project management plan. They record what is happening and are updated as work proceeds; the plan and baselines change only through change control.</a:t>
            </a:r>
          </a:p>
        </p:txBody>
      </p:sp>
      <p:sp>
        <p:nvSpPr>
          <p:cNvPr id="18" name="Footer">
            <a:extLst>
              <a:ext uri="{FF2B5EF4-FFF2-40B4-BE49-F238E27FC236}">
                <a16:creationId xmlns:a16="http://schemas.microsoft.com/office/drawing/2014/main" id="{4756AE00-65BF-4422-D282-A20B9AA180BC}"/>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4.2, Table 4-1; adapted from PMI course material</a:t>
            </a:r>
          </a:p>
        </p:txBody>
      </p:sp>
      <p:sp>
        <p:nvSpPr>
          <p:cNvPr id="19" name="SlideNum">
            <a:extLst>
              <a:ext uri="{FF2B5EF4-FFF2-40B4-BE49-F238E27FC236}">
                <a16:creationId xmlns:a16="http://schemas.microsoft.com/office/drawing/2014/main" id="{A8AE9DC5-9703-5E0C-12EE-DE28CF3D71FD}"/>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55</a:t>
            </a:r>
          </a:p>
        </p:txBody>
      </p:sp>
      <p:sp>
        <p:nvSpPr>
          <p:cNvPr id="20"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6066977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567D6F3-FF0A-B469-EEBA-FBDA356661FB}"/>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Logs, registers, and requests that get confused</a:t>
            </a:r>
          </a:p>
        </p:txBody>
      </p:sp>
      <p:sp>
        <p:nvSpPr>
          <p:cNvPr id="3" name="Tag">
            <a:extLst>
              <a:ext uri="{FF2B5EF4-FFF2-40B4-BE49-F238E27FC236}">
                <a16:creationId xmlns:a16="http://schemas.microsoft.com/office/drawing/2014/main" id="{D5E06C99-FAF6-2A91-EE01-C36AD95290B6}"/>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9 and Business Environment Tasks 3–5</a:t>
            </a:r>
          </a:p>
        </p:txBody>
      </p:sp>
      <p:graphicFrame>
        <p:nvGraphicFramePr>
          <p:cNvPr id="4" name="Table">
            <a:extLst>
              <a:ext uri="{FF2B5EF4-FFF2-40B4-BE49-F238E27FC236}">
                <a16:creationId xmlns:a16="http://schemas.microsoft.com/office/drawing/2014/main" id="{06BC6C89-E5DB-5811-D2D0-66F9375AF7F7}"/>
              </a:ext>
            </a:extLst>
          </p:cNvPr>
          <p:cNvGraphicFramePr>
            <a:graphicFrameLocks noGrp="1"/>
          </p:cNvGraphicFramePr>
          <p:nvPr>
            <p:extLst>
              <p:ext uri="{D42A27DB-BD31-4B8C-83A1-F6EECF244321}">
                <p14:modId xmlns:p14="http://schemas.microsoft.com/office/powerpoint/2010/main" val="4101462785"/>
              </p:ext>
            </p:extLst>
          </p:nvPr>
        </p:nvGraphicFramePr>
        <p:xfrm>
          <a:off x="508000" y="1320800"/>
          <a:ext cx="11176000" cy="4064000"/>
        </p:xfrm>
        <a:graphic>
          <a:graphicData uri="http://schemas.openxmlformats.org/drawingml/2006/table">
            <a:tbl>
              <a:tblPr firstRow="1" bandRow="1">
                <a:tableStyleId>{2D5ABB26-0587-4C30-8999-92F81FD0307C}</a:tableStyleId>
              </a:tblPr>
              <a:tblGrid>
                <a:gridCol w="2286000">
                  <a:extLst>
                    <a:ext uri="{9D8B030D-6E8A-4147-A177-3AD203B41FA5}">
                      <a16:colId xmlns:a16="http://schemas.microsoft.com/office/drawing/2014/main" val="3259138913"/>
                    </a:ext>
                  </a:extLst>
                </a:gridCol>
                <a:gridCol w="4699000">
                  <a:extLst>
                    <a:ext uri="{9D8B030D-6E8A-4147-A177-3AD203B41FA5}">
                      <a16:colId xmlns:a16="http://schemas.microsoft.com/office/drawing/2014/main" val="1834592578"/>
                    </a:ext>
                  </a:extLst>
                </a:gridCol>
                <a:gridCol w="4191000">
                  <a:extLst>
                    <a:ext uri="{9D8B030D-6E8A-4147-A177-3AD203B41FA5}">
                      <a16:colId xmlns:a16="http://schemas.microsoft.com/office/drawing/2014/main" val="3143128613"/>
                    </a:ext>
                  </a:extLst>
                </a:gridCol>
              </a:tblGrid>
              <a:tr h="508000">
                <a:tc>
                  <a:txBody>
                    <a:bodyPr/>
                    <a:lstStyle/>
                    <a:p>
                      <a:r>
                        <a:rPr lang="en-US" sz="1200" b="1">
                          <a:solidFill>
                            <a:srgbClr val="FFFFFF"/>
                          </a:solidFill>
                          <a:latin typeface="Calibri" panose="020F0502020204030204" pitchFamily="34" charset="0"/>
                        </a:rPr>
                        <a:t>Document</a:t>
                      </a:r>
                    </a:p>
                  </a:txBody>
                  <a:tcPr marL="127000" marR="101600" marT="63500" marB="63500" anchor="ctr">
                    <a:solidFill>
                      <a:srgbClr val="14213D"/>
                    </a:solidFill>
                  </a:tcPr>
                </a:tc>
                <a:tc>
                  <a:txBody>
                    <a:bodyPr/>
                    <a:lstStyle/>
                    <a:p>
                      <a:r>
                        <a:rPr lang="en-US" sz="1200" b="1">
                          <a:solidFill>
                            <a:srgbClr val="FFFFFF"/>
                          </a:solidFill>
                          <a:latin typeface="Calibri" panose="020F0502020204030204" pitchFamily="34" charset="0"/>
                        </a:rPr>
                        <a:t>What it holds</a:t>
                      </a:r>
                    </a:p>
                  </a:txBody>
                  <a:tcPr marL="127000" marR="101600" marT="63500" marB="63500" anchor="ctr">
                    <a:solidFill>
                      <a:srgbClr val="14213D"/>
                    </a:solidFill>
                  </a:tcPr>
                </a:tc>
                <a:tc>
                  <a:txBody>
                    <a:bodyPr/>
                    <a:lstStyle/>
                    <a:p>
                      <a:r>
                        <a:rPr lang="en-US" sz="1200" b="1">
                          <a:solidFill>
                            <a:srgbClr val="FFFFFF"/>
                          </a:solidFill>
                          <a:latin typeface="Calibri" panose="020F0502020204030204" pitchFamily="34" charset="0"/>
                        </a:rPr>
                        <a:t>Exam trap</a:t>
                      </a:r>
                    </a:p>
                  </a:txBody>
                  <a:tcPr marL="127000" marR="101600" marT="63500" marB="63500" anchor="ctr">
                    <a:solidFill>
                      <a:srgbClr val="14213D"/>
                    </a:solidFill>
                  </a:tcPr>
                </a:tc>
                <a:extLst>
                  <a:ext uri="{0D108BD9-81ED-4DB2-BD59-A6C34878D82A}">
                    <a16:rowId xmlns:a16="http://schemas.microsoft.com/office/drawing/2014/main" val="1614809443"/>
                  </a:ext>
                </a:extLst>
              </a:tr>
              <a:tr h="508000">
                <a:tc>
                  <a:txBody>
                    <a:bodyPr/>
                    <a:lstStyle/>
                    <a:p>
                      <a:r>
                        <a:rPr lang="en-US" sz="1200" b="1">
                          <a:solidFill>
                            <a:srgbClr val="14213D"/>
                          </a:solidFill>
                          <a:latin typeface="Calibri" panose="020F0502020204030204" pitchFamily="34" charset="0"/>
                        </a:rPr>
                        <a:t>Risk register</a:t>
                      </a:r>
                    </a:p>
                  </a:txBody>
                  <a:tcPr marL="127000" marR="101600" marT="63500" marB="63500" anchor="ctr">
                    <a:solidFill>
                      <a:srgbClr val="FFFFFF"/>
                    </a:solidFill>
                  </a:tcPr>
                </a:tc>
                <a:tc>
                  <a:txBody>
                    <a:bodyPr/>
                    <a:lstStyle/>
                    <a:p>
                      <a:r>
                        <a:rPr lang="en-US" sz="1200">
                          <a:solidFill>
                            <a:srgbClr val="1F2937"/>
                          </a:solidFill>
                          <a:latin typeface="Calibri" panose="020F0502020204030204" pitchFamily="34" charset="0"/>
                        </a:rPr>
                        <a:t>Uncertain future events (threats and opportunities), owners, and responses</a:t>
                      </a:r>
                    </a:p>
                  </a:txBody>
                  <a:tcPr marL="127000" marR="101600" marT="63500" marB="63500" anchor="ctr">
                    <a:solidFill>
                      <a:srgbClr val="FFFFFF"/>
                    </a:solidFill>
                  </a:tcPr>
                </a:tc>
                <a:tc>
                  <a:txBody>
                    <a:bodyPr/>
                    <a:lstStyle/>
                    <a:p>
                      <a:r>
                        <a:rPr lang="en-US" sz="1200">
                          <a:solidFill>
                            <a:srgbClr val="1F2937"/>
                          </a:solidFill>
                          <a:latin typeface="Calibri" panose="020F0502020204030204" pitchFamily="34" charset="0"/>
                        </a:rPr>
                        <a:t>A risk that occurs becomes an issue</a:t>
                      </a:r>
                    </a:p>
                  </a:txBody>
                  <a:tcPr marL="127000" marR="101600" marT="63500" marB="63500" anchor="ctr">
                    <a:solidFill>
                      <a:srgbClr val="FFFFFF"/>
                    </a:solidFill>
                  </a:tcPr>
                </a:tc>
                <a:extLst>
                  <a:ext uri="{0D108BD9-81ED-4DB2-BD59-A6C34878D82A}">
                    <a16:rowId xmlns:a16="http://schemas.microsoft.com/office/drawing/2014/main" val="3448985320"/>
                  </a:ext>
                </a:extLst>
              </a:tr>
              <a:tr h="508000">
                <a:tc>
                  <a:txBody>
                    <a:bodyPr/>
                    <a:lstStyle/>
                    <a:p>
                      <a:r>
                        <a:rPr lang="en-US" sz="1200" b="1">
                          <a:solidFill>
                            <a:srgbClr val="14213D"/>
                          </a:solidFill>
                          <a:latin typeface="Calibri" panose="020F0502020204030204" pitchFamily="34" charset="0"/>
                        </a:rPr>
                        <a:t>Issue log</a:t>
                      </a:r>
                    </a:p>
                  </a:txBody>
                  <a:tcPr marL="127000" marR="101600" marT="63500" marB="63500" anchor="ctr">
                    <a:solidFill>
                      <a:srgbClr val="F3F5F8"/>
                    </a:solidFill>
                  </a:tcPr>
                </a:tc>
                <a:tc>
                  <a:txBody>
                    <a:bodyPr/>
                    <a:lstStyle/>
                    <a:p>
                      <a:r>
                        <a:rPr lang="en-US" sz="1200">
                          <a:solidFill>
                            <a:srgbClr val="1F2937"/>
                          </a:solidFill>
                          <a:latin typeface="Calibri" panose="020F0502020204030204" pitchFamily="34" charset="0"/>
                        </a:rPr>
                        <a:t>Current problems: owner, due date, and status</a:t>
                      </a:r>
                    </a:p>
                  </a:txBody>
                  <a:tcPr marL="127000" marR="101600" marT="63500" marB="63500" anchor="ctr">
                    <a:solidFill>
                      <a:srgbClr val="F3F5F8"/>
                    </a:solidFill>
                  </a:tcPr>
                </a:tc>
                <a:tc>
                  <a:txBody>
                    <a:bodyPr/>
                    <a:lstStyle/>
                    <a:p>
                      <a:r>
                        <a:rPr lang="en-US" sz="1200">
                          <a:solidFill>
                            <a:srgbClr val="1F2937"/>
                          </a:solidFill>
                          <a:latin typeface="Calibri" panose="020F0502020204030204" pitchFamily="34" charset="0"/>
                        </a:rPr>
                        <a:t>Issues need action now; risks may never happen</a:t>
                      </a:r>
                    </a:p>
                  </a:txBody>
                  <a:tcPr marL="127000" marR="101600" marT="63500" marB="63500" anchor="ctr">
                    <a:solidFill>
                      <a:srgbClr val="F3F5F8"/>
                    </a:solidFill>
                  </a:tcPr>
                </a:tc>
                <a:extLst>
                  <a:ext uri="{0D108BD9-81ED-4DB2-BD59-A6C34878D82A}">
                    <a16:rowId xmlns:a16="http://schemas.microsoft.com/office/drawing/2014/main" val="2271079138"/>
                  </a:ext>
                </a:extLst>
              </a:tr>
              <a:tr h="508000">
                <a:tc>
                  <a:txBody>
                    <a:bodyPr/>
                    <a:lstStyle/>
                    <a:p>
                      <a:r>
                        <a:rPr lang="en-US" sz="1200" b="1">
                          <a:solidFill>
                            <a:srgbClr val="14213D"/>
                          </a:solidFill>
                          <a:latin typeface="Calibri" panose="020F0502020204030204" pitchFamily="34" charset="0"/>
                        </a:rPr>
                        <a:t>Assumption log</a:t>
                      </a:r>
                    </a:p>
                  </a:txBody>
                  <a:tcPr marL="127000" marR="101600" marT="63500" marB="63500" anchor="ctr">
                    <a:solidFill>
                      <a:srgbClr val="FFFFFF"/>
                    </a:solidFill>
                  </a:tcPr>
                </a:tc>
                <a:tc>
                  <a:txBody>
                    <a:bodyPr/>
                    <a:lstStyle/>
                    <a:p>
                      <a:r>
                        <a:rPr lang="en-US" sz="1200">
                          <a:solidFill>
                            <a:srgbClr val="1F2937"/>
                          </a:solidFill>
                          <a:latin typeface="Calibri" panose="020F0502020204030204" pitchFamily="34" charset="0"/>
                        </a:rPr>
                        <a:t>Assumptions and constraints, from the business case onward</a:t>
                      </a:r>
                    </a:p>
                  </a:txBody>
                  <a:tcPr marL="127000" marR="101600" marT="63500" marB="63500" anchor="ctr">
                    <a:solidFill>
                      <a:srgbClr val="FFFFFF"/>
                    </a:solidFill>
                  </a:tcPr>
                </a:tc>
                <a:tc>
                  <a:txBody>
                    <a:bodyPr/>
                    <a:lstStyle/>
                    <a:p>
                      <a:r>
                        <a:rPr lang="en-US" sz="1200">
                          <a:solidFill>
                            <a:srgbClr val="1F2937"/>
                          </a:solidFill>
                          <a:latin typeface="Calibri" panose="020F0502020204030204" pitchFamily="34" charset="0"/>
                        </a:rPr>
                        <a:t>A false assumption can become a risk or an issue</a:t>
                      </a:r>
                    </a:p>
                  </a:txBody>
                  <a:tcPr marL="127000" marR="101600" marT="63500" marB="63500" anchor="ctr">
                    <a:solidFill>
                      <a:srgbClr val="FFFFFF"/>
                    </a:solidFill>
                  </a:tcPr>
                </a:tc>
                <a:extLst>
                  <a:ext uri="{0D108BD9-81ED-4DB2-BD59-A6C34878D82A}">
                    <a16:rowId xmlns:a16="http://schemas.microsoft.com/office/drawing/2014/main" val="1889146774"/>
                  </a:ext>
                </a:extLst>
              </a:tr>
              <a:tr h="508000">
                <a:tc>
                  <a:txBody>
                    <a:bodyPr/>
                    <a:lstStyle/>
                    <a:p>
                      <a:r>
                        <a:rPr lang="en-US" sz="1200" b="1">
                          <a:solidFill>
                            <a:srgbClr val="14213D"/>
                          </a:solidFill>
                          <a:latin typeface="Calibri" panose="020F0502020204030204" pitchFamily="34" charset="0"/>
                        </a:rPr>
                        <a:t>Change log</a:t>
                      </a:r>
                    </a:p>
                  </a:txBody>
                  <a:tcPr marL="127000" marR="101600" marT="63500" marB="63500" anchor="ctr">
                    <a:solidFill>
                      <a:srgbClr val="F3F5F8"/>
                    </a:solidFill>
                  </a:tcPr>
                </a:tc>
                <a:tc>
                  <a:txBody>
                    <a:bodyPr/>
                    <a:lstStyle/>
                    <a:p>
                      <a:r>
                        <a:rPr lang="en-US" sz="1200">
                          <a:solidFill>
                            <a:srgbClr val="1F2937"/>
                          </a:solidFill>
                          <a:latin typeface="Calibri" panose="020F0502020204030204" pitchFamily="34" charset="0"/>
                        </a:rPr>
                        <a:t>Every change request and its outcome</a:t>
                      </a:r>
                    </a:p>
                  </a:txBody>
                  <a:tcPr marL="127000" marR="101600" marT="63500" marB="63500" anchor="ctr">
                    <a:solidFill>
                      <a:srgbClr val="F3F5F8"/>
                    </a:solidFill>
                  </a:tcPr>
                </a:tc>
                <a:tc>
                  <a:txBody>
                    <a:bodyPr/>
                    <a:lstStyle/>
                    <a:p>
                      <a:r>
                        <a:rPr lang="en-US" sz="1200">
                          <a:solidFill>
                            <a:srgbClr val="1F2937"/>
                          </a:solidFill>
                          <a:latin typeface="Calibri" panose="020F0502020204030204" pitchFamily="34" charset="0"/>
                        </a:rPr>
                        <a:t>It records decisions; it approves nothing</a:t>
                      </a:r>
                    </a:p>
                  </a:txBody>
                  <a:tcPr marL="127000" marR="101600" marT="63500" marB="63500" anchor="ctr">
                    <a:solidFill>
                      <a:srgbClr val="F3F5F8"/>
                    </a:solidFill>
                  </a:tcPr>
                </a:tc>
                <a:extLst>
                  <a:ext uri="{0D108BD9-81ED-4DB2-BD59-A6C34878D82A}">
                    <a16:rowId xmlns:a16="http://schemas.microsoft.com/office/drawing/2014/main" val="1535612049"/>
                  </a:ext>
                </a:extLst>
              </a:tr>
              <a:tr h="508000">
                <a:tc>
                  <a:txBody>
                    <a:bodyPr/>
                    <a:lstStyle/>
                    <a:p>
                      <a:r>
                        <a:rPr lang="en-US" sz="1200" b="1">
                          <a:solidFill>
                            <a:srgbClr val="14213D"/>
                          </a:solidFill>
                          <a:latin typeface="Calibri" panose="020F0502020204030204" pitchFamily="34" charset="0"/>
                        </a:rPr>
                        <a:t>Lessons learned register</a:t>
                      </a:r>
                    </a:p>
                  </a:txBody>
                  <a:tcPr marL="127000" marR="101600" marT="63500" marB="63500" anchor="ctr">
                    <a:solidFill>
                      <a:srgbClr val="FFFFFF"/>
                    </a:solidFill>
                  </a:tcPr>
                </a:tc>
                <a:tc>
                  <a:txBody>
                    <a:bodyPr/>
                    <a:lstStyle/>
                    <a:p>
                      <a:r>
                        <a:rPr lang="en-US" sz="1200">
                          <a:solidFill>
                            <a:srgbClr val="1F2937"/>
                          </a:solidFill>
                          <a:latin typeface="Calibri" panose="020F0502020204030204" pitchFamily="34" charset="0"/>
                        </a:rPr>
                        <a:t>Lessons captured throughout the project</a:t>
                      </a:r>
                    </a:p>
                  </a:txBody>
                  <a:tcPr marL="127000" marR="101600" marT="63500" marB="63500" anchor="ctr">
                    <a:solidFill>
                      <a:srgbClr val="FFFFFF"/>
                    </a:solidFill>
                  </a:tcPr>
                </a:tc>
                <a:tc>
                  <a:txBody>
                    <a:bodyPr/>
                    <a:lstStyle/>
                    <a:p>
                      <a:r>
                        <a:rPr lang="en-US" sz="1200">
                          <a:solidFill>
                            <a:srgbClr val="1F2937"/>
                          </a:solidFill>
                          <a:latin typeface="Calibri" panose="020F0502020204030204" pitchFamily="34" charset="0"/>
                        </a:rPr>
                        <a:t>At closure it moves into the lessons learned repository (an OPA)</a:t>
                      </a:r>
                    </a:p>
                  </a:txBody>
                  <a:tcPr marL="127000" marR="101600" marT="63500" marB="63500" anchor="ctr">
                    <a:solidFill>
                      <a:srgbClr val="FFFFFF"/>
                    </a:solidFill>
                  </a:tcPr>
                </a:tc>
                <a:extLst>
                  <a:ext uri="{0D108BD9-81ED-4DB2-BD59-A6C34878D82A}">
                    <a16:rowId xmlns:a16="http://schemas.microsoft.com/office/drawing/2014/main" val="1516537291"/>
                  </a:ext>
                </a:extLst>
              </a:tr>
              <a:tr h="508000">
                <a:tc>
                  <a:txBody>
                    <a:bodyPr/>
                    <a:lstStyle/>
                    <a:p>
                      <a:r>
                        <a:rPr lang="en-US" sz="1200" b="1">
                          <a:solidFill>
                            <a:srgbClr val="14213D"/>
                          </a:solidFill>
                          <a:latin typeface="Calibri" panose="020F0502020204030204" pitchFamily="34" charset="0"/>
                        </a:rPr>
                        <a:t>Stakeholder register</a:t>
                      </a:r>
                    </a:p>
                  </a:txBody>
                  <a:tcPr marL="127000" marR="101600" marT="63500" marB="63500" anchor="ctr">
                    <a:solidFill>
                      <a:srgbClr val="F3F5F8"/>
                    </a:solidFill>
                  </a:tcPr>
                </a:tc>
                <a:tc>
                  <a:txBody>
                    <a:bodyPr/>
                    <a:lstStyle/>
                    <a:p>
                      <a:r>
                        <a:rPr lang="en-US" sz="1200">
                          <a:solidFill>
                            <a:srgbClr val="1F2937"/>
                          </a:solidFill>
                          <a:latin typeface="Calibri" panose="020F0502020204030204" pitchFamily="34" charset="0"/>
                        </a:rPr>
                        <a:t>Who stakeholders are, their interests, influence, and classification</a:t>
                      </a:r>
                    </a:p>
                  </a:txBody>
                  <a:tcPr marL="127000" marR="101600" marT="63500" marB="63500" anchor="ctr">
                    <a:solidFill>
                      <a:srgbClr val="F3F5F8"/>
                    </a:solidFill>
                  </a:tcPr>
                </a:tc>
                <a:tc>
                  <a:txBody>
                    <a:bodyPr/>
                    <a:lstStyle/>
                    <a:p>
                      <a:r>
                        <a:rPr lang="en-US" sz="1200">
                          <a:solidFill>
                            <a:srgbClr val="1F2937"/>
                          </a:solidFill>
                          <a:latin typeface="Calibri" panose="020F0502020204030204" pitchFamily="34" charset="0"/>
                        </a:rPr>
                        <a:t>Sensitive: share the analysis carefully</a:t>
                      </a:r>
                    </a:p>
                  </a:txBody>
                  <a:tcPr marL="127000" marR="101600" marT="63500" marB="63500" anchor="ctr">
                    <a:solidFill>
                      <a:srgbClr val="F3F5F8"/>
                    </a:solidFill>
                  </a:tcPr>
                </a:tc>
                <a:extLst>
                  <a:ext uri="{0D108BD9-81ED-4DB2-BD59-A6C34878D82A}">
                    <a16:rowId xmlns:a16="http://schemas.microsoft.com/office/drawing/2014/main" val="3125854888"/>
                  </a:ext>
                </a:extLst>
              </a:tr>
              <a:tr h="508000">
                <a:tc>
                  <a:txBody>
                    <a:bodyPr/>
                    <a:lstStyle/>
                    <a:p>
                      <a:r>
                        <a:rPr lang="en-US" sz="1200" b="1">
                          <a:solidFill>
                            <a:srgbClr val="14213D"/>
                          </a:solidFill>
                          <a:latin typeface="Calibri" panose="020F0502020204030204" pitchFamily="34" charset="0"/>
                        </a:rPr>
                        <a:t>Change request types</a:t>
                      </a:r>
                    </a:p>
                  </a:txBody>
                  <a:tcPr marL="127000" marR="101600" marT="63500" marB="63500" anchor="ctr">
                    <a:solidFill>
                      <a:srgbClr val="FFFFFF"/>
                    </a:solidFill>
                  </a:tcPr>
                </a:tc>
                <a:tc>
                  <a:txBody>
                    <a:bodyPr/>
                    <a:lstStyle/>
                    <a:p>
                      <a:r>
                        <a:rPr lang="en-US" sz="1200">
                          <a:solidFill>
                            <a:srgbClr val="1F2937"/>
                          </a:solidFill>
                          <a:latin typeface="Calibri" panose="020F0502020204030204" pitchFamily="34" charset="0"/>
                        </a:rPr>
                        <a:t>Corrective action, preventive action, defect repair, updates</a:t>
                      </a:r>
                    </a:p>
                  </a:txBody>
                  <a:tcPr marL="127000" marR="101600" marT="63500" marB="63500" anchor="ctr">
                    <a:solidFill>
                      <a:srgbClr val="FFFFFF"/>
                    </a:solidFill>
                  </a:tcPr>
                </a:tc>
                <a:tc>
                  <a:txBody>
                    <a:bodyPr/>
                    <a:lstStyle/>
                    <a:p>
                      <a:r>
                        <a:rPr lang="en-US" sz="1200">
                          <a:solidFill>
                            <a:srgbClr val="1F2937"/>
                          </a:solidFill>
                          <a:latin typeface="Calibri" panose="020F0502020204030204" pitchFamily="34" charset="0"/>
                        </a:rPr>
                        <a:t>Corrective fixes a deviation; preventive stops a future one</a:t>
                      </a:r>
                    </a:p>
                  </a:txBody>
                  <a:tcPr marL="127000" marR="101600" marT="63500" marB="63500" anchor="ctr">
                    <a:solidFill>
                      <a:srgbClr val="FFFFFF"/>
                    </a:solidFill>
                  </a:tcPr>
                </a:tc>
                <a:extLst>
                  <a:ext uri="{0D108BD9-81ED-4DB2-BD59-A6C34878D82A}">
                    <a16:rowId xmlns:a16="http://schemas.microsoft.com/office/drawing/2014/main" val="473144901"/>
                  </a:ext>
                </a:extLst>
              </a:tr>
            </a:tbl>
          </a:graphicData>
        </a:graphic>
      </p:graphicFrame>
      <p:sp>
        <p:nvSpPr>
          <p:cNvPr id="5" name="Rectangle: Rounded Corners 4">
            <a:extLst>
              <a:ext uri="{FF2B5EF4-FFF2-40B4-BE49-F238E27FC236}">
                <a16:creationId xmlns:a16="http://schemas.microsoft.com/office/drawing/2014/main" id="{67E9D9BF-2148-AFAE-44EF-3E760F233AFD}"/>
              </a:ext>
            </a:extLst>
          </p:cNvPr>
          <p:cNvSpPr/>
          <p:nvPr/>
        </p:nvSpPr>
        <p:spPr>
          <a:xfrm>
            <a:off x="508000" y="5486400"/>
            <a:ext cx="11176000" cy="838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4D722EF-2060-CEFC-D9E7-C424F26FEFAC}"/>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if it has happened, it goes in the issue log; if it might happen, it belongs in the risk register.</a:t>
            </a:r>
          </a:p>
        </p:txBody>
      </p:sp>
      <p:sp>
        <p:nvSpPr>
          <p:cNvPr id="7" name="Footer">
            <a:extLst>
              <a:ext uri="{FF2B5EF4-FFF2-40B4-BE49-F238E27FC236}">
                <a16:creationId xmlns:a16="http://schemas.microsoft.com/office/drawing/2014/main" id="{61D4758F-1478-21C0-3B4F-3E47BD2869BF}"/>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PMBOK® Guide — Sixth Edition, 4.1, 4.3, 4.4, 4.6, 11.2, and 13.1</a:t>
            </a:r>
          </a:p>
        </p:txBody>
      </p:sp>
      <p:sp>
        <p:nvSpPr>
          <p:cNvPr id="8" name="SlideNum">
            <a:extLst>
              <a:ext uri="{FF2B5EF4-FFF2-40B4-BE49-F238E27FC236}">
                <a16:creationId xmlns:a16="http://schemas.microsoft.com/office/drawing/2014/main" id="{57F714ED-6025-5551-5F61-00A44E6091EB}"/>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56</a:t>
            </a:r>
          </a:p>
        </p:txBody>
      </p:sp>
      <p:sp>
        <p:nvSpPr>
          <p:cNvPr id="9"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8772907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289CEBC-2CFA-C5B8-5295-8C14C45C804A}"/>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Artifact management: standards and version control</a:t>
            </a:r>
          </a:p>
        </p:txBody>
      </p:sp>
      <p:sp>
        <p:nvSpPr>
          <p:cNvPr id="3" name="Tag">
            <a:extLst>
              <a:ext uri="{FF2B5EF4-FFF2-40B4-BE49-F238E27FC236}">
                <a16:creationId xmlns:a16="http://schemas.microsoft.com/office/drawing/2014/main" id="{6EFEE2FC-BF86-53A6-6E7B-D7603F2D7A25}"/>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9 (artifacts are created, reviewed, updated, documented, and accessible)</a:t>
            </a:r>
          </a:p>
        </p:txBody>
      </p:sp>
      <p:sp>
        <p:nvSpPr>
          <p:cNvPr id="4" name="Rectangle: Rounded Corners 3">
            <a:extLst>
              <a:ext uri="{FF2B5EF4-FFF2-40B4-BE49-F238E27FC236}">
                <a16:creationId xmlns:a16="http://schemas.microsoft.com/office/drawing/2014/main" id="{C1457900-00A2-F06A-FDB2-55C81C431087}"/>
              </a:ext>
            </a:extLst>
          </p:cNvPr>
          <p:cNvSpPr/>
          <p:nvPr/>
        </p:nvSpPr>
        <p:spPr>
          <a:xfrm>
            <a:off x="508000" y="1320800"/>
            <a:ext cx="5461000" cy="2743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E170801-E308-5D9E-F236-71DDBAC87BB2}"/>
              </a:ext>
            </a:extLst>
          </p:cNvPr>
          <p:cNvSpPr txBox="1"/>
          <p:nvPr/>
        </p:nvSpPr>
        <p:spPr>
          <a:xfrm>
            <a:off x="685800" y="1498600"/>
            <a:ext cx="5105400" cy="2387600"/>
          </a:xfrm>
          <a:prstGeom prst="rect">
            <a:avLst/>
          </a:prstGeom>
          <a:noFill/>
        </p:spPr>
        <p:txBody>
          <a:bodyPr vert="horz" wrap="square" lIns="0" tIns="0" rIns="0" bIns="0" rtlCol="0" anchor="t">
            <a:noAutofit/>
          </a:bodyPr>
          <a:lstStyle/>
          <a:p>
            <a:pPr>
              <a:spcAft>
                <a:spcPts val="600"/>
              </a:spcAft>
            </a:pPr>
            <a:r>
              <a:rPr lang="en-US" sz="1600" b="1">
                <a:solidFill>
                  <a:srgbClr val="34509A"/>
                </a:solidFill>
                <a:latin typeface="Calibri" panose="020F0502020204030204" pitchFamily="34" charset="0"/>
              </a:rPr>
              <a:t>Standardize artifacts</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A simple way to produce and control documents</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Standardized formats and templates</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A structured review and approval process</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Version control and security</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Timely distribution to the people who need them</a:t>
            </a:r>
          </a:p>
        </p:txBody>
      </p:sp>
      <p:sp>
        <p:nvSpPr>
          <p:cNvPr id="6" name="Rectangle: Rounded Corners 5">
            <a:extLst>
              <a:ext uri="{FF2B5EF4-FFF2-40B4-BE49-F238E27FC236}">
                <a16:creationId xmlns:a16="http://schemas.microsoft.com/office/drawing/2014/main" id="{C213682A-36C6-5037-001E-2BC1A1C5CC96}"/>
              </a:ext>
            </a:extLst>
          </p:cNvPr>
          <p:cNvSpPr/>
          <p:nvPr/>
        </p:nvSpPr>
        <p:spPr>
          <a:xfrm>
            <a:off x="6223000" y="1320800"/>
            <a:ext cx="5461000" cy="2743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25D4319-C63C-B2DD-AC20-E5D4134F85C5}"/>
              </a:ext>
            </a:extLst>
          </p:cNvPr>
          <p:cNvSpPr txBox="1"/>
          <p:nvPr/>
        </p:nvSpPr>
        <p:spPr>
          <a:xfrm>
            <a:off x="6400800" y="1498600"/>
            <a:ext cx="5105400" cy="2387600"/>
          </a:xfrm>
          <a:prstGeom prst="rect">
            <a:avLst/>
          </a:prstGeom>
          <a:noFill/>
        </p:spPr>
        <p:txBody>
          <a:bodyPr vert="horz" wrap="square" lIns="0" tIns="0" rIns="0" bIns="0" rtlCol="0" anchor="t">
            <a:noAutofit/>
          </a:bodyPr>
          <a:lstStyle/>
          <a:p>
            <a:pPr>
              <a:spcAft>
                <a:spcPts val="600"/>
              </a:spcAft>
            </a:pPr>
            <a:r>
              <a:rPr lang="en-US" sz="1600" b="1">
                <a:solidFill>
                  <a:srgbClr val="34509A"/>
                </a:solidFill>
                <a:latin typeface="Calibri" panose="020F0502020204030204" pitchFamily="34" charset="0"/>
              </a:rPr>
              <a:t>Version control</a:t>
            </a:r>
          </a:p>
          <a:p>
            <a:r>
              <a:rPr lang="en-US" sz="1300">
                <a:solidFill>
                  <a:srgbClr val="1F2937"/>
                </a:solidFill>
                <a:latin typeface="Calibri" panose="020F0502020204030204" pitchFamily="34" charset="0"/>
              </a:rPr>
              <a:t>A system that records changes to a file so earlier versions can be retrieved. It is the part of configuration management that covers documents and records.</a:t>
            </a:r>
          </a:p>
          <a:p>
            <a:r>
              <a:rPr lang="en-US" sz="1300">
                <a:solidFill>
                  <a:srgbClr val="1F2937"/>
                </a:solidFill>
                <a:latin typeface="Calibri" panose="020F0502020204030204" pitchFamily="34" charset="0"/>
              </a:rPr>
              <a:t>Every update carries:</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A new version number</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A date and time stamp</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The name of the person who made the change</a:t>
            </a:r>
          </a:p>
        </p:txBody>
      </p:sp>
      <p:sp>
        <p:nvSpPr>
          <p:cNvPr id="8" name="Rectangle: Rounded Corners 7">
            <a:extLst>
              <a:ext uri="{FF2B5EF4-FFF2-40B4-BE49-F238E27FC236}">
                <a16:creationId xmlns:a16="http://schemas.microsoft.com/office/drawing/2014/main" id="{C5532747-2FF9-9FC7-DF74-116FB0EB948E}"/>
              </a:ext>
            </a:extLst>
          </p:cNvPr>
          <p:cNvSpPr/>
          <p:nvPr/>
        </p:nvSpPr>
        <p:spPr>
          <a:xfrm>
            <a:off x="508000" y="4216400"/>
            <a:ext cx="5461000" cy="11430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4AF72BE-0B7E-F5C5-AE07-F17662194CA2}"/>
              </a:ext>
            </a:extLst>
          </p:cNvPr>
          <p:cNvSpPr txBox="1"/>
          <p:nvPr/>
        </p:nvSpPr>
        <p:spPr>
          <a:xfrm>
            <a:off x="685800" y="4394200"/>
            <a:ext cx="5105400" cy="787400"/>
          </a:xfrm>
          <a:prstGeom prst="rect">
            <a:avLst/>
          </a:prstGeom>
          <a:noFill/>
        </p:spPr>
        <p:txBody>
          <a:bodyPr vert="horz" wrap="square" lIns="0" tIns="0" rIns="0" bIns="0" rtlCol="0" anchor="t">
            <a:noAutofit/>
          </a:bodyPr>
          <a:lstStyle/>
          <a:p>
            <a:pPr>
              <a:spcAft>
                <a:spcPts val="600"/>
              </a:spcAft>
            </a:pPr>
            <a:r>
              <a:rPr lang="en-US" sz="1500" b="1">
                <a:solidFill>
                  <a:srgbClr val="A86F0E"/>
                </a:solidFill>
                <a:latin typeface="Calibri" panose="020F0502020204030204" pitchFamily="34" charset="0"/>
              </a:rPr>
              <a:t>Apply it everywhere</a:t>
            </a:r>
          </a:p>
          <a:p>
            <a:r>
              <a:rPr lang="en-US" sz="1200">
                <a:solidFill>
                  <a:srgbClr val="1F2937"/>
                </a:solidFill>
                <a:latin typeface="Calibri" panose="020F0502020204030204" pitchFamily="34" charset="0"/>
              </a:rPr>
              <a:t>Version-control every artifact, especially the project management plan, and keep one source of truth with access controls.</a:t>
            </a:r>
          </a:p>
        </p:txBody>
      </p:sp>
      <p:sp>
        <p:nvSpPr>
          <p:cNvPr id="10" name="Rectangle: Rounded Corners 9">
            <a:extLst>
              <a:ext uri="{FF2B5EF4-FFF2-40B4-BE49-F238E27FC236}">
                <a16:creationId xmlns:a16="http://schemas.microsoft.com/office/drawing/2014/main" id="{6D3D0AE8-9723-9393-99F2-2EEC43F10F54}"/>
              </a:ext>
            </a:extLst>
          </p:cNvPr>
          <p:cNvSpPr/>
          <p:nvPr/>
        </p:nvSpPr>
        <p:spPr>
          <a:xfrm>
            <a:off x="508000" y="5486400"/>
            <a:ext cx="11176000" cy="838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E6CA2FE-AADB-B6F7-E7B8-8AD4B5C06CA2}"/>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if people are working from outdated documents, the fix is version control and a controlled distribution process, not more meetings.</a:t>
            </a:r>
          </a:p>
        </p:txBody>
      </p:sp>
      <p:sp>
        <p:nvSpPr>
          <p:cNvPr id="12" name="Footer">
            <a:extLst>
              <a:ext uri="{FF2B5EF4-FFF2-40B4-BE49-F238E27FC236}">
                <a16:creationId xmlns:a16="http://schemas.microsoft.com/office/drawing/2014/main" id="{B152767A-9886-8CD7-DF93-BFB20A88FFD5}"/>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PMP® Examination Content Outline (July 2026), Process Task 9; PMI, PMBOK® Guide — Sixth Edition, 4.6 (configuration management); adapted from PMI course material</a:t>
            </a:r>
          </a:p>
        </p:txBody>
      </p:sp>
      <p:sp>
        <p:nvSpPr>
          <p:cNvPr id="13" name="SlideNum">
            <a:extLst>
              <a:ext uri="{FF2B5EF4-FFF2-40B4-BE49-F238E27FC236}">
                <a16:creationId xmlns:a16="http://schemas.microsoft.com/office/drawing/2014/main" id="{9BA52A4C-3AA0-F813-7E84-B68C11386B96}"/>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57</a:t>
            </a:r>
          </a:p>
        </p:txBody>
      </p:sp>
      <p:sp>
        <p:nvSpPr>
          <p:cNvPr id="14" name="Rectangle: Rounded Corners 13">
            <a:extLst>
              <a:ext uri="{FF2B5EF4-FFF2-40B4-BE49-F238E27FC236}">
                <a16:creationId xmlns:a16="http://schemas.microsoft.com/office/drawing/2014/main" id="{918D8BE8-BBDD-A531-CCB2-22CCDD94BD3B}"/>
              </a:ext>
            </a:extLst>
          </p:cNvPr>
          <p:cNvSpPr/>
          <p:nvPr/>
        </p:nvSpPr>
        <p:spPr>
          <a:xfrm>
            <a:off x="6223000" y="4216400"/>
            <a:ext cx="5461000" cy="1143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806E149-D76B-E0E4-B2E1-C16EA1DA9375}"/>
              </a:ext>
            </a:extLst>
          </p:cNvPr>
          <p:cNvSpPr txBox="1"/>
          <p:nvPr/>
        </p:nvSpPr>
        <p:spPr>
          <a:xfrm>
            <a:off x="6400800" y="4394200"/>
            <a:ext cx="5105400" cy="7874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Configuration vs. change control</a:t>
            </a:r>
          </a:p>
          <a:p>
            <a:r>
              <a:rPr lang="en-US" sz="1200">
                <a:solidFill>
                  <a:srgbClr val="1F2937"/>
                </a:solidFill>
                <a:latin typeface="Calibri" panose="020F0502020204030204" pitchFamily="34" charset="0"/>
              </a:rPr>
              <a:t>Configuration management identifies items, tracks their versions, and audits them. Change control decides changes to the baselines.</a:t>
            </a:r>
          </a:p>
        </p:txBody>
      </p:sp>
      <p:sp>
        <p:nvSpPr>
          <p:cNvPr id="16"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5533377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BDFCA49-917E-F112-06C2-AF945F9FF832}"/>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Project closure overview: what PMI expects</a:t>
            </a:r>
          </a:p>
        </p:txBody>
      </p:sp>
      <p:sp>
        <p:nvSpPr>
          <p:cNvPr id="3" name="Tag">
            <a:extLst>
              <a:ext uri="{FF2B5EF4-FFF2-40B4-BE49-F238E27FC236}">
                <a16:creationId xmlns:a16="http://schemas.microsoft.com/office/drawing/2014/main" id="{7509D624-83ED-04AF-DA46-B16C7B0F55D3}"/>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10 (Manage project closure)</a:t>
            </a:r>
          </a:p>
        </p:txBody>
      </p:sp>
      <p:sp>
        <p:nvSpPr>
          <p:cNvPr id="4" name="TextBox 3">
            <a:extLst>
              <a:ext uri="{FF2B5EF4-FFF2-40B4-BE49-F238E27FC236}">
                <a16:creationId xmlns:a16="http://schemas.microsoft.com/office/drawing/2014/main" id="{CD27F5A5-AA12-9D5E-29B0-45AD7203AAC2}"/>
              </a:ext>
            </a:extLst>
          </p:cNvPr>
          <p:cNvSpPr txBox="1"/>
          <p:nvPr/>
        </p:nvSpPr>
        <p:spPr>
          <a:xfrm>
            <a:off x="508000" y="1320800"/>
            <a:ext cx="11176000" cy="431800"/>
          </a:xfrm>
          <a:prstGeom prst="rect">
            <a:avLst/>
          </a:prstGeom>
          <a:noFill/>
        </p:spPr>
        <p:txBody>
          <a:bodyPr vert="horz" wrap="square" lIns="0" tIns="0" rIns="0" bIns="0" rtlCol="0" anchor="t">
            <a:noAutofit/>
          </a:bodyPr>
          <a:lstStyle/>
          <a:p>
            <a:r>
              <a:rPr lang="en-US" sz="1300">
                <a:solidFill>
                  <a:srgbClr val="1F2937"/>
                </a:solidFill>
                <a:latin typeface="Calibri" panose="020F0502020204030204" pitchFamily="34" charset="0"/>
              </a:rPr>
              <a:t>Close Project or Phase finalizes all activities for the project, phase, or contract. It is the one process in the Closing process group, and it runs even when a project ends early.</a:t>
            </a:r>
          </a:p>
        </p:txBody>
      </p:sp>
      <p:sp>
        <p:nvSpPr>
          <p:cNvPr id="5" name="Rectangle: Rounded Corners 4">
            <a:extLst>
              <a:ext uri="{FF2B5EF4-FFF2-40B4-BE49-F238E27FC236}">
                <a16:creationId xmlns:a16="http://schemas.microsoft.com/office/drawing/2014/main" id="{B08D1DDF-A37D-D01E-D539-7A2BF56DE73F}"/>
              </a:ext>
            </a:extLst>
          </p:cNvPr>
          <p:cNvSpPr/>
          <p:nvPr/>
        </p:nvSpPr>
        <p:spPr>
          <a:xfrm>
            <a:off x="508000" y="1828800"/>
            <a:ext cx="3429000" cy="1727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B204BE6-2829-7805-32E6-71F444F30273}"/>
              </a:ext>
            </a:extLst>
          </p:cNvPr>
          <p:cNvSpPr txBox="1"/>
          <p:nvPr/>
        </p:nvSpPr>
        <p:spPr>
          <a:xfrm>
            <a:off x="635000" y="1955800"/>
            <a:ext cx="3175000" cy="14732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Key inputs</a:t>
            </a:r>
          </a:p>
          <a:p>
            <a:pPr marL="127000" indent="-127000">
              <a:spcAft>
                <a:spcPts val="400"/>
              </a:spcAft>
              <a:buClr>
                <a:srgbClr val="34509A"/>
              </a:buClr>
              <a:buFont typeface="+mj-lt"/>
              <a:buChar char="•"/>
            </a:pPr>
            <a:r>
              <a:rPr lang="en-US" sz="1100">
                <a:solidFill>
                  <a:srgbClr val="1F2937"/>
                </a:solidFill>
                <a:latin typeface="Calibri" panose="020F0502020204030204" pitchFamily="34" charset="0"/>
              </a:rPr>
              <a:t>Charter and project management plan</a:t>
            </a:r>
          </a:p>
          <a:p>
            <a:pPr marL="127000" indent="-127000">
              <a:spcAft>
                <a:spcPts val="400"/>
              </a:spcAft>
              <a:buClr>
                <a:srgbClr val="34509A"/>
              </a:buClr>
              <a:buFont typeface="+mj-lt"/>
              <a:buChar char="•"/>
            </a:pPr>
            <a:r>
              <a:rPr lang="en-US" sz="1100">
                <a:solidFill>
                  <a:srgbClr val="1F2937"/>
                </a:solidFill>
                <a:latin typeface="Calibri" panose="020F0502020204030204" pitchFamily="34" charset="0"/>
              </a:rPr>
              <a:t>Accepted deliverables</a:t>
            </a:r>
          </a:p>
          <a:p>
            <a:pPr marL="127000" indent="-127000">
              <a:spcAft>
                <a:spcPts val="400"/>
              </a:spcAft>
              <a:buClr>
                <a:srgbClr val="34509A"/>
              </a:buClr>
              <a:buFont typeface="+mj-lt"/>
              <a:buChar char="•"/>
            </a:pPr>
            <a:r>
              <a:rPr lang="en-US" sz="1100">
                <a:solidFill>
                  <a:srgbClr val="1F2937"/>
                </a:solidFill>
                <a:latin typeface="Calibri" panose="020F0502020204030204" pitchFamily="34" charset="0"/>
              </a:rPr>
              <a:t>Business case and benefits plan</a:t>
            </a:r>
          </a:p>
          <a:p>
            <a:pPr marL="127000" indent="-127000">
              <a:spcAft>
                <a:spcPts val="400"/>
              </a:spcAft>
              <a:buClr>
                <a:srgbClr val="34509A"/>
              </a:buClr>
              <a:buFont typeface="+mj-lt"/>
              <a:buChar char="•"/>
            </a:pPr>
            <a:r>
              <a:rPr lang="en-US" sz="1100">
                <a:solidFill>
                  <a:srgbClr val="1F2937"/>
                </a:solidFill>
                <a:latin typeface="Calibri" panose="020F0502020204030204" pitchFamily="34" charset="0"/>
              </a:rPr>
              <a:t>Agreements and procurement records</a:t>
            </a:r>
          </a:p>
          <a:p>
            <a:pPr marL="127000" indent="-127000">
              <a:spcAft>
                <a:spcPts val="400"/>
              </a:spcAft>
              <a:buClr>
                <a:srgbClr val="34509A"/>
              </a:buClr>
              <a:buFont typeface="+mj-lt"/>
              <a:buChar char="•"/>
            </a:pPr>
            <a:r>
              <a:rPr lang="en-US" sz="1100">
                <a:solidFill>
                  <a:srgbClr val="1F2937"/>
                </a:solidFill>
                <a:latin typeface="Calibri" panose="020F0502020204030204" pitchFamily="34" charset="0"/>
              </a:rPr>
              <a:t>Logs, registers, and reports</a:t>
            </a:r>
          </a:p>
        </p:txBody>
      </p:sp>
      <p:sp>
        <p:nvSpPr>
          <p:cNvPr id="7" name="Rectangle: Rounded Corners 6">
            <a:extLst>
              <a:ext uri="{FF2B5EF4-FFF2-40B4-BE49-F238E27FC236}">
                <a16:creationId xmlns:a16="http://schemas.microsoft.com/office/drawing/2014/main" id="{DA3DF7D9-B631-BFB4-58BA-1C16FC3A8C5B}"/>
              </a:ext>
            </a:extLst>
          </p:cNvPr>
          <p:cNvSpPr/>
          <p:nvPr/>
        </p:nvSpPr>
        <p:spPr>
          <a:xfrm>
            <a:off x="4191000" y="1828800"/>
            <a:ext cx="3429000" cy="1727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70DE9D0-7E77-3A79-8F02-7540469D63B1}"/>
              </a:ext>
            </a:extLst>
          </p:cNvPr>
          <p:cNvSpPr txBox="1"/>
          <p:nvPr/>
        </p:nvSpPr>
        <p:spPr>
          <a:xfrm>
            <a:off x="4318000" y="1955800"/>
            <a:ext cx="3175000" cy="14732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How it is done</a:t>
            </a:r>
          </a:p>
          <a:p>
            <a:pPr marL="127000" indent="-127000">
              <a:spcAft>
                <a:spcPts val="400"/>
              </a:spcAft>
              <a:buClr>
                <a:srgbClr val="34509A"/>
              </a:buClr>
              <a:buFont typeface="+mj-lt"/>
              <a:buChar char="•"/>
            </a:pPr>
            <a:r>
              <a:rPr lang="en-US" sz="1100">
                <a:solidFill>
                  <a:srgbClr val="1F2937"/>
                </a:solidFill>
                <a:latin typeface="Calibri" panose="020F0502020204030204" pitchFamily="34" charset="0"/>
              </a:rPr>
              <a:t>Expert judgment</a:t>
            </a:r>
          </a:p>
          <a:p>
            <a:pPr marL="127000" indent="-127000">
              <a:spcAft>
                <a:spcPts val="400"/>
              </a:spcAft>
              <a:buClr>
                <a:srgbClr val="34509A"/>
              </a:buClr>
              <a:buFont typeface="+mj-lt"/>
              <a:buChar char="•"/>
            </a:pPr>
            <a:r>
              <a:rPr lang="en-US" sz="1100">
                <a:solidFill>
                  <a:srgbClr val="1F2937"/>
                </a:solidFill>
                <a:latin typeface="Calibri" panose="020F0502020204030204" pitchFamily="34" charset="0"/>
              </a:rPr>
              <a:t>Document, variance, and trend analysis</a:t>
            </a:r>
          </a:p>
          <a:p>
            <a:pPr marL="127000" indent="-127000">
              <a:spcAft>
                <a:spcPts val="400"/>
              </a:spcAft>
              <a:buClr>
                <a:srgbClr val="34509A"/>
              </a:buClr>
              <a:buFont typeface="+mj-lt"/>
              <a:buChar char="•"/>
            </a:pPr>
            <a:r>
              <a:rPr lang="en-US" sz="1100">
                <a:solidFill>
                  <a:srgbClr val="1F2937"/>
                </a:solidFill>
                <a:latin typeface="Calibri" panose="020F0502020204030204" pitchFamily="34" charset="0"/>
              </a:rPr>
              <a:t>Close-out and lessons learned meetings</a:t>
            </a:r>
          </a:p>
          <a:p>
            <a:pPr marL="127000" indent="-127000">
              <a:spcAft>
                <a:spcPts val="400"/>
              </a:spcAft>
              <a:buClr>
                <a:srgbClr val="34509A"/>
              </a:buClr>
              <a:buFont typeface="+mj-lt"/>
              <a:buChar char="•"/>
            </a:pPr>
            <a:r>
              <a:rPr lang="en-US" sz="1100">
                <a:solidFill>
                  <a:srgbClr val="1F2937"/>
                </a:solidFill>
                <a:latin typeface="Calibri" panose="020F0502020204030204" pitchFamily="34" charset="0"/>
              </a:rPr>
              <a:t>Check against the closure criteria</a:t>
            </a:r>
          </a:p>
        </p:txBody>
      </p:sp>
      <p:sp>
        <p:nvSpPr>
          <p:cNvPr id="9" name="Rectangle: Rounded Corners 8">
            <a:extLst>
              <a:ext uri="{FF2B5EF4-FFF2-40B4-BE49-F238E27FC236}">
                <a16:creationId xmlns:a16="http://schemas.microsoft.com/office/drawing/2014/main" id="{76FCF1E7-D70D-F91F-D883-7AB0F291DAB3}"/>
              </a:ext>
            </a:extLst>
          </p:cNvPr>
          <p:cNvSpPr/>
          <p:nvPr/>
        </p:nvSpPr>
        <p:spPr>
          <a:xfrm>
            <a:off x="7874000" y="1828800"/>
            <a:ext cx="3810000" cy="17272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3998E1E-4F6A-FE61-C453-2830C0B95FC0}"/>
              </a:ext>
            </a:extLst>
          </p:cNvPr>
          <p:cNvSpPr txBox="1"/>
          <p:nvPr/>
        </p:nvSpPr>
        <p:spPr>
          <a:xfrm>
            <a:off x="8001000" y="1955800"/>
            <a:ext cx="3556000" cy="1473200"/>
          </a:xfrm>
          <a:prstGeom prst="rect">
            <a:avLst/>
          </a:prstGeom>
          <a:noFill/>
        </p:spPr>
        <p:txBody>
          <a:bodyPr vert="horz" wrap="square" lIns="0" tIns="0" rIns="0" bIns="0" rtlCol="0" anchor="t">
            <a:noAutofit/>
          </a:bodyPr>
          <a:lstStyle/>
          <a:p>
            <a:pPr>
              <a:spcAft>
                <a:spcPts val="600"/>
              </a:spcAft>
            </a:pPr>
            <a:r>
              <a:rPr lang="en-US" sz="1400" b="1">
                <a:solidFill>
                  <a:srgbClr val="A86F0E"/>
                </a:solidFill>
                <a:latin typeface="Calibri" panose="020F0502020204030204" pitchFamily="34" charset="0"/>
              </a:rPr>
              <a:t>Outputs</a:t>
            </a:r>
          </a:p>
          <a:p>
            <a:pPr marL="127000" indent="-127000">
              <a:spcAft>
                <a:spcPts val="400"/>
              </a:spcAft>
              <a:buClr>
                <a:srgbClr val="A86F0E"/>
              </a:buClr>
              <a:buFont typeface="+mj-lt"/>
              <a:buChar char="•"/>
            </a:pPr>
            <a:r>
              <a:rPr lang="en-US" sz="1100">
                <a:solidFill>
                  <a:srgbClr val="1F2937"/>
                </a:solidFill>
                <a:latin typeface="Calibri" panose="020F0502020204030204" pitchFamily="34" charset="0"/>
              </a:rPr>
              <a:t>Final product, service, or result transitioned</a:t>
            </a:r>
          </a:p>
          <a:p>
            <a:pPr marL="127000" indent="-127000">
              <a:spcAft>
                <a:spcPts val="400"/>
              </a:spcAft>
              <a:buClr>
                <a:srgbClr val="A86F0E"/>
              </a:buClr>
              <a:buFont typeface="+mj-lt"/>
              <a:buChar char="•"/>
            </a:pPr>
            <a:r>
              <a:rPr lang="en-US" sz="1100">
                <a:solidFill>
                  <a:srgbClr val="1F2937"/>
                </a:solidFill>
                <a:latin typeface="Calibri" panose="020F0502020204030204" pitchFamily="34" charset="0"/>
              </a:rPr>
              <a:t>Final report</a:t>
            </a:r>
          </a:p>
          <a:p>
            <a:pPr marL="127000" indent="-127000">
              <a:spcAft>
                <a:spcPts val="400"/>
              </a:spcAft>
              <a:buClr>
                <a:srgbClr val="A86F0E"/>
              </a:buClr>
              <a:buFont typeface="+mj-lt"/>
              <a:buChar char="•"/>
            </a:pPr>
            <a:r>
              <a:rPr lang="en-US" sz="1100">
                <a:solidFill>
                  <a:srgbClr val="1F2937"/>
                </a:solidFill>
                <a:latin typeface="Calibri" panose="020F0502020204030204" pitchFamily="34" charset="0"/>
              </a:rPr>
              <a:t>Lessons learned register finalized</a:t>
            </a:r>
          </a:p>
          <a:p>
            <a:pPr marL="127000" indent="-127000">
              <a:spcAft>
                <a:spcPts val="400"/>
              </a:spcAft>
              <a:buClr>
                <a:srgbClr val="A86F0E"/>
              </a:buClr>
              <a:buFont typeface="+mj-lt"/>
              <a:buChar char="•"/>
            </a:pPr>
            <a:r>
              <a:rPr lang="en-US" sz="1100">
                <a:solidFill>
                  <a:srgbClr val="1F2937"/>
                </a:solidFill>
                <a:latin typeface="Calibri" panose="020F0502020204030204" pitchFamily="34" charset="0"/>
              </a:rPr>
              <a:t>OPA updates: archives, closure documents, lessons learned repository</a:t>
            </a:r>
          </a:p>
        </p:txBody>
      </p:sp>
      <p:cxnSp>
        <p:nvCxnSpPr>
          <p:cNvPr id="11" name="Straight Connector 10">
            <a:extLst>
              <a:ext uri="{FF2B5EF4-FFF2-40B4-BE49-F238E27FC236}">
                <a16:creationId xmlns:a16="http://schemas.microsoft.com/office/drawing/2014/main" id="{9FDA173D-96F2-2194-A12C-0993E8119327}"/>
              </a:ext>
            </a:extLst>
          </p:cNvPr>
          <p:cNvCxnSpPr/>
          <p:nvPr/>
        </p:nvCxnSpPr>
        <p:spPr>
          <a:xfrm>
            <a:off x="3962400" y="2692400"/>
            <a:ext cx="203200" cy="0"/>
          </a:xfrm>
          <a:prstGeom prst="line">
            <a:avLst/>
          </a:prstGeom>
          <a:ln w="19050">
            <a:solidFill>
              <a:srgbClr val="5B6475"/>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B5556AF-A3F6-958A-BED4-B54D00D4955C}"/>
              </a:ext>
            </a:extLst>
          </p:cNvPr>
          <p:cNvCxnSpPr/>
          <p:nvPr/>
        </p:nvCxnSpPr>
        <p:spPr>
          <a:xfrm>
            <a:off x="7645400" y="2692400"/>
            <a:ext cx="203200" cy="0"/>
          </a:xfrm>
          <a:prstGeom prst="line">
            <a:avLst/>
          </a:prstGeom>
          <a:ln w="19050">
            <a:solidFill>
              <a:srgbClr val="5B6475"/>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1AB514B1-FE6D-D2DD-42E2-B8BA6415C6B1}"/>
              </a:ext>
            </a:extLst>
          </p:cNvPr>
          <p:cNvSpPr/>
          <p:nvPr/>
        </p:nvSpPr>
        <p:spPr>
          <a:xfrm>
            <a:off x="508000" y="3683000"/>
            <a:ext cx="11176000" cy="16764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007FE7A7-140D-9A67-D281-9A9AF6F5597E}"/>
              </a:ext>
            </a:extLst>
          </p:cNvPr>
          <p:cNvSpPr/>
          <p:nvPr/>
        </p:nvSpPr>
        <p:spPr>
          <a:xfrm>
            <a:off x="508000" y="5486400"/>
            <a:ext cx="11176000" cy="838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783A3C52-5230-0C16-BCFE-AE65B0414107}"/>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formal acceptance comes from Validate Scope; Close Project or Phase confirms everything is done, hands over the result, and archives what was learned. Benefits may be realized after closure.</a:t>
            </a:r>
          </a:p>
        </p:txBody>
      </p:sp>
      <p:sp>
        <p:nvSpPr>
          <p:cNvPr id="17" name="Footer">
            <a:extLst>
              <a:ext uri="{FF2B5EF4-FFF2-40B4-BE49-F238E27FC236}">
                <a16:creationId xmlns:a16="http://schemas.microsoft.com/office/drawing/2014/main" id="{835F8A90-7720-A58B-5804-D97291316829}"/>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4.7 (Close Project or Phase); Seventh Edition, Delivery Performance Domain; PMI, PMP® Examination Content Outline (July 2026), Process Task 10</a:t>
            </a:r>
          </a:p>
        </p:txBody>
      </p:sp>
      <p:sp>
        <p:nvSpPr>
          <p:cNvPr id="18" name="SlideNum">
            <a:extLst>
              <a:ext uri="{FF2B5EF4-FFF2-40B4-BE49-F238E27FC236}">
                <a16:creationId xmlns:a16="http://schemas.microsoft.com/office/drawing/2014/main" id="{4FC38131-3607-C0C4-57F6-D13A1E92E502}"/>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58</a:t>
            </a:r>
          </a:p>
        </p:txBody>
      </p:sp>
      <p:sp>
        <p:nvSpPr>
          <p:cNvPr id="19" name="TextBox 18">
            <a:extLst>
              <a:ext uri="{FF2B5EF4-FFF2-40B4-BE49-F238E27FC236}">
                <a16:creationId xmlns:a16="http://schemas.microsoft.com/office/drawing/2014/main" id="{4FC1673E-BB8C-ACA9-60B2-1F7481E685CC}"/>
              </a:ext>
            </a:extLst>
          </p:cNvPr>
          <p:cNvSpPr txBox="1"/>
          <p:nvPr/>
        </p:nvSpPr>
        <p:spPr>
          <a:xfrm>
            <a:off x="711200" y="3810000"/>
            <a:ext cx="5080000" cy="254000"/>
          </a:xfrm>
          <a:prstGeom prst="rect">
            <a:avLst/>
          </a:prstGeom>
          <a:noFill/>
        </p:spPr>
        <p:txBody>
          <a:bodyPr vert="horz" wrap="square" lIns="0" tIns="0" rIns="0" bIns="0" rtlCol="0" anchor="t">
            <a:noAutofit/>
          </a:bodyPr>
          <a:lstStyle/>
          <a:p>
            <a:r>
              <a:rPr lang="en-US" sz="1400" b="1">
                <a:solidFill>
                  <a:srgbClr val="A84A2E"/>
                </a:solidFill>
                <a:latin typeface="Calibri" panose="020F0502020204030204" pitchFamily="34" charset="0"/>
              </a:rPr>
              <a:t>The final report summarizes</a:t>
            </a:r>
          </a:p>
        </p:txBody>
      </p:sp>
      <p:sp>
        <p:nvSpPr>
          <p:cNvPr id="20" name="TextBox 19">
            <a:extLst>
              <a:ext uri="{FF2B5EF4-FFF2-40B4-BE49-F238E27FC236}">
                <a16:creationId xmlns:a16="http://schemas.microsoft.com/office/drawing/2014/main" id="{C77DECD7-AA3E-684D-2189-EC3DE9D3406F}"/>
              </a:ext>
            </a:extLst>
          </p:cNvPr>
          <p:cNvSpPr txBox="1"/>
          <p:nvPr/>
        </p:nvSpPr>
        <p:spPr>
          <a:xfrm>
            <a:off x="711200" y="4140200"/>
            <a:ext cx="5334000" cy="1117600"/>
          </a:xfrm>
          <a:prstGeom prst="rect">
            <a:avLst/>
          </a:prstGeom>
          <a:noFill/>
        </p:spPr>
        <p:txBody>
          <a:bodyPr vert="horz" wrap="square" lIns="0" tIns="0" rIns="0" bIns="0" rtlCol="0" anchor="t">
            <a:noAutofit/>
          </a:bodyPr>
          <a:lstStyle/>
          <a:p>
            <a:pPr marL="152400" indent="-152400">
              <a:spcAft>
                <a:spcPts val="400"/>
              </a:spcAft>
              <a:buClr>
                <a:srgbClr val="A84A2E"/>
              </a:buClr>
              <a:buFont typeface="+mj-lt"/>
              <a:buChar char="•"/>
            </a:pPr>
            <a:r>
              <a:rPr lang="en-US" sz="1200">
                <a:solidFill>
                  <a:srgbClr val="1F2937"/>
                </a:solidFill>
                <a:latin typeface="Calibri" panose="020F0502020204030204" pitchFamily="34" charset="0"/>
              </a:rPr>
              <a:t>Scope objectives and evidence they were met</a:t>
            </a:r>
          </a:p>
          <a:p>
            <a:pPr marL="152400" indent="-152400">
              <a:spcAft>
                <a:spcPts val="400"/>
              </a:spcAft>
              <a:buClr>
                <a:srgbClr val="A84A2E"/>
              </a:buClr>
              <a:buFont typeface="+mj-lt"/>
              <a:buChar char="•"/>
            </a:pPr>
            <a:r>
              <a:rPr lang="en-US" sz="1200">
                <a:solidFill>
                  <a:srgbClr val="1F2937"/>
                </a:solidFill>
                <a:latin typeface="Calibri" panose="020F0502020204030204" pitchFamily="34" charset="0"/>
              </a:rPr>
              <a:t>Quality objectives and how they were verified</a:t>
            </a:r>
          </a:p>
          <a:p>
            <a:pPr marL="152400" indent="-152400">
              <a:spcAft>
                <a:spcPts val="400"/>
              </a:spcAft>
              <a:buClr>
                <a:srgbClr val="A84A2E"/>
              </a:buClr>
              <a:buFont typeface="+mj-lt"/>
              <a:buChar char="•"/>
            </a:pPr>
            <a:r>
              <a:rPr lang="en-US" sz="1200">
                <a:solidFill>
                  <a:srgbClr val="1F2937"/>
                </a:solidFill>
                <a:latin typeface="Calibri" panose="020F0502020204030204" pitchFamily="34" charset="0"/>
              </a:rPr>
              <a:t>Cost: budget, actual cost, and reasons for variances</a:t>
            </a:r>
          </a:p>
        </p:txBody>
      </p:sp>
      <p:sp>
        <p:nvSpPr>
          <p:cNvPr id="21" name="TextBox 20">
            <a:extLst>
              <a:ext uri="{FF2B5EF4-FFF2-40B4-BE49-F238E27FC236}">
                <a16:creationId xmlns:a16="http://schemas.microsoft.com/office/drawing/2014/main" id="{9FAF6609-B3B3-E13D-2A4F-A98FFF7B112B}"/>
              </a:ext>
            </a:extLst>
          </p:cNvPr>
          <p:cNvSpPr txBox="1"/>
          <p:nvPr/>
        </p:nvSpPr>
        <p:spPr>
          <a:xfrm>
            <a:off x="6223000" y="4140200"/>
            <a:ext cx="5334000" cy="1117600"/>
          </a:xfrm>
          <a:prstGeom prst="rect">
            <a:avLst/>
          </a:prstGeom>
          <a:noFill/>
        </p:spPr>
        <p:txBody>
          <a:bodyPr vert="horz" wrap="square" lIns="0" tIns="0" rIns="0" bIns="0" rtlCol="0" anchor="t">
            <a:noAutofit/>
          </a:bodyPr>
          <a:lstStyle/>
          <a:p>
            <a:pPr marL="152400" indent="-152400">
              <a:spcAft>
                <a:spcPts val="400"/>
              </a:spcAft>
              <a:buClr>
                <a:srgbClr val="A84A2E"/>
              </a:buClr>
              <a:buFont typeface="+mj-lt"/>
              <a:buChar char="•"/>
            </a:pPr>
            <a:r>
              <a:rPr lang="en-US" sz="1200">
                <a:solidFill>
                  <a:srgbClr val="1F2937"/>
                </a:solidFill>
                <a:latin typeface="Calibri" panose="020F0502020204030204" pitchFamily="34" charset="0"/>
              </a:rPr>
              <a:t>Schedule: planned vs. actual milestones</a:t>
            </a:r>
          </a:p>
          <a:p>
            <a:pPr marL="152400" indent="-152400">
              <a:spcAft>
                <a:spcPts val="400"/>
              </a:spcAft>
              <a:buClr>
                <a:srgbClr val="A84A2E"/>
              </a:buClr>
              <a:buFont typeface="+mj-lt"/>
              <a:buChar char="•"/>
            </a:pPr>
            <a:r>
              <a:rPr lang="en-US" sz="1200">
                <a:solidFill>
                  <a:srgbClr val="1F2937"/>
                </a:solidFill>
                <a:latin typeface="Calibri" panose="020F0502020204030204" pitchFamily="34" charset="0"/>
              </a:rPr>
              <a:t>Benefits: how the result meets the business need</a:t>
            </a:r>
          </a:p>
          <a:p>
            <a:pPr marL="152400" indent="-152400">
              <a:spcAft>
                <a:spcPts val="400"/>
              </a:spcAft>
              <a:buClr>
                <a:srgbClr val="A84A2E"/>
              </a:buClr>
              <a:buFont typeface="+mj-lt"/>
              <a:buChar char="•"/>
            </a:pPr>
            <a:r>
              <a:rPr lang="en-US" sz="1200">
                <a:solidFill>
                  <a:srgbClr val="1F2937"/>
                </a:solidFill>
                <a:latin typeface="Calibri" panose="020F0502020204030204" pitchFamily="34" charset="0"/>
              </a:rPr>
              <a:t>Risks and issues met and how they were resolved</a:t>
            </a:r>
          </a:p>
        </p:txBody>
      </p:sp>
      <p:sp>
        <p:nvSpPr>
          <p:cNvPr id="22"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4437247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724AEE1-0A5C-B1FD-4442-9FD31D02135E}"/>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Closing a project or phase</a:t>
            </a:r>
          </a:p>
        </p:txBody>
      </p:sp>
      <p:sp>
        <p:nvSpPr>
          <p:cNvPr id="3" name="Tag">
            <a:extLst>
              <a:ext uri="{FF2B5EF4-FFF2-40B4-BE49-F238E27FC236}">
                <a16:creationId xmlns:a16="http://schemas.microsoft.com/office/drawing/2014/main" id="{CA7CA7E1-7AF7-3779-A82C-E0B15A63265D}"/>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10 (Manage project closure)</a:t>
            </a:r>
          </a:p>
        </p:txBody>
      </p:sp>
      <p:sp>
        <p:nvSpPr>
          <p:cNvPr id="4" name="Rectangle: Rounded Corners 3">
            <a:extLst>
              <a:ext uri="{FF2B5EF4-FFF2-40B4-BE49-F238E27FC236}">
                <a16:creationId xmlns:a16="http://schemas.microsoft.com/office/drawing/2014/main" id="{82698E9F-FEA2-D8EC-89A9-626FF194604E}"/>
              </a:ext>
            </a:extLst>
          </p:cNvPr>
          <p:cNvSpPr/>
          <p:nvPr/>
        </p:nvSpPr>
        <p:spPr>
          <a:xfrm>
            <a:off x="508000" y="1320800"/>
            <a:ext cx="2133600" cy="1905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56D8419-0BA2-27D5-F6AA-06174D8591F6}"/>
              </a:ext>
            </a:extLst>
          </p:cNvPr>
          <p:cNvSpPr txBox="1"/>
          <p:nvPr/>
        </p:nvSpPr>
        <p:spPr>
          <a:xfrm>
            <a:off x="660400" y="1473200"/>
            <a:ext cx="1828800" cy="16002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1  Set closure criteria</a:t>
            </a:r>
          </a:p>
          <a:p>
            <a:r>
              <a:rPr lang="en-US" sz="1200">
                <a:solidFill>
                  <a:srgbClr val="1F2937"/>
                </a:solidFill>
                <a:latin typeface="Calibri" panose="020F0502020204030204" pitchFamily="34" charset="0"/>
              </a:rPr>
              <a:t>Agree what ‘done’ means for the project or phase.</a:t>
            </a:r>
          </a:p>
        </p:txBody>
      </p:sp>
      <p:sp>
        <p:nvSpPr>
          <p:cNvPr id="6" name="Rectangle: Rounded Corners 5">
            <a:extLst>
              <a:ext uri="{FF2B5EF4-FFF2-40B4-BE49-F238E27FC236}">
                <a16:creationId xmlns:a16="http://schemas.microsoft.com/office/drawing/2014/main" id="{6724E5A2-6BF0-6817-8A6E-0C8C74EA0755}"/>
              </a:ext>
            </a:extLst>
          </p:cNvPr>
          <p:cNvSpPr/>
          <p:nvPr/>
        </p:nvSpPr>
        <p:spPr>
          <a:xfrm>
            <a:off x="2768600" y="1320800"/>
            <a:ext cx="2133600" cy="1905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436D5D8-A792-FE44-FD66-7D9D0F99D481}"/>
              </a:ext>
            </a:extLst>
          </p:cNvPr>
          <p:cNvSpPr txBox="1"/>
          <p:nvPr/>
        </p:nvSpPr>
        <p:spPr>
          <a:xfrm>
            <a:off x="2921000" y="1473200"/>
            <a:ext cx="1828800" cy="16002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2  Get formal acceptance</a:t>
            </a:r>
          </a:p>
          <a:p>
            <a:r>
              <a:rPr lang="en-US" sz="1200">
                <a:solidFill>
                  <a:srgbClr val="1F2937"/>
                </a:solidFill>
                <a:latin typeface="Calibri" panose="020F0502020204030204" pitchFamily="34" charset="0"/>
              </a:rPr>
              <a:t>Stakeholders approve completion of the deliverables.</a:t>
            </a:r>
          </a:p>
        </p:txBody>
      </p:sp>
      <p:sp>
        <p:nvSpPr>
          <p:cNvPr id="8" name="Rectangle: Rounded Corners 7">
            <a:extLst>
              <a:ext uri="{FF2B5EF4-FFF2-40B4-BE49-F238E27FC236}">
                <a16:creationId xmlns:a16="http://schemas.microsoft.com/office/drawing/2014/main" id="{589B99B9-EFD4-C7B6-58F0-3BEBB8012D70}"/>
              </a:ext>
            </a:extLst>
          </p:cNvPr>
          <p:cNvSpPr/>
          <p:nvPr/>
        </p:nvSpPr>
        <p:spPr>
          <a:xfrm>
            <a:off x="5029200" y="1320800"/>
            <a:ext cx="2133600" cy="1905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4E03558-609A-FC12-F52A-BF2BFA6E09B5}"/>
              </a:ext>
            </a:extLst>
          </p:cNvPr>
          <p:cNvSpPr txBox="1"/>
          <p:nvPr/>
        </p:nvSpPr>
        <p:spPr>
          <a:xfrm>
            <a:off x="5181600" y="1473200"/>
            <a:ext cx="1828800" cy="16002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3  Confirm transition</a:t>
            </a:r>
          </a:p>
          <a:p>
            <a:r>
              <a:rPr lang="en-US" sz="1200">
                <a:solidFill>
                  <a:srgbClr val="1F2937"/>
                </a:solidFill>
                <a:latin typeface="Calibri" panose="020F0502020204030204" pitchFamily="34" charset="0"/>
              </a:rPr>
              <a:t>Validate readiness for operations or the next phase.</a:t>
            </a:r>
          </a:p>
        </p:txBody>
      </p:sp>
      <p:sp>
        <p:nvSpPr>
          <p:cNvPr id="10" name="Rectangle: Rounded Corners 9">
            <a:extLst>
              <a:ext uri="{FF2B5EF4-FFF2-40B4-BE49-F238E27FC236}">
                <a16:creationId xmlns:a16="http://schemas.microsoft.com/office/drawing/2014/main" id="{DF9BFE66-F649-EFB1-E822-4EE0926909A2}"/>
              </a:ext>
            </a:extLst>
          </p:cNvPr>
          <p:cNvSpPr/>
          <p:nvPr/>
        </p:nvSpPr>
        <p:spPr>
          <a:xfrm>
            <a:off x="7289800" y="1320800"/>
            <a:ext cx="2133600" cy="1905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A16462D-6BAA-8C9B-706E-847A05FB6B5B}"/>
              </a:ext>
            </a:extLst>
          </p:cNvPr>
          <p:cNvSpPr txBox="1"/>
          <p:nvPr/>
        </p:nvSpPr>
        <p:spPr>
          <a:xfrm>
            <a:off x="7442200" y="1473200"/>
            <a:ext cx="1828800" cy="16002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4  Close out</a:t>
            </a:r>
          </a:p>
          <a:p>
            <a:r>
              <a:rPr lang="en-US" sz="1200">
                <a:solidFill>
                  <a:srgbClr val="1F2937"/>
                </a:solidFill>
                <a:latin typeface="Calibri" panose="020F0502020204030204" pitchFamily="34" charset="0"/>
              </a:rPr>
              <a:t>Final lessons learned or retrospective; close procurements and finances; release resources.</a:t>
            </a:r>
          </a:p>
        </p:txBody>
      </p:sp>
      <p:sp>
        <p:nvSpPr>
          <p:cNvPr id="12" name="Rectangle: Rounded Corners 11">
            <a:extLst>
              <a:ext uri="{FF2B5EF4-FFF2-40B4-BE49-F238E27FC236}">
                <a16:creationId xmlns:a16="http://schemas.microsoft.com/office/drawing/2014/main" id="{4253DC65-C8A5-C7E1-E541-F3CE84BB231D}"/>
              </a:ext>
            </a:extLst>
          </p:cNvPr>
          <p:cNvSpPr/>
          <p:nvPr/>
        </p:nvSpPr>
        <p:spPr>
          <a:xfrm>
            <a:off x="9550400" y="1320800"/>
            <a:ext cx="2133600" cy="1905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5203169-12DB-D53B-CC2E-47B1B9C2717A}"/>
              </a:ext>
            </a:extLst>
          </p:cNvPr>
          <p:cNvSpPr txBox="1"/>
          <p:nvPr/>
        </p:nvSpPr>
        <p:spPr>
          <a:xfrm>
            <a:off x="9702800" y="1473200"/>
            <a:ext cx="1828800" cy="16002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5  Archive and update</a:t>
            </a:r>
          </a:p>
          <a:p>
            <a:r>
              <a:rPr lang="en-US" sz="1200">
                <a:solidFill>
                  <a:srgbClr val="1F2937"/>
                </a:solidFill>
                <a:latin typeface="Calibri" panose="020F0502020204030204" pitchFamily="34" charset="0"/>
              </a:rPr>
              <a:t>Store project records; update organizational process assets.</a:t>
            </a:r>
          </a:p>
        </p:txBody>
      </p:sp>
      <p:sp>
        <p:nvSpPr>
          <p:cNvPr id="14" name="Rectangle: Rounded Corners 13">
            <a:extLst>
              <a:ext uri="{FF2B5EF4-FFF2-40B4-BE49-F238E27FC236}">
                <a16:creationId xmlns:a16="http://schemas.microsoft.com/office/drawing/2014/main" id="{50A9A26A-BB99-F7A3-952F-90B8AC91E02A}"/>
              </a:ext>
            </a:extLst>
          </p:cNvPr>
          <p:cNvSpPr/>
          <p:nvPr/>
        </p:nvSpPr>
        <p:spPr>
          <a:xfrm>
            <a:off x="508000" y="3378200"/>
            <a:ext cx="5461000" cy="1981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DD6EE75-23F8-0413-D147-C457587C2975}"/>
              </a:ext>
            </a:extLst>
          </p:cNvPr>
          <p:cNvSpPr txBox="1"/>
          <p:nvPr/>
        </p:nvSpPr>
        <p:spPr>
          <a:xfrm>
            <a:off x="685800" y="3556000"/>
            <a:ext cx="5105400" cy="16256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Transition checklist</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Training and a support model are in place.</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Documentation and knowledge are handed over.</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Warranty and maintenance terms are agreed.</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Operations signs the handover.</a:t>
            </a:r>
          </a:p>
        </p:txBody>
      </p:sp>
      <p:sp>
        <p:nvSpPr>
          <p:cNvPr id="16" name="Rectangle: Rounded Corners 15">
            <a:extLst>
              <a:ext uri="{FF2B5EF4-FFF2-40B4-BE49-F238E27FC236}">
                <a16:creationId xmlns:a16="http://schemas.microsoft.com/office/drawing/2014/main" id="{0D18A16C-46A0-A46B-E114-94B0985CD0AF}"/>
              </a:ext>
            </a:extLst>
          </p:cNvPr>
          <p:cNvSpPr/>
          <p:nvPr/>
        </p:nvSpPr>
        <p:spPr>
          <a:xfrm>
            <a:off x="6223000" y="3378200"/>
            <a:ext cx="5461000" cy="19812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7704FC27-8CB6-1760-0BEE-6B9BCF5220FD}"/>
              </a:ext>
            </a:extLst>
          </p:cNvPr>
          <p:cNvSpPr txBox="1"/>
          <p:nvPr/>
        </p:nvSpPr>
        <p:spPr>
          <a:xfrm>
            <a:off x="6400800" y="3556000"/>
            <a:ext cx="5105400" cy="1625600"/>
          </a:xfrm>
          <a:prstGeom prst="rect">
            <a:avLst/>
          </a:prstGeom>
          <a:noFill/>
        </p:spPr>
        <p:txBody>
          <a:bodyPr vert="horz" wrap="square" lIns="0" tIns="0" rIns="0" bIns="0" rtlCol="0" anchor="t">
            <a:noAutofit/>
          </a:bodyPr>
          <a:lstStyle/>
          <a:p>
            <a:pPr>
              <a:spcAft>
                <a:spcPts val="600"/>
              </a:spcAft>
            </a:pPr>
            <a:r>
              <a:rPr lang="en-US" sz="1500" b="1">
                <a:solidFill>
                  <a:srgbClr val="A86F0E"/>
                </a:solidFill>
                <a:latin typeface="Calibri" panose="020F0502020204030204" pitchFamily="34" charset="0"/>
              </a:rPr>
              <a:t>Ending early</a:t>
            </a:r>
          </a:p>
          <a:p>
            <a:r>
              <a:rPr lang="en-US" sz="1300">
                <a:solidFill>
                  <a:srgbClr val="1F2937"/>
                </a:solidFill>
                <a:latin typeface="Calibri" panose="020F0502020204030204" pitchFamily="34" charset="0"/>
              </a:rPr>
              <a:t>A cancelled or terminated project still closes formally: document why, what was finished, what it cost, and the lessons learned.</a:t>
            </a:r>
          </a:p>
        </p:txBody>
      </p:sp>
      <p:sp>
        <p:nvSpPr>
          <p:cNvPr id="18" name="Rectangle: Rounded Corners 17">
            <a:extLst>
              <a:ext uri="{FF2B5EF4-FFF2-40B4-BE49-F238E27FC236}">
                <a16:creationId xmlns:a16="http://schemas.microsoft.com/office/drawing/2014/main" id="{57B8C1B0-A171-8C89-2338-B6E57D169EEF}"/>
              </a:ext>
            </a:extLst>
          </p:cNvPr>
          <p:cNvSpPr/>
          <p:nvPr/>
        </p:nvSpPr>
        <p:spPr>
          <a:xfrm>
            <a:off x="508000" y="5486400"/>
            <a:ext cx="11176000" cy="838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2DA5BE6-C731-94B7-51E2-D46EE3312666}"/>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a project is not closed until deliverables are formally accepted, contracts and finances are closed, lessons learned are captured, and records are archived.</a:t>
            </a:r>
          </a:p>
        </p:txBody>
      </p:sp>
      <p:sp>
        <p:nvSpPr>
          <p:cNvPr id="20" name="Footer">
            <a:extLst>
              <a:ext uri="{FF2B5EF4-FFF2-40B4-BE49-F238E27FC236}">
                <a16:creationId xmlns:a16="http://schemas.microsoft.com/office/drawing/2014/main" id="{8C9C3A9C-643E-8F40-292A-8FC6E550F89A}"/>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4.7 (Close Project or Phase); PMI, PMP® Examination Content Outline (July 2026), Process Task 10</a:t>
            </a:r>
          </a:p>
        </p:txBody>
      </p:sp>
      <p:sp>
        <p:nvSpPr>
          <p:cNvPr id="21" name="SlideNum">
            <a:extLst>
              <a:ext uri="{FF2B5EF4-FFF2-40B4-BE49-F238E27FC236}">
                <a16:creationId xmlns:a16="http://schemas.microsoft.com/office/drawing/2014/main" id="{3F32B6D4-B3DE-196A-8654-807876C4A84E}"/>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59</a:t>
            </a:r>
          </a:p>
        </p:txBody>
      </p:sp>
      <p:sp>
        <p:nvSpPr>
          <p:cNvPr id="22"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40942573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F557444-0A3A-242C-D03D-382F088450D3}"/>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Closing out properly: order, people, and agile</a:t>
            </a:r>
          </a:p>
        </p:txBody>
      </p:sp>
      <p:sp>
        <p:nvSpPr>
          <p:cNvPr id="3" name="Tag">
            <a:extLst>
              <a:ext uri="{FF2B5EF4-FFF2-40B4-BE49-F238E27FC236}">
                <a16:creationId xmlns:a16="http://schemas.microsoft.com/office/drawing/2014/main" id="{B0D0E6C7-99E4-94B1-8576-C362926DC3F7}"/>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Process deep dive · Supports Process Task 10 (Manage project closure) and Process Task 5 (procurement)</a:t>
            </a:r>
          </a:p>
        </p:txBody>
      </p:sp>
      <p:sp>
        <p:nvSpPr>
          <p:cNvPr id="4" name="Arrow: Chevron 3">
            <a:extLst>
              <a:ext uri="{FF2B5EF4-FFF2-40B4-BE49-F238E27FC236}">
                <a16:creationId xmlns:a16="http://schemas.microsoft.com/office/drawing/2014/main" id="{9B1911A5-4CF0-90D7-8BDB-F40C34714CDB}"/>
              </a:ext>
            </a:extLst>
          </p:cNvPr>
          <p:cNvSpPr/>
          <p:nvPr/>
        </p:nvSpPr>
        <p:spPr>
          <a:xfrm>
            <a:off x="508000" y="1320800"/>
            <a:ext cx="1955800" cy="457200"/>
          </a:xfrm>
          <a:prstGeom prst="chevron">
            <a:avLst/>
          </a:prstGeom>
          <a:solidFill>
            <a:srgbClr val="1F346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25400" rIns="177800" bIns="25400" rtlCol="0" anchor="ctr"/>
          <a:lstStyle/>
          <a:p>
            <a:pPr algn="ctr"/>
            <a:r>
              <a:rPr lang="en-US" sz="1100" b="1">
                <a:solidFill>
                  <a:srgbClr val="FFFFFF"/>
                </a:solidFill>
                <a:latin typeface="Calibri" panose="020F0502020204030204" pitchFamily="34" charset="0"/>
              </a:rPr>
              <a:t>1  Confirm acceptance</a:t>
            </a:r>
          </a:p>
        </p:txBody>
      </p:sp>
      <p:sp>
        <p:nvSpPr>
          <p:cNvPr id="5" name="TextBox 4">
            <a:extLst>
              <a:ext uri="{FF2B5EF4-FFF2-40B4-BE49-F238E27FC236}">
                <a16:creationId xmlns:a16="http://schemas.microsoft.com/office/drawing/2014/main" id="{30BAB650-104A-8B90-70AA-154ACA6E08FE}"/>
              </a:ext>
            </a:extLst>
          </p:cNvPr>
          <p:cNvSpPr txBox="1"/>
          <p:nvPr/>
        </p:nvSpPr>
        <p:spPr>
          <a:xfrm>
            <a:off x="635000" y="1828800"/>
            <a:ext cx="1676400" cy="5080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Accepted deliverables from Validate Scope</a:t>
            </a:r>
          </a:p>
        </p:txBody>
      </p:sp>
      <p:sp>
        <p:nvSpPr>
          <p:cNvPr id="6" name="Arrow: Chevron 5">
            <a:extLst>
              <a:ext uri="{FF2B5EF4-FFF2-40B4-BE49-F238E27FC236}">
                <a16:creationId xmlns:a16="http://schemas.microsoft.com/office/drawing/2014/main" id="{44EC1332-91DA-F7E8-6711-1A92543C9819}"/>
              </a:ext>
            </a:extLst>
          </p:cNvPr>
          <p:cNvSpPr/>
          <p:nvPr/>
        </p:nvSpPr>
        <p:spPr>
          <a:xfrm>
            <a:off x="2362200" y="1320800"/>
            <a:ext cx="1955800" cy="457200"/>
          </a:xfrm>
          <a:prstGeom prst="chevron">
            <a:avLst/>
          </a:prstGeom>
          <a:solidFill>
            <a:srgbClr val="2A42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25400" rIns="177800" bIns="25400" rtlCol="0" anchor="ctr"/>
          <a:lstStyle/>
          <a:p>
            <a:pPr algn="ctr"/>
            <a:r>
              <a:rPr lang="en-US" sz="1100" b="1">
                <a:solidFill>
                  <a:srgbClr val="FFFFFF"/>
                </a:solidFill>
                <a:latin typeface="Calibri" panose="020F0502020204030204" pitchFamily="34" charset="0"/>
              </a:rPr>
              <a:t>2  Close procurements</a:t>
            </a:r>
          </a:p>
        </p:txBody>
      </p:sp>
      <p:sp>
        <p:nvSpPr>
          <p:cNvPr id="7" name="TextBox 6">
            <a:extLst>
              <a:ext uri="{FF2B5EF4-FFF2-40B4-BE49-F238E27FC236}">
                <a16:creationId xmlns:a16="http://schemas.microsoft.com/office/drawing/2014/main" id="{1D96D7B8-B185-5F1E-DE2E-C1657815750F}"/>
              </a:ext>
            </a:extLst>
          </p:cNvPr>
          <p:cNvSpPr txBox="1"/>
          <p:nvPr/>
        </p:nvSpPr>
        <p:spPr>
          <a:xfrm>
            <a:off x="2489200" y="1828800"/>
            <a:ext cx="1676400" cy="5080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Settle claims, audit, final payment</a:t>
            </a:r>
          </a:p>
        </p:txBody>
      </p:sp>
      <p:sp>
        <p:nvSpPr>
          <p:cNvPr id="8" name="Arrow: Chevron 7">
            <a:extLst>
              <a:ext uri="{FF2B5EF4-FFF2-40B4-BE49-F238E27FC236}">
                <a16:creationId xmlns:a16="http://schemas.microsoft.com/office/drawing/2014/main" id="{0B39AEA7-F2F2-6877-723B-4F991A579FB8}"/>
              </a:ext>
            </a:extLst>
          </p:cNvPr>
          <p:cNvSpPr/>
          <p:nvPr/>
        </p:nvSpPr>
        <p:spPr>
          <a:xfrm>
            <a:off x="4216400" y="1320800"/>
            <a:ext cx="1955800" cy="457200"/>
          </a:xfrm>
          <a:prstGeom prst="chevron">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25400" rIns="177800" bIns="25400" rtlCol="0" anchor="ctr"/>
          <a:lstStyle/>
          <a:p>
            <a:pPr algn="ctr"/>
            <a:r>
              <a:rPr lang="en-US" sz="1100" b="1">
                <a:solidFill>
                  <a:srgbClr val="FFFFFF"/>
                </a:solidFill>
                <a:latin typeface="Calibri" panose="020F0502020204030204" pitchFamily="34" charset="0"/>
              </a:rPr>
              <a:t>3  Final lessons learned</a:t>
            </a:r>
          </a:p>
        </p:txBody>
      </p:sp>
      <p:sp>
        <p:nvSpPr>
          <p:cNvPr id="9" name="TextBox 8">
            <a:extLst>
              <a:ext uri="{FF2B5EF4-FFF2-40B4-BE49-F238E27FC236}">
                <a16:creationId xmlns:a16="http://schemas.microsoft.com/office/drawing/2014/main" id="{C9395B10-DF43-B0FC-C25A-E0819F91B755}"/>
              </a:ext>
            </a:extLst>
          </p:cNvPr>
          <p:cNvSpPr txBox="1"/>
          <p:nvPr/>
        </p:nvSpPr>
        <p:spPr>
          <a:xfrm>
            <a:off x="4343400" y="1828800"/>
            <a:ext cx="1676400" cy="5080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Capture what worked and what didn’t</a:t>
            </a:r>
          </a:p>
        </p:txBody>
      </p:sp>
      <p:sp>
        <p:nvSpPr>
          <p:cNvPr id="10" name="Arrow: Chevron 9">
            <a:extLst>
              <a:ext uri="{FF2B5EF4-FFF2-40B4-BE49-F238E27FC236}">
                <a16:creationId xmlns:a16="http://schemas.microsoft.com/office/drawing/2014/main" id="{C4B9D829-C374-AB0B-D7B7-DBFDD40EAFC5}"/>
              </a:ext>
            </a:extLst>
          </p:cNvPr>
          <p:cNvSpPr/>
          <p:nvPr/>
        </p:nvSpPr>
        <p:spPr>
          <a:xfrm>
            <a:off x="6070600" y="1320800"/>
            <a:ext cx="1955800" cy="457200"/>
          </a:xfrm>
          <a:prstGeom prst="chevron">
            <a:avLst/>
          </a:prstGeom>
          <a:solidFill>
            <a:srgbClr val="4F68A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25400" rIns="177800" bIns="25400" rtlCol="0" anchor="ctr"/>
          <a:lstStyle/>
          <a:p>
            <a:pPr algn="ctr"/>
            <a:r>
              <a:rPr lang="en-US" sz="1100" b="1">
                <a:solidFill>
                  <a:srgbClr val="FFFFFF"/>
                </a:solidFill>
                <a:latin typeface="Calibri" panose="020F0502020204030204" pitchFamily="34" charset="0"/>
              </a:rPr>
              <a:t>4  Final report</a:t>
            </a:r>
          </a:p>
        </p:txBody>
      </p:sp>
      <p:sp>
        <p:nvSpPr>
          <p:cNvPr id="11" name="TextBox 10">
            <a:extLst>
              <a:ext uri="{FF2B5EF4-FFF2-40B4-BE49-F238E27FC236}">
                <a16:creationId xmlns:a16="http://schemas.microsoft.com/office/drawing/2014/main" id="{8F0C82F0-26BD-72CB-0685-CE960FA77988}"/>
              </a:ext>
            </a:extLst>
          </p:cNvPr>
          <p:cNvSpPr txBox="1"/>
          <p:nvPr/>
        </p:nvSpPr>
        <p:spPr>
          <a:xfrm>
            <a:off x="6197600" y="1828800"/>
            <a:ext cx="1676400" cy="5080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Scope, schedule, cost, quality, benefits</a:t>
            </a:r>
          </a:p>
        </p:txBody>
      </p:sp>
      <p:sp>
        <p:nvSpPr>
          <p:cNvPr id="12" name="Arrow: Chevron 11">
            <a:extLst>
              <a:ext uri="{FF2B5EF4-FFF2-40B4-BE49-F238E27FC236}">
                <a16:creationId xmlns:a16="http://schemas.microsoft.com/office/drawing/2014/main" id="{7F8237B6-7995-55DD-66F8-9759E71E7C83}"/>
              </a:ext>
            </a:extLst>
          </p:cNvPr>
          <p:cNvSpPr/>
          <p:nvPr/>
        </p:nvSpPr>
        <p:spPr>
          <a:xfrm>
            <a:off x="7924800" y="1320800"/>
            <a:ext cx="1955800" cy="457200"/>
          </a:xfrm>
          <a:prstGeom prst="chevron">
            <a:avLst/>
          </a:prstGeom>
          <a:solidFill>
            <a:srgbClr val="6B82C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25400" rIns="177800" bIns="25400" rtlCol="0" anchor="ctr"/>
          <a:lstStyle/>
          <a:p>
            <a:pPr algn="ctr"/>
            <a:r>
              <a:rPr lang="en-US" sz="1100" b="1">
                <a:solidFill>
                  <a:srgbClr val="FFFFFF"/>
                </a:solidFill>
                <a:latin typeface="Calibri" panose="020F0502020204030204" pitchFamily="34" charset="0"/>
              </a:rPr>
              <a:t>5  Transition</a:t>
            </a:r>
          </a:p>
        </p:txBody>
      </p:sp>
      <p:sp>
        <p:nvSpPr>
          <p:cNvPr id="13" name="TextBox 12">
            <a:extLst>
              <a:ext uri="{FF2B5EF4-FFF2-40B4-BE49-F238E27FC236}">
                <a16:creationId xmlns:a16="http://schemas.microsoft.com/office/drawing/2014/main" id="{938CC9E4-6870-1F30-CA00-01879F4D14AF}"/>
              </a:ext>
            </a:extLst>
          </p:cNvPr>
          <p:cNvSpPr txBox="1"/>
          <p:nvPr/>
        </p:nvSpPr>
        <p:spPr>
          <a:xfrm>
            <a:off x="8051800" y="1828800"/>
            <a:ext cx="1676400" cy="5080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Hand the result, support, and benefit tracking to operations</a:t>
            </a:r>
          </a:p>
        </p:txBody>
      </p:sp>
      <p:sp>
        <p:nvSpPr>
          <p:cNvPr id="14" name="Arrow: Chevron 13">
            <a:extLst>
              <a:ext uri="{FF2B5EF4-FFF2-40B4-BE49-F238E27FC236}">
                <a16:creationId xmlns:a16="http://schemas.microsoft.com/office/drawing/2014/main" id="{2170A902-87C2-1639-86F1-49EA70B57EDD}"/>
              </a:ext>
            </a:extLst>
          </p:cNvPr>
          <p:cNvSpPr/>
          <p:nvPr/>
        </p:nvSpPr>
        <p:spPr>
          <a:xfrm>
            <a:off x="9779000" y="1320800"/>
            <a:ext cx="1955800" cy="457200"/>
          </a:xfrm>
          <a:prstGeom prst="chevron">
            <a:avLst/>
          </a:prstGeom>
          <a:solidFill>
            <a:srgbClr val="8FA2D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25400" rIns="177800" bIns="25400" rtlCol="0" anchor="ctr"/>
          <a:lstStyle/>
          <a:p>
            <a:pPr algn="ctr"/>
            <a:r>
              <a:rPr lang="en-US" sz="1100" b="1">
                <a:solidFill>
                  <a:srgbClr val="FFFFFF"/>
                </a:solidFill>
                <a:latin typeface="Calibri" panose="020F0502020204030204" pitchFamily="34" charset="0"/>
              </a:rPr>
              <a:t>6  Archive and release</a:t>
            </a:r>
          </a:p>
        </p:txBody>
      </p:sp>
      <p:sp>
        <p:nvSpPr>
          <p:cNvPr id="15" name="TextBox 14">
            <a:extLst>
              <a:ext uri="{FF2B5EF4-FFF2-40B4-BE49-F238E27FC236}">
                <a16:creationId xmlns:a16="http://schemas.microsoft.com/office/drawing/2014/main" id="{F4E7B4EA-5FF2-62B8-693A-859F8D3E4754}"/>
              </a:ext>
            </a:extLst>
          </p:cNvPr>
          <p:cNvSpPr txBox="1"/>
          <p:nvPr/>
        </p:nvSpPr>
        <p:spPr>
          <a:xfrm>
            <a:off x="9906000" y="1828800"/>
            <a:ext cx="1676400" cy="5080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Store records, update OPAs, release people</a:t>
            </a:r>
          </a:p>
        </p:txBody>
      </p:sp>
      <p:sp>
        <p:nvSpPr>
          <p:cNvPr id="16" name="Rectangle: Rounded Corners 15">
            <a:extLst>
              <a:ext uri="{FF2B5EF4-FFF2-40B4-BE49-F238E27FC236}">
                <a16:creationId xmlns:a16="http://schemas.microsoft.com/office/drawing/2014/main" id="{316AE875-14E5-341D-60DA-1083C29EC4F0}"/>
              </a:ext>
            </a:extLst>
          </p:cNvPr>
          <p:cNvSpPr/>
          <p:nvPr/>
        </p:nvSpPr>
        <p:spPr>
          <a:xfrm>
            <a:off x="508000" y="2489200"/>
            <a:ext cx="3556000" cy="1981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FB7B5BC-16DE-D830-1101-ED32930FB432}"/>
              </a:ext>
            </a:extLst>
          </p:cNvPr>
          <p:cNvSpPr txBox="1"/>
          <p:nvPr/>
        </p:nvSpPr>
        <p:spPr>
          <a:xfrm>
            <a:off x="660400" y="2641600"/>
            <a:ext cx="3251200" cy="16764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Close procurements</a:t>
            </a:r>
          </a:p>
          <a:p>
            <a:pPr marL="127000" indent="-127000">
              <a:spcAft>
                <a:spcPts val="400"/>
              </a:spcAft>
              <a:buClr>
                <a:srgbClr val="34509A"/>
              </a:buClr>
              <a:buFont typeface="+mj-lt"/>
              <a:buChar char="•"/>
            </a:pPr>
            <a:r>
              <a:rPr lang="en-US" sz="1200">
                <a:solidFill>
                  <a:srgbClr val="1F2937"/>
                </a:solidFill>
                <a:latin typeface="Calibri" panose="020F0502020204030204" pitchFamily="34" charset="0"/>
              </a:rPr>
              <a:t>Confirm all contracted work is accepted</a:t>
            </a:r>
          </a:p>
          <a:p>
            <a:pPr marL="127000" indent="-127000">
              <a:spcAft>
                <a:spcPts val="400"/>
              </a:spcAft>
              <a:buClr>
                <a:srgbClr val="34509A"/>
              </a:buClr>
              <a:buFont typeface="+mj-lt"/>
              <a:buChar char="•"/>
            </a:pPr>
            <a:r>
              <a:rPr lang="en-US" sz="1200">
                <a:solidFill>
                  <a:srgbClr val="1F2937"/>
                </a:solidFill>
                <a:latin typeface="Calibri" panose="020F0502020204030204" pitchFamily="34" charset="0"/>
              </a:rPr>
              <a:t>Settle open claims, negotiating first</a:t>
            </a:r>
          </a:p>
          <a:p>
            <a:pPr marL="127000" indent="-127000">
              <a:spcAft>
                <a:spcPts val="400"/>
              </a:spcAft>
              <a:buClr>
                <a:srgbClr val="34509A"/>
              </a:buClr>
              <a:buFont typeface="+mj-lt"/>
              <a:buChar char="•"/>
            </a:pPr>
            <a:r>
              <a:rPr lang="en-US" sz="1200">
                <a:solidFill>
                  <a:srgbClr val="1F2937"/>
                </a:solidFill>
                <a:latin typeface="Calibri" panose="020F0502020204030204" pitchFamily="34" charset="0"/>
              </a:rPr>
              <a:t>Run a procurement audit for lessons</a:t>
            </a:r>
          </a:p>
          <a:p>
            <a:pPr marL="127000" indent="-127000">
              <a:spcAft>
                <a:spcPts val="400"/>
              </a:spcAft>
              <a:buClr>
                <a:srgbClr val="34509A"/>
              </a:buClr>
              <a:buFont typeface="+mj-lt"/>
              <a:buChar char="•"/>
            </a:pPr>
            <a:r>
              <a:rPr lang="en-US" sz="1200">
                <a:solidFill>
                  <a:srgbClr val="1F2937"/>
                </a:solidFill>
                <a:latin typeface="Calibri" panose="020F0502020204030204" pitchFamily="34" charset="0"/>
              </a:rPr>
              <a:t>Make final payment</a:t>
            </a:r>
          </a:p>
          <a:p>
            <a:pPr marL="127000" indent="-127000">
              <a:spcAft>
                <a:spcPts val="400"/>
              </a:spcAft>
              <a:buClr>
                <a:srgbClr val="34509A"/>
              </a:buClr>
              <a:buFont typeface="+mj-lt"/>
              <a:buChar char="•"/>
            </a:pPr>
            <a:r>
              <a:rPr lang="en-US" sz="1200">
                <a:solidFill>
                  <a:srgbClr val="1F2937"/>
                </a:solidFill>
                <a:latin typeface="Calibri" panose="020F0502020204030204" pitchFamily="34" charset="0"/>
              </a:rPr>
              <a:t>Give the seller formal written notice that the contract is complete</a:t>
            </a:r>
          </a:p>
        </p:txBody>
      </p:sp>
      <p:sp>
        <p:nvSpPr>
          <p:cNvPr id="18" name="Rectangle: Rounded Corners 17">
            <a:extLst>
              <a:ext uri="{FF2B5EF4-FFF2-40B4-BE49-F238E27FC236}">
                <a16:creationId xmlns:a16="http://schemas.microsoft.com/office/drawing/2014/main" id="{0BB9F6FB-72B0-1E9E-1241-B8FDFF21760F}"/>
              </a:ext>
            </a:extLst>
          </p:cNvPr>
          <p:cNvSpPr/>
          <p:nvPr/>
        </p:nvSpPr>
        <p:spPr>
          <a:xfrm>
            <a:off x="4318000" y="2489200"/>
            <a:ext cx="3556000" cy="19812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8633728-C5CC-AB8F-7A9D-4B8C78ECA714}"/>
              </a:ext>
            </a:extLst>
          </p:cNvPr>
          <p:cNvSpPr txBox="1"/>
          <p:nvPr/>
        </p:nvSpPr>
        <p:spPr>
          <a:xfrm>
            <a:off x="4470400" y="2641600"/>
            <a:ext cx="3251200" cy="1676400"/>
          </a:xfrm>
          <a:prstGeom prst="rect">
            <a:avLst/>
          </a:prstGeom>
          <a:noFill/>
        </p:spPr>
        <p:txBody>
          <a:bodyPr vert="horz" wrap="square" lIns="0" tIns="0" rIns="0" bIns="0" rtlCol="0" anchor="t">
            <a:noAutofit/>
          </a:bodyPr>
          <a:lstStyle/>
          <a:p>
            <a:pPr>
              <a:spcAft>
                <a:spcPts val="600"/>
              </a:spcAft>
            </a:pPr>
            <a:r>
              <a:rPr lang="en-US" sz="1400" b="1">
                <a:solidFill>
                  <a:srgbClr val="0F7C80"/>
                </a:solidFill>
                <a:latin typeface="Calibri" panose="020F0502020204030204" pitchFamily="34" charset="0"/>
              </a:rPr>
              <a:t>Release the team</a:t>
            </a:r>
          </a:p>
          <a:p>
            <a:pPr marL="127000" indent="-127000">
              <a:spcAft>
                <a:spcPts val="400"/>
              </a:spcAft>
              <a:buClr>
                <a:srgbClr val="0F7C80"/>
              </a:buClr>
              <a:buFont typeface="+mj-lt"/>
              <a:buChar char="•"/>
            </a:pPr>
            <a:r>
              <a:rPr lang="en-US" sz="1200">
                <a:solidFill>
                  <a:srgbClr val="1F2937"/>
                </a:solidFill>
                <a:latin typeface="Calibri" panose="020F0502020204030204" pitchFamily="34" charset="0"/>
              </a:rPr>
              <a:t>Finish performance appraisals</a:t>
            </a:r>
          </a:p>
          <a:p>
            <a:pPr marL="127000" indent="-127000">
              <a:spcAft>
                <a:spcPts val="400"/>
              </a:spcAft>
              <a:buClr>
                <a:srgbClr val="0F7C80"/>
              </a:buClr>
              <a:buFont typeface="+mj-lt"/>
              <a:buChar char="•"/>
            </a:pPr>
            <a:r>
              <a:rPr lang="en-US" sz="1200">
                <a:solidFill>
                  <a:srgbClr val="1F2937"/>
                </a:solidFill>
                <a:latin typeface="Calibri" panose="020F0502020204030204" pitchFamily="34" charset="0"/>
              </a:rPr>
              <a:t>Recognize and celebrate the work</a:t>
            </a:r>
          </a:p>
          <a:p>
            <a:pPr marL="127000" indent="-127000">
              <a:spcAft>
                <a:spcPts val="400"/>
              </a:spcAft>
              <a:buClr>
                <a:srgbClr val="0F7C80"/>
              </a:buClr>
              <a:buFont typeface="+mj-lt"/>
              <a:buChar char="•"/>
            </a:pPr>
            <a:r>
              <a:rPr lang="en-US" sz="1200">
                <a:solidFill>
                  <a:srgbClr val="1F2937"/>
                </a:solidFill>
                <a:latin typeface="Calibri" panose="020F0502020204030204" pitchFamily="34" charset="0"/>
              </a:rPr>
              <a:t>Release people to their functional managers or new projects</a:t>
            </a:r>
          </a:p>
          <a:p>
            <a:pPr marL="127000" indent="-127000">
              <a:spcAft>
                <a:spcPts val="400"/>
              </a:spcAft>
              <a:buClr>
                <a:srgbClr val="0F7C80"/>
              </a:buClr>
              <a:buFont typeface="+mj-lt"/>
              <a:buChar char="•"/>
            </a:pPr>
            <a:r>
              <a:rPr lang="en-US" sz="1200">
                <a:solidFill>
                  <a:srgbClr val="1F2937"/>
                </a:solidFill>
                <a:latin typeface="Calibri" panose="020F0502020204030204" pitchFamily="34" charset="0"/>
              </a:rPr>
              <a:t>Update resource calendars</a:t>
            </a:r>
          </a:p>
        </p:txBody>
      </p:sp>
      <p:sp>
        <p:nvSpPr>
          <p:cNvPr id="20" name="Rectangle: Rounded Corners 19">
            <a:extLst>
              <a:ext uri="{FF2B5EF4-FFF2-40B4-BE49-F238E27FC236}">
                <a16:creationId xmlns:a16="http://schemas.microsoft.com/office/drawing/2014/main" id="{5335D5B5-E7EF-D8E4-C8D8-FB292EB2A2A8}"/>
              </a:ext>
            </a:extLst>
          </p:cNvPr>
          <p:cNvSpPr/>
          <p:nvPr/>
        </p:nvSpPr>
        <p:spPr>
          <a:xfrm>
            <a:off x="8128000" y="2489200"/>
            <a:ext cx="3556000" cy="19812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A4EC71E-94E7-FC1C-09FF-1393C8344697}"/>
              </a:ext>
            </a:extLst>
          </p:cNvPr>
          <p:cNvSpPr txBox="1"/>
          <p:nvPr/>
        </p:nvSpPr>
        <p:spPr>
          <a:xfrm>
            <a:off x="8280400" y="2641600"/>
            <a:ext cx="3251200" cy="1676400"/>
          </a:xfrm>
          <a:prstGeom prst="rect">
            <a:avLst/>
          </a:prstGeom>
          <a:noFill/>
        </p:spPr>
        <p:txBody>
          <a:bodyPr vert="horz" wrap="square" lIns="0" tIns="0" rIns="0" bIns="0" rtlCol="0" anchor="t">
            <a:noAutofit/>
          </a:bodyPr>
          <a:lstStyle/>
          <a:p>
            <a:pPr>
              <a:spcAft>
                <a:spcPts val="600"/>
              </a:spcAft>
            </a:pPr>
            <a:r>
              <a:rPr lang="en-US" sz="1400" b="1">
                <a:solidFill>
                  <a:srgbClr val="A86F0E"/>
                </a:solidFill>
                <a:latin typeface="Calibri" panose="020F0502020204030204" pitchFamily="34" charset="0"/>
              </a:rPr>
              <a:t>Adaptive closure</a:t>
            </a:r>
          </a:p>
          <a:p>
            <a:pPr marL="127000" indent="-127000">
              <a:spcAft>
                <a:spcPts val="400"/>
              </a:spcAft>
              <a:buClr>
                <a:srgbClr val="A86F0E"/>
              </a:buClr>
              <a:buFont typeface="+mj-lt"/>
              <a:buChar char="•"/>
            </a:pPr>
            <a:r>
              <a:rPr lang="en-US" sz="1200">
                <a:solidFill>
                  <a:srgbClr val="1F2937"/>
                </a:solidFill>
                <a:latin typeface="Calibri" panose="020F0502020204030204" pitchFamily="34" charset="0"/>
              </a:rPr>
              <a:t>Hold a final retrospective</a:t>
            </a:r>
          </a:p>
          <a:p>
            <a:pPr marL="127000" indent="-127000">
              <a:spcAft>
                <a:spcPts val="400"/>
              </a:spcAft>
              <a:buClr>
                <a:srgbClr val="A86F0E"/>
              </a:buClr>
              <a:buFont typeface="+mj-lt"/>
              <a:buChar char="•"/>
            </a:pPr>
            <a:r>
              <a:rPr lang="en-US" sz="1200">
                <a:solidFill>
                  <a:srgbClr val="1F2937"/>
                </a:solidFill>
                <a:latin typeface="Calibri" panose="020F0502020204030204" pitchFamily="34" charset="0"/>
              </a:rPr>
              <a:t>Hand the remaining backlog to the product owner or operations</a:t>
            </a:r>
          </a:p>
          <a:p>
            <a:pPr marL="127000" indent="-127000">
              <a:spcAft>
                <a:spcPts val="400"/>
              </a:spcAft>
              <a:buClr>
                <a:srgbClr val="A86F0E"/>
              </a:buClr>
              <a:buFont typeface="+mj-lt"/>
              <a:buChar char="•"/>
            </a:pPr>
            <a:r>
              <a:rPr lang="en-US" sz="1200">
                <a:solidFill>
                  <a:srgbClr val="1F2937"/>
                </a:solidFill>
                <a:latin typeface="Calibri" panose="020F0502020204030204" pitchFamily="34" charset="0"/>
              </a:rPr>
              <a:t>Confirm the product owner accepts the last increment</a:t>
            </a:r>
          </a:p>
          <a:p>
            <a:pPr marL="127000" indent="-127000">
              <a:spcAft>
                <a:spcPts val="400"/>
              </a:spcAft>
              <a:buClr>
                <a:srgbClr val="A86F0E"/>
              </a:buClr>
              <a:buFont typeface="+mj-lt"/>
              <a:buChar char="•"/>
            </a:pPr>
            <a:r>
              <a:rPr lang="en-US" sz="1200">
                <a:solidFill>
                  <a:srgbClr val="1F2937"/>
                </a:solidFill>
                <a:latin typeface="Calibri" panose="020F0502020204030204" pitchFamily="34" charset="0"/>
              </a:rPr>
              <a:t>Pass benefit measurement to the business owner</a:t>
            </a:r>
          </a:p>
        </p:txBody>
      </p:sp>
      <p:sp>
        <p:nvSpPr>
          <p:cNvPr id="22" name="Rectangle: Rounded Corners 21">
            <a:extLst>
              <a:ext uri="{FF2B5EF4-FFF2-40B4-BE49-F238E27FC236}">
                <a16:creationId xmlns:a16="http://schemas.microsoft.com/office/drawing/2014/main" id="{AFABEAF1-8BBE-0FA9-14F0-702F5D3AFD78}"/>
              </a:ext>
            </a:extLst>
          </p:cNvPr>
          <p:cNvSpPr/>
          <p:nvPr/>
        </p:nvSpPr>
        <p:spPr>
          <a:xfrm>
            <a:off x="508000" y="5486400"/>
            <a:ext cx="11176000" cy="838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3F10ED23-20B2-038B-BFAB-3AD816A5586A}"/>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close the contracts before the project. If the customer won’t sign off, check the deliverables against the agreed acceptance criteria and resolve the gap; if the project is cancelled, still close it formally.</a:t>
            </a:r>
          </a:p>
        </p:txBody>
      </p:sp>
      <p:sp>
        <p:nvSpPr>
          <p:cNvPr id="24" name="Footer">
            <a:extLst>
              <a:ext uri="{FF2B5EF4-FFF2-40B4-BE49-F238E27FC236}">
                <a16:creationId xmlns:a16="http://schemas.microsoft.com/office/drawing/2014/main" id="{0068FD6D-1937-6505-BFF9-D27F38BCD025}"/>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4.7, 5.5 (Validate Scope), 9.4, and 12.3 (Control Procurements); PMI and Agile Alliance, Agile Practice Guide (2017)</a:t>
            </a:r>
          </a:p>
        </p:txBody>
      </p:sp>
      <p:sp>
        <p:nvSpPr>
          <p:cNvPr id="25" name="SlideNum">
            <a:extLst>
              <a:ext uri="{FF2B5EF4-FFF2-40B4-BE49-F238E27FC236}">
                <a16:creationId xmlns:a16="http://schemas.microsoft.com/office/drawing/2014/main" id="{08883F5D-208B-DDF4-8427-66F4F68A999F}"/>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60</a:t>
            </a:r>
          </a:p>
        </p:txBody>
      </p:sp>
      <p:sp>
        <p:nvSpPr>
          <p:cNvPr id="26" name="Rectangle: Rounded Corners 25">
            <a:extLst>
              <a:ext uri="{FF2B5EF4-FFF2-40B4-BE49-F238E27FC236}">
                <a16:creationId xmlns:a16="http://schemas.microsoft.com/office/drawing/2014/main" id="{38FC751D-43DC-C40F-0D77-0A64F7742190}"/>
              </a:ext>
            </a:extLst>
          </p:cNvPr>
          <p:cNvSpPr/>
          <p:nvPr/>
        </p:nvSpPr>
        <p:spPr>
          <a:xfrm>
            <a:off x="508000" y="4597400"/>
            <a:ext cx="11176000" cy="7620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034A8C87-AF7F-0D3A-E821-B4D419D75CED}"/>
              </a:ext>
            </a:extLst>
          </p:cNvPr>
          <p:cNvSpPr txBox="1"/>
          <p:nvPr/>
        </p:nvSpPr>
        <p:spPr>
          <a:xfrm>
            <a:off x="635000" y="4724400"/>
            <a:ext cx="10922000" cy="508000"/>
          </a:xfrm>
          <a:prstGeom prst="rect">
            <a:avLst/>
          </a:prstGeom>
          <a:noFill/>
        </p:spPr>
        <p:txBody>
          <a:bodyPr vert="horz" wrap="square" lIns="0" tIns="0" rIns="0" bIns="0" rtlCol="0" anchor="t">
            <a:noAutofit/>
          </a:bodyPr>
          <a:lstStyle/>
          <a:p>
            <a:pPr>
              <a:spcAft>
                <a:spcPts val="600"/>
              </a:spcAft>
            </a:pPr>
            <a:r>
              <a:rPr lang="en-US" sz="1300" b="1">
                <a:solidFill>
                  <a:srgbClr val="A84A2E"/>
                </a:solidFill>
                <a:latin typeface="Calibri" panose="020F0502020204030204" pitchFamily="34" charset="0"/>
              </a:rPr>
              <a:t>Common closing traps</a:t>
            </a:r>
          </a:p>
          <a:p>
            <a:r>
              <a:rPr lang="en-US" sz="1200">
                <a:solidFill>
                  <a:srgbClr val="1F2937"/>
                </a:solidFill>
                <a:latin typeface="Calibri" panose="020F0502020204030204" pitchFamily="34" charset="0"/>
              </a:rPr>
              <a:t>Skipping lessons learned, releasing people before appraisals, leaving contracts open, and archiving nothing that future estimates can use.</a:t>
            </a:r>
          </a:p>
        </p:txBody>
      </p:sp>
      <p:sp>
        <p:nvSpPr>
          <p:cNvPr id="28"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40478517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A84A2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C555A3-42C7-B7BB-B305-148E6C56056A}"/>
              </a:ext>
            </a:extLst>
          </p:cNvPr>
          <p:cNvSpPr txBox="1"/>
          <p:nvPr/>
        </p:nvSpPr>
        <p:spPr>
          <a:xfrm>
            <a:off x="508000" y="1905000"/>
            <a:ext cx="6350000" cy="381000"/>
          </a:xfrm>
          <a:prstGeom prst="rect">
            <a:avLst/>
          </a:prstGeom>
          <a:noFill/>
        </p:spPr>
        <p:txBody>
          <a:bodyPr vert="horz" wrap="square" lIns="0" tIns="0" rIns="0" bIns="0" rtlCol="0" anchor="t">
            <a:noAutofit/>
          </a:bodyPr>
          <a:lstStyle/>
          <a:p>
            <a:r>
              <a:rPr lang="en-US" sz="2200" b="1">
                <a:solidFill>
                  <a:srgbClr val="E8EEF6"/>
                </a:solidFill>
                <a:latin typeface="Calibri" panose="020F0502020204030204" pitchFamily="34" charset="0"/>
              </a:rPr>
              <a:t>Domain III</a:t>
            </a:r>
          </a:p>
        </p:txBody>
      </p:sp>
      <p:sp>
        <p:nvSpPr>
          <p:cNvPr id="3" name="TextBox 2">
            <a:extLst>
              <a:ext uri="{FF2B5EF4-FFF2-40B4-BE49-F238E27FC236}">
                <a16:creationId xmlns:a16="http://schemas.microsoft.com/office/drawing/2014/main" id="{617904D0-89FF-0C97-5948-76695E40154F}"/>
              </a:ext>
            </a:extLst>
          </p:cNvPr>
          <p:cNvSpPr txBox="1"/>
          <p:nvPr/>
        </p:nvSpPr>
        <p:spPr>
          <a:xfrm>
            <a:off x="508000" y="2349500"/>
            <a:ext cx="7874000" cy="1905000"/>
          </a:xfrm>
          <a:prstGeom prst="rect">
            <a:avLst/>
          </a:prstGeom>
          <a:noFill/>
        </p:spPr>
        <p:txBody>
          <a:bodyPr vert="horz" wrap="square" lIns="0" tIns="0" rIns="0" bIns="0" rtlCol="0" anchor="t">
            <a:noAutofit/>
          </a:bodyPr>
          <a:lstStyle/>
          <a:p>
            <a:r>
              <a:rPr lang="en-US" sz="5800" b="1">
                <a:solidFill>
                  <a:srgbClr val="FFFFFF"/>
                </a:solidFill>
                <a:latin typeface="Cambria" panose="02040503050406030204" pitchFamily="18" charset="0"/>
              </a:rPr>
              <a:t>Business Environment</a:t>
            </a:r>
          </a:p>
        </p:txBody>
      </p:sp>
      <p:sp>
        <p:nvSpPr>
          <p:cNvPr id="4" name="TextBox 3">
            <a:extLst>
              <a:ext uri="{FF2B5EF4-FFF2-40B4-BE49-F238E27FC236}">
                <a16:creationId xmlns:a16="http://schemas.microsoft.com/office/drawing/2014/main" id="{18505927-EB17-45B8-C6DD-32094F5BFDD3}"/>
              </a:ext>
            </a:extLst>
          </p:cNvPr>
          <p:cNvSpPr txBox="1"/>
          <p:nvPr/>
        </p:nvSpPr>
        <p:spPr>
          <a:xfrm>
            <a:off x="508000" y="4381500"/>
            <a:ext cx="7620000" cy="381000"/>
          </a:xfrm>
          <a:prstGeom prst="rect">
            <a:avLst/>
          </a:prstGeom>
          <a:noFill/>
        </p:spPr>
        <p:txBody>
          <a:bodyPr vert="horz" wrap="square" lIns="0" tIns="0" rIns="0" bIns="0" rtlCol="0" anchor="t">
            <a:noAutofit/>
          </a:bodyPr>
          <a:lstStyle/>
          <a:p>
            <a:r>
              <a:rPr lang="en-US" sz="2200">
                <a:solidFill>
                  <a:srgbClr val="FFFFFF"/>
                </a:solidFill>
                <a:latin typeface="Calibri" panose="020F0502020204030204" pitchFamily="34" charset="0"/>
              </a:rPr>
              <a:t>26% of exam questions · 8 tasks</a:t>
            </a:r>
          </a:p>
        </p:txBody>
      </p:sp>
      <p:sp>
        <p:nvSpPr>
          <p:cNvPr id="5" name="TextBox 4">
            <a:extLst>
              <a:ext uri="{FF2B5EF4-FFF2-40B4-BE49-F238E27FC236}">
                <a16:creationId xmlns:a16="http://schemas.microsoft.com/office/drawing/2014/main" id="{C3481D13-F468-7071-D686-E3EEE1EF6606}"/>
              </a:ext>
            </a:extLst>
          </p:cNvPr>
          <p:cNvSpPr txBox="1"/>
          <p:nvPr/>
        </p:nvSpPr>
        <p:spPr>
          <a:xfrm>
            <a:off x="508000" y="4889500"/>
            <a:ext cx="7112000" cy="762000"/>
          </a:xfrm>
          <a:prstGeom prst="rect">
            <a:avLst/>
          </a:prstGeom>
          <a:noFill/>
        </p:spPr>
        <p:txBody>
          <a:bodyPr vert="horz" wrap="square" lIns="0" tIns="0" rIns="0" bIns="0" rtlCol="0" anchor="t">
            <a:noAutofit/>
          </a:bodyPr>
          <a:lstStyle/>
          <a:p>
            <a:r>
              <a:rPr lang="en-US" i="1">
                <a:solidFill>
                  <a:srgbClr val="E8EEF6"/>
                </a:solidFill>
                <a:latin typeface="Calibri" panose="020F0502020204030204" pitchFamily="34" charset="0"/>
              </a:rPr>
              <a:t>Governance, compliance, change, issues, risk, improvement, and the wider organization</a:t>
            </a:r>
          </a:p>
        </p:txBody>
      </p:sp>
      <p:sp>
        <p:nvSpPr>
          <p:cNvPr id="6" name="TextBox 5">
            <a:extLst>
              <a:ext uri="{FF2B5EF4-FFF2-40B4-BE49-F238E27FC236}">
                <a16:creationId xmlns:a16="http://schemas.microsoft.com/office/drawing/2014/main" id="{B92B370F-61B4-FCA7-EF71-8745D015C1A1}"/>
              </a:ext>
            </a:extLst>
          </p:cNvPr>
          <p:cNvSpPr txBox="1"/>
          <p:nvPr/>
        </p:nvSpPr>
        <p:spPr>
          <a:xfrm>
            <a:off x="7620000" y="1524000"/>
            <a:ext cx="4064000" cy="2794000"/>
          </a:xfrm>
          <a:prstGeom prst="rect">
            <a:avLst/>
          </a:prstGeom>
          <a:noFill/>
        </p:spPr>
        <p:txBody>
          <a:bodyPr vert="horz" wrap="square" lIns="0" tIns="0" rIns="0" bIns="0" rtlCol="0" anchor="ctr">
            <a:noAutofit/>
          </a:bodyPr>
          <a:lstStyle/>
          <a:p>
            <a:pPr algn="r"/>
            <a:r>
              <a:rPr lang="en-US" sz="13000" b="1">
                <a:solidFill>
                  <a:srgbClr val="FFFFFF">
                    <a:alpha val="25000"/>
                  </a:srgbClr>
                </a:solidFill>
                <a:latin typeface="Cambria" panose="02040503050406030204" pitchFamily="18" charset="0"/>
              </a:rPr>
              <a:t>26%</a:t>
            </a:r>
          </a:p>
        </p:txBody>
      </p:sp>
      <p:sp>
        <p:nvSpPr>
          <p:cNvPr id="7" name="Footer">
            <a:extLst>
              <a:ext uri="{FF2B5EF4-FFF2-40B4-BE49-F238E27FC236}">
                <a16:creationId xmlns:a16="http://schemas.microsoft.com/office/drawing/2014/main" id="{8DE5B344-4128-213A-E3AE-06C784FF8FF3}"/>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C9D6EA"/>
                </a:solidFill>
                <a:latin typeface="Calibri" panose="020F0502020204030204" pitchFamily="34" charset="0"/>
              </a:rPr>
              <a:t>Source: PMI, PMP® Examination Content Outline (July 2026)</a:t>
            </a:r>
          </a:p>
        </p:txBody>
      </p:sp>
      <p:sp>
        <p:nvSpPr>
          <p:cNvPr id="8"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8504914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omainChip">
            <a:extLst>
              <a:ext uri="{FF2B5EF4-FFF2-40B4-BE49-F238E27FC236}">
                <a16:creationId xmlns:a16="http://schemas.microsoft.com/office/drawing/2014/main" id="{56871388-9625-7337-F2A5-1E874FA0D608}"/>
              </a:ext>
            </a:extLst>
          </p:cNvPr>
          <p:cNvSpPr/>
          <p:nvPr/>
        </p:nvSpPr>
        <p:spPr>
          <a:xfrm>
            <a:off x="508000" y="444500"/>
            <a:ext cx="558800" cy="5588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b="1">
                <a:solidFill>
                  <a:srgbClr val="FFFFFF"/>
                </a:solidFill>
                <a:latin typeface="Calibri" panose="020F0502020204030204" pitchFamily="34" charset="0"/>
              </a:rPr>
              <a:t>III</a:t>
            </a:r>
          </a:p>
        </p:txBody>
      </p:sp>
      <p:sp>
        <p:nvSpPr>
          <p:cNvPr id="3" name="Title">
            <a:extLst>
              <a:ext uri="{FF2B5EF4-FFF2-40B4-BE49-F238E27FC236}">
                <a16:creationId xmlns:a16="http://schemas.microsoft.com/office/drawing/2014/main" id="{792C8C85-98CC-3D3E-D192-ED8B6ACD00D5}"/>
              </a:ext>
            </a:extLst>
          </p:cNvPr>
          <p:cNvSpPr txBox="1"/>
          <p:nvPr/>
        </p:nvSpPr>
        <p:spPr>
          <a:xfrm>
            <a:off x="1219200" y="381000"/>
            <a:ext cx="104648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Business Environment: 8 tasks at a glance</a:t>
            </a:r>
          </a:p>
        </p:txBody>
      </p:sp>
      <p:sp>
        <p:nvSpPr>
          <p:cNvPr id="4" name="Oval 3">
            <a:extLst>
              <a:ext uri="{FF2B5EF4-FFF2-40B4-BE49-F238E27FC236}">
                <a16:creationId xmlns:a16="http://schemas.microsoft.com/office/drawing/2014/main" id="{A4DFF4FC-95E0-F190-5AF6-D857A1A13C4A}"/>
              </a:ext>
            </a:extLst>
          </p:cNvPr>
          <p:cNvSpPr/>
          <p:nvPr/>
        </p:nvSpPr>
        <p:spPr>
          <a:xfrm>
            <a:off x="508000" y="1778000"/>
            <a:ext cx="381000" cy="3810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1</a:t>
            </a:r>
          </a:p>
        </p:txBody>
      </p:sp>
      <p:sp>
        <p:nvSpPr>
          <p:cNvPr id="5" name="TextBox 4">
            <a:extLst>
              <a:ext uri="{FF2B5EF4-FFF2-40B4-BE49-F238E27FC236}">
                <a16:creationId xmlns:a16="http://schemas.microsoft.com/office/drawing/2014/main" id="{5CA14BDA-3FD8-B2B7-C843-CE0657A322AE}"/>
              </a:ext>
            </a:extLst>
          </p:cNvPr>
          <p:cNvSpPr txBox="1"/>
          <p:nvPr/>
        </p:nvSpPr>
        <p:spPr>
          <a:xfrm>
            <a:off x="1041400" y="1346200"/>
            <a:ext cx="4927600" cy="1244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Define and establish project governance</a:t>
            </a:r>
          </a:p>
        </p:txBody>
      </p:sp>
      <p:sp>
        <p:nvSpPr>
          <p:cNvPr id="6" name="Oval 5">
            <a:extLst>
              <a:ext uri="{FF2B5EF4-FFF2-40B4-BE49-F238E27FC236}">
                <a16:creationId xmlns:a16="http://schemas.microsoft.com/office/drawing/2014/main" id="{27DC6B89-B89E-2609-1A92-E1C46D81949C}"/>
              </a:ext>
            </a:extLst>
          </p:cNvPr>
          <p:cNvSpPr/>
          <p:nvPr/>
        </p:nvSpPr>
        <p:spPr>
          <a:xfrm>
            <a:off x="508000" y="3022600"/>
            <a:ext cx="381000" cy="3810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2</a:t>
            </a:r>
          </a:p>
        </p:txBody>
      </p:sp>
      <p:sp>
        <p:nvSpPr>
          <p:cNvPr id="7" name="TextBox 6">
            <a:extLst>
              <a:ext uri="{FF2B5EF4-FFF2-40B4-BE49-F238E27FC236}">
                <a16:creationId xmlns:a16="http://schemas.microsoft.com/office/drawing/2014/main" id="{A1D30ABE-89EB-A30B-3B08-2CF318834D99}"/>
              </a:ext>
            </a:extLst>
          </p:cNvPr>
          <p:cNvSpPr txBox="1"/>
          <p:nvPr/>
        </p:nvSpPr>
        <p:spPr>
          <a:xfrm>
            <a:off x="1041400" y="2590800"/>
            <a:ext cx="4927600" cy="1244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Plan and manage project compliance</a:t>
            </a:r>
          </a:p>
        </p:txBody>
      </p:sp>
      <p:sp>
        <p:nvSpPr>
          <p:cNvPr id="8" name="Oval 7">
            <a:extLst>
              <a:ext uri="{FF2B5EF4-FFF2-40B4-BE49-F238E27FC236}">
                <a16:creationId xmlns:a16="http://schemas.microsoft.com/office/drawing/2014/main" id="{C73FD0EC-9376-E3E5-A16F-ABAD43A10530}"/>
              </a:ext>
            </a:extLst>
          </p:cNvPr>
          <p:cNvSpPr/>
          <p:nvPr/>
        </p:nvSpPr>
        <p:spPr>
          <a:xfrm>
            <a:off x="508000" y="4267200"/>
            <a:ext cx="381000" cy="3810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3</a:t>
            </a:r>
          </a:p>
        </p:txBody>
      </p:sp>
      <p:sp>
        <p:nvSpPr>
          <p:cNvPr id="9" name="TextBox 8">
            <a:extLst>
              <a:ext uri="{FF2B5EF4-FFF2-40B4-BE49-F238E27FC236}">
                <a16:creationId xmlns:a16="http://schemas.microsoft.com/office/drawing/2014/main" id="{0075B04E-D021-E8BE-5A70-655A3CB9CEF4}"/>
              </a:ext>
            </a:extLst>
          </p:cNvPr>
          <p:cNvSpPr txBox="1"/>
          <p:nvPr/>
        </p:nvSpPr>
        <p:spPr>
          <a:xfrm>
            <a:off x="1041400" y="3835400"/>
            <a:ext cx="4927600" cy="1244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Manage and control changes</a:t>
            </a:r>
          </a:p>
        </p:txBody>
      </p:sp>
      <p:sp>
        <p:nvSpPr>
          <p:cNvPr id="10" name="Oval 9">
            <a:extLst>
              <a:ext uri="{FF2B5EF4-FFF2-40B4-BE49-F238E27FC236}">
                <a16:creationId xmlns:a16="http://schemas.microsoft.com/office/drawing/2014/main" id="{47D2F4E4-4650-86DC-921E-2C398D9D948B}"/>
              </a:ext>
            </a:extLst>
          </p:cNvPr>
          <p:cNvSpPr/>
          <p:nvPr/>
        </p:nvSpPr>
        <p:spPr>
          <a:xfrm>
            <a:off x="508000" y="5511800"/>
            <a:ext cx="381000" cy="3810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4</a:t>
            </a:r>
          </a:p>
        </p:txBody>
      </p:sp>
      <p:sp>
        <p:nvSpPr>
          <p:cNvPr id="11" name="TextBox 10">
            <a:extLst>
              <a:ext uri="{FF2B5EF4-FFF2-40B4-BE49-F238E27FC236}">
                <a16:creationId xmlns:a16="http://schemas.microsoft.com/office/drawing/2014/main" id="{BE8BFC6A-5AB8-96F0-C08A-209FB11C75D5}"/>
              </a:ext>
            </a:extLst>
          </p:cNvPr>
          <p:cNvSpPr txBox="1"/>
          <p:nvPr/>
        </p:nvSpPr>
        <p:spPr>
          <a:xfrm>
            <a:off x="1041400" y="5080000"/>
            <a:ext cx="4927600" cy="1244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Remove impediments and manage issues</a:t>
            </a:r>
          </a:p>
        </p:txBody>
      </p:sp>
      <p:sp>
        <p:nvSpPr>
          <p:cNvPr id="12" name="Oval 11">
            <a:extLst>
              <a:ext uri="{FF2B5EF4-FFF2-40B4-BE49-F238E27FC236}">
                <a16:creationId xmlns:a16="http://schemas.microsoft.com/office/drawing/2014/main" id="{74B931D5-8228-6253-5454-78B7CDA83FF2}"/>
              </a:ext>
            </a:extLst>
          </p:cNvPr>
          <p:cNvSpPr/>
          <p:nvPr/>
        </p:nvSpPr>
        <p:spPr>
          <a:xfrm>
            <a:off x="6223000" y="1778000"/>
            <a:ext cx="381000" cy="3810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5</a:t>
            </a:r>
          </a:p>
        </p:txBody>
      </p:sp>
      <p:sp>
        <p:nvSpPr>
          <p:cNvPr id="13" name="TextBox 12">
            <a:extLst>
              <a:ext uri="{FF2B5EF4-FFF2-40B4-BE49-F238E27FC236}">
                <a16:creationId xmlns:a16="http://schemas.microsoft.com/office/drawing/2014/main" id="{2336B603-C254-5781-5072-3F289E75CC3D}"/>
              </a:ext>
            </a:extLst>
          </p:cNvPr>
          <p:cNvSpPr txBox="1"/>
          <p:nvPr/>
        </p:nvSpPr>
        <p:spPr>
          <a:xfrm>
            <a:off x="6756400" y="1346200"/>
            <a:ext cx="4927600" cy="1244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Plan and manage risk</a:t>
            </a:r>
          </a:p>
        </p:txBody>
      </p:sp>
      <p:sp>
        <p:nvSpPr>
          <p:cNvPr id="14" name="Oval 13">
            <a:extLst>
              <a:ext uri="{FF2B5EF4-FFF2-40B4-BE49-F238E27FC236}">
                <a16:creationId xmlns:a16="http://schemas.microsoft.com/office/drawing/2014/main" id="{E216BEF6-A31E-A46F-7C62-6F167FCD48A2}"/>
              </a:ext>
            </a:extLst>
          </p:cNvPr>
          <p:cNvSpPr/>
          <p:nvPr/>
        </p:nvSpPr>
        <p:spPr>
          <a:xfrm>
            <a:off x="6223000" y="3022600"/>
            <a:ext cx="381000" cy="3810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6</a:t>
            </a:r>
          </a:p>
        </p:txBody>
      </p:sp>
      <p:sp>
        <p:nvSpPr>
          <p:cNvPr id="15" name="TextBox 14">
            <a:extLst>
              <a:ext uri="{FF2B5EF4-FFF2-40B4-BE49-F238E27FC236}">
                <a16:creationId xmlns:a16="http://schemas.microsoft.com/office/drawing/2014/main" id="{65193AB6-992E-D58A-AED9-EBDB90D19FE3}"/>
              </a:ext>
            </a:extLst>
          </p:cNvPr>
          <p:cNvSpPr txBox="1"/>
          <p:nvPr/>
        </p:nvSpPr>
        <p:spPr>
          <a:xfrm>
            <a:off x="6756400" y="2590800"/>
            <a:ext cx="4927600" cy="1244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Continuous improvement</a:t>
            </a:r>
          </a:p>
        </p:txBody>
      </p:sp>
      <p:sp>
        <p:nvSpPr>
          <p:cNvPr id="16" name="Oval 15">
            <a:extLst>
              <a:ext uri="{FF2B5EF4-FFF2-40B4-BE49-F238E27FC236}">
                <a16:creationId xmlns:a16="http://schemas.microsoft.com/office/drawing/2014/main" id="{CC203EF0-3400-C75E-557F-C446DB29BEC6}"/>
              </a:ext>
            </a:extLst>
          </p:cNvPr>
          <p:cNvSpPr/>
          <p:nvPr/>
        </p:nvSpPr>
        <p:spPr>
          <a:xfrm>
            <a:off x="6223000" y="4267200"/>
            <a:ext cx="381000" cy="3810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7</a:t>
            </a:r>
          </a:p>
        </p:txBody>
      </p:sp>
      <p:sp>
        <p:nvSpPr>
          <p:cNvPr id="17" name="TextBox 16">
            <a:extLst>
              <a:ext uri="{FF2B5EF4-FFF2-40B4-BE49-F238E27FC236}">
                <a16:creationId xmlns:a16="http://schemas.microsoft.com/office/drawing/2014/main" id="{994E0DD1-BA99-2848-144A-A7361FA1F4E8}"/>
              </a:ext>
            </a:extLst>
          </p:cNvPr>
          <p:cNvSpPr txBox="1"/>
          <p:nvPr/>
        </p:nvSpPr>
        <p:spPr>
          <a:xfrm>
            <a:off x="6756400" y="3835400"/>
            <a:ext cx="4927600" cy="1244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Support organizational change</a:t>
            </a:r>
          </a:p>
        </p:txBody>
      </p:sp>
      <p:sp>
        <p:nvSpPr>
          <p:cNvPr id="18" name="Oval 17">
            <a:extLst>
              <a:ext uri="{FF2B5EF4-FFF2-40B4-BE49-F238E27FC236}">
                <a16:creationId xmlns:a16="http://schemas.microsoft.com/office/drawing/2014/main" id="{E7467D52-15C2-165B-41C1-342661EC9B24}"/>
              </a:ext>
            </a:extLst>
          </p:cNvPr>
          <p:cNvSpPr/>
          <p:nvPr/>
        </p:nvSpPr>
        <p:spPr>
          <a:xfrm>
            <a:off x="6223000" y="5511800"/>
            <a:ext cx="381000" cy="3810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8</a:t>
            </a:r>
          </a:p>
        </p:txBody>
      </p:sp>
      <p:sp>
        <p:nvSpPr>
          <p:cNvPr id="19" name="TextBox 18">
            <a:extLst>
              <a:ext uri="{FF2B5EF4-FFF2-40B4-BE49-F238E27FC236}">
                <a16:creationId xmlns:a16="http://schemas.microsoft.com/office/drawing/2014/main" id="{005A066D-776E-700B-3CFE-369EDE932D09}"/>
              </a:ext>
            </a:extLst>
          </p:cNvPr>
          <p:cNvSpPr txBox="1"/>
          <p:nvPr/>
        </p:nvSpPr>
        <p:spPr>
          <a:xfrm>
            <a:off x="6756400" y="5080000"/>
            <a:ext cx="4927600" cy="1244600"/>
          </a:xfrm>
          <a:prstGeom prst="rect">
            <a:avLst/>
          </a:prstGeom>
          <a:noFill/>
        </p:spPr>
        <p:txBody>
          <a:bodyPr vert="horz" wrap="square" lIns="0" tIns="0" rIns="0" bIns="0" rtlCol="0" anchor="ctr">
            <a:noAutofit/>
          </a:bodyPr>
          <a:lstStyle/>
          <a:p>
            <a:r>
              <a:rPr lang="en-US" sz="1500">
                <a:solidFill>
                  <a:srgbClr val="14213D"/>
                </a:solidFill>
                <a:latin typeface="Calibri" panose="020F0502020204030204" pitchFamily="34" charset="0"/>
              </a:rPr>
              <a:t>Evaluate external business environment changes</a:t>
            </a:r>
          </a:p>
        </p:txBody>
      </p:sp>
      <p:sp>
        <p:nvSpPr>
          <p:cNvPr id="20" name="Footer">
            <a:extLst>
              <a:ext uri="{FF2B5EF4-FFF2-40B4-BE49-F238E27FC236}">
                <a16:creationId xmlns:a16="http://schemas.microsoft.com/office/drawing/2014/main" id="{098B24F3-7F69-E506-DDF8-1BBECB2C01FA}"/>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PMP® Examination Content Outline (July 2026)</a:t>
            </a:r>
          </a:p>
        </p:txBody>
      </p:sp>
      <p:sp>
        <p:nvSpPr>
          <p:cNvPr id="21" name="SlideNum">
            <a:extLst>
              <a:ext uri="{FF2B5EF4-FFF2-40B4-BE49-F238E27FC236}">
                <a16:creationId xmlns:a16="http://schemas.microsoft.com/office/drawing/2014/main" id="{996362B0-4DB1-0332-044B-518FA4D97990}"/>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62</a:t>
            </a:r>
          </a:p>
        </p:txBody>
      </p:sp>
      <p:sp>
        <p:nvSpPr>
          <p:cNvPr id="22"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7309552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omainChip">
            <a:extLst>
              <a:ext uri="{FF2B5EF4-FFF2-40B4-BE49-F238E27FC236}">
                <a16:creationId xmlns:a16="http://schemas.microsoft.com/office/drawing/2014/main" id="{51C1E5F3-2DBE-4A2F-357E-443C0FB9CA93}"/>
              </a:ext>
            </a:extLst>
          </p:cNvPr>
          <p:cNvSpPr/>
          <p:nvPr/>
        </p:nvSpPr>
        <p:spPr>
          <a:xfrm>
            <a:off x="508000" y="444500"/>
            <a:ext cx="558800" cy="5588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b="1">
                <a:solidFill>
                  <a:srgbClr val="FFFFFF"/>
                </a:solidFill>
                <a:latin typeface="Calibri" panose="020F0502020204030204" pitchFamily="34" charset="0"/>
              </a:rPr>
              <a:t>III</a:t>
            </a:r>
          </a:p>
        </p:txBody>
      </p:sp>
      <p:sp>
        <p:nvSpPr>
          <p:cNvPr id="3" name="Title">
            <a:extLst>
              <a:ext uri="{FF2B5EF4-FFF2-40B4-BE49-F238E27FC236}">
                <a16:creationId xmlns:a16="http://schemas.microsoft.com/office/drawing/2014/main" id="{AAF26D2F-1D59-ED5F-2149-EC5975F38627}"/>
              </a:ext>
            </a:extLst>
          </p:cNvPr>
          <p:cNvSpPr txBox="1"/>
          <p:nvPr/>
        </p:nvSpPr>
        <p:spPr>
          <a:xfrm>
            <a:off x="1219200" y="381000"/>
            <a:ext cx="104648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Business Environment tasks 1–4</a:t>
            </a:r>
          </a:p>
        </p:txBody>
      </p:sp>
      <p:sp>
        <p:nvSpPr>
          <p:cNvPr id="4" name="TaskColumn">
            <a:extLst>
              <a:ext uri="{FF2B5EF4-FFF2-40B4-BE49-F238E27FC236}">
                <a16:creationId xmlns:a16="http://schemas.microsoft.com/office/drawing/2014/main" id="{0B72E8F3-0902-AC24-16B2-EF6212D257EB}"/>
              </a:ext>
            </a:extLst>
          </p:cNvPr>
          <p:cNvSpPr txBox="1"/>
          <p:nvPr/>
        </p:nvSpPr>
        <p:spPr>
          <a:xfrm>
            <a:off x="508000" y="1371600"/>
            <a:ext cx="5435600" cy="4927600"/>
          </a:xfrm>
          <a:prstGeom prst="rect">
            <a:avLst/>
          </a:prstGeom>
          <a:noFill/>
        </p:spPr>
        <p:txBody>
          <a:bodyPr vert="horz" wrap="square" lIns="0" tIns="0" rIns="0" bIns="0" rtlCol="0">
            <a:noAutofit/>
          </a:bodyPr>
          <a:lstStyle/>
          <a:p>
            <a:pPr>
              <a:spcAft>
                <a:spcPts val="400"/>
              </a:spcAft>
            </a:pPr>
            <a:r>
              <a:rPr lang="en-US" sz="1600" b="1">
                <a:solidFill>
                  <a:srgbClr val="A84A2E"/>
                </a:solidFill>
                <a:latin typeface="Calibri" panose="020F0502020204030204" pitchFamily="34" charset="0"/>
              </a:rPr>
              <a:t>Task 1</a:t>
            </a:r>
            <a:r>
              <a:rPr lang="en-US" sz="1600" b="1">
                <a:solidFill>
                  <a:srgbClr val="14213D"/>
                </a:solidFill>
                <a:latin typeface="Calibri" panose="020F0502020204030204" pitchFamily="34" charset="0"/>
              </a:rPr>
              <a:t> Define and establish project governance</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Describe and establish the structure, rules, procedures, reporting, ethics, and policies through the use of organizational process assets (OPAs)</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Define success metrics</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Outline governance escalation paths and thresholds</a:t>
            </a:r>
          </a:p>
          <a:p>
            <a:pPr>
              <a:spcBef>
                <a:spcPts val="1400"/>
              </a:spcBef>
              <a:spcAft>
                <a:spcPts val="400"/>
              </a:spcAft>
            </a:pPr>
            <a:r>
              <a:rPr lang="en-US" sz="1600" b="1">
                <a:solidFill>
                  <a:srgbClr val="A84A2E"/>
                </a:solidFill>
                <a:latin typeface="Calibri" panose="020F0502020204030204" pitchFamily="34" charset="0"/>
              </a:rPr>
              <a:t>Task 2</a:t>
            </a:r>
            <a:r>
              <a:rPr lang="en-US" sz="1600" b="1">
                <a:solidFill>
                  <a:srgbClr val="14213D"/>
                </a:solidFill>
                <a:latin typeface="Calibri" panose="020F0502020204030204" pitchFamily="34" charset="0"/>
              </a:rPr>
              <a:t> Plan and manage project compliance</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Confirm project compliance requirements (e.g., security, health and safety, sustainability, regulatory compliance)</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Classify compliance categories</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Determine potential threats to compliance</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Use methods to support compliance</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Analyze the consequences of noncompliance</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Determine the necessary approach and action(s) to address compliance needs</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Measure the extent to which the project is in compliance</a:t>
            </a:r>
          </a:p>
        </p:txBody>
      </p:sp>
      <p:sp>
        <p:nvSpPr>
          <p:cNvPr id="5" name="TaskColumn">
            <a:extLst>
              <a:ext uri="{FF2B5EF4-FFF2-40B4-BE49-F238E27FC236}">
                <a16:creationId xmlns:a16="http://schemas.microsoft.com/office/drawing/2014/main" id="{03BED317-CFEC-47A7-0F76-5A1D710698B2}"/>
              </a:ext>
            </a:extLst>
          </p:cNvPr>
          <p:cNvSpPr txBox="1"/>
          <p:nvPr/>
        </p:nvSpPr>
        <p:spPr>
          <a:xfrm>
            <a:off x="6248400" y="1371600"/>
            <a:ext cx="5435600" cy="4927600"/>
          </a:xfrm>
          <a:prstGeom prst="rect">
            <a:avLst/>
          </a:prstGeom>
          <a:noFill/>
        </p:spPr>
        <p:txBody>
          <a:bodyPr vert="horz" wrap="square" lIns="0" tIns="0" rIns="0" bIns="0" rtlCol="0">
            <a:noAutofit/>
          </a:bodyPr>
          <a:lstStyle/>
          <a:p>
            <a:pPr>
              <a:spcAft>
                <a:spcPts val="400"/>
              </a:spcAft>
            </a:pPr>
            <a:r>
              <a:rPr lang="en-US" sz="1600" b="1">
                <a:solidFill>
                  <a:srgbClr val="A84A2E"/>
                </a:solidFill>
                <a:latin typeface="Calibri" panose="020F0502020204030204" pitchFamily="34" charset="0"/>
              </a:rPr>
              <a:t>Task 3</a:t>
            </a:r>
            <a:r>
              <a:rPr lang="en-US" sz="1600" b="1">
                <a:solidFill>
                  <a:srgbClr val="14213D"/>
                </a:solidFill>
                <a:latin typeface="Calibri" panose="020F0502020204030204" pitchFamily="34" charset="0"/>
              </a:rPr>
              <a:t> Manage and control changes</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Execute the change control process</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Communicate the status of proposed changes</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Implement approved changes to the project</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Update project documentation to reflect changes</a:t>
            </a:r>
          </a:p>
          <a:p>
            <a:pPr>
              <a:spcBef>
                <a:spcPts val="1400"/>
              </a:spcBef>
              <a:spcAft>
                <a:spcPts val="400"/>
              </a:spcAft>
            </a:pPr>
            <a:r>
              <a:rPr lang="en-US" sz="1600" b="1">
                <a:solidFill>
                  <a:srgbClr val="A84A2E"/>
                </a:solidFill>
                <a:latin typeface="Calibri" panose="020F0502020204030204" pitchFamily="34" charset="0"/>
              </a:rPr>
              <a:t>Task 4</a:t>
            </a:r>
            <a:r>
              <a:rPr lang="en-US" sz="1600" b="1">
                <a:solidFill>
                  <a:srgbClr val="14213D"/>
                </a:solidFill>
                <a:latin typeface="Calibri" panose="020F0502020204030204" pitchFamily="34" charset="0"/>
              </a:rPr>
              <a:t> Remove impediments and manage issues</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Evaluate the impact of impediments</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Prioritize and highlight impediments</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Determine and apply an intervention strategy to remove/minimize impediments</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Reassess continually to help ensure impediments, obstacles, and blockers for the team are being addressed</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Recognize when a risk becomes an issue</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Collaborate with relevant stakeholders on an approach to resolve the issues</a:t>
            </a:r>
          </a:p>
        </p:txBody>
      </p:sp>
      <p:sp>
        <p:nvSpPr>
          <p:cNvPr id="6" name="Footer">
            <a:extLst>
              <a:ext uri="{FF2B5EF4-FFF2-40B4-BE49-F238E27FC236}">
                <a16:creationId xmlns:a16="http://schemas.microsoft.com/office/drawing/2014/main" id="{F734166D-D639-AA8C-8649-054C7D6C18AF}"/>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PMP® Examination Content Outline (July 2026)</a:t>
            </a:r>
          </a:p>
        </p:txBody>
      </p:sp>
      <p:sp>
        <p:nvSpPr>
          <p:cNvPr id="7" name="SlideNum">
            <a:extLst>
              <a:ext uri="{FF2B5EF4-FFF2-40B4-BE49-F238E27FC236}">
                <a16:creationId xmlns:a16="http://schemas.microsoft.com/office/drawing/2014/main" id="{E09D140E-7854-4E26-BB35-AE34546CF8C9}"/>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63</a:t>
            </a:r>
          </a:p>
        </p:txBody>
      </p:sp>
      <p:sp>
        <p:nvSpPr>
          <p:cNvPr id="8"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42104247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omainChip">
            <a:extLst>
              <a:ext uri="{FF2B5EF4-FFF2-40B4-BE49-F238E27FC236}">
                <a16:creationId xmlns:a16="http://schemas.microsoft.com/office/drawing/2014/main" id="{841ABBDB-A8BB-5CCC-CADE-99D0F9E90F6D}"/>
              </a:ext>
            </a:extLst>
          </p:cNvPr>
          <p:cNvSpPr/>
          <p:nvPr/>
        </p:nvSpPr>
        <p:spPr>
          <a:xfrm>
            <a:off x="508000" y="444500"/>
            <a:ext cx="558800" cy="5588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b="1">
                <a:solidFill>
                  <a:srgbClr val="FFFFFF"/>
                </a:solidFill>
                <a:latin typeface="Calibri" panose="020F0502020204030204" pitchFamily="34" charset="0"/>
              </a:rPr>
              <a:t>III</a:t>
            </a:r>
          </a:p>
        </p:txBody>
      </p:sp>
      <p:sp>
        <p:nvSpPr>
          <p:cNvPr id="3" name="Title">
            <a:extLst>
              <a:ext uri="{FF2B5EF4-FFF2-40B4-BE49-F238E27FC236}">
                <a16:creationId xmlns:a16="http://schemas.microsoft.com/office/drawing/2014/main" id="{6937EAA6-1370-D928-94C7-85E2807BC7B1}"/>
              </a:ext>
            </a:extLst>
          </p:cNvPr>
          <p:cNvSpPr txBox="1"/>
          <p:nvPr/>
        </p:nvSpPr>
        <p:spPr>
          <a:xfrm>
            <a:off x="1219200" y="381000"/>
            <a:ext cx="104648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Business Environment tasks 5–8</a:t>
            </a:r>
          </a:p>
        </p:txBody>
      </p:sp>
      <p:sp>
        <p:nvSpPr>
          <p:cNvPr id="4" name="TaskColumn">
            <a:extLst>
              <a:ext uri="{FF2B5EF4-FFF2-40B4-BE49-F238E27FC236}">
                <a16:creationId xmlns:a16="http://schemas.microsoft.com/office/drawing/2014/main" id="{7B05679F-17A8-1EC4-9380-6D9046F2281A}"/>
              </a:ext>
            </a:extLst>
          </p:cNvPr>
          <p:cNvSpPr txBox="1"/>
          <p:nvPr/>
        </p:nvSpPr>
        <p:spPr>
          <a:xfrm>
            <a:off x="508000" y="1371600"/>
            <a:ext cx="5435600" cy="4927600"/>
          </a:xfrm>
          <a:prstGeom prst="rect">
            <a:avLst/>
          </a:prstGeom>
          <a:noFill/>
        </p:spPr>
        <p:txBody>
          <a:bodyPr vert="horz" wrap="square" lIns="0" tIns="0" rIns="0" bIns="0" rtlCol="0">
            <a:noAutofit/>
          </a:bodyPr>
          <a:lstStyle/>
          <a:p>
            <a:pPr>
              <a:spcAft>
                <a:spcPts val="400"/>
              </a:spcAft>
            </a:pPr>
            <a:r>
              <a:rPr lang="en-US" sz="1600" b="1">
                <a:solidFill>
                  <a:srgbClr val="A84A2E"/>
                </a:solidFill>
                <a:latin typeface="Calibri" panose="020F0502020204030204" pitchFamily="34" charset="0"/>
              </a:rPr>
              <a:t>Task 5</a:t>
            </a:r>
            <a:r>
              <a:rPr lang="en-US" sz="1600" b="1">
                <a:solidFill>
                  <a:srgbClr val="14213D"/>
                </a:solidFill>
                <a:latin typeface="Calibri" panose="020F0502020204030204" pitchFamily="34" charset="0"/>
              </a:rPr>
              <a:t> Plan and manage risk</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Identify risks</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Analyze risks</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Monitor and control risks</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Develop a risk management plan</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Maintain a risk register (e.g., poor IT security)</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Execute a risk management plan (e.g., risk response for security and managing sustainability risks)</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Communicate the status of a risk impact on the project</a:t>
            </a:r>
          </a:p>
          <a:p>
            <a:pPr>
              <a:spcBef>
                <a:spcPts val="1400"/>
              </a:spcBef>
              <a:spcAft>
                <a:spcPts val="400"/>
              </a:spcAft>
            </a:pPr>
            <a:r>
              <a:rPr lang="en-US" sz="1600" b="1">
                <a:solidFill>
                  <a:srgbClr val="A84A2E"/>
                </a:solidFill>
                <a:latin typeface="Calibri" panose="020F0502020204030204" pitchFamily="34" charset="0"/>
              </a:rPr>
              <a:t>Task 6</a:t>
            </a:r>
            <a:r>
              <a:rPr lang="en-US" sz="1600" b="1">
                <a:solidFill>
                  <a:srgbClr val="14213D"/>
                </a:solidFill>
                <a:latin typeface="Calibri" panose="020F0502020204030204" pitchFamily="34" charset="0"/>
              </a:rPr>
              <a:t> Continuous improvement</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Utilize lessons learned</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Help ensure continuous improvement processes are updated</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Update organizational process assets (OPAs)</a:t>
            </a:r>
          </a:p>
        </p:txBody>
      </p:sp>
      <p:sp>
        <p:nvSpPr>
          <p:cNvPr id="5" name="TaskColumn">
            <a:extLst>
              <a:ext uri="{FF2B5EF4-FFF2-40B4-BE49-F238E27FC236}">
                <a16:creationId xmlns:a16="http://schemas.microsoft.com/office/drawing/2014/main" id="{86C103C0-9AE1-B842-85A2-85130CC0BF76}"/>
              </a:ext>
            </a:extLst>
          </p:cNvPr>
          <p:cNvSpPr txBox="1"/>
          <p:nvPr/>
        </p:nvSpPr>
        <p:spPr>
          <a:xfrm>
            <a:off x="6248400" y="1371600"/>
            <a:ext cx="5435600" cy="4927600"/>
          </a:xfrm>
          <a:prstGeom prst="rect">
            <a:avLst/>
          </a:prstGeom>
          <a:noFill/>
        </p:spPr>
        <p:txBody>
          <a:bodyPr vert="horz" wrap="square" lIns="0" tIns="0" rIns="0" bIns="0" rtlCol="0">
            <a:noAutofit/>
          </a:bodyPr>
          <a:lstStyle/>
          <a:p>
            <a:pPr>
              <a:spcAft>
                <a:spcPts val="400"/>
              </a:spcAft>
            </a:pPr>
            <a:r>
              <a:rPr lang="en-US" sz="1600" b="1">
                <a:solidFill>
                  <a:srgbClr val="A84A2E"/>
                </a:solidFill>
                <a:latin typeface="Calibri" panose="020F0502020204030204" pitchFamily="34" charset="0"/>
              </a:rPr>
              <a:t>Task 7</a:t>
            </a:r>
            <a:r>
              <a:rPr lang="en-US" sz="1600" b="1">
                <a:solidFill>
                  <a:srgbClr val="14213D"/>
                </a:solidFill>
                <a:latin typeface="Calibri" panose="020F0502020204030204" pitchFamily="34" charset="0"/>
              </a:rPr>
              <a:t> Support organizational change</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Assess organizational culture</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Evaluate the impact of organizational change on the project and determine required actions</a:t>
            </a:r>
          </a:p>
          <a:p>
            <a:pPr>
              <a:spcBef>
                <a:spcPts val="1400"/>
              </a:spcBef>
              <a:spcAft>
                <a:spcPts val="400"/>
              </a:spcAft>
            </a:pPr>
            <a:r>
              <a:rPr lang="en-US" sz="1600" b="1">
                <a:solidFill>
                  <a:srgbClr val="A84A2E"/>
                </a:solidFill>
                <a:latin typeface="Calibri" panose="020F0502020204030204" pitchFamily="34" charset="0"/>
              </a:rPr>
              <a:t>Task 8</a:t>
            </a:r>
            <a:r>
              <a:rPr lang="en-US" sz="1600" b="1">
                <a:solidFill>
                  <a:srgbClr val="14213D"/>
                </a:solidFill>
                <a:latin typeface="Calibri" panose="020F0502020204030204" pitchFamily="34" charset="0"/>
              </a:rPr>
              <a:t> Evaluate external business environment changes</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Survey changes to the external business environment (e.g., regulations, technology, geopolitical, market)</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Assess and prioritize the impact on project scope/backlog based on changes in the external business environment</a:t>
            </a:r>
          </a:p>
          <a:p>
            <a:pPr marL="203200" indent="-203200">
              <a:spcAft>
                <a:spcPts val="300"/>
              </a:spcAft>
              <a:buClr>
                <a:srgbClr val="A84A2E"/>
              </a:buClr>
              <a:buFont typeface="+mj-lt"/>
              <a:buChar char="•"/>
            </a:pPr>
            <a:r>
              <a:rPr lang="en-US" sz="1400">
                <a:solidFill>
                  <a:srgbClr val="1F2937"/>
                </a:solidFill>
                <a:latin typeface="Calibri" panose="020F0502020204030204" pitchFamily="34" charset="0"/>
              </a:rPr>
              <a:t>Continually review the external business environment for impacts on project scope/backlog</a:t>
            </a:r>
          </a:p>
        </p:txBody>
      </p:sp>
      <p:sp>
        <p:nvSpPr>
          <p:cNvPr id="6" name="Footer">
            <a:extLst>
              <a:ext uri="{FF2B5EF4-FFF2-40B4-BE49-F238E27FC236}">
                <a16:creationId xmlns:a16="http://schemas.microsoft.com/office/drawing/2014/main" id="{37F114C6-7767-3000-8EFC-57B8911782F5}"/>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PMP® Examination Content Outline (July 2026)</a:t>
            </a:r>
          </a:p>
        </p:txBody>
      </p:sp>
      <p:sp>
        <p:nvSpPr>
          <p:cNvPr id="7" name="SlideNum">
            <a:extLst>
              <a:ext uri="{FF2B5EF4-FFF2-40B4-BE49-F238E27FC236}">
                <a16:creationId xmlns:a16="http://schemas.microsoft.com/office/drawing/2014/main" id="{1189FA7C-34F6-4544-5365-999083326F0D}"/>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64</a:t>
            </a:r>
          </a:p>
        </p:txBody>
      </p:sp>
      <p:sp>
        <p:nvSpPr>
          <p:cNvPr id="8"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2613446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D26CF85-62B2-6377-827A-0A09B6EED3E4}"/>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OPAs and EEFs: what the organization brings</a:t>
            </a:r>
          </a:p>
        </p:txBody>
      </p:sp>
      <p:sp>
        <p:nvSpPr>
          <p:cNvPr id="3" name="Tag">
            <a:extLst>
              <a:ext uri="{FF2B5EF4-FFF2-40B4-BE49-F238E27FC236}">
                <a16:creationId xmlns:a16="http://schemas.microsoft.com/office/drawing/2014/main" id="{5F1B622B-EB0D-362C-2F81-8ECCF35DA010}"/>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A84A2E"/>
                </a:solidFill>
                <a:latin typeface="Calibri" panose="020F0502020204030204" pitchFamily="34" charset="0"/>
              </a:rPr>
              <a:t>Business Environment deep dive · Supports Task 1 (governance through OPAs) and Task 6 (Continuous improvement)</a:t>
            </a:r>
          </a:p>
        </p:txBody>
      </p:sp>
      <p:sp>
        <p:nvSpPr>
          <p:cNvPr id="4" name="Rectangle: Rounded Corners 3">
            <a:extLst>
              <a:ext uri="{FF2B5EF4-FFF2-40B4-BE49-F238E27FC236}">
                <a16:creationId xmlns:a16="http://schemas.microsoft.com/office/drawing/2014/main" id="{BE8CEB42-A9A8-31D8-8722-CB48C2B42222}"/>
              </a:ext>
            </a:extLst>
          </p:cNvPr>
          <p:cNvSpPr/>
          <p:nvPr/>
        </p:nvSpPr>
        <p:spPr>
          <a:xfrm>
            <a:off x="508000" y="1320800"/>
            <a:ext cx="5461000" cy="2540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E4E8B6B-9BE7-E5A9-7BF2-C1630B268C79}"/>
              </a:ext>
            </a:extLst>
          </p:cNvPr>
          <p:cNvSpPr txBox="1"/>
          <p:nvPr/>
        </p:nvSpPr>
        <p:spPr>
          <a:xfrm>
            <a:off x="685800" y="1498600"/>
            <a:ext cx="5105400" cy="21844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Organizational process assets (OPAs)</a:t>
            </a:r>
          </a:p>
          <a:p>
            <a:pPr>
              <a:spcAft>
                <a:spcPts val="400"/>
              </a:spcAft>
            </a:pPr>
            <a:r>
              <a:rPr lang="en-US" sz="1300">
                <a:solidFill>
                  <a:srgbClr val="1F2937"/>
                </a:solidFill>
                <a:latin typeface="Calibri" panose="020F0502020204030204" pitchFamily="34" charset="0"/>
              </a:rPr>
              <a:t>Assets the project can use and update.</a:t>
            </a:r>
          </a:p>
          <a:p>
            <a:pPr>
              <a:spcAft>
                <a:spcPts val="400"/>
              </a:spcAft>
            </a:pPr>
            <a:r>
              <a:rPr lang="en-US" sz="1300" b="1">
                <a:solidFill>
                  <a:srgbClr val="14213D"/>
                </a:solidFill>
                <a:latin typeface="Calibri" panose="020F0502020204030204" pitchFamily="34" charset="0"/>
              </a:rPr>
              <a:t>Processes, policies, and procedures:</a:t>
            </a:r>
            <a:r>
              <a:rPr lang="en-US" sz="1300">
                <a:solidFill>
                  <a:srgbClr val="1F2937"/>
                </a:solidFill>
                <a:latin typeface="Calibri" panose="020F0502020204030204" pitchFamily="34" charset="0"/>
              </a:rPr>
              <a:t> templates, methods, and governance rules.</a:t>
            </a:r>
          </a:p>
          <a:p>
            <a:pPr>
              <a:spcAft>
                <a:spcPts val="400"/>
              </a:spcAft>
            </a:pPr>
            <a:r>
              <a:rPr lang="en-US" sz="1300" b="1">
                <a:solidFill>
                  <a:srgbClr val="14213D"/>
                </a:solidFill>
                <a:latin typeface="Calibri" panose="020F0502020204030204" pitchFamily="34" charset="0"/>
              </a:rPr>
              <a:t>Corporate knowledge base:</a:t>
            </a:r>
            <a:r>
              <a:rPr lang="en-US" sz="1300">
                <a:solidFill>
                  <a:srgbClr val="1F2937"/>
                </a:solidFill>
                <a:latin typeface="Calibri" panose="020F0502020204030204" pitchFamily="34" charset="0"/>
              </a:rPr>
              <a:t> the lessons learned repository, historical data, issue and defect logs, and past project files.</a:t>
            </a:r>
          </a:p>
        </p:txBody>
      </p:sp>
      <p:sp>
        <p:nvSpPr>
          <p:cNvPr id="6" name="Rectangle: Rounded Corners 5">
            <a:extLst>
              <a:ext uri="{FF2B5EF4-FFF2-40B4-BE49-F238E27FC236}">
                <a16:creationId xmlns:a16="http://schemas.microsoft.com/office/drawing/2014/main" id="{1DC45C46-E1B1-16F2-9650-6995E3526CD2}"/>
              </a:ext>
            </a:extLst>
          </p:cNvPr>
          <p:cNvSpPr/>
          <p:nvPr/>
        </p:nvSpPr>
        <p:spPr>
          <a:xfrm>
            <a:off x="6223000" y="1320800"/>
            <a:ext cx="5461000" cy="25400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9859D19-D027-52DC-9A40-D0C13D994380}"/>
              </a:ext>
            </a:extLst>
          </p:cNvPr>
          <p:cNvSpPr txBox="1"/>
          <p:nvPr/>
        </p:nvSpPr>
        <p:spPr>
          <a:xfrm>
            <a:off x="6400800" y="1498600"/>
            <a:ext cx="5105400" cy="2184400"/>
          </a:xfrm>
          <a:prstGeom prst="rect">
            <a:avLst/>
          </a:prstGeom>
          <a:noFill/>
        </p:spPr>
        <p:txBody>
          <a:bodyPr vert="horz" wrap="square" lIns="0" tIns="0" rIns="0" bIns="0" rtlCol="0" anchor="t">
            <a:noAutofit/>
          </a:bodyPr>
          <a:lstStyle/>
          <a:p>
            <a:pPr>
              <a:spcAft>
                <a:spcPts val="600"/>
              </a:spcAft>
            </a:pPr>
            <a:r>
              <a:rPr lang="en-US" sz="1500" b="1">
                <a:solidFill>
                  <a:srgbClr val="A84A2E"/>
                </a:solidFill>
                <a:latin typeface="Calibri" panose="020F0502020204030204" pitchFamily="34" charset="0"/>
              </a:rPr>
              <a:t>Enterprise environmental factors (EEFs)</a:t>
            </a:r>
          </a:p>
          <a:p>
            <a:pPr>
              <a:spcAft>
                <a:spcPts val="400"/>
              </a:spcAft>
            </a:pPr>
            <a:r>
              <a:rPr lang="en-US" sz="1300">
                <a:solidFill>
                  <a:srgbClr val="1F2937"/>
                </a:solidFill>
                <a:latin typeface="Calibri" panose="020F0502020204030204" pitchFamily="34" charset="0"/>
              </a:rPr>
              <a:t>Conditions outside the team’s control that influence, constrain, or direct the portfolio, program, or project.</a:t>
            </a:r>
          </a:p>
          <a:p>
            <a:pPr>
              <a:spcAft>
                <a:spcPts val="400"/>
              </a:spcAft>
            </a:pPr>
            <a:r>
              <a:rPr lang="en-US" sz="1300" b="1">
                <a:solidFill>
                  <a:srgbClr val="14213D"/>
                </a:solidFill>
                <a:latin typeface="Calibri" panose="020F0502020204030204" pitchFamily="34" charset="0"/>
              </a:rPr>
              <a:t>Internal:</a:t>
            </a:r>
            <a:r>
              <a:rPr lang="en-US" sz="1300">
                <a:solidFill>
                  <a:srgbClr val="1F2937"/>
                </a:solidFill>
                <a:latin typeface="Calibri" panose="020F0502020204030204" pitchFamily="34" charset="0"/>
              </a:rPr>
              <a:t> culture, structure, governance, infrastructure, and resource availability.</a:t>
            </a:r>
          </a:p>
          <a:p>
            <a:pPr>
              <a:spcAft>
                <a:spcPts val="400"/>
              </a:spcAft>
            </a:pPr>
            <a:r>
              <a:rPr lang="en-US" sz="1300" b="1">
                <a:solidFill>
                  <a:srgbClr val="14213D"/>
                </a:solidFill>
                <a:latin typeface="Calibri" panose="020F0502020204030204" pitchFamily="34" charset="0"/>
              </a:rPr>
              <a:t>External:</a:t>
            </a:r>
            <a:r>
              <a:rPr lang="en-US" sz="1300">
                <a:solidFill>
                  <a:srgbClr val="1F2937"/>
                </a:solidFill>
                <a:latin typeface="Calibri" panose="020F0502020204030204" pitchFamily="34" charset="0"/>
              </a:rPr>
              <a:t> market conditions, regulations, social and legal factors, and the physical environment.</a:t>
            </a:r>
          </a:p>
        </p:txBody>
      </p:sp>
      <p:sp>
        <p:nvSpPr>
          <p:cNvPr id="8" name="TextBox 7">
            <a:extLst>
              <a:ext uri="{FF2B5EF4-FFF2-40B4-BE49-F238E27FC236}">
                <a16:creationId xmlns:a16="http://schemas.microsoft.com/office/drawing/2014/main" id="{E7102FD5-58AB-D307-63C5-8BD04A9B2CF4}"/>
              </a:ext>
            </a:extLst>
          </p:cNvPr>
          <p:cNvSpPr txBox="1"/>
          <p:nvPr/>
        </p:nvSpPr>
        <p:spPr>
          <a:xfrm>
            <a:off x="508000" y="4013200"/>
            <a:ext cx="11176000" cy="228600"/>
          </a:xfrm>
          <a:prstGeom prst="rect">
            <a:avLst/>
          </a:prstGeom>
          <a:noFill/>
        </p:spPr>
        <p:txBody>
          <a:bodyPr vert="horz" wrap="square" lIns="0" tIns="0" rIns="0" bIns="0" rtlCol="0" anchor="t">
            <a:noAutofit/>
          </a:bodyPr>
          <a:lstStyle/>
          <a:p>
            <a:r>
              <a:rPr lang="en-US" sz="1400" b="1">
                <a:solidFill>
                  <a:srgbClr val="A84A2E"/>
                </a:solidFill>
                <a:latin typeface="Calibri" panose="020F0502020204030204" pitchFamily="34" charset="0"/>
              </a:rPr>
              <a:t>The continuous improvement loop (Task 6)</a:t>
            </a:r>
          </a:p>
        </p:txBody>
      </p:sp>
      <p:sp>
        <p:nvSpPr>
          <p:cNvPr id="9" name="Rectangle: Rounded Corners 8">
            <a:extLst>
              <a:ext uri="{FF2B5EF4-FFF2-40B4-BE49-F238E27FC236}">
                <a16:creationId xmlns:a16="http://schemas.microsoft.com/office/drawing/2014/main" id="{EB0DBC27-D597-1A04-97EE-A3682B601F91}"/>
              </a:ext>
            </a:extLst>
          </p:cNvPr>
          <p:cNvSpPr/>
          <p:nvPr/>
        </p:nvSpPr>
        <p:spPr>
          <a:xfrm>
            <a:off x="508000" y="4318000"/>
            <a:ext cx="2489200" cy="914400"/>
          </a:xfrm>
          <a:prstGeom prst="roundRect">
            <a:avLst>
              <a:gd name="adj" fmla="val 8000"/>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ctr"/>
          <a:lstStyle/>
          <a:p>
            <a:pPr algn="ctr"/>
            <a:r>
              <a:rPr lang="en-US" sz="1300" b="1">
                <a:solidFill>
                  <a:srgbClr val="FFFFFF"/>
                </a:solidFill>
                <a:latin typeface="Calibri" panose="020F0502020204030204" pitchFamily="34" charset="0"/>
              </a:rPr>
              <a:t>Capture lessons learned throughout the project</a:t>
            </a:r>
          </a:p>
        </p:txBody>
      </p:sp>
      <p:cxnSp>
        <p:nvCxnSpPr>
          <p:cNvPr id="10" name="Straight Connector 9">
            <a:extLst>
              <a:ext uri="{FF2B5EF4-FFF2-40B4-BE49-F238E27FC236}">
                <a16:creationId xmlns:a16="http://schemas.microsoft.com/office/drawing/2014/main" id="{B76E21CB-5CE2-D163-513B-61BDA94B3E48}"/>
              </a:ext>
            </a:extLst>
          </p:cNvPr>
          <p:cNvCxnSpPr/>
          <p:nvPr/>
        </p:nvCxnSpPr>
        <p:spPr>
          <a:xfrm>
            <a:off x="3022600" y="4775200"/>
            <a:ext cx="330200" cy="0"/>
          </a:xfrm>
          <a:prstGeom prst="line">
            <a:avLst/>
          </a:prstGeom>
          <a:ln w="25400">
            <a:solidFill>
              <a:srgbClr val="A84A2E"/>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58D7B098-9210-2BA3-0316-EFD42B60D77C}"/>
              </a:ext>
            </a:extLst>
          </p:cNvPr>
          <p:cNvSpPr/>
          <p:nvPr/>
        </p:nvSpPr>
        <p:spPr>
          <a:xfrm>
            <a:off x="3378200" y="4318000"/>
            <a:ext cx="2489200" cy="914400"/>
          </a:xfrm>
          <a:prstGeom prst="roundRect">
            <a:avLst>
              <a:gd name="adj" fmla="val 8000"/>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ctr"/>
          <a:lstStyle/>
          <a:p>
            <a:pPr algn="ctr"/>
            <a:r>
              <a:rPr lang="en-US" sz="1300" b="1">
                <a:solidFill>
                  <a:srgbClr val="FFFFFF"/>
                </a:solidFill>
                <a:latin typeface="Calibri" panose="020F0502020204030204" pitchFamily="34" charset="0"/>
              </a:rPr>
              <a:t>Apply them to current work</a:t>
            </a:r>
          </a:p>
        </p:txBody>
      </p:sp>
      <p:cxnSp>
        <p:nvCxnSpPr>
          <p:cNvPr id="12" name="Straight Connector 11">
            <a:extLst>
              <a:ext uri="{FF2B5EF4-FFF2-40B4-BE49-F238E27FC236}">
                <a16:creationId xmlns:a16="http://schemas.microsoft.com/office/drawing/2014/main" id="{70017631-870B-3E17-3F45-0954961E35B4}"/>
              </a:ext>
            </a:extLst>
          </p:cNvPr>
          <p:cNvCxnSpPr/>
          <p:nvPr/>
        </p:nvCxnSpPr>
        <p:spPr>
          <a:xfrm>
            <a:off x="5892800" y="4775200"/>
            <a:ext cx="330200" cy="0"/>
          </a:xfrm>
          <a:prstGeom prst="line">
            <a:avLst/>
          </a:prstGeom>
          <a:ln w="25400">
            <a:solidFill>
              <a:srgbClr val="A84A2E"/>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37160FBB-4EAD-D461-FB30-B4DDEAD47598}"/>
              </a:ext>
            </a:extLst>
          </p:cNvPr>
          <p:cNvSpPr/>
          <p:nvPr/>
        </p:nvSpPr>
        <p:spPr>
          <a:xfrm>
            <a:off x="6248400" y="4318000"/>
            <a:ext cx="2489200" cy="914400"/>
          </a:xfrm>
          <a:prstGeom prst="roundRect">
            <a:avLst>
              <a:gd name="adj" fmla="val 8000"/>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ctr"/>
          <a:lstStyle/>
          <a:p>
            <a:pPr algn="ctr"/>
            <a:r>
              <a:rPr lang="en-US" sz="1300" b="1">
                <a:solidFill>
                  <a:srgbClr val="FFFFFF"/>
                </a:solidFill>
                <a:latin typeface="Calibri" panose="020F0502020204030204" pitchFamily="34" charset="0"/>
              </a:rPr>
              <a:t>Update OPAs at closure</a:t>
            </a:r>
          </a:p>
        </p:txBody>
      </p:sp>
      <p:cxnSp>
        <p:nvCxnSpPr>
          <p:cNvPr id="14" name="Straight Connector 13">
            <a:extLst>
              <a:ext uri="{FF2B5EF4-FFF2-40B4-BE49-F238E27FC236}">
                <a16:creationId xmlns:a16="http://schemas.microsoft.com/office/drawing/2014/main" id="{08113E25-1A46-FB85-E1C6-9EE8E95AE22A}"/>
              </a:ext>
            </a:extLst>
          </p:cNvPr>
          <p:cNvCxnSpPr/>
          <p:nvPr/>
        </p:nvCxnSpPr>
        <p:spPr>
          <a:xfrm>
            <a:off x="8763000" y="4775200"/>
            <a:ext cx="330200" cy="0"/>
          </a:xfrm>
          <a:prstGeom prst="line">
            <a:avLst/>
          </a:prstGeom>
          <a:ln w="25400">
            <a:solidFill>
              <a:srgbClr val="A84A2E"/>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A078B010-58E7-236F-0EFB-B56073E48AF8}"/>
              </a:ext>
            </a:extLst>
          </p:cNvPr>
          <p:cNvSpPr/>
          <p:nvPr/>
        </p:nvSpPr>
        <p:spPr>
          <a:xfrm>
            <a:off x="9118600" y="4318000"/>
            <a:ext cx="2489200" cy="914400"/>
          </a:xfrm>
          <a:prstGeom prst="roundRect">
            <a:avLst>
              <a:gd name="adj" fmla="val 8000"/>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ctr"/>
          <a:lstStyle/>
          <a:p>
            <a:pPr algn="ctr"/>
            <a:r>
              <a:rPr lang="en-US" sz="1300" b="1">
                <a:solidFill>
                  <a:srgbClr val="FFFFFF"/>
                </a:solidFill>
                <a:latin typeface="Calibri" panose="020F0502020204030204" pitchFamily="34" charset="0"/>
              </a:rPr>
              <a:t>The next project starts smarter</a:t>
            </a:r>
          </a:p>
        </p:txBody>
      </p:sp>
      <p:sp>
        <p:nvSpPr>
          <p:cNvPr id="16" name="Rectangle: Rounded Corners 15">
            <a:extLst>
              <a:ext uri="{FF2B5EF4-FFF2-40B4-BE49-F238E27FC236}">
                <a16:creationId xmlns:a16="http://schemas.microsoft.com/office/drawing/2014/main" id="{305A51A0-407E-7148-BD60-E66E6BA8447F}"/>
              </a:ext>
            </a:extLst>
          </p:cNvPr>
          <p:cNvSpPr/>
          <p:nvPr/>
        </p:nvSpPr>
        <p:spPr>
          <a:xfrm>
            <a:off x="508000" y="5486400"/>
            <a:ext cx="11176000" cy="838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AF89B2E9-8493-612D-F272-57C795D6B72D}"/>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OPAs are assets you use and update; EEFs are constraints you work within. Capture lessons learned throughout the project, not only at the end.</a:t>
            </a:r>
          </a:p>
        </p:txBody>
      </p:sp>
      <p:sp>
        <p:nvSpPr>
          <p:cNvPr id="18" name="Footer">
            <a:extLst>
              <a:ext uri="{FF2B5EF4-FFF2-40B4-BE49-F238E27FC236}">
                <a16:creationId xmlns:a16="http://schemas.microsoft.com/office/drawing/2014/main" id="{E26A53EE-8132-2076-57A8-5BD45BC6A207}"/>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PMBOK® Guide — Sixth Edition, Sections 2.2–2.3 (EEFs and OPAs) and 4.4.3.1 (lessons learned register)</a:t>
            </a:r>
          </a:p>
        </p:txBody>
      </p:sp>
      <p:sp>
        <p:nvSpPr>
          <p:cNvPr id="19" name="SlideNum">
            <a:extLst>
              <a:ext uri="{FF2B5EF4-FFF2-40B4-BE49-F238E27FC236}">
                <a16:creationId xmlns:a16="http://schemas.microsoft.com/office/drawing/2014/main" id="{A1FFE9D0-8815-0AD5-E1DB-93160F052AC9}"/>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65</a:t>
            </a:r>
          </a:p>
        </p:txBody>
      </p:sp>
      <p:sp>
        <p:nvSpPr>
          <p:cNvPr id="20"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48376590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F5F2FFE7-87E1-8DC3-E7A9-50D3339EF2BE}"/>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Organizational structures and the project manager</a:t>
            </a:r>
          </a:p>
        </p:txBody>
      </p:sp>
      <p:sp>
        <p:nvSpPr>
          <p:cNvPr id="3" name="Tag">
            <a:extLst>
              <a:ext uri="{FF2B5EF4-FFF2-40B4-BE49-F238E27FC236}">
                <a16:creationId xmlns:a16="http://schemas.microsoft.com/office/drawing/2014/main" id="{EB08C7FE-0EA2-4DDA-0BDD-B481B27E3A6A}"/>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A84A2E"/>
                </a:solidFill>
                <a:latin typeface="Calibri" panose="020F0502020204030204" pitchFamily="34" charset="0"/>
              </a:rPr>
              <a:t>Business Environment deep dive · Supports Task 1 (governance structure) and Task 7 (Assess organizational culture)</a:t>
            </a:r>
          </a:p>
        </p:txBody>
      </p:sp>
      <p:sp>
        <p:nvSpPr>
          <p:cNvPr id="4" name="Rectangle: Rounded Corners 3">
            <a:extLst>
              <a:ext uri="{FF2B5EF4-FFF2-40B4-BE49-F238E27FC236}">
                <a16:creationId xmlns:a16="http://schemas.microsoft.com/office/drawing/2014/main" id="{D283EC0E-97B8-75AC-5ED6-C2AD2716DBF7}"/>
              </a:ext>
            </a:extLst>
          </p:cNvPr>
          <p:cNvSpPr/>
          <p:nvPr/>
        </p:nvSpPr>
        <p:spPr>
          <a:xfrm>
            <a:off x="508000" y="1320800"/>
            <a:ext cx="5461000" cy="15240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BACB89E-9ABB-C593-64EB-BCAB38884BB1}"/>
              </a:ext>
            </a:extLst>
          </p:cNvPr>
          <p:cNvSpPr txBox="1"/>
          <p:nvPr/>
        </p:nvSpPr>
        <p:spPr>
          <a:xfrm>
            <a:off x="660400" y="1473200"/>
            <a:ext cx="5156200" cy="1219200"/>
          </a:xfrm>
          <a:prstGeom prst="rect">
            <a:avLst/>
          </a:prstGeom>
          <a:noFill/>
        </p:spPr>
        <p:txBody>
          <a:bodyPr vert="horz" wrap="square" lIns="0" tIns="0" rIns="0" bIns="0" rtlCol="0" anchor="t">
            <a:noAutofit/>
          </a:bodyPr>
          <a:lstStyle/>
          <a:p>
            <a:pPr>
              <a:spcAft>
                <a:spcPts val="600"/>
              </a:spcAft>
            </a:pPr>
            <a:r>
              <a:rPr lang="en-US" sz="1400" b="1">
                <a:solidFill>
                  <a:srgbClr val="A84A2E"/>
                </a:solidFill>
                <a:latin typeface="Calibri" panose="020F0502020204030204" pitchFamily="34" charset="0"/>
              </a:rPr>
              <a:t>What the structure decides</a:t>
            </a:r>
          </a:p>
          <a:p>
            <a:pPr marL="152400" indent="-152400">
              <a:spcAft>
                <a:spcPts val="400"/>
              </a:spcAft>
              <a:buClr>
                <a:srgbClr val="A84A2E"/>
              </a:buClr>
              <a:buFont typeface="+mj-lt"/>
              <a:buChar char="•"/>
            </a:pPr>
            <a:r>
              <a:rPr lang="en-US" sz="1200">
                <a:solidFill>
                  <a:srgbClr val="1F2937"/>
                </a:solidFill>
                <a:latin typeface="Calibri" panose="020F0502020204030204" pitchFamily="34" charset="0"/>
              </a:rPr>
              <a:t>How groups and individuals interrelate</a:t>
            </a:r>
          </a:p>
          <a:p>
            <a:pPr marL="152400" indent="-152400">
              <a:spcAft>
                <a:spcPts val="400"/>
              </a:spcAft>
              <a:buClr>
                <a:srgbClr val="A84A2E"/>
              </a:buClr>
              <a:buFont typeface="+mj-lt"/>
              <a:buChar char="•"/>
            </a:pPr>
            <a:r>
              <a:rPr lang="en-US" sz="1200">
                <a:solidFill>
                  <a:srgbClr val="1F2937"/>
                </a:solidFill>
                <a:latin typeface="Calibri" panose="020F0502020204030204" pitchFamily="34" charset="0"/>
              </a:rPr>
              <a:t>How much authority the project manager has</a:t>
            </a:r>
          </a:p>
          <a:p>
            <a:pPr marL="152400" indent="-152400">
              <a:spcAft>
                <a:spcPts val="400"/>
              </a:spcAft>
              <a:buClr>
                <a:srgbClr val="A84A2E"/>
              </a:buClr>
              <a:buFont typeface="+mj-lt"/>
              <a:buChar char="•"/>
            </a:pPr>
            <a:r>
              <a:rPr lang="en-US" sz="1200">
                <a:solidFill>
                  <a:srgbClr val="1F2937"/>
                </a:solidFill>
                <a:latin typeface="Calibri" panose="020F0502020204030204" pitchFamily="34" charset="0"/>
              </a:rPr>
              <a:t>What resources will be available</a:t>
            </a:r>
          </a:p>
          <a:p>
            <a:pPr marL="152400" indent="-152400">
              <a:spcAft>
                <a:spcPts val="400"/>
              </a:spcAft>
              <a:buClr>
                <a:srgbClr val="A84A2E"/>
              </a:buClr>
              <a:buFont typeface="+mj-lt"/>
              <a:buChar char="•"/>
            </a:pPr>
            <a:r>
              <a:rPr lang="en-US" sz="1200">
                <a:solidFill>
                  <a:srgbClr val="1F2937"/>
                </a:solidFill>
                <a:latin typeface="Calibri" panose="020F0502020204030204" pitchFamily="34" charset="0"/>
              </a:rPr>
              <a:t>How the project will be conducted</a:t>
            </a:r>
          </a:p>
        </p:txBody>
      </p:sp>
      <p:sp>
        <p:nvSpPr>
          <p:cNvPr id="6" name="Rectangle: Rounded Corners 5">
            <a:extLst>
              <a:ext uri="{FF2B5EF4-FFF2-40B4-BE49-F238E27FC236}">
                <a16:creationId xmlns:a16="http://schemas.microsoft.com/office/drawing/2014/main" id="{12BBCD58-E63A-546A-6D8E-7F424B3FA852}"/>
              </a:ext>
            </a:extLst>
          </p:cNvPr>
          <p:cNvSpPr/>
          <p:nvPr/>
        </p:nvSpPr>
        <p:spPr>
          <a:xfrm>
            <a:off x="6223000" y="1320800"/>
            <a:ext cx="5461000" cy="1524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C815A70-AACC-071D-D623-1DDA6DB3A214}"/>
              </a:ext>
            </a:extLst>
          </p:cNvPr>
          <p:cNvSpPr txBox="1"/>
          <p:nvPr/>
        </p:nvSpPr>
        <p:spPr>
          <a:xfrm>
            <a:off x="6375400" y="1473200"/>
            <a:ext cx="5156200" cy="12192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Who controls what</a:t>
            </a:r>
          </a:p>
          <a:p>
            <a:r>
              <a:rPr lang="en-US" sz="1200">
                <a:solidFill>
                  <a:srgbClr val="1F2937"/>
                </a:solidFill>
                <a:latin typeface="Calibri" panose="020F0502020204030204" pitchFamily="34" charset="0"/>
              </a:rPr>
              <a:t>Functional managers own people and budgets in functional and weak matrix organizations; the balance shifts to the project manager in strong matrix and projectized ones.</a:t>
            </a:r>
          </a:p>
          <a:p>
            <a:r>
              <a:rPr lang="en-US" sz="1200">
                <a:solidFill>
                  <a:srgbClr val="1F2937"/>
                </a:solidFill>
                <a:latin typeface="Calibri" panose="020F0502020204030204" pitchFamily="34" charset="0"/>
              </a:rPr>
              <a:t>Projectized: employees are tied to projects, so they may face job insecurity when a project ends.</a:t>
            </a:r>
          </a:p>
        </p:txBody>
      </p:sp>
      <p:sp>
        <p:nvSpPr>
          <p:cNvPr id="8" name="Rectangle: Rounded Corners 7">
            <a:extLst>
              <a:ext uri="{FF2B5EF4-FFF2-40B4-BE49-F238E27FC236}">
                <a16:creationId xmlns:a16="http://schemas.microsoft.com/office/drawing/2014/main" id="{1195C5A8-792D-803B-220C-B99B5B7E54CB}"/>
              </a:ext>
            </a:extLst>
          </p:cNvPr>
          <p:cNvSpPr/>
          <p:nvPr/>
        </p:nvSpPr>
        <p:spPr>
          <a:xfrm>
            <a:off x="508000" y="2997200"/>
            <a:ext cx="2133600" cy="812800"/>
          </a:xfrm>
          <a:prstGeom prst="roundRect">
            <a:avLst>
              <a:gd name="adj" fmla="val 8000"/>
            </a:avLst>
          </a:prstGeom>
          <a:solidFill>
            <a:srgbClr val="C9D6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400" b="1">
                <a:solidFill>
                  <a:srgbClr val="14213D"/>
                </a:solidFill>
                <a:latin typeface="Calibri" panose="020F0502020204030204" pitchFamily="34" charset="0"/>
              </a:rPr>
              <a:t>Functional</a:t>
            </a:r>
          </a:p>
          <a:p>
            <a:pPr algn="ctr"/>
            <a:r>
              <a:rPr lang="en-US" sz="1100">
                <a:solidFill>
                  <a:srgbClr val="14213D"/>
                </a:solidFill>
                <a:latin typeface="Calibri" panose="020F0502020204030204" pitchFamily="34" charset="0"/>
              </a:rPr>
              <a:t>Works in departmental silos; PM is a part-time coordinator</a:t>
            </a:r>
          </a:p>
        </p:txBody>
      </p:sp>
      <p:sp>
        <p:nvSpPr>
          <p:cNvPr id="9" name="Rectangle: Rounded Corners 8">
            <a:extLst>
              <a:ext uri="{FF2B5EF4-FFF2-40B4-BE49-F238E27FC236}">
                <a16:creationId xmlns:a16="http://schemas.microsoft.com/office/drawing/2014/main" id="{4F06B49E-21A0-E8A3-D19B-48541D3ED6DA}"/>
              </a:ext>
            </a:extLst>
          </p:cNvPr>
          <p:cNvSpPr/>
          <p:nvPr/>
        </p:nvSpPr>
        <p:spPr>
          <a:xfrm>
            <a:off x="2768600" y="2997200"/>
            <a:ext cx="2133600" cy="812800"/>
          </a:xfrm>
          <a:prstGeom prst="roundRect">
            <a:avLst>
              <a:gd name="adj" fmla="val 8000"/>
            </a:avLst>
          </a:prstGeom>
          <a:solidFill>
            <a:srgbClr val="9DB1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400" b="1">
                <a:solidFill>
                  <a:srgbClr val="14213D"/>
                </a:solidFill>
                <a:latin typeface="Calibri" panose="020F0502020204030204" pitchFamily="34" charset="0"/>
              </a:rPr>
              <a:t>Weak matrix</a:t>
            </a:r>
          </a:p>
          <a:p>
            <a:pPr algn="ctr"/>
            <a:r>
              <a:rPr lang="en-US" sz="1100">
                <a:solidFill>
                  <a:srgbClr val="14213D"/>
                </a:solidFill>
                <a:latin typeface="Calibri" panose="020F0502020204030204" pitchFamily="34" charset="0"/>
              </a:rPr>
              <a:t>PM: part-time expediter or coordinator; limited authority</a:t>
            </a:r>
          </a:p>
        </p:txBody>
      </p:sp>
      <p:sp>
        <p:nvSpPr>
          <p:cNvPr id="10" name="Rectangle: Rounded Corners 9">
            <a:extLst>
              <a:ext uri="{FF2B5EF4-FFF2-40B4-BE49-F238E27FC236}">
                <a16:creationId xmlns:a16="http://schemas.microsoft.com/office/drawing/2014/main" id="{154D68ED-7373-E4AB-B800-8CA7E3A07B73}"/>
              </a:ext>
            </a:extLst>
          </p:cNvPr>
          <p:cNvSpPr/>
          <p:nvPr/>
        </p:nvSpPr>
        <p:spPr>
          <a:xfrm>
            <a:off x="5029200" y="2997200"/>
            <a:ext cx="2133600" cy="812800"/>
          </a:xfrm>
          <a:prstGeom prst="roundRect">
            <a:avLst>
              <a:gd name="adj" fmla="val 8000"/>
            </a:avLst>
          </a:prstGeom>
          <a:solidFill>
            <a:srgbClr val="6B82C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400" b="1">
                <a:solidFill>
                  <a:srgbClr val="FFFFFF"/>
                </a:solidFill>
                <a:latin typeface="Calibri" panose="020F0502020204030204" pitchFamily="34" charset="0"/>
              </a:rPr>
              <a:t>Balanced matrix</a:t>
            </a:r>
          </a:p>
          <a:p>
            <a:pPr algn="ctr"/>
            <a:r>
              <a:rPr lang="en-US" sz="1100">
                <a:solidFill>
                  <a:srgbClr val="FFFFFF"/>
                </a:solidFill>
                <a:latin typeface="Calibri" panose="020F0502020204030204" pitchFamily="34" charset="0"/>
              </a:rPr>
              <a:t>PM: full-time; shares authority with functional managers</a:t>
            </a:r>
          </a:p>
        </p:txBody>
      </p:sp>
      <p:sp>
        <p:nvSpPr>
          <p:cNvPr id="11" name="Rectangle: Rounded Corners 10">
            <a:extLst>
              <a:ext uri="{FF2B5EF4-FFF2-40B4-BE49-F238E27FC236}">
                <a16:creationId xmlns:a16="http://schemas.microsoft.com/office/drawing/2014/main" id="{E5874F74-3B1D-863B-F9D6-A6A5B6F48676}"/>
              </a:ext>
            </a:extLst>
          </p:cNvPr>
          <p:cNvSpPr/>
          <p:nvPr/>
        </p:nvSpPr>
        <p:spPr>
          <a:xfrm>
            <a:off x="7289800" y="2997200"/>
            <a:ext cx="2133600" cy="812800"/>
          </a:xfrm>
          <a:prstGeom prst="roundRect">
            <a:avLst>
              <a:gd name="adj" fmla="val 8000"/>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400" b="1">
                <a:solidFill>
                  <a:srgbClr val="FFFFFF"/>
                </a:solidFill>
                <a:latin typeface="Calibri" panose="020F0502020204030204" pitchFamily="34" charset="0"/>
              </a:rPr>
              <a:t>Strong matrix</a:t>
            </a:r>
          </a:p>
          <a:p>
            <a:pPr algn="ctr"/>
            <a:r>
              <a:rPr lang="en-US" sz="1100">
                <a:solidFill>
                  <a:srgbClr val="FFFFFF"/>
                </a:solidFill>
                <a:latin typeface="Calibri" panose="020F0502020204030204" pitchFamily="34" charset="0"/>
              </a:rPr>
              <a:t>PM: full-time; moderate to high authority</a:t>
            </a:r>
          </a:p>
        </p:txBody>
      </p:sp>
      <p:sp>
        <p:nvSpPr>
          <p:cNvPr id="12" name="Rectangle: Rounded Corners 11">
            <a:extLst>
              <a:ext uri="{FF2B5EF4-FFF2-40B4-BE49-F238E27FC236}">
                <a16:creationId xmlns:a16="http://schemas.microsoft.com/office/drawing/2014/main" id="{818570AD-CDA7-0E26-65DA-600BDE8D1A7C}"/>
              </a:ext>
            </a:extLst>
          </p:cNvPr>
          <p:cNvSpPr/>
          <p:nvPr/>
        </p:nvSpPr>
        <p:spPr>
          <a:xfrm>
            <a:off x="9550400" y="2997200"/>
            <a:ext cx="2133600" cy="812800"/>
          </a:xfrm>
          <a:prstGeom prst="roundRect">
            <a:avLst>
              <a:gd name="adj" fmla="val 8000"/>
            </a:avLst>
          </a:prstGeom>
          <a:solidFill>
            <a:srgbClr val="1F346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400" b="1">
                <a:solidFill>
                  <a:srgbClr val="FFFFFF"/>
                </a:solidFill>
                <a:latin typeface="Calibri" panose="020F0502020204030204" pitchFamily="34" charset="0"/>
              </a:rPr>
              <a:t>Projectized</a:t>
            </a:r>
          </a:p>
          <a:p>
            <a:pPr algn="ctr"/>
            <a:r>
              <a:rPr lang="en-US" sz="1100">
                <a:solidFill>
                  <a:srgbClr val="FFFFFF"/>
                </a:solidFill>
                <a:latin typeface="Calibri" panose="020F0502020204030204" pitchFamily="34" charset="0"/>
              </a:rPr>
              <a:t>Staff tied to projects; PM has high to almost total authority</a:t>
            </a:r>
          </a:p>
        </p:txBody>
      </p:sp>
      <p:cxnSp>
        <p:nvCxnSpPr>
          <p:cNvPr id="13" name="Straight Connector 12">
            <a:extLst>
              <a:ext uri="{FF2B5EF4-FFF2-40B4-BE49-F238E27FC236}">
                <a16:creationId xmlns:a16="http://schemas.microsoft.com/office/drawing/2014/main" id="{676428FD-26BA-5E6C-3C27-6E77FAF36198}"/>
              </a:ext>
            </a:extLst>
          </p:cNvPr>
          <p:cNvCxnSpPr/>
          <p:nvPr/>
        </p:nvCxnSpPr>
        <p:spPr>
          <a:xfrm>
            <a:off x="762000" y="3911600"/>
            <a:ext cx="10668000" cy="0"/>
          </a:xfrm>
          <a:prstGeom prst="line">
            <a:avLst/>
          </a:prstGeom>
          <a:ln w="19050">
            <a:solidFill>
              <a:srgbClr val="5B6475"/>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0F29CCB-DB69-F91C-FBEF-04B50525FFB6}"/>
              </a:ext>
            </a:extLst>
          </p:cNvPr>
          <p:cNvSpPr txBox="1"/>
          <p:nvPr/>
        </p:nvSpPr>
        <p:spPr>
          <a:xfrm>
            <a:off x="4572000" y="3937000"/>
            <a:ext cx="7112000" cy="177800"/>
          </a:xfrm>
          <a:prstGeom prst="rect">
            <a:avLst/>
          </a:prstGeom>
          <a:noFill/>
        </p:spPr>
        <p:txBody>
          <a:bodyPr vert="horz" wrap="square" lIns="0" tIns="0" rIns="0" bIns="0" rtlCol="0" anchor="t">
            <a:noAutofit/>
          </a:bodyPr>
          <a:lstStyle/>
          <a:p>
            <a:pPr algn="r"/>
            <a:r>
              <a:rPr lang="en-US" sz="1000" i="1">
                <a:solidFill>
                  <a:srgbClr val="5B6475"/>
                </a:solidFill>
                <a:latin typeface="Calibri" panose="020F0502020204030204" pitchFamily="34" charset="0"/>
              </a:rPr>
              <a:t>Project manager authority, resource availability, and budget control increase</a:t>
            </a:r>
          </a:p>
        </p:txBody>
      </p:sp>
      <p:sp>
        <p:nvSpPr>
          <p:cNvPr id="15" name="Rectangle: Rounded Corners 14">
            <a:extLst>
              <a:ext uri="{FF2B5EF4-FFF2-40B4-BE49-F238E27FC236}">
                <a16:creationId xmlns:a16="http://schemas.microsoft.com/office/drawing/2014/main" id="{21DA829D-90B7-CEA9-3837-A5852F612DBC}"/>
              </a:ext>
            </a:extLst>
          </p:cNvPr>
          <p:cNvSpPr/>
          <p:nvPr/>
        </p:nvSpPr>
        <p:spPr>
          <a:xfrm>
            <a:off x="508000" y="4191000"/>
            <a:ext cx="3556000" cy="1168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5D52BE6-5A48-CFC5-995D-6316543E6445}"/>
              </a:ext>
            </a:extLst>
          </p:cNvPr>
          <p:cNvSpPr txBox="1"/>
          <p:nvPr/>
        </p:nvSpPr>
        <p:spPr>
          <a:xfrm>
            <a:off x="635000" y="4318000"/>
            <a:ext cx="3302000" cy="914400"/>
          </a:xfrm>
          <a:prstGeom prst="rect">
            <a:avLst/>
          </a:prstGeom>
          <a:noFill/>
        </p:spPr>
        <p:txBody>
          <a:bodyPr vert="horz" wrap="square" lIns="0" tIns="0" rIns="0" bIns="0" rtlCol="0" anchor="t">
            <a:noAutofit/>
          </a:bodyPr>
          <a:lstStyle/>
          <a:p>
            <a:pPr>
              <a:spcAft>
                <a:spcPts val="600"/>
              </a:spcAft>
            </a:pPr>
            <a:r>
              <a:rPr lang="en-US" sz="1300" b="1">
                <a:solidFill>
                  <a:srgbClr val="34509A"/>
                </a:solidFill>
                <a:latin typeface="Calibri" panose="020F0502020204030204" pitchFamily="34" charset="0"/>
              </a:rPr>
              <a:t>Matrix trade-off</a:t>
            </a:r>
          </a:p>
          <a:p>
            <a:r>
              <a:rPr lang="en-US" sz="1100">
                <a:solidFill>
                  <a:srgbClr val="1F2937"/>
                </a:solidFill>
                <a:latin typeface="Calibri" panose="020F0502020204030204" pitchFamily="34" charset="0"/>
              </a:rPr>
              <a:t>A hybrid of functional and projectized: staff keep a functional home but work on projects. Two bosses can mean conflicting priorities.</a:t>
            </a:r>
          </a:p>
        </p:txBody>
      </p:sp>
      <p:sp>
        <p:nvSpPr>
          <p:cNvPr id="17" name="Rectangle: Rounded Corners 16">
            <a:extLst>
              <a:ext uri="{FF2B5EF4-FFF2-40B4-BE49-F238E27FC236}">
                <a16:creationId xmlns:a16="http://schemas.microsoft.com/office/drawing/2014/main" id="{43E9F183-74FA-8275-9517-EDEFD89EA5E4}"/>
              </a:ext>
            </a:extLst>
          </p:cNvPr>
          <p:cNvSpPr/>
          <p:nvPr/>
        </p:nvSpPr>
        <p:spPr>
          <a:xfrm>
            <a:off x="4318000" y="4191000"/>
            <a:ext cx="3556000" cy="1168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69E6C135-87CE-2D30-E82B-035303DD58A8}"/>
              </a:ext>
            </a:extLst>
          </p:cNvPr>
          <p:cNvSpPr txBox="1"/>
          <p:nvPr/>
        </p:nvSpPr>
        <p:spPr>
          <a:xfrm>
            <a:off x="4445000" y="4318000"/>
            <a:ext cx="3302000" cy="914400"/>
          </a:xfrm>
          <a:prstGeom prst="rect">
            <a:avLst/>
          </a:prstGeom>
          <a:noFill/>
        </p:spPr>
        <p:txBody>
          <a:bodyPr vert="horz" wrap="square" lIns="0" tIns="0" rIns="0" bIns="0" rtlCol="0" anchor="t">
            <a:noAutofit/>
          </a:bodyPr>
          <a:lstStyle/>
          <a:p>
            <a:pPr>
              <a:spcAft>
                <a:spcPts val="600"/>
              </a:spcAft>
            </a:pPr>
            <a:r>
              <a:rPr lang="en-US" sz="1300" b="1">
                <a:solidFill>
                  <a:srgbClr val="34509A"/>
                </a:solidFill>
                <a:latin typeface="Calibri" panose="020F0502020204030204" pitchFamily="34" charset="0"/>
              </a:rPr>
              <a:t>Other forms in PMI’s table</a:t>
            </a:r>
          </a:p>
          <a:p>
            <a:r>
              <a:rPr lang="en-US" sz="1100">
                <a:solidFill>
                  <a:srgbClr val="1F2937"/>
                </a:solidFill>
                <a:latin typeface="Calibri" panose="020F0502020204030204" pitchFamily="34" charset="0"/>
              </a:rPr>
              <a:t>Organic or simple, multi-divisional, virtual (a network), hybrid (a mix), and a PMO-based structure.</a:t>
            </a:r>
          </a:p>
        </p:txBody>
      </p:sp>
      <p:sp>
        <p:nvSpPr>
          <p:cNvPr id="19" name="Rectangle: Rounded Corners 18">
            <a:extLst>
              <a:ext uri="{FF2B5EF4-FFF2-40B4-BE49-F238E27FC236}">
                <a16:creationId xmlns:a16="http://schemas.microsoft.com/office/drawing/2014/main" id="{427880C0-51E7-50B1-8B55-D20BEF93014C}"/>
              </a:ext>
            </a:extLst>
          </p:cNvPr>
          <p:cNvSpPr/>
          <p:nvPr/>
        </p:nvSpPr>
        <p:spPr>
          <a:xfrm>
            <a:off x="8128000" y="4191000"/>
            <a:ext cx="3556000" cy="11684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4404A12-D073-9FEE-F9D7-B138D4865A9E}"/>
              </a:ext>
            </a:extLst>
          </p:cNvPr>
          <p:cNvSpPr txBox="1"/>
          <p:nvPr/>
        </p:nvSpPr>
        <p:spPr>
          <a:xfrm>
            <a:off x="8255000" y="4318000"/>
            <a:ext cx="3302000" cy="914400"/>
          </a:xfrm>
          <a:prstGeom prst="rect">
            <a:avLst/>
          </a:prstGeom>
          <a:noFill/>
        </p:spPr>
        <p:txBody>
          <a:bodyPr vert="horz" wrap="square" lIns="0" tIns="0" rIns="0" bIns="0" rtlCol="0" anchor="t">
            <a:noAutofit/>
          </a:bodyPr>
          <a:lstStyle/>
          <a:p>
            <a:pPr>
              <a:spcAft>
                <a:spcPts val="600"/>
              </a:spcAft>
            </a:pPr>
            <a:r>
              <a:rPr lang="en-US" sz="1300" b="1">
                <a:solidFill>
                  <a:srgbClr val="A86F0E"/>
                </a:solidFill>
                <a:latin typeface="Calibri" panose="020F0502020204030204" pitchFamily="34" charset="0"/>
              </a:rPr>
              <a:t>Agile fit</a:t>
            </a:r>
          </a:p>
          <a:p>
            <a:r>
              <a:rPr lang="en-US" sz="1100">
                <a:solidFill>
                  <a:srgbClr val="1F2937"/>
                </a:solidFill>
                <a:latin typeface="Calibri" panose="020F0502020204030204" pitchFamily="34" charset="0"/>
              </a:rPr>
              <a:t>Agile works best with dedicated, cross-functional teams; heavily siloed functional structures slow it down.</a:t>
            </a:r>
          </a:p>
        </p:txBody>
      </p:sp>
      <p:sp>
        <p:nvSpPr>
          <p:cNvPr id="21" name="Rectangle: Rounded Corners 20">
            <a:extLst>
              <a:ext uri="{FF2B5EF4-FFF2-40B4-BE49-F238E27FC236}">
                <a16:creationId xmlns:a16="http://schemas.microsoft.com/office/drawing/2014/main" id="{4F3DAA5D-E511-7F7C-5155-014864277B47}"/>
              </a:ext>
            </a:extLst>
          </p:cNvPr>
          <p:cNvSpPr/>
          <p:nvPr/>
        </p:nvSpPr>
        <p:spPr>
          <a:xfrm>
            <a:off x="508000" y="5486400"/>
            <a:ext cx="11176000" cy="838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1FBFC1EB-9A09-CE8E-1677-B4845DDEC232}"/>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the structure tells you who to go to. Functional managers hold the resources in functional and weak matrix organizations; the project manager holds them in strong matrix and projectized ones.</a:t>
            </a:r>
          </a:p>
        </p:txBody>
      </p:sp>
      <p:sp>
        <p:nvSpPr>
          <p:cNvPr id="23" name="Footer">
            <a:extLst>
              <a:ext uri="{FF2B5EF4-FFF2-40B4-BE49-F238E27FC236}">
                <a16:creationId xmlns:a16="http://schemas.microsoft.com/office/drawing/2014/main" id="{F5DC6BDC-AB16-ED47-B89D-C832BD8FC8A9}"/>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2.4.4 and Table 2-1; PMI and Agile Alliance, Agile Practice Guide (2017), Section 6; adapted from PMI course material</a:t>
            </a:r>
          </a:p>
        </p:txBody>
      </p:sp>
      <p:sp>
        <p:nvSpPr>
          <p:cNvPr id="24" name="SlideNum">
            <a:extLst>
              <a:ext uri="{FF2B5EF4-FFF2-40B4-BE49-F238E27FC236}">
                <a16:creationId xmlns:a16="http://schemas.microsoft.com/office/drawing/2014/main" id="{527F0EE7-393F-63E8-F591-DC819274583E}"/>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66</a:t>
            </a:r>
          </a:p>
        </p:txBody>
      </p:sp>
      <p:sp>
        <p:nvSpPr>
          <p:cNvPr id="25"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2454297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7CC31900-B5A7-1E62-50B4-2901E8F1BDB5}"/>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Organizational structures compared</a:t>
            </a:r>
          </a:p>
        </p:txBody>
      </p:sp>
      <p:sp>
        <p:nvSpPr>
          <p:cNvPr id="3" name="Tag">
            <a:extLst>
              <a:ext uri="{FF2B5EF4-FFF2-40B4-BE49-F238E27FC236}">
                <a16:creationId xmlns:a16="http://schemas.microsoft.com/office/drawing/2014/main" id="{09F1FC8F-ED63-50D5-1C4B-6CCE752BA5DF}"/>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A84A2E"/>
                </a:solidFill>
                <a:latin typeface="Calibri" panose="020F0502020204030204" pitchFamily="34" charset="0"/>
              </a:rPr>
              <a:t>Business Environment deep dive · Functional, matrix, and projectized at a glance</a:t>
            </a:r>
          </a:p>
        </p:txBody>
      </p:sp>
      <p:sp>
        <p:nvSpPr>
          <p:cNvPr id="6" name="Footer">
            <a:extLst>
              <a:ext uri="{FF2B5EF4-FFF2-40B4-BE49-F238E27FC236}">
                <a16:creationId xmlns:a16="http://schemas.microsoft.com/office/drawing/2014/main" id="{5386F996-A490-7767-738C-32AB36E19276}"/>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Fifth Edition, Table 2-1, and Sixth Edition, Table 2-1; E. Larson and C. Gray, Project Management: The Managerial Process; adapted from PMI course material</a:t>
            </a:r>
          </a:p>
        </p:txBody>
      </p:sp>
      <p:sp>
        <p:nvSpPr>
          <p:cNvPr id="7" name="SlideNum">
            <a:extLst>
              <a:ext uri="{FF2B5EF4-FFF2-40B4-BE49-F238E27FC236}">
                <a16:creationId xmlns:a16="http://schemas.microsoft.com/office/drawing/2014/main" id="{02D01518-C115-D701-43F3-9DDBCC43C98B}"/>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67</a:t>
            </a:r>
          </a:p>
        </p:txBody>
      </p:sp>
      <p:graphicFrame>
        <p:nvGraphicFramePr>
          <p:cNvPr id="8" name="Table 7">
            <a:extLst>
              <a:ext uri="{FF2B5EF4-FFF2-40B4-BE49-F238E27FC236}">
                <a16:creationId xmlns:a16="http://schemas.microsoft.com/office/drawing/2014/main" id="{A3DC5D0F-2D6B-E15A-A0DE-A2DD3A5292A8}"/>
              </a:ext>
            </a:extLst>
          </p:cNvPr>
          <p:cNvGraphicFramePr>
            <a:graphicFrameLocks noGrp="1"/>
          </p:cNvGraphicFramePr>
          <p:nvPr>
            <p:extLst>
              <p:ext uri="{D42A27DB-BD31-4B8C-83A1-F6EECF244321}">
                <p14:modId xmlns:p14="http://schemas.microsoft.com/office/powerpoint/2010/main" val="2544002688"/>
              </p:ext>
            </p:extLst>
          </p:nvPr>
        </p:nvGraphicFramePr>
        <p:xfrm>
          <a:off x="508000" y="1320800"/>
          <a:ext cx="11176000" cy="3810000"/>
        </p:xfrm>
        <a:graphic>
          <a:graphicData uri="http://schemas.openxmlformats.org/drawingml/2006/table">
            <a:tbl>
              <a:tblPr firstRow="1" bandRow="1">
                <a:tableStyleId>{2D5ABB26-0587-4C30-8999-92F81FD0307C}</a:tableStyleId>
              </a:tblPr>
              <a:tblGrid>
                <a:gridCol w="1905000">
                  <a:extLst>
                    <a:ext uri="{9D8B030D-6E8A-4147-A177-3AD203B41FA5}">
                      <a16:colId xmlns:a16="http://schemas.microsoft.com/office/drawing/2014/main" val="464208710"/>
                    </a:ext>
                  </a:extLst>
                </a:gridCol>
                <a:gridCol w="1778000">
                  <a:extLst>
                    <a:ext uri="{9D8B030D-6E8A-4147-A177-3AD203B41FA5}">
                      <a16:colId xmlns:a16="http://schemas.microsoft.com/office/drawing/2014/main" val="1156723600"/>
                    </a:ext>
                  </a:extLst>
                </a:gridCol>
                <a:gridCol w="1778000">
                  <a:extLst>
                    <a:ext uri="{9D8B030D-6E8A-4147-A177-3AD203B41FA5}">
                      <a16:colId xmlns:a16="http://schemas.microsoft.com/office/drawing/2014/main" val="2990112197"/>
                    </a:ext>
                  </a:extLst>
                </a:gridCol>
                <a:gridCol w="1778000">
                  <a:extLst>
                    <a:ext uri="{9D8B030D-6E8A-4147-A177-3AD203B41FA5}">
                      <a16:colId xmlns:a16="http://schemas.microsoft.com/office/drawing/2014/main" val="3430932945"/>
                    </a:ext>
                  </a:extLst>
                </a:gridCol>
                <a:gridCol w="1778000">
                  <a:extLst>
                    <a:ext uri="{9D8B030D-6E8A-4147-A177-3AD203B41FA5}">
                      <a16:colId xmlns:a16="http://schemas.microsoft.com/office/drawing/2014/main" val="1188835132"/>
                    </a:ext>
                  </a:extLst>
                </a:gridCol>
                <a:gridCol w="2159000">
                  <a:extLst>
                    <a:ext uri="{9D8B030D-6E8A-4147-A177-3AD203B41FA5}">
                      <a16:colId xmlns:a16="http://schemas.microsoft.com/office/drawing/2014/main" val="1983412665"/>
                    </a:ext>
                  </a:extLst>
                </a:gridCol>
              </a:tblGrid>
              <a:tr h="330200">
                <a:tc rowSpan="2">
                  <a:txBody>
                    <a:bodyPr/>
                    <a:lstStyle/>
                    <a:p>
                      <a:pPr algn="l"/>
                      <a:endParaRPr lang="en-US" sz="1100" b="0">
                        <a:solidFill>
                          <a:srgbClr val="1F2937"/>
                        </a:solidFill>
                        <a:latin typeface="Calibri" panose="020F0502020204030204" pitchFamily="34" charset="0"/>
                      </a:endParaRPr>
                    </a:p>
                  </a:txBody>
                  <a:tcPr marL="101600" marR="76200" marT="38100" marB="38100" anchor="ctr">
                    <a:solidFill>
                      <a:srgbClr val="14213D"/>
                    </a:solidFill>
                  </a:tcPr>
                </a:tc>
                <a:tc rowSpan="2">
                  <a:txBody>
                    <a:bodyPr/>
                    <a:lstStyle/>
                    <a:p>
                      <a:pPr algn="ctr"/>
                      <a:r>
                        <a:rPr lang="en-US" sz="1100" b="1">
                          <a:solidFill>
                            <a:srgbClr val="FFFFFF"/>
                          </a:solidFill>
                          <a:latin typeface="Calibri" panose="020F0502020204030204" pitchFamily="34" charset="0"/>
                        </a:rPr>
                        <a:t>Functional</a:t>
                      </a:r>
                    </a:p>
                  </a:txBody>
                  <a:tcPr marL="101600" marR="76200" marT="38100" marB="38100" anchor="ctr">
                    <a:solidFill>
                      <a:srgbClr val="0F7C80"/>
                    </a:solidFill>
                  </a:tcPr>
                </a:tc>
                <a:tc gridSpan="3">
                  <a:txBody>
                    <a:bodyPr/>
                    <a:lstStyle/>
                    <a:p>
                      <a:pPr algn="ctr"/>
                      <a:r>
                        <a:rPr lang="en-US" sz="1100" b="1">
                          <a:solidFill>
                            <a:srgbClr val="FFFFFF"/>
                          </a:solidFill>
                          <a:latin typeface="Calibri" panose="020F0502020204030204" pitchFamily="34" charset="0"/>
                        </a:rPr>
                        <a:t>Matrix</a:t>
                      </a:r>
                    </a:p>
                  </a:txBody>
                  <a:tcPr marL="101600" marR="76200" marT="38100" marB="38100" anchor="ctr">
                    <a:solidFill>
                      <a:srgbClr val="34509A"/>
                    </a:solidFill>
                  </a:tcPr>
                </a:tc>
                <a:tc hMerge="1">
                  <a:txBody>
                    <a:bodyPr/>
                    <a:lstStyle/>
                    <a:p>
                      <a:endParaRPr lang="en-US"/>
                    </a:p>
                  </a:txBody>
                  <a:tcPr marL="101600" marR="76200" marT="38100" marB="38100"/>
                </a:tc>
                <a:tc hMerge="1">
                  <a:txBody>
                    <a:bodyPr/>
                    <a:lstStyle/>
                    <a:p>
                      <a:endParaRPr lang="en-US"/>
                    </a:p>
                  </a:txBody>
                  <a:tcPr marL="101600" marR="76200" marT="38100" marB="38100"/>
                </a:tc>
                <a:tc rowSpan="2">
                  <a:txBody>
                    <a:bodyPr/>
                    <a:lstStyle/>
                    <a:p>
                      <a:pPr algn="ctr"/>
                      <a:r>
                        <a:rPr lang="en-US" sz="1100" b="1">
                          <a:solidFill>
                            <a:srgbClr val="FFFFFF"/>
                          </a:solidFill>
                          <a:latin typeface="Calibri" panose="020F0502020204030204" pitchFamily="34" charset="0"/>
                        </a:rPr>
                        <a:t>Projectized</a:t>
                      </a:r>
                    </a:p>
                  </a:txBody>
                  <a:tcPr marL="101600" marR="76200" marT="38100" marB="38100" anchor="ctr">
                    <a:solidFill>
                      <a:srgbClr val="A84A2E"/>
                    </a:solidFill>
                  </a:tcPr>
                </a:tc>
                <a:extLst>
                  <a:ext uri="{0D108BD9-81ED-4DB2-BD59-A6C34878D82A}">
                    <a16:rowId xmlns:a16="http://schemas.microsoft.com/office/drawing/2014/main" val="1228789648"/>
                  </a:ext>
                </a:extLst>
              </a:tr>
              <a:tr h="330200">
                <a:tc vMerge="1">
                  <a:txBody>
                    <a:bodyPr/>
                    <a:lstStyle/>
                    <a:p>
                      <a:endParaRPr lang="en-US"/>
                    </a:p>
                  </a:txBody>
                  <a:tcPr marL="101600" marR="76200" marT="38100" marB="38100"/>
                </a:tc>
                <a:tc vMerge="1">
                  <a:txBody>
                    <a:bodyPr/>
                    <a:lstStyle/>
                    <a:p>
                      <a:endParaRPr lang="en-US"/>
                    </a:p>
                  </a:txBody>
                  <a:tcPr marL="101600" marR="76200" marT="38100" marB="38100"/>
                </a:tc>
                <a:tc>
                  <a:txBody>
                    <a:bodyPr/>
                    <a:lstStyle/>
                    <a:p>
                      <a:pPr algn="ctr"/>
                      <a:r>
                        <a:rPr lang="en-US" sz="1100" b="1">
                          <a:solidFill>
                            <a:srgbClr val="14213D"/>
                          </a:solidFill>
                          <a:latin typeface="Calibri" panose="020F0502020204030204" pitchFamily="34" charset="0"/>
                        </a:rPr>
                        <a:t>Weak</a:t>
                      </a:r>
                    </a:p>
                  </a:txBody>
                  <a:tcPr marL="101600" marR="76200" marT="38100" marB="38100" anchor="ctr">
                    <a:solidFill>
                      <a:srgbClr val="9DB1D8"/>
                    </a:solidFill>
                  </a:tcPr>
                </a:tc>
                <a:tc>
                  <a:txBody>
                    <a:bodyPr/>
                    <a:lstStyle/>
                    <a:p>
                      <a:pPr algn="ctr"/>
                      <a:r>
                        <a:rPr lang="en-US" sz="1100" b="1">
                          <a:solidFill>
                            <a:srgbClr val="FFFFFF"/>
                          </a:solidFill>
                          <a:latin typeface="Calibri" panose="020F0502020204030204" pitchFamily="34" charset="0"/>
                        </a:rPr>
                        <a:t>Balanced</a:t>
                      </a:r>
                    </a:p>
                  </a:txBody>
                  <a:tcPr marL="101600" marR="76200" marT="38100" marB="38100" anchor="ctr">
                    <a:solidFill>
                      <a:srgbClr val="6B82C0"/>
                    </a:solidFill>
                  </a:tcPr>
                </a:tc>
                <a:tc>
                  <a:txBody>
                    <a:bodyPr/>
                    <a:lstStyle/>
                    <a:p>
                      <a:pPr algn="ctr"/>
                      <a:r>
                        <a:rPr lang="en-US" sz="1100" b="1">
                          <a:solidFill>
                            <a:srgbClr val="FFFFFF"/>
                          </a:solidFill>
                          <a:latin typeface="Calibri" panose="020F0502020204030204" pitchFamily="34" charset="0"/>
                        </a:rPr>
                        <a:t>Strong</a:t>
                      </a:r>
                    </a:p>
                  </a:txBody>
                  <a:tcPr marL="101600" marR="76200" marT="38100" marB="38100" anchor="ctr">
                    <a:solidFill>
                      <a:srgbClr val="4F68AE"/>
                    </a:solidFill>
                  </a:tcPr>
                </a:tc>
                <a:tc vMerge="1">
                  <a:txBody>
                    <a:bodyPr/>
                    <a:lstStyle/>
                    <a:p>
                      <a:endParaRPr lang="en-US"/>
                    </a:p>
                  </a:txBody>
                  <a:tcPr marL="101600" marR="76200" marT="38100" marB="38100"/>
                </a:tc>
                <a:extLst>
                  <a:ext uri="{0D108BD9-81ED-4DB2-BD59-A6C34878D82A}">
                    <a16:rowId xmlns:a16="http://schemas.microsoft.com/office/drawing/2014/main" val="3628423915"/>
                  </a:ext>
                </a:extLst>
              </a:tr>
              <a:tr h="330200">
                <a:tc>
                  <a:txBody>
                    <a:bodyPr/>
                    <a:lstStyle/>
                    <a:p>
                      <a:pPr algn="l"/>
                      <a:r>
                        <a:rPr lang="en-US" sz="1100" b="1">
                          <a:solidFill>
                            <a:srgbClr val="14213D"/>
                          </a:solidFill>
                          <a:latin typeface="Calibri" panose="020F0502020204030204" pitchFamily="34" charset="0"/>
                        </a:rPr>
                        <a:t>PM authority</a:t>
                      </a:r>
                    </a:p>
                  </a:txBody>
                  <a:tcPr marL="101600" marR="76200" marT="38100" marB="38100" anchor="ctr">
                    <a:solidFill>
                      <a:srgbClr val="F3F5F8"/>
                    </a:solidFill>
                  </a:tcPr>
                </a:tc>
                <a:tc>
                  <a:txBody>
                    <a:bodyPr/>
                    <a:lstStyle/>
                    <a:p>
                      <a:pPr algn="l"/>
                      <a:r>
                        <a:rPr lang="en-US" sz="1100" b="0">
                          <a:solidFill>
                            <a:srgbClr val="1F2937"/>
                          </a:solidFill>
                          <a:latin typeface="Calibri" panose="020F0502020204030204" pitchFamily="34" charset="0"/>
                        </a:rPr>
                        <a:t>Little or none</a:t>
                      </a:r>
                    </a:p>
                  </a:txBody>
                  <a:tcPr marL="101600" marR="76200" marT="38100" marB="38100" anchor="ctr">
                    <a:solidFill>
                      <a:srgbClr val="E3F1F1"/>
                    </a:solidFill>
                  </a:tcPr>
                </a:tc>
                <a:tc>
                  <a:txBody>
                    <a:bodyPr/>
                    <a:lstStyle/>
                    <a:p>
                      <a:pPr algn="l"/>
                      <a:r>
                        <a:rPr lang="en-US" sz="1100" b="0">
                          <a:solidFill>
                            <a:srgbClr val="1F2937"/>
                          </a:solidFill>
                          <a:latin typeface="Calibri" panose="020F0502020204030204" pitchFamily="34" charset="0"/>
                        </a:rPr>
                        <a:t>Limited (low)</a:t>
                      </a:r>
                    </a:p>
                  </a:txBody>
                  <a:tcPr marL="101600" marR="76200" marT="38100" marB="38100" anchor="ctr">
                    <a:solidFill>
                      <a:srgbClr val="E6EAF4"/>
                    </a:solidFill>
                  </a:tcPr>
                </a:tc>
                <a:tc>
                  <a:txBody>
                    <a:bodyPr/>
                    <a:lstStyle/>
                    <a:p>
                      <a:pPr algn="l"/>
                      <a:r>
                        <a:rPr lang="en-US" sz="1100" b="0">
                          <a:solidFill>
                            <a:srgbClr val="1F2937"/>
                          </a:solidFill>
                          <a:latin typeface="Calibri" panose="020F0502020204030204" pitchFamily="34" charset="0"/>
                        </a:rPr>
                        <a:t>Low to moderate</a:t>
                      </a:r>
                    </a:p>
                  </a:txBody>
                  <a:tcPr marL="101600" marR="76200" marT="38100" marB="38100" anchor="ctr">
                    <a:solidFill>
                      <a:srgbClr val="E6EAF4"/>
                    </a:solidFill>
                  </a:tcPr>
                </a:tc>
                <a:tc>
                  <a:txBody>
                    <a:bodyPr/>
                    <a:lstStyle/>
                    <a:p>
                      <a:pPr algn="l"/>
                      <a:r>
                        <a:rPr lang="en-US" sz="1100" b="0">
                          <a:solidFill>
                            <a:srgbClr val="1F2937"/>
                          </a:solidFill>
                          <a:latin typeface="Calibri" panose="020F0502020204030204" pitchFamily="34" charset="0"/>
                        </a:rPr>
                        <a:t>Moderate to high</a:t>
                      </a:r>
                    </a:p>
                  </a:txBody>
                  <a:tcPr marL="101600" marR="76200" marT="38100" marB="38100" anchor="ctr">
                    <a:solidFill>
                      <a:srgbClr val="E6EAF4"/>
                    </a:solidFill>
                  </a:tcPr>
                </a:tc>
                <a:tc>
                  <a:txBody>
                    <a:bodyPr/>
                    <a:lstStyle/>
                    <a:p>
                      <a:pPr algn="l"/>
                      <a:r>
                        <a:rPr lang="en-US" sz="1100" b="0">
                          <a:solidFill>
                            <a:srgbClr val="1F2937"/>
                          </a:solidFill>
                          <a:latin typeface="Calibri" panose="020F0502020204030204" pitchFamily="34" charset="0"/>
                        </a:rPr>
                        <a:t>High to almost total</a:t>
                      </a:r>
                    </a:p>
                  </a:txBody>
                  <a:tcPr marL="101600" marR="76200" marT="38100" marB="38100" anchor="ctr">
                    <a:solidFill>
                      <a:srgbClr val="F5E8E3"/>
                    </a:solidFill>
                  </a:tcPr>
                </a:tc>
                <a:extLst>
                  <a:ext uri="{0D108BD9-81ED-4DB2-BD59-A6C34878D82A}">
                    <a16:rowId xmlns:a16="http://schemas.microsoft.com/office/drawing/2014/main" val="2727165498"/>
                  </a:ext>
                </a:extLst>
              </a:tr>
              <a:tr h="330200">
                <a:tc>
                  <a:txBody>
                    <a:bodyPr/>
                    <a:lstStyle/>
                    <a:p>
                      <a:pPr algn="l"/>
                      <a:r>
                        <a:rPr lang="en-US" sz="1100" b="1">
                          <a:solidFill>
                            <a:srgbClr val="14213D"/>
                          </a:solidFill>
                          <a:latin typeface="Calibri" panose="020F0502020204030204" pitchFamily="34" charset="0"/>
                        </a:rPr>
                        <a:t>Resource availability</a:t>
                      </a:r>
                    </a:p>
                  </a:txBody>
                  <a:tcPr marL="101600" marR="76200" marT="38100" marB="38100" anchor="ctr">
                    <a:solidFill>
                      <a:srgbClr val="F3F5F8"/>
                    </a:solidFill>
                  </a:tcPr>
                </a:tc>
                <a:tc>
                  <a:txBody>
                    <a:bodyPr/>
                    <a:lstStyle/>
                    <a:p>
                      <a:pPr algn="l"/>
                      <a:r>
                        <a:rPr lang="en-US" sz="1100" b="0">
                          <a:solidFill>
                            <a:srgbClr val="1F2937"/>
                          </a:solidFill>
                          <a:latin typeface="Calibri" panose="020F0502020204030204" pitchFamily="34" charset="0"/>
                        </a:rPr>
                        <a:t>Little or none</a:t>
                      </a:r>
                    </a:p>
                  </a:txBody>
                  <a:tcPr marL="101600" marR="76200" marT="38100" marB="38100" anchor="ctr">
                    <a:solidFill>
                      <a:srgbClr val="E3F1F1"/>
                    </a:solidFill>
                  </a:tcPr>
                </a:tc>
                <a:tc>
                  <a:txBody>
                    <a:bodyPr/>
                    <a:lstStyle/>
                    <a:p>
                      <a:pPr algn="l"/>
                      <a:r>
                        <a:rPr lang="en-US" sz="1100" b="0">
                          <a:solidFill>
                            <a:srgbClr val="1F2937"/>
                          </a:solidFill>
                          <a:latin typeface="Calibri" panose="020F0502020204030204" pitchFamily="34" charset="0"/>
                        </a:rPr>
                        <a:t>Limited (low)</a:t>
                      </a:r>
                    </a:p>
                  </a:txBody>
                  <a:tcPr marL="101600" marR="76200" marT="38100" marB="38100" anchor="ctr">
                    <a:solidFill>
                      <a:srgbClr val="E6EAF4"/>
                    </a:solidFill>
                  </a:tcPr>
                </a:tc>
                <a:tc>
                  <a:txBody>
                    <a:bodyPr/>
                    <a:lstStyle/>
                    <a:p>
                      <a:pPr algn="l"/>
                      <a:r>
                        <a:rPr lang="en-US" sz="1100" b="0">
                          <a:solidFill>
                            <a:srgbClr val="1F2937"/>
                          </a:solidFill>
                          <a:latin typeface="Calibri" panose="020F0502020204030204" pitchFamily="34" charset="0"/>
                        </a:rPr>
                        <a:t>Low to moderate</a:t>
                      </a:r>
                    </a:p>
                  </a:txBody>
                  <a:tcPr marL="101600" marR="76200" marT="38100" marB="38100" anchor="ctr">
                    <a:solidFill>
                      <a:srgbClr val="E6EAF4"/>
                    </a:solidFill>
                  </a:tcPr>
                </a:tc>
                <a:tc>
                  <a:txBody>
                    <a:bodyPr/>
                    <a:lstStyle/>
                    <a:p>
                      <a:pPr algn="l"/>
                      <a:r>
                        <a:rPr lang="en-US" sz="1100" b="0">
                          <a:solidFill>
                            <a:srgbClr val="1F2937"/>
                          </a:solidFill>
                          <a:latin typeface="Calibri" panose="020F0502020204030204" pitchFamily="34" charset="0"/>
                        </a:rPr>
                        <a:t>Moderate to high</a:t>
                      </a:r>
                    </a:p>
                  </a:txBody>
                  <a:tcPr marL="101600" marR="76200" marT="38100" marB="38100" anchor="ctr">
                    <a:solidFill>
                      <a:srgbClr val="E6EAF4"/>
                    </a:solidFill>
                  </a:tcPr>
                </a:tc>
                <a:tc>
                  <a:txBody>
                    <a:bodyPr/>
                    <a:lstStyle/>
                    <a:p>
                      <a:pPr algn="l"/>
                      <a:r>
                        <a:rPr lang="en-US" sz="1100" b="0">
                          <a:solidFill>
                            <a:srgbClr val="1F2937"/>
                          </a:solidFill>
                          <a:latin typeface="Calibri" panose="020F0502020204030204" pitchFamily="34" charset="0"/>
                        </a:rPr>
                        <a:t>High to almost total</a:t>
                      </a:r>
                    </a:p>
                  </a:txBody>
                  <a:tcPr marL="101600" marR="76200" marT="38100" marB="38100" anchor="ctr">
                    <a:solidFill>
                      <a:srgbClr val="F5E8E3"/>
                    </a:solidFill>
                  </a:tcPr>
                </a:tc>
                <a:extLst>
                  <a:ext uri="{0D108BD9-81ED-4DB2-BD59-A6C34878D82A}">
                    <a16:rowId xmlns:a16="http://schemas.microsoft.com/office/drawing/2014/main" val="3947994020"/>
                  </a:ext>
                </a:extLst>
              </a:tr>
              <a:tr h="330200">
                <a:tc>
                  <a:txBody>
                    <a:bodyPr/>
                    <a:lstStyle/>
                    <a:p>
                      <a:pPr algn="l"/>
                      <a:r>
                        <a:rPr lang="en-US" sz="1100" b="1">
                          <a:solidFill>
                            <a:srgbClr val="14213D"/>
                          </a:solidFill>
                          <a:latin typeface="Calibri" panose="020F0502020204030204" pitchFamily="34" charset="0"/>
                        </a:rPr>
                        <a:t>Budget control</a:t>
                      </a:r>
                    </a:p>
                  </a:txBody>
                  <a:tcPr marL="101600" marR="76200" marT="38100" marB="38100" anchor="ctr">
                    <a:solidFill>
                      <a:srgbClr val="F3F5F8"/>
                    </a:solidFill>
                  </a:tcPr>
                </a:tc>
                <a:tc>
                  <a:txBody>
                    <a:bodyPr/>
                    <a:lstStyle/>
                    <a:p>
                      <a:pPr algn="l"/>
                      <a:r>
                        <a:rPr lang="en-US" sz="1100" b="0">
                          <a:solidFill>
                            <a:srgbClr val="1F2937"/>
                          </a:solidFill>
                          <a:latin typeface="Calibri" panose="020F0502020204030204" pitchFamily="34" charset="0"/>
                        </a:rPr>
                        <a:t>Functional manager</a:t>
                      </a:r>
                    </a:p>
                  </a:txBody>
                  <a:tcPr marL="101600" marR="76200" marT="38100" marB="38100" anchor="ctr">
                    <a:solidFill>
                      <a:srgbClr val="E3F1F1"/>
                    </a:solidFill>
                  </a:tcPr>
                </a:tc>
                <a:tc>
                  <a:txBody>
                    <a:bodyPr/>
                    <a:lstStyle/>
                    <a:p>
                      <a:pPr algn="l"/>
                      <a:r>
                        <a:rPr lang="en-US" sz="1100" b="0">
                          <a:solidFill>
                            <a:srgbClr val="1F2937"/>
                          </a:solidFill>
                          <a:latin typeface="Calibri" panose="020F0502020204030204" pitchFamily="34" charset="0"/>
                        </a:rPr>
                        <a:t>Functional manager</a:t>
                      </a:r>
                    </a:p>
                  </a:txBody>
                  <a:tcPr marL="101600" marR="76200" marT="38100" marB="38100" anchor="ctr">
                    <a:solidFill>
                      <a:srgbClr val="E6EAF4"/>
                    </a:solidFill>
                  </a:tcPr>
                </a:tc>
                <a:tc>
                  <a:txBody>
                    <a:bodyPr/>
                    <a:lstStyle/>
                    <a:p>
                      <a:pPr algn="l"/>
                      <a:r>
                        <a:rPr lang="en-US" sz="1100" b="0">
                          <a:solidFill>
                            <a:srgbClr val="1F2937"/>
                          </a:solidFill>
                          <a:latin typeface="Calibri" panose="020F0502020204030204" pitchFamily="34" charset="0"/>
                        </a:rPr>
                        <a:t>Mixed</a:t>
                      </a:r>
                    </a:p>
                  </a:txBody>
                  <a:tcPr marL="101600" marR="76200" marT="38100" marB="38100" anchor="ctr">
                    <a:solidFill>
                      <a:srgbClr val="E6EAF4"/>
                    </a:solidFill>
                  </a:tcPr>
                </a:tc>
                <a:tc>
                  <a:txBody>
                    <a:bodyPr/>
                    <a:lstStyle/>
                    <a:p>
                      <a:pPr algn="l"/>
                      <a:r>
                        <a:rPr lang="en-US" sz="1100" b="0">
                          <a:solidFill>
                            <a:srgbClr val="1F2937"/>
                          </a:solidFill>
                          <a:latin typeface="Calibri" panose="020F0502020204030204" pitchFamily="34" charset="0"/>
                        </a:rPr>
                        <a:t>Project manager</a:t>
                      </a:r>
                    </a:p>
                  </a:txBody>
                  <a:tcPr marL="101600" marR="76200" marT="38100" marB="38100" anchor="ctr">
                    <a:solidFill>
                      <a:srgbClr val="E6EAF4"/>
                    </a:solidFill>
                  </a:tcPr>
                </a:tc>
                <a:tc>
                  <a:txBody>
                    <a:bodyPr/>
                    <a:lstStyle/>
                    <a:p>
                      <a:pPr algn="l"/>
                      <a:r>
                        <a:rPr lang="en-US" sz="1100" b="0">
                          <a:solidFill>
                            <a:srgbClr val="1F2937"/>
                          </a:solidFill>
                          <a:latin typeface="Calibri" panose="020F0502020204030204" pitchFamily="34" charset="0"/>
                        </a:rPr>
                        <a:t>Project manager</a:t>
                      </a:r>
                    </a:p>
                  </a:txBody>
                  <a:tcPr marL="101600" marR="76200" marT="38100" marB="38100" anchor="ctr">
                    <a:solidFill>
                      <a:srgbClr val="F5E8E3"/>
                    </a:solidFill>
                  </a:tcPr>
                </a:tc>
                <a:extLst>
                  <a:ext uri="{0D108BD9-81ED-4DB2-BD59-A6C34878D82A}">
                    <a16:rowId xmlns:a16="http://schemas.microsoft.com/office/drawing/2014/main" val="1357959204"/>
                  </a:ext>
                </a:extLst>
              </a:tr>
              <a:tr h="330200">
                <a:tc>
                  <a:txBody>
                    <a:bodyPr/>
                    <a:lstStyle/>
                    <a:p>
                      <a:pPr algn="l"/>
                      <a:r>
                        <a:rPr lang="en-US" sz="1100" b="1">
                          <a:solidFill>
                            <a:srgbClr val="14213D"/>
                          </a:solidFill>
                          <a:latin typeface="Calibri" panose="020F0502020204030204" pitchFamily="34" charset="0"/>
                        </a:rPr>
                        <a:t>PM role</a:t>
                      </a:r>
                    </a:p>
                  </a:txBody>
                  <a:tcPr marL="101600" marR="76200" marT="38100" marB="38100" anchor="ctr">
                    <a:solidFill>
                      <a:srgbClr val="F3F5F8"/>
                    </a:solidFill>
                  </a:tcPr>
                </a:tc>
                <a:tc>
                  <a:txBody>
                    <a:bodyPr/>
                    <a:lstStyle/>
                    <a:p>
                      <a:pPr algn="l"/>
                      <a:r>
                        <a:rPr lang="en-US" sz="1100" b="0">
                          <a:solidFill>
                            <a:srgbClr val="1F2937"/>
                          </a:solidFill>
                          <a:latin typeface="Calibri" panose="020F0502020204030204" pitchFamily="34" charset="0"/>
                        </a:rPr>
                        <a:t>Part-time</a:t>
                      </a:r>
                    </a:p>
                  </a:txBody>
                  <a:tcPr marL="101600" marR="76200" marT="38100" marB="38100" anchor="ctr">
                    <a:solidFill>
                      <a:srgbClr val="E3F1F1"/>
                    </a:solidFill>
                  </a:tcPr>
                </a:tc>
                <a:tc>
                  <a:txBody>
                    <a:bodyPr/>
                    <a:lstStyle/>
                    <a:p>
                      <a:pPr algn="l"/>
                      <a:r>
                        <a:rPr lang="en-US" sz="1100" b="0">
                          <a:solidFill>
                            <a:srgbClr val="1F2937"/>
                          </a:solidFill>
                          <a:latin typeface="Calibri" panose="020F0502020204030204" pitchFamily="34" charset="0"/>
                        </a:rPr>
                        <a:t>Part-time</a:t>
                      </a:r>
                    </a:p>
                  </a:txBody>
                  <a:tcPr marL="101600" marR="76200" marT="38100" marB="38100" anchor="ctr">
                    <a:solidFill>
                      <a:srgbClr val="E6EAF4"/>
                    </a:solidFill>
                  </a:tcPr>
                </a:tc>
                <a:tc>
                  <a:txBody>
                    <a:bodyPr/>
                    <a:lstStyle/>
                    <a:p>
                      <a:pPr algn="l"/>
                      <a:r>
                        <a:rPr lang="en-US" sz="1100" b="0">
                          <a:solidFill>
                            <a:srgbClr val="1F2937"/>
                          </a:solidFill>
                          <a:latin typeface="Calibri" panose="020F0502020204030204" pitchFamily="34" charset="0"/>
                        </a:rPr>
                        <a:t>Full-time</a:t>
                      </a:r>
                    </a:p>
                  </a:txBody>
                  <a:tcPr marL="101600" marR="76200" marT="38100" marB="38100" anchor="ctr">
                    <a:solidFill>
                      <a:srgbClr val="E6EAF4"/>
                    </a:solidFill>
                  </a:tcPr>
                </a:tc>
                <a:tc>
                  <a:txBody>
                    <a:bodyPr/>
                    <a:lstStyle/>
                    <a:p>
                      <a:pPr algn="l"/>
                      <a:r>
                        <a:rPr lang="en-US" sz="1100" b="0">
                          <a:solidFill>
                            <a:srgbClr val="1F2937"/>
                          </a:solidFill>
                          <a:latin typeface="Calibri" panose="020F0502020204030204" pitchFamily="34" charset="0"/>
                        </a:rPr>
                        <a:t>Full-time</a:t>
                      </a:r>
                    </a:p>
                  </a:txBody>
                  <a:tcPr marL="101600" marR="76200" marT="38100" marB="38100" anchor="ctr">
                    <a:solidFill>
                      <a:srgbClr val="E6EAF4"/>
                    </a:solidFill>
                  </a:tcPr>
                </a:tc>
                <a:tc>
                  <a:txBody>
                    <a:bodyPr/>
                    <a:lstStyle/>
                    <a:p>
                      <a:pPr algn="l"/>
                      <a:r>
                        <a:rPr lang="en-US" sz="1100" b="0">
                          <a:solidFill>
                            <a:srgbClr val="1F2937"/>
                          </a:solidFill>
                          <a:latin typeface="Calibri" panose="020F0502020204030204" pitchFamily="34" charset="0"/>
                        </a:rPr>
                        <a:t>Full-time</a:t>
                      </a:r>
                    </a:p>
                  </a:txBody>
                  <a:tcPr marL="101600" marR="76200" marT="38100" marB="38100" anchor="ctr">
                    <a:solidFill>
                      <a:srgbClr val="F5E8E3"/>
                    </a:solidFill>
                  </a:tcPr>
                </a:tc>
                <a:extLst>
                  <a:ext uri="{0D108BD9-81ED-4DB2-BD59-A6C34878D82A}">
                    <a16:rowId xmlns:a16="http://schemas.microsoft.com/office/drawing/2014/main" val="1698754307"/>
                  </a:ext>
                </a:extLst>
              </a:tr>
              <a:tr h="330200">
                <a:tc>
                  <a:txBody>
                    <a:bodyPr/>
                    <a:lstStyle/>
                    <a:p>
                      <a:pPr algn="l"/>
                      <a:r>
                        <a:rPr lang="en-US" sz="1100" b="1">
                          <a:solidFill>
                            <a:srgbClr val="14213D"/>
                          </a:solidFill>
                          <a:latin typeface="Calibri" panose="020F0502020204030204" pitchFamily="34" charset="0"/>
                        </a:rPr>
                        <a:t>PM admin staff</a:t>
                      </a:r>
                    </a:p>
                  </a:txBody>
                  <a:tcPr marL="101600" marR="76200" marT="38100" marB="38100" anchor="ctr">
                    <a:solidFill>
                      <a:srgbClr val="F3F5F8"/>
                    </a:solidFill>
                  </a:tcPr>
                </a:tc>
                <a:tc>
                  <a:txBody>
                    <a:bodyPr/>
                    <a:lstStyle/>
                    <a:p>
                      <a:pPr algn="l"/>
                      <a:r>
                        <a:rPr lang="en-US" sz="1100" b="0">
                          <a:solidFill>
                            <a:srgbClr val="1F2937"/>
                          </a:solidFill>
                          <a:latin typeface="Calibri" panose="020F0502020204030204" pitchFamily="34" charset="0"/>
                        </a:rPr>
                        <a:t>Part-time</a:t>
                      </a:r>
                    </a:p>
                  </a:txBody>
                  <a:tcPr marL="101600" marR="76200" marT="38100" marB="38100" anchor="ctr">
                    <a:solidFill>
                      <a:srgbClr val="E3F1F1"/>
                    </a:solidFill>
                  </a:tcPr>
                </a:tc>
                <a:tc>
                  <a:txBody>
                    <a:bodyPr/>
                    <a:lstStyle/>
                    <a:p>
                      <a:pPr algn="l"/>
                      <a:r>
                        <a:rPr lang="en-US" sz="1100" b="0">
                          <a:solidFill>
                            <a:srgbClr val="1F2937"/>
                          </a:solidFill>
                          <a:latin typeface="Calibri" panose="020F0502020204030204" pitchFamily="34" charset="0"/>
                        </a:rPr>
                        <a:t>Part-time</a:t>
                      </a:r>
                    </a:p>
                  </a:txBody>
                  <a:tcPr marL="101600" marR="76200" marT="38100" marB="38100" anchor="ctr">
                    <a:solidFill>
                      <a:srgbClr val="E6EAF4"/>
                    </a:solidFill>
                  </a:tcPr>
                </a:tc>
                <a:tc>
                  <a:txBody>
                    <a:bodyPr/>
                    <a:lstStyle/>
                    <a:p>
                      <a:pPr algn="l"/>
                      <a:r>
                        <a:rPr lang="en-US" sz="1100" b="0">
                          <a:solidFill>
                            <a:srgbClr val="1F2937"/>
                          </a:solidFill>
                          <a:latin typeface="Calibri" panose="020F0502020204030204" pitchFamily="34" charset="0"/>
                        </a:rPr>
                        <a:t>Part-time</a:t>
                      </a:r>
                    </a:p>
                  </a:txBody>
                  <a:tcPr marL="101600" marR="76200" marT="38100" marB="38100" anchor="ctr">
                    <a:solidFill>
                      <a:srgbClr val="E6EAF4"/>
                    </a:solidFill>
                  </a:tcPr>
                </a:tc>
                <a:tc>
                  <a:txBody>
                    <a:bodyPr/>
                    <a:lstStyle/>
                    <a:p>
                      <a:pPr algn="l"/>
                      <a:r>
                        <a:rPr lang="en-US" sz="1100" b="0">
                          <a:solidFill>
                            <a:srgbClr val="1F2937"/>
                          </a:solidFill>
                          <a:latin typeface="Calibri" panose="020F0502020204030204" pitchFamily="34" charset="0"/>
                        </a:rPr>
                        <a:t>Full-time</a:t>
                      </a:r>
                    </a:p>
                  </a:txBody>
                  <a:tcPr marL="101600" marR="76200" marT="38100" marB="38100" anchor="ctr">
                    <a:solidFill>
                      <a:srgbClr val="E6EAF4"/>
                    </a:solidFill>
                  </a:tcPr>
                </a:tc>
                <a:tc>
                  <a:txBody>
                    <a:bodyPr/>
                    <a:lstStyle/>
                    <a:p>
                      <a:pPr algn="l"/>
                      <a:r>
                        <a:rPr lang="en-US" sz="1100" b="0">
                          <a:solidFill>
                            <a:srgbClr val="1F2937"/>
                          </a:solidFill>
                          <a:latin typeface="Calibri" panose="020F0502020204030204" pitchFamily="34" charset="0"/>
                        </a:rPr>
                        <a:t>Full-time</a:t>
                      </a:r>
                    </a:p>
                  </a:txBody>
                  <a:tcPr marL="101600" marR="76200" marT="38100" marB="38100" anchor="ctr">
                    <a:solidFill>
                      <a:srgbClr val="F5E8E3"/>
                    </a:solidFill>
                  </a:tcPr>
                </a:tc>
                <a:extLst>
                  <a:ext uri="{0D108BD9-81ED-4DB2-BD59-A6C34878D82A}">
                    <a16:rowId xmlns:a16="http://schemas.microsoft.com/office/drawing/2014/main" val="567306765"/>
                  </a:ext>
                </a:extLst>
              </a:tr>
              <a:tr h="330200">
                <a:tc>
                  <a:txBody>
                    <a:bodyPr/>
                    <a:lstStyle/>
                    <a:p>
                      <a:pPr algn="l"/>
                      <a:r>
                        <a:rPr lang="en-US" sz="1100" b="1">
                          <a:solidFill>
                            <a:srgbClr val="14213D"/>
                          </a:solidFill>
                          <a:latin typeface="Calibri" panose="020F0502020204030204" pitchFamily="34" charset="0"/>
                        </a:rPr>
                        <a:t>PM title</a:t>
                      </a:r>
                    </a:p>
                  </a:txBody>
                  <a:tcPr marL="101600" marR="76200" marT="38100" marB="38100" anchor="ctr">
                    <a:solidFill>
                      <a:srgbClr val="F3F5F8"/>
                    </a:solidFill>
                  </a:tcPr>
                </a:tc>
                <a:tc>
                  <a:txBody>
                    <a:bodyPr/>
                    <a:lstStyle/>
                    <a:p>
                      <a:pPr algn="l"/>
                      <a:r>
                        <a:rPr lang="en-US" sz="1100" b="0">
                          <a:solidFill>
                            <a:srgbClr val="1F2937"/>
                          </a:solidFill>
                          <a:latin typeface="Calibri" panose="020F0502020204030204" pitchFamily="34" charset="0"/>
                        </a:rPr>
                        <a:t>Coordinator</a:t>
                      </a:r>
                    </a:p>
                  </a:txBody>
                  <a:tcPr marL="101600" marR="76200" marT="38100" marB="38100" anchor="ctr">
                    <a:solidFill>
                      <a:srgbClr val="E3F1F1"/>
                    </a:solidFill>
                  </a:tcPr>
                </a:tc>
                <a:tc>
                  <a:txBody>
                    <a:bodyPr/>
                    <a:lstStyle/>
                    <a:p>
                      <a:pPr algn="l"/>
                      <a:r>
                        <a:rPr lang="en-US" sz="1100" b="0">
                          <a:solidFill>
                            <a:srgbClr val="1F2937"/>
                          </a:solidFill>
                          <a:latin typeface="Calibri" panose="020F0502020204030204" pitchFamily="34" charset="0"/>
                        </a:rPr>
                        <a:t>Expediter or coordinator</a:t>
                      </a:r>
                    </a:p>
                  </a:txBody>
                  <a:tcPr marL="101600" marR="76200" marT="38100" marB="38100" anchor="ctr">
                    <a:solidFill>
                      <a:srgbClr val="E6EAF4"/>
                    </a:solidFill>
                  </a:tcPr>
                </a:tc>
                <a:tc>
                  <a:txBody>
                    <a:bodyPr/>
                    <a:lstStyle/>
                    <a:p>
                      <a:pPr algn="l"/>
                      <a:r>
                        <a:rPr lang="en-US" sz="1100" b="0">
                          <a:solidFill>
                            <a:srgbClr val="1F2937"/>
                          </a:solidFill>
                          <a:latin typeface="Calibri" panose="020F0502020204030204" pitchFamily="34" charset="0"/>
                        </a:rPr>
                        <a:t>Project manager</a:t>
                      </a:r>
                    </a:p>
                  </a:txBody>
                  <a:tcPr marL="101600" marR="76200" marT="38100" marB="38100" anchor="ctr">
                    <a:solidFill>
                      <a:srgbClr val="E6EAF4"/>
                    </a:solidFill>
                  </a:tcPr>
                </a:tc>
                <a:tc>
                  <a:txBody>
                    <a:bodyPr/>
                    <a:lstStyle/>
                    <a:p>
                      <a:pPr algn="l"/>
                      <a:r>
                        <a:rPr lang="en-US" sz="1100" b="0">
                          <a:solidFill>
                            <a:srgbClr val="1F2937"/>
                          </a:solidFill>
                          <a:latin typeface="Calibri" panose="020F0502020204030204" pitchFamily="34" charset="0"/>
                        </a:rPr>
                        <a:t>Project manager</a:t>
                      </a:r>
                    </a:p>
                  </a:txBody>
                  <a:tcPr marL="101600" marR="76200" marT="38100" marB="38100" anchor="ctr">
                    <a:solidFill>
                      <a:srgbClr val="E6EAF4"/>
                    </a:solidFill>
                  </a:tcPr>
                </a:tc>
                <a:tc>
                  <a:txBody>
                    <a:bodyPr/>
                    <a:lstStyle/>
                    <a:p>
                      <a:pPr algn="l"/>
                      <a:r>
                        <a:rPr lang="en-US" sz="1100" b="0">
                          <a:solidFill>
                            <a:srgbClr val="1F2937"/>
                          </a:solidFill>
                          <a:latin typeface="Calibri" panose="020F0502020204030204" pitchFamily="34" charset="0"/>
                        </a:rPr>
                        <a:t>Project manager</a:t>
                      </a:r>
                    </a:p>
                  </a:txBody>
                  <a:tcPr marL="101600" marR="76200" marT="38100" marB="38100" anchor="ctr">
                    <a:solidFill>
                      <a:srgbClr val="F5E8E3"/>
                    </a:solidFill>
                  </a:tcPr>
                </a:tc>
                <a:extLst>
                  <a:ext uri="{0D108BD9-81ED-4DB2-BD59-A6C34878D82A}">
                    <a16:rowId xmlns:a16="http://schemas.microsoft.com/office/drawing/2014/main" val="3721247469"/>
                  </a:ext>
                </a:extLst>
              </a:tr>
              <a:tr h="330200">
                <a:tc>
                  <a:txBody>
                    <a:bodyPr/>
                    <a:lstStyle/>
                    <a:p>
                      <a:pPr algn="l"/>
                      <a:r>
                        <a:rPr lang="en-US" sz="1100" b="1">
                          <a:solidFill>
                            <a:srgbClr val="14213D"/>
                          </a:solidFill>
                          <a:latin typeface="Calibri" panose="020F0502020204030204" pitchFamily="34" charset="0"/>
                        </a:rPr>
                        <a:t>Who decides</a:t>
                      </a:r>
                    </a:p>
                  </a:txBody>
                  <a:tcPr marL="101600" marR="76200" marT="38100" marB="38100" anchor="ctr">
                    <a:solidFill>
                      <a:srgbClr val="F3F5F8"/>
                    </a:solidFill>
                  </a:tcPr>
                </a:tc>
                <a:tc>
                  <a:txBody>
                    <a:bodyPr/>
                    <a:lstStyle/>
                    <a:p>
                      <a:pPr algn="l"/>
                      <a:r>
                        <a:rPr lang="en-US" sz="1100" b="0">
                          <a:solidFill>
                            <a:srgbClr val="1F2937"/>
                          </a:solidFill>
                          <a:latin typeface="Calibri" panose="020F0502020204030204" pitchFamily="34" charset="0"/>
                        </a:rPr>
                        <a:t>Functional manager</a:t>
                      </a:r>
                    </a:p>
                  </a:txBody>
                  <a:tcPr marL="101600" marR="76200" marT="38100" marB="38100" anchor="ctr">
                    <a:solidFill>
                      <a:srgbClr val="E3F1F1"/>
                    </a:solidFill>
                  </a:tcPr>
                </a:tc>
                <a:tc>
                  <a:txBody>
                    <a:bodyPr/>
                    <a:lstStyle/>
                    <a:p>
                      <a:pPr algn="l"/>
                      <a:r>
                        <a:rPr lang="en-US" sz="1100" b="0">
                          <a:solidFill>
                            <a:srgbClr val="1F2937"/>
                          </a:solidFill>
                          <a:latin typeface="Calibri" panose="020F0502020204030204" pitchFamily="34" charset="0"/>
                        </a:rPr>
                        <a:t>Functional manager, mostly</a:t>
                      </a:r>
                    </a:p>
                  </a:txBody>
                  <a:tcPr marL="101600" marR="76200" marT="38100" marB="38100" anchor="ctr">
                    <a:solidFill>
                      <a:srgbClr val="E6EAF4"/>
                    </a:solidFill>
                  </a:tcPr>
                </a:tc>
                <a:tc>
                  <a:txBody>
                    <a:bodyPr/>
                    <a:lstStyle/>
                    <a:p>
                      <a:pPr algn="l"/>
                      <a:r>
                        <a:rPr lang="en-US" sz="1100" b="0">
                          <a:solidFill>
                            <a:srgbClr val="1F2937"/>
                          </a:solidFill>
                          <a:latin typeface="Calibri" panose="020F0502020204030204" pitchFamily="34" charset="0"/>
                        </a:rPr>
                        <a:t>PM: what and when; FM: who and how</a:t>
                      </a:r>
                    </a:p>
                  </a:txBody>
                  <a:tcPr marL="101600" marR="76200" marT="38100" marB="38100" anchor="ctr">
                    <a:solidFill>
                      <a:srgbClr val="E6EAF4"/>
                    </a:solidFill>
                  </a:tcPr>
                </a:tc>
                <a:tc>
                  <a:txBody>
                    <a:bodyPr/>
                    <a:lstStyle/>
                    <a:p>
                      <a:pPr algn="l"/>
                      <a:r>
                        <a:rPr lang="en-US" sz="1100" b="0">
                          <a:solidFill>
                            <a:srgbClr val="1F2937"/>
                          </a:solidFill>
                          <a:latin typeface="Calibri" panose="020F0502020204030204" pitchFamily="34" charset="0"/>
                        </a:rPr>
                        <a:t>PM, including assignments</a:t>
                      </a:r>
                    </a:p>
                  </a:txBody>
                  <a:tcPr marL="101600" marR="76200" marT="38100" marB="38100" anchor="ctr">
                    <a:solidFill>
                      <a:srgbClr val="E6EAF4"/>
                    </a:solidFill>
                  </a:tcPr>
                </a:tc>
                <a:tc>
                  <a:txBody>
                    <a:bodyPr/>
                    <a:lstStyle/>
                    <a:p>
                      <a:pPr algn="l"/>
                      <a:r>
                        <a:rPr lang="en-US" sz="1100" b="0">
                          <a:solidFill>
                            <a:srgbClr val="1F2937"/>
                          </a:solidFill>
                          <a:latin typeface="Calibri" panose="020F0502020204030204" pitchFamily="34" charset="0"/>
                        </a:rPr>
                        <a:t>Project manager</a:t>
                      </a:r>
                    </a:p>
                  </a:txBody>
                  <a:tcPr marL="101600" marR="76200" marT="38100" marB="38100" anchor="ctr">
                    <a:solidFill>
                      <a:srgbClr val="F5E8E3"/>
                    </a:solidFill>
                  </a:tcPr>
                </a:tc>
                <a:extLst>
                  <a:ext uri="{0D108BD9-81ED-4DB2-BD59-A6C34878D82A}">
                    <a16:rowId xmlns:a16="http://schemas.microsoft.com/office/drawing/2014/main" val="1831713269"/>
                  </a:ext>
                </a:extLst>
              </a:tr>
              <a:tr h="330200">
                <a:tc>
                  <a:txBody>
                    <a:bodyPr/>
                    <a:lstStyle/>
                    <a:p>
                      <a:pPr algn="l"/>
                      <a:r>
                        <a:rPr lang="en-US" sz="1100" b="1">
                          <a:solidFill>
                            <a:srgbClr val="14213D"/>
                          </a:solidFill>
                          <a:latin typeface="Calibri" panose="020F0502020204030204" pitchFamily="34" charset="0"/>
                        </a:rPr>
                        <a:t>How work is organized</a:t>
                      </a:r>
                    </a:p>
                  </a:txBody>
                  <a:tcPr marL="101600" marR="76200" marT="38100" marB="38100" anchor="ctr">
                    <a:solidFill>
                      <a:srgbClr val="F3F5F8"/>
                    </a:solidFill>
                  </a:tcPr>
                </a:tc>
                <a:tc>
                  <a:txBody>
                    <a:bodyPr/>
                    <a:lstStyle/>
                    <a:p>
                      <a:pPr algn="l"/>
                      <a:r>
                        <a:rPr lang="en-US" sz="1100" b="0">
                          <a:solidFill>
                            <a:srgbClr val="1F2937"/>
                          </a:solidFill>
                          <a:latin typeface="Calibri" panose="020F0502020204030204" pitchFamily="34" charset="0"/>
                        </a:rPr>
                        <a:t>In departmental silos</a:t>
                      </a:r>
                    </a:p>
                  </a:txBody>
                  <a:tcPr marL="101600" marR="76200" marT="38100" marB="38100" anchor="ctr">
                    <a:solidFill>
                      <a:srgbClr val="E3F1F1"/>
                    </a:solidFill>
                  </a:tcPr>
                </a:tc>
                <a:tc gridSpan="3">
                  <a:txBody>
                    <a:bodyPr/>
                    <a:lstStyle/>
                    <a:p>
                      <a:pPr algn="ctr"/>
                      <a:r>
                        <a:rPr lang="en-US" sz="1100" b="0">
                          <a:solidFill>
                            <a:srgbClr val="1F2937"/>
                          </a:solidFill>
                          <a:latin typeface="Calibri" panose="020F0502020204030204" pitchFamily="34" charset="0"/>
                        </a:rPr>
                        <a:t>A hybrid: staff keep a functional home and also work for a project manager</a:t>
                      </a:r>
                    </a:p>
                  </a:txBody>
                  <a:tcPr marL="101600" marR="76200" marT="38100" marB="38100" anchor="ctr">
                    <a:solidFill>
                      <a:srgbClr val="E6EAF4"/>
                    </a:solidFill>
                  </a:tcPr>
                </a:tc>
                <a:tc hMerge="1">
                  <a:txBody>
                    <a:bodyPr/>
                    <a:lstStyle/>
                    <a:p>
                      <a:endParaRPr lang="en-US"/>
                    </a:p>
                  </a:txBody>
                  <a:tcPr marL="101600" marR="76200" marT="38100" marB="38100"/>
                </a:tc>
                <a:tc hMerge="1">
                  <a:txBody>
                    <a:bodyPr/>
                    <a:lstStyle/>
                    <a:p>
                      <a:endParaRPr lang="en-US"/>
                    </a:p>
                  </a:txBody>
                  <a:tcPr marL="101600" marR="76200" marT="38100" marB="38100"/>
                </a:tc>
                <a:tc>
                  <a:txBody>
                    <a:bodyPr/>
                    <a:lstStyle/>
                    <a:p>
                      <a:pPr algn="l"/>
                      <a:r>
                        <a:rPr lang="en-US" sz="1100" b="0">
                          <a:solidFill>
                            <a:srgbClr val="1F2937"/>
                          </a:solidFill>
                          <a:latin typeface="Calibri" panose="020F0502020204030204" pitchFamily="34" charset="0"/>
                        </a:rPr>
                        <a:t>Staff are tied to projects</a:t>
                      </a:r>
                    </a:p>
                  </a:txBody>
                  <a:tcPr marL="101600" marR="76200" marT="38100" marB="38100" anchor="ctr">
                    <a:solidFill>
                      <a:srgbClr val="F5E8E3"/>
                    </a:solidFill>
                  </a:tcPr>
                </a:tc>
                <a:extLst>
                  <a:ext uri="{0D108BD9-81ED-4DB2-BD59-A6C34878D82A}">
                    <a16:rowId xmlns:a16="http://schemas.microsoft.com/office/drawing/2014/main" val="4255931245"/>
                  </a:ext>
                </a:extLst>
              </a:tr>
              <a:tr h="330200">
                <a:tc>
                  <a:txBody>
                    <a:bodyPr/>
                    <a:lstStyle/>
                    <a:p>
                      <a:pPr algn="l"/>
                      <a:r>
                        <a:rPr lang="en-US" sz="1100" b="1">
                          <a:solidFill>
                            <a:srgbClr val="14213D"/>
                          </a:solidFill>
                          <a:latin typeface="Calibri" panose="020F0502020204030204" pitchFamily="34" charset="0"/>
                        </a:rPr>
                        <a:t>Watch out for</a:t>
                      </a:r>
                    </a:p>
                  </a:txBody>
                  <a:tcPr marL="101600" marR="76200" marT="38100" marB="38100" anchor="ctr">
                    <a:solidFill>
                      <a:srgbClr val="F3F5F8"/>
                    </a:solidFill>
                  </a:tcPr>
                </a:tc>
                <a:tc>
                  <a:txBody>
                    <a:bodyPr/>
                    <a:lstStyle/>
                    <a:p>
                      <a:pPr algn="l"/>
                      <a:r>
                        <a:rPr lang="en-US" sz="1100" b="0">
                          <a:solidFill>
                            <a:srgbClr val="1F2937"/>
                          </a:solidFill>
                          <a:latin typeface="Calibri" panose="020F0502020204030204" pitchFamily="34" charset="0"/>
                        </a:rPr>
                        <a:t>Slow cross-department work</a:t>
                      </a:r>
                    </a:p>
                  </a:txBody>
                  <a:tcPr marL="101600" marR="76200" marT="38100" marB="38100" anchor="ctr">
                    <a:solidFill>
                      <a:srgbClr val="E3F1F1"/>
                    </a:solidFill>
                  </a:tcPr>
                </a:tc>
                <a:tc gridSpan="3">
                  <a:txBody>
                    <a:bodyPr/>
                    <a:lstStyle/>
                    <a:p>
                      <a:pPr algn="ctr"/>
                      <a:r>
                        <a:rPr lang="en-US" sz="1100" b="0">
                          <a:solidFill>
                            <a:srgbClr val="1F2937"/>
                          </a:solidFill>
                          <a:latin typeface="Calibri" panose="020F0502020204030204" pitchFamily="34" charset="0"/>
                        </a:rPr>
                        <a:t>Two bosses and conflicting priorities</a:t>
                      </a:r>
                    </a:p>
                  </a:txBody>
                  <a:tcPr marL="101600" marR="76200" marT="38100" marB="38100" anchor="ctr">
                    <a:solidFill>
                      <a:srgbClr val="E6EAF4"/>
                    </a:solidFill>
                  </a:tcPr>
                </a:tc>
                <a:tc hMerge="1">
                  <a:txBody>
                    <a:bodyPr/>
                    <a:lstStyle/>
                    <a:p>
                      <a:endParaRPr lang="en-US"/>
                    </a:p>
                  </a:txBody>
                  <a:tcPr marL="101600" marR="76200" marT="38100" marB="38100"/>
                </a:tc>
                <a:tc hMerge="1">
                  <a:txBody>
                    <a:bodyPr/>
                    <a:lstStyle/>
                    <a:p>
                      <a:endParaRPr lang="en-US"/>
                    </a:p>
                  </a:txBody>
                  <a:tcPr marL="101600" marR="76200" marT="38100" marB="38100"/>
                </a:tc>
                <a:tc>
                  <a:txBody>
                    <a:bodyPr/>
                    <a:lstStyle/>
                    <a:p>
                      <a:pPr algn="l"/>
                      <a:r>
                        <a:rPr lang="en-US" sz="1100" b="0">
                          <a:solidFill>
                            <a:srgbClr val="1F2937"/>
                          </a:solidFill>
                          <a:latin typeface="Calibri" panose="020F0502020204030204" pitchFamily="34" charset="0"/>
                        </a:rPr>
                        <a:t>Job insecurity when projects end</a:t>
                      </a:r>
                    </a:p>
                  </a:txBody>
                  <a:tcPr marL="101600" marR="76200" marT="38100" marB="38100" anchor="ctr">
                    <a:solidFill>
                      <a:srgbClr val="F5E8E3"/>
                    </a:solidFill>
                  </a:tcPr>
                </a:tc>
                <a:extLst>
                  <a:ext uri="{0D108BD9-81ED-4DB2-BD59-A6C34878D82A}">
                    <a16:rowId xmlns:a16="http://schemas.microsoft.com/office/drawing/2014/main" val="3943790497"/>
                  </a:ext>
                </a:extLst>
              </a:tr>
            </a:tbl>
          </a:graphicData>
        </a:graphic>
      </p:graphicFrame>
      <p:sp>
        <p:nvSpPr>
          <p:cNvPr id="9" name="Rectangle: Rounded Corners 8">
            <a:extLst>
              <a:ext uri="{FF2B5EF4-FFF2-40B4-BE49-F238E27FC236}">
                <a16:creationId xmlns:a16="http://schemas.microsoft.com/office/drawing/2014/main" id="{F76E336D-1E7F-051F-2477-A39A4DCC1F29}"/>
              </a:ext>
            </a:extLst>
          </p:cNvPr>
          <p:cNvSpPr/>
          <p:nvPr/>
        </p:nvSpPr>
        <p:spPr>
          <a:xfrm>
            <a:off x="508000" y="5303520"/>
            <a:ext cx="11176000" cy="102108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624B834-D19F-EEFA-3F4B-46417C9EB03D}"/>
              </a:ext>
            </a:extLst>
          </p:cNvPr>
          <p:cNvSpPr txBox="1"/>
          <p:nvPr/>
        </p:nvSpPr>
        <p:spPr>
          <a:xfrm>
            <a:off x="711200" y="5303520"/>
            <a:ext cx="10769600" cy="1021080"/>
          </a:xfrm>
          <a:prstGeom prst="rect">
            <a:avLst/>
          </a:prstGeom>
          <a:noFill/>
        </p:spPr>
        <p:txBody>
          <a:bodyPr vert="horz" wrap="square" lIns="0" tIns="0" rIns="0" bIns="0" rtlCol="0" anchor="ctr">
            <a:noAutofit/>
          </a:bodyPr>
          <a:lstStyle/>
          <a:p>
            <a:r>
              <a:rPr lang="en-US" sz="1300" i="1">
                <a:solidFill>
                  <a:srgbClr val="14213D"/>
                </a:solidFill>
                <a:latin typeface="Calibri" panose="020F0502020204030204" pitchFamily="34" charset="0"/>
              </a:rPr>
              <a:t>Exam cue: in functional and weak matrix organizations, negotiate with the functional manager for people and use influence; in strong matrix and projectized organizations, the project manager has the authority.</a:t>
            </a:r>
          </a:p>
        </p:txBody>
      </p:sp>
      <p:sp>
        <p:nvSpPr>
          <p:cNvPr id="11"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6000669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9B39CE77-C849-A89D-B200-474B987C6040}"/>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Governance checkpoints: phase gates vs. iterations</a:t>
            </a:r>
          </a:p>
        </p:txBody>
      </p:sp>
      <p:sp>
        <p:nvSpPr>
          <p:cNvPr id="3" name="Tag">
            <a:extLst>
              <a:ext uri="{FF2B5EF4-FFF2-40B4-BE49-F238E27FC236}">
                <a16:creationId xmlns:a16="http://schemas.microsoft.com/office/drawing/2014/main" id="{272D04F7-C363-4422-686A-F2F21D26893C}"/>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A84A2E"/>
                </a:solidFill>
                <a:latin typeface="Calibri" panose="020F0502020204030204" pitchFamily="34" charset="0"/>
              </a:rPr>
              <a:t>Business Environment deep dive · Supports Business Environment Task 1 (Define and establish project governance)</a:t>
            </a:r>
          </a:p>
        </p:txBody>
      </p:sp>
      <p:graphicFrame>
        <p:nvGraphicFramePr>
          <p:cNvPr id="4" name="Table">
            <a:extLst>
              <a:ext uri="{FF2B5EF4-FFF2-40B4-BE49-F238E27FC236}">
                <a16:creationId xmlns:a16="http://schemas.microsoft.com/office/drawing/2014/main" id="{2A65B881-1451-15E2-6DF3-DCC48D5BC1C2}"/>
              </a:ext>
            </a:extLst>
          </p:cNvPr>
          <p:cNvGraphicFramePr>
            <a:graphicFrameLocks noGrp="1"/>
          </p:cNvGraphicFramePr>
          <p:nvPr>
            <p:extLst>
              <p:ext uri="{D42A27DB-BD31-4B8C-83A1-F6EECF244321}">
                <p14:modId xmlns:p14="http://schemas.microsoft.com/office/powerpoint/2010/main" val="1938003833"/>
              </p:ext>
            </p:extLst>
          </p:nvPr>
        </p:nvGraphicFramePr>
        <p:xfrm>
          <a:off x="508000" y="1422400"/>
          <a:ext cx="11176000" cy="4191000"/>
        </p:xfrm>
        <a:graphic>
          <a:graphicData uri="http://schemas.openxmlformats.org/drawingml/2006/table">
            <a:tbl>
              <a:tblPr firstRow="1" bandRow="1">
                <a:tableStyleId>{2D5ABB26-0587-4C30-8999-92F81FD0307C}</a:tableStyleId>
              </a:tblPr>
              <a:tblGrid>
                <a:gridCol w="5588000">
                  <a:extLst>
                    <a:ext uri="{9D8B030D-6E8A-4147-A177-3AD203B41FA5}">
                      <a16:colId xmlns:a16="http://schemas.microsoft.com/office/drawing/2014/main" val="274775746"/>
                    </a:ext>
                  </a:extLst>
                </a:gridCol>
                <a:gridCol w="5588000">
                  <a:extLst>
                    <a:ext uri="{9D8B030D-6E8A-4147-A177-3AD203B41FA5}">
                      <a16:colId xmlns:a16="http://schemas.microsoft.com/office/drawing/2014/main" val="1804337821"/>
                    </a:ext>
                  </a:extLst>
                </a:gridCol>
              </a:tblGrid>
              <a:tr h="838200">
                <a:tc>
                  <a:txBody>
                    <a:bodyPr/>
                    <a:lstStyle/>
                    <a:p>
                      <a:r>
                        <a:rPr lang="en-US" sz="1600" b="1">
                          <a:solidFill>
                            <a:srgbClr val="FFFFFF"/>
                          </a:solidFill>
                          <a:latin typeface="Calibri" panose="020F0502020204030204" pitchFamily="34" charset="0"/>
                        </a:rPr>
                        <a:t>Predictive</a:t>
                      </a:r>
                    </a:p>
                  </a:txBody>
                  <a:tcPr marL="127000" marR="101600" marT="63500" marB="63500" anchor="ctr">
                    <a:solidFill>
                      <a:srgbClr val="A84A2E"/>
                    </a:solidFill>
                  </a:tcPr>
                </a:tc>
                <a:tc>
                  <a:txBody>
                    <a:bodyPr/>
                    <a:lstStyle/>
                    <a:p>
                      <a:r>
                        <a:rPr lang="en-US" sz="1600" b="1">
                          <a:solidFill>
                            <a:srgbClr val="FFFFFF"/>
                          </a:solidFill>
                          <a:latin typeface="Calibri" panose="020F0502020204030204" pitchFamily="34" charset="0"/>
                        </a:rPr>
                        <a:t>Adaptive</a:t>
                      </a:r>
                    </a:p>
                  </a:txBody>
                  <a:tcPr marL="127000" marR="101600" marT="63500" marB="63500" anchor="ctr">
                    <a:solidFill>
                      <a:srgbClr val="34509A"/>
                    </a:solidFill>
                  </a:tcPr>
                </a:tc>
                <a:extLst>
                  <a:ext uri="{0D108BD9-81ED-4DB2-BD59-A6C34878D82A}">
                    <a16:rowId xmlns:a16="http://schemas.microsoft.com/office/drawing/2014/main" val="815303915"/>
                  </a:ext>
                </a:extLst>
              </a:tr>
              <a:tr h="838200">
                <a:tc>
                  <a:txBody>
                    <a:bodyPr/>
                    <a:lstStyle/>
                    <a:p>
                      <a:r>
                        <a:rPr lang="en-US" sz="1600">
                          <a:solidFill>
                            <a:srgbClr val="1F2937"/>
                          </a:solidFill>
                          <a:latin typeface="Calibri" panose="020F0502020204030204" pitchFamily="34" charset="0"/>
                        </a:rPr>
                        <a:t>Split work into phases</a:t>
                      </a:r>
                    </a:p>
                  </a:txBody>
                  <a:tcPr marL="127000" marR="101600" marT="63500" marB="63500" anchor="ctr">
                    <a:solidFill>
                      <a:srgbClr val="FFFFFF"/>
                    </a:solidFill>
                  </a:tcPr>
                </a:tc>
                <a:tc>
                  <a:txBody>
                    <a:bodyPr/>
                    <a:lstStyle/>
                    <a:p>
                      <a:r>
                        <a:rPr lang="en-US" sz="1600">
                          <a:solidFill>
                            <a:srgbClr val="1F2937"/>
                          </a:solidFill>
                          <a:latin typeface="Calibri" panose="020F0502020204030204" pitchFamily="34" charset="0"/>
                        </a:rPr>
                        <a:t>Split work into iterations</a:t>
                      </a:r>
                    </a:p>
                  </a:txBody>
                  <a:tcPr marL="127000" marR="101600" marT="63500" marB="63500" anchor="ctr">
                    <a:solidFill>
                      <a:srgbClr val="FFFFFF"/>
                    </a:solidFill>
                  </a:tcPr>
                </a:tc>
                <a:extLst>
                  <a:ext uri="{0D108BD9-81ED-4DB2-BD59-A6C34878D82A}">
                    <a16:rowId xmlns:a16="http://schemas.microsoft.com/office/drawing/2014/main" val="575165008"/>
                  </a:ext>
                </a:extLst>
              </a:tr>
              <a:tr h="838200">
                <a:tc>
                  <a:txBody>
                    <a:bodyPr/>
                    <a:lstStyle/>
                    <a:p>
                      <a:r>
                        <a:rPr lang="en-US" sz="1600">
                          <a:solidFill>
                            <a:srgbClr val="1F2937"/>
                          </a:solidFill>
                          <a:latin typeface="Calibri" panose="020F0502020204030204" pitchFamily="34" charset="0"/>
                        </a:rPr>
                        <a:t>Review results at a phase gate, also called a governance gate, kill point, or tollgate</a:t>
                      </a:r>
                    </a:p>
                  </a:txBody>
                  <a:tcPr marL="127000" marR="101600" marT="63500" marB="63500" anchor="ctr">
                    <a:solidFill>
                      <a:srgbClr val="F3F5F8"/>
                    </a:solidFill>
                  </a:tcPr>
                </a:tc>
                <a:tc>
                  <a:txBody>
                    <a:bodyPr/>
                    <a:lstStyle/>
                    <a:p>
                      <a:r>
                        <a:rPr lang="en-US" sz="1600">
                          <a:solidFill>
                            <a:srgbClr val="1F2937"/>
                          </a:solidFill>
                          <a:latin typeface="Calibri" panose="020F0502020204030204" pitchFamily="34" charset="0"/>
                        </a:rPr>
                        <a:t>Review results at the end of each iteration</a:t>
                      </a:r>
                    </a:p>
                  </a:txBody>
                  <a:tcPr marL="127000" marR="101600" marT="63500" marB="63500" anchor="ctr">
                    <a:solidFill>
                      <a:srgbClr val="F3F5F8"/>
                    </a:solidFill>
                  </a:tcPr>
                </a:tc>
                <a:extLst>
                  <a:ext uri="{0D108BD9-81ED-4DB2-BD59-A6C34878D82A}">
                    <a16:rowId xmlns:a16="http://schemas.microsoft.com/office/drawing/2014/main" val="4092055907"/>
                  </a:ext>
                </a:extLst>
              </a:tr>
              <a:tr h="838200">
                <a:tc>
                  <a:txBody>
                    <a:bodyPr/>
                    <a:lstStyle/>
                    <a:p>
                      <a:r>
                        <a:rPr lang="en-US" sz="1600">
                          <a:solidFill>
                            <a:srgbClr val="1F2937"/>
                          </a:solidFill>
                          <a:latin typeface="Calibri" panose="020F0502020204030204" pitchFamily="34" charset="0"/>
                        </a:rPr>
                        <a:t>Decide: continue to the next phase, continue with modifications, or end the project or program</a:t>
                      </a:r>
                    </a:p>
                  </a:txBody>
                  <a:tcPr marL="127000" marR="101600" marT="63500" marB="63500" anchor="ctr">
                    <a:solidFill>
                      <a:srgbClr val="FFFFFF"/>
                    </a:solidFill>
                  </a:tcPr>
                </a:tc>
                <a:tc>
                  <a:txBody>
                    <a:bodyPr/>
                    <a:lstStyle/>
                    <a:p>
                      <a:r>
                        <a:rPr lang="en-US" sz="1600">
                          <a:solidFill>
                            <a:srgbClr val="1F2937"/>
                          </a:solidFill>
                          <a:latin typeface="Calibri" panose="020F0502020204030204" pitchFamily="34" charset="0"/>
                        </a:rPr>
                        <a:t>Gather feedback and act to improve value in the next iteration</a:t>
                      </a:r>
                    </a:p>
                  </a:txBody>
                  <a:tcPr marL="127000" marR="101600" marT="63500" marB="63500" anchor="ctr">
                    <a:solidFill>
                      <a:srgbClr val="FFFFFF"/>
                    </a:solidFill>
                  </a:tcPr>
                </a:tc>
                <a:extLst>
                  <a:ext uri="{0D108BD9-81ED-4DB2-BD59-A6C34878D82A}">
                    <a16:rowId xmlns:a16="http://schemas.microsoft.com/office/drawing/2014/main" val="2284890245"/>
                  </a:ext>
                </a:extLst>
              </a:tr>
              <a:tr h="838200">
                <a:tc>
                  <a:txBody>
                    <a:bodyPr/>
                    <a:lstStyle/>
                    <a:p>
                      <a:endParaRPr lang="en-US" sz="1600">
                        <a:solidFill>
                          <a:srgbClr val="1F2937"/>
                        </a:solidFill>
                        <a:latin typeface="Calibri" panose="020F0502020204030204" pitchFamily="34" charset="0"/>
                      </a:endParaRPr>
                    </a:p>
                  </a:txBody>
                  <a:tcPr marL="127000" marR="101600" marT="63500" marB="63500" anchor="ctr">
                    <a:solidFill>
                      <a:srgbClr val="F3F5F8"/>
                    </a:solidFill>
                  </a:tcPr>
                </a:tc>
                <a:tc>
                  <a:txBody>
                    <a:bodyPr/>
                    <a:lstStyle/>
                    <a:p>
                      <a:r>
                        <a:rPr lang="en-US" sz="1600">
                          <a:solidFill>
                            <a:srgbClr val="1F2937"/>
                          </a:solidFill>
                          <a:latin typeface="Calibri" panose="020F0502020204030204" pitchFamily="34" charset="0"/>
                        </a:rPr>
                        <a:t>Continue until the customer’s acceptance criteria (for example, the definition of done) are met, or the project ends</a:t>
                      </a:r>
                    </a:p>
                  </a:txBody>
                  <a:tcPr marL="127000" marR="101600" marT="63500" marB="63500" anchor="ctr">
                    <a:solidFill>
                      <a:srgbClr val="F3F5F8"/>
                    </a:solidFill>
                  </a:tcPr>
                </a:tc>
                <a:extLst>
                  <a:ext uri="{0D108BD9-81ED-4DB2-BD59-A6C34878D82A}">
                    <a16:rowId xmlns:a16="http://schemas.microsoft.com/office/drawing/2014/main" val="1990445670"/>
                  </a:ext>
                </a:extLst>
              </a:tr>
            </a:tbl>
          </a:graphicData>
        </a:graphic>
      </p:graphicFrame>
      <p:sp>
        <p:nvSpPr>
          <p:cNvPr id="5" name="Footer">
            <a:extLst>
              <a:ext uri="{FF2B5EF4-FFF2-40B4-BE49-F238E27FC236}">
                <a16:creationId xmlns:a16="http://schemas.microsoft.com/office/drawing/2014/main" id="{604586D3-C3B9-7B65-5B20-4DC5801AEB44}"/>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Governance of Portfolios, Programs, and Projects: A Practice Guide (2016); PMI, PMBOK® Guide — Seventh Edition, Development Approach and Life Cycle Performance Domain</a:t>
            </a:r>
          </a:p>
        </p:txBody>
      </p:sp>
      <p:sp>
        <p:nvSpPr>
          <p:cNvPr id="6" name="SlideNum">
            <a:extLst>
              <a:ext uri="{FF2B5EF4-FFF2-40B4-BE49-F238E27FC236}">
                <a16:creationId xmlns:a16="http://schemas.microsoft.com/office/drawing/2014/main" id="{1E9404BA-9C4F-C9B9-98E2-4CC688445AF1}"/>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68</a:t>
            </a:r>
          </a:p>
        </p:txBody>
      </p:sp>
      <p:sp>
        <p:nvSpPr>
          <p:cNvPr id="7"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65933179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944174D1-5250-E708-7629-034439B66786}"/>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Governance defines when to escalate</a:t>
            </a:r>
          </a:p>
        </p:txBody>
      </p:sp>
      <p:sp>
        <p:nvSpPr>
          <p:cNvPr id="3" name="Tag">
            <a:extLst>
              <a:ext uri="{FF2B5EF4-FFF2-40B4-BE49-F238E27FC236}">
                <a16:creationId xmlns:a16="http://schemas.microsoft.com/office/drawing/2014/main" id="{9781E892-6627-7ED8-3A27-70C25F525E89}"/>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A84A2E"/>
                </a:solidFill>
                <a:latin typeface="Calibri" panose="020F0502020204030204" pitchFamily="34" charset="0"/>
              </a:rPr>
              <a:t>Business Environment deep dive · Supports Business Environment Task 1 (Outline escalation paths and thresholds) and Task 4 (issues)</a:t>
            </a:r>
          </a:p>
        </p:txBody>
      </p:sp>
      <p:sp>
        <p:nvSpPr>
          <p:cNvPr id="4" name="Rectangle: Rounded Corners 3">
            <a:extLst>
              <a:ext uri="{FF2B5EF4-FFF2-40B4-BE49-F238E27FC236}">
                <a16:creationId xmlns:a16="http://schemas.microsoft.com/office/drawing/2014/main" id="{CFEC78ED-4ED6-F470-D1AD-4E126A7A9970}"/>
              </a:ext>
            </a:extLst>
          </p:cNvPr>
          <p:cNvSpPr/>
          <p:nvPr/>
        </p:nvSpPr>
        <p:spPr>
          <a:xfrm>
            <a:off x="508000" y="1422400"/>
            <a:ext cx="5334000" cy="19050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0BFD304-DAD0-E820-CE5C-9129CD500689}"/>
              </a:ext>
            </a:extLst>
          </p:cNvPr>
          <p:cNvSpPr txBox="1"/>
          <p:nvPr/>
        </p:nvSpPr>
        <p:spPr>
          <a:xfrm>
            <a:off x="711200" y="1625600"/>
            <a:ext cx="4927600" cy="1498600"/>
          </a:xfrm>
          <a:prstGeom prst="rect">
            <a:avLst/>
          </a:prstGeom>
          <a:noFill/>
        </p:spPr>
        <p:txBody>
          <a:bodyPr vert="horz" wrap="square" lIns="0" tIns="0" rIns="0" bIns="0" rtlCol="0" anchor="t">
            <a:noAutofit/>
          </a:bodyPr>
          <a:lstStyle/>
          <a:p>
            <a:pPr>
              <a:spcAft>
                <a:spcPts val="600"/>
              </a:spcAft>
            </a:pPr>
            <a:r>
              <a:rPr lang="en-US" b="1">
                <a:solidFill>
                  <a:srgbClr val="A84A2E"/>
                </a:solidFill>
                <a:latin typeface="Calibri" panose="020F0502020204030204" pitchFamily="34" charset="0"/>
              </a:rPr>
              <a:t>Outside tolerance: escalate</a:t>
            </a:r>
          </a:p>
          <a:p>
            <a:r>
              <a:rPr lang="en-US" sz="1500">
                <a:solidFill>
                  <a:srgbClr val="1F2937"/>
                </a:solidFill>
                <a:latin typeface="Calibri" panose="020F0502020204030204" pitchFamily="34" charset="0"/>
              </a:rPr>
              <a:t>For problems beyond the project’s thresholds or tolerance levels, escalate to the responsible stakeholder who is authorized to act.</a:t>
            </a:r>
          </a:p>
        </p:txBody>
      </p:sp>
      <p:sp>
        <p:nvSpPr>
          <p:cNvPr id="6" name="Rectangle: Rounded Corners 5">
            <a:extLst>
              <a:ext uri="{FF2B5EF4-FFF2-40B4-BE49-F238E27FC236}">
                <a16:creationId xmlns:a16="http://schemas.microsoft.com/office/drawing/2014/main" id="{646C2051-F45A-A9A6-6483-9CEE604C10A3}"/>
              </a:ext>
            </a:extLst>
          </p:cNvPr>
          <p:cNvSpPr/>
          <p:nvPr/>
        </p:nvSpPr>
        <p:spPr>
          <a:xfrm>
            <a:off x="508000" y="3530600"/>
            <a:ext cx="5334000" cy="19050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9D877BB-F8EE-A81C-CE17-0A93FE40AD74}"/>
              </a:ext>
            </a:extLst>
          </p:cNvPr>
          <p:cNvSpPr txBox="1"/>
          <p:nvPr/>
        </p:nvSpPr>
        <p:spPr>
          <a:xfrm>
            <a:off x="711200" y="3733800"/>
            <a:ext cx="4927600" cy="1498600"/>
          </a:xfrm>
          <a:prstGeom prst="rect">
            <a:avLst/>
          </a:prstGeom>
          <a:noFill/>
        </p:spPr>
        <p:txBody>
          <a:bodyPr vert="horz" wrap="square" lIns="0" tIns="0" rIns="0" bIns="0" rtlCol="0" anchor="t">
            <a:noAutofit/>
          </a:bodyPr>
          <a:lstStyle/>
          <a:p>
            <a:pPr>
              <a:spcAft>
                <a:spcPts val="600"/>
              </a:spcAft>
            </a:pPr>
            <a:r>
              <a:rPr lang="en-US" b="1">
                <a:solidFill>
                  <a:srgbClr val="0F7C80"/>
                </a:solidFill>
                <a:latin typeface="Calibri" panose="020F0502020204030204" pitchFamily="34" charset="0"/>
              </a:rPr>
              <a:t>Within tolerance: resolve with the team</a:t>
            </a:r>
          </a:p>
          <a:p>
            <a:r>
              <a:rPr lang="en-US" sz="1500">
                <a:solidFill>
                  <a:srgbClr val="1F2937"/>
                </a:solidFill>
                <a:latin typeface="Calibri" panose="020F0502020204030204" pitchFamily="34" charset="0"/>
              </a:rPr>
              <a:t>If an issue is within the threshold, work with the team to find a resolution. Don’t escalate what the team is empowered to solve.</a:t>
            </a:r>
          </a:p>
        </p:txBody>
      </p:sp>
      <p:sp>
        <p:nvSpPr>
          <p:cNvPr id="8" name="ToleranceRegion">
            <a:extLst>
              <a:ext uri="{FF2B5EF4-FFF2-40B4-BE49-F238E27FC236}">
                <a16:creationId xmlns:a16="http://schemas.microsoft.com/office/drawing/2014/main" id="{58EC5F37-6EEE-A86F-886D-56DEA31F1181}"/>
              </a:ext>
            </a:extLst>
          </p:cNvPr>
          <p:cNvSpPr/>
          <p:nvPr/>
        </p:nvSpPr>
        <p:spPr>
          <a:xfrm>
            <a:off x="6858000" y="2413000"/>
            <a:ext cx="4318001" cy="3175001"/>
          </a:xfrm>
          <a:custGeom>
            <a:avLst/>
            <a:gdLst/>
            <a:ahLst/>
            <a:cxnLst/>
            <a:rect l="0" t="0" r="0" b="0"/>
            <a:pathLst>
              <a:path w="4318001" h="3175001">
                <a:moveTo>
                  <a:pt x="0" y="3175000"/>
                </a:moveTo>
                <a:lnTo>
                  <a:pt x="0" y="0"/>
                </a:lnTo>
                <a:lnTo>
                  <a:pt x="215900" y="2395"/>
                </a:lnTo>
                <a:lnTo>
                  <a:pt x="431800" y="12640"/>
                </a:lnTo>
                <a:lnTo>
                  <a:pt x="647700" y="33447"/>
                </a:lnTo>
                <a:lnTo>
                  <a:pt x="863600" y="66714"/>
                </a:lnTo>
                <a:lnTo>
                  <a:pt x="1079500" y="113973"/>
                </a:lnTo>
                <a:lnTo>
                  <a:pt x="1295400" y="176537"/>
                </a:lnTo>
                <a:lnTo>
                  <a:pt x="1511300" y="255568"/>
                </a:lnTo>
                <a:lnTo>
                  <a:pt x="1727200" y="352118"/>
                </a:lnTo>
                <a:lnTo>
                  <a:pt x="1943100" y="467147"/>
                </a:lnTo>
                <a:lnTo>
                  <a:pt x="2159000" y="601550"/>
                </a:lnTo>
                <a:lnTo>
                  <a:pt x="2374900" y="756161"/>
                </a:lnTo>
                <a:lnTo>
                  <a:pt x="2590800" y="931766"/>
                </a:lnTo>
                <a:lnTo>
                  <a:pt x="2806700" y="1129109"/>
                </a:lnTo>
                <a:lnTo>
                  <a:pt x="3022600" y="1348898"/>
                </a:lnTo>
                <a:lnTo>
                  <a:pt x="3238500" y="1591808"/>
                </a:lnTo>
                <a:lnTo>
                  <a:pt x="3454400" y="1858488"/>
                </a:lnTo>
                <a:lnTo>
                  <a:pt x="3670300" y="2149558"/>
                </a:lnTo>
                <a:lnTo>
                  <a:pt x="3886200" y="2465618"/>
                </a:lnTo>
                <a:lnTo>
                  <a:pt x="4102100" y="2807245"/>
                </a:lnTo>
                <a:lnTo>
                  <a:pt x="4318000" y="3175000"/>
                </a:lnTo>
                <a:close/>
              </a:path>
            </a:pathLst>
          </a:custGeom>
          <a:solidFill>
            <a:srgbClr val="E6EAF4"/>
          </a:solidFill>
          <a:ln w="25400">
            <a:solidFill>
              <a:srgbClr val="3450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6CCFFF54-AEA2-7532-3C16-81538708119C}"/>
              </a:ext>
            </a:extLst>
          </p:cNvPr>
          <p:cNvCxnSpPr/>
          <p:nvPr/>
        </p:nvCxnSpPr>
        <p:spPr>
          <a:xfrm flipV="1">
            <a:off x="6858000" y="1905000"/>
            <a:ext cx="0" cy="3683000"/>
          </a:xfrm>
          <a:prstGeom prst="line">
            <a:avLst/>
          </a:prstGeom>
          <a:ln w="31750">
            <a:solidFill>
              <a:srgbClr val="14213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26B739E-55A0-59F2-7CF3-D94A955734A7}"/>
              </a:ext>
            </a:extLst>
          </p:cNvPr>
          <p:cNvCxnSpPr/>
          <p:nvPr/>
        </p:nvCxnSpPr>
        <p:spPr>
          <a:xfrm>
            <a:off x="6858000" y="5588000"/>
            <a:ext cx="4826000" cy="0"/>
          </a:xfrm>
          <a:prstGeom prst="line">
            <a:avLst/>
          </a:prstGeom>
          <a:ln w="31750">
            <a:solidFill>
              <a:srgbClr val="14213D"/>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D4C50-D43F-860D-E51C-86C509229FDC}"/>
              </a:ext>
            </a:extLst>
          </p:cNvPr>
          <p:cNvSpPr txBox="1"/>
          <p:nvPr/>
        </p:nvSpPr>
        <p:spPr>
          <a:xfrm rot="16200000">
            <a:off x="5689600" y="3949700"/>
            <a:ext cx="1778000" cy="228600"/>
          </a:xfrm>
          <a:prstGeom prst="rect">
            <a:avLst/>
          </a:prstGeom>
          <a:noFill/>
        </p:spPr>
        <p:txBody>
          <a:bodyPr vert="horz" wrap="square" lIns="0" tIns="0" rIns="0" bIns="0" rtlCol="0" anchor="t">
            <a:noAutofit/>
          </a:bodyPr>
          <a:lstStyle/>
          <a:p>
            <a:pPr algn="ctr"/>
            <a:r>
              <a:rPr lang="en-US" sz="1300" b="1">
                <a:solidFill>
                  <a:srgbClr val="14213D"/>
                </a:solidFill>
                <a:latin typeface="Calibri" panose="020F0502020204030204" pitchFamily="34" charset="0"/>
              </a:rPr>
              <a:t>AUTHORITY</a:t>
            </a:r>
          </a:p>
        </p:txBody>
      </p:sp>
      <p:sp>
        <p:nvSpPr>
          <p:cNvPr id="12" name="TextBox 11">
            <a:extLst>
              <a:ext uri="{FF2B5EF4-FFF2-40B4-BE49-F238E27FC236}">
                <a16:creationId xmlns:a16="http://schemas.microsoft.com/office/drawing/2014/main" id="{9BB0398E-E934-6AFC-B8EB-F1510A6264E5}"/>
              </a:ext>
            </a:extLst>
          </p:cNvPr>
          <p:cNvSpPr txBox="1"/>
          <p:nvPr/>
        </p:nvSpPr>
        <p:spPr>
          <a:xfrm>
            <a:off x="6858000" y="5689600"/>
            <a:ext cx="4318000" cy="228600"/>
          </a:xfrm>
          <a:prstGeom prst="rect">
            <a:avLst/>
          </a:prstGeom>
          <a:noFill/>
        </p:spPr>
        <p:txBody>
          <a:bodyPr vert="horz" wrap="square" lIns="0" tIns="0" rIns="0" bIns="0" rtlCol="0" anchor="t">
            <a:noAutofit/>
          </a:bodyPr>
          <a:lstStyle/>
          <a:p>
            <a:pPr algn="ctr"/>
            <a:r>
              <a:rPr lang="en-US" sz="1300" b="1">
                <a:solidFill>
                  <a:srgbClr val="14213D"/>
                </a:solidFill>
                <a:latin typeface="Calibri" panose="020F0502020204030204" pitchFamily="34" charset="0"/>
              </a:rPr>
              <a:t>SIZE OF THE PROBLEM</a:t>
            </a:r>
          </a:p>
        </p:txBody>
      </p:sp>
      <p:sp>
        <p:nvSpPr>
          <p:cNvPr id="13" name="TextBox 12">
            <a:extLst>
              <a:ext uri="{FF2B5EF4-FFF2-40B4-BE49-F238E27FC236}">
                <a16:creationId xmlns:a16="http://schemas.microsoft.com/office/drawing/2014/main" id="{B977282D-712C-B8F6-E667-2EDFAF21B8FD}"/>
              </a:ext>
            </a:extLst>
          </p:cNvPr>
          <p:cNvSpPr txBox="1"/>
          <p:nvPr/>
        </p:nvSpPr>
        <p:spPr>
          <a:xfrm>
            <a:off x="7620000" y="4064000"/>
            <a:ext cx="2032000" cy="279400"/>
          </a:xfrm>
          <a:prstGeom prst="rect">
            <a:avLst/>
          </a:prstGeom>
          <a:noFill/>
        </p:spPr>
        <p:txBody>
          <a:bodyPr vert="horz" wrap="square" lIns="0" tIns="0" rIns="0" bIns="0" rtlCol="0" anchor="t">
            <a:noAutofit/>
          </a:bodyPr>
          <a:lstStyle/>
          <a:p>
            <a:pPr algn="ctr"/>
            <a:r>
              <a:rPr lang="en-US" sz="1600" b="1">
                <a:solidFill>
                  <a:srgbClr val="34509A"/>
                </a:solidFill>
                <a:latin typeface="Calibri" panose="020F0502020204030204" pitchFamily="34" charset="0"/>
              </a:rPr>
              <a:t>TOLERANCE</a:t>
            </a:r>
          </a:p>
        </p:txBody>
      </p:sp>
      <p:sp>
        <p:nvSpPr>
          <p:cNvPr id="14" name="TextBox 13">
            <a:extLst>
              <a:ext uri="{FF2B5EF4-FFF2-40B4-BE49-F238E27FC236}">
                <a16:creationId xmlns:a16="http://schemas.microsoft.com/office/drawing/2014/main" id="{1C7A6FCD-CCEA-A924-7D05-14452D95F4D1}"/>
              </a:ext>
            </a:extLst>
          </p:cNvPr>
          <p:cNvSpPr txBox="1"/>
          <p:nvPr/>
        </p:nvSpPr>
        <p:spPr>
          <a:xfrm>
            <a:off x="6985000" y="5156200"/>
            <a:ext cx="1524000" cy="254000"/>
          </a:xfrm>
          <a:prstGeom prst="rect">
            <a:avLst/>
          </a:prstGeom>
          <a:noFill/>
        </p:spPr>
        <p:txBody>
          <a:bodyPr vert="horz" wrap="square" lIns="0" tIns="0" rIns="0" bIns="0" rtlCol="0" anchor="t">
            <a:noAutofit/>
          </a:bodyPr>
          <a:lstStyle/>
          <a:p>
            <a:r>
              <a:rPr lang="en-US" sz="1400" b="1">
                <a:solidFill>
                  <a:srgbClr val="0F7C80"/>
                </a:solidFill>
                <a:latin typeface="Calibri" panose="020F0502020204030204" pitchFamily="34" charset="0"/>
              </a:rPr>
              <a:t>Project team</a:t>
            </a:r>
          </a:p>
        </p:txBody>
      </p:sp>
      <p:sp>
        <p:nvSpPr>
          <p:cNvPr id="15" name="TextBox 14">
            <a:extLst>
              <a:ext uri="{FF2B5EF4-FFF2-40B4-BE49-F238E27FC236}">
                <a16:creationId xmlns:a16="http://schemas.microsoft.com/office/drawing/2014/main" id="{47046EC6-6C38-D115-C7C3-30895A21AB46}"/>
              </a:ext>
            </a:extLst>
          </p:cNvPr>
          <p:cNvSpPr txBox="1"/>
          <p:nvPr/>
        </p:nvSpPr>
        <p:spPr>
          <a:xfrm>
            <a:off x="6985000" y="2819400"/>
            <a:ext cx="1524000" cy="508000"/>
          </a:xfrm>
          <a:prstGeom prst="rect">
            <a:avLst/>
          </a:prstGeom>
          <a:noFill/>
        </p:spPr>
        <p:txBody>
          <a:bodyPr vert="horz" wrap="square" lIns="0" tIns="0" rIns="0" bIns="0" rtlCol="0" anchor="t">
            <a:noAutofit/>
          </a:bodyPr>
          <a:lstStyle/>
          <a:p>
            <a:r>
              <a:rPr lang="en-US" sz="1400" b="1">
                <a:solidFill>
                  <a:srgbClr val="A84A2E"/>
                </a:solidFill>
                <a:latin typeface="Calibri" panose="020F0502020204030204" pitchFamily="34" charset="0"/>
              </a:rPr>
              <a:t>Responsible</a:t>
            </a:r>
          </a:p>
          <a:p>
            <a:r>
              <a:rPr lang="en-US" sz="1400" b="1">
                <a:solidFill>
                  <a:srgbClr val="A84A2E"/>
                </a:solidFill>
                <a:latin typeface="Calibri" panose="020F0502020204030204" pitchFamily="34" charset="0"/>
              </a:rPr>
              <a:t>stakeholders</a:t>
            </a:r>
          </a:p>
        </p:txBody>
      </p:sp>
      <p:sp>
        <p:nvSpPr>
          <p:cNvPr id="16" name="TextBox 15">
            <a:extLst>
              <a:ext uri="{FF2B5EF4-FFF2-40B4-BE49-F238E27FC236}">
                <a16:creationId xmlns:a16="http://schemas.microsoft.com/office/drawing/2014/main" id="{139AEE06-95DF-DF2E-31E2-525EE04CE5B1}"/>
              </a:ext>
            </a:extLst>
          </p:cNvPr>
          <p:cNvSpPr txBox="1"/>
          <p:nvPr/>
        </p:nvSpPr>
        <p:spPr>
          <a:xfrm>
            <a:off x="9779000" y="2387600"/>
            <a:ext cx="1905000" cy="508000"/>
          </a:xfrm>
          <a:prstGeom prst="rect">
            <a:avLst/>
          </a:prstGeom>
          <a:noFill/>
        </p:spPr>
        <p:txBody>
          <a:bodyPr vert="horz" wrap="square" lIns="0" tIns="0" rIns="0" bIns="0" rtlCol="0" anchor="t">
            <a:noAutofit/>
          </a:bodyPr>
          <a:lstStyle/>
          <a:p>
            <a:r>
              <a:rPr lang="en-US" sz="1400" i="1">
                <a:solidFill>
                  <a:srgbClr val="A84A2E"/>
                </a:solidFill>
                <a:latin typeface="Calibri" panose="020F0502020204030204" pitchFamily="34" charset="0"/>
              </a:rPr>
              <a:t>Beyond the curve:</a:t>
            </a:r>
          </a:p>
          <a:p>
            <a:r>
              <a:rPr lang="en-US" sz="1400" i="1">
                <a:solidFill>
                  <a:srgbClr val="A84A2E"/>
                </a:solidFill>
                <a:latin typeface="Calibri" panose="020F0502020204030204" pitchFamily="34" charset="0"/>
              </a:rPr>
              <a:t>escalate</a:t>
            </a:r>
          </a:p>
        </p:txBody>
      </p:sp>
      <p:sp>
        <p:nvSpPr>
          <p:cNvPr id="17" name="Footer">
            <a:extLst>
              <a:ext uri="{FF2B5EF4-FFF2-40B4-BE49-F238E27FC236}">
                <a16:creationId xmlns:a16="http://schemas.microsoft.com/office/drawing/2014/main" id="{15AC391A-5381-CE71-BCBE-4C29189A3EB5}"/>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Governance of Portfolios, Programs, and Projects: A Practice Guide (2016)</a:t>
            </a:r>
          </a:p>
        </p:txBody>
      </p:sp>
      <p:sp>
        <p:nvSpPr>
          <p:cNvPr id="18" name="SlideNum">
            <a:extLst>
              <a:ext uri="{FF2B5EF4-FFF2-40B4-BE49-F238E27FC236}">
                <a16:creationId xmlns:a16="http://schemas.microsoft.com/office/drawing/2014/main" id="{345D413B-E039-5840-D5EF-A4DABB1BF80C}"/>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69</a:t>
            </a:r>
          </a:p>
        </p:txBody>
      </p:sp>
      <p:sp>
        <p:nvSpPr>
          <p:cNvPr id="19"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29539164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CDFCA79-A960-8154-B588-B6C2F29DABA3}"/>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The PMO centralizes how projects are run</a:t>
            </a:r>
          </a:p>
        </p:txBody>
      </p:sp>
      <p:sp>
        <p:nvSpPr>
          <p:cNvPr id="3" name="Tag">
            <a:extLst>
              <a:ext uri="{FF2B5EF4-FFF2-40B4-BE49-F238E27FC236}">
                <a16:creationId xmlns:a16="http://schemas.microsoft.com/office/drawing/2014/main" id="{CDF2C0FA-34A5-5006-37A0-6D369D7884FE}"/>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A84A2E"/>
                </a:solidFill>
                <a:latin typeface="Calibri" panose="020F0502020204030204" pitchFamily="34" charset="0"/>
              </a:rPr>
              <a:t>Business Environment deep dive · Supports Process Task 1 (development approach) and Business Environment Task 1 (governance)</a:t>
            </a:r>
          </a:p>
        </p:txBody>
      </p:sp>
      <p:sp>
        <p:nvSpPr>
          <p:cNvPr id="4" name="TextBox 3">
            <a:extLst>
              <a:ext uri="{FF2B5EF4-FFF2-40B4-BE49-F238E27FC236}">
                <a16:creationId xmlns:a16="http://schemas.microsoft.com/office/drawing/2014/main" id="{1CDA8699-2FF3-A6D8-66EA-396F598E02F6}"/>
              </a:ext>
            </a:extLst>
          </p:cNvPr>
          <p:cNvSpPr txBox="1"/>
          <p:nvPr/>
        </p:nvSpPr>
        <p:spPr>
          <a:xfrm>
            <a:off x="508000" y="1371600"/>
            <a:ext cx="11176000" cy="304800"/>
          </a:xfrm>
          <a:prstGeom prst="rect">
            <a:avLst/>
          </a:prstGeom>
          <a:noFill/>
        </p:spPr>
        <p:txBody>
          <a:bodyPr vert="horz" wrap="square" lIns="0" tIns="0" rIns="0" bIns="0" rtlCol="0" anchor="t">
            <a:noAutofit/>
          </a:bodyPr>
          <a:lstStyle/>
          <a:p>
            <a:r>
              <a:rPr lang="en-US" sz="1700">
                <a:solidFill>
                  <a:srgbClr val="1F2937"/>
                </a:solidFill>
                <a:latin typeface="Calibri" panose="020F0502020204030204" pitchFamily="34" charset="0"/>
              </a:rPr>
              <a:t>A project management office is the organizational entity that centralizes activities related to:</a:t>
            </a:r>
          </a:p>
        </p:txBody>
      </p:sp>
      <p:sp>
        <p:nvSpPr>
          <p:cNvPr id="5" name="Oval 4">
            <a:extLst>
              <a:ext uri="{FF2B5EF4-FFF2-40B4-BE49-F238E27FC236}">
                <a16:creationId xmlns:a16="http://schemas.microsoft.com/office/drawing/2014/main" id="{0A9CE028-B4C5-E937-CAED-F6C6A1A61F00}"/>
              </a:ext>
            </a:extLst>
          </p:cNvPr>
          <p:cNvSpPr/>
          <p:nvPr/>
        </p:nvSpPr>
        <p:spPr>
          <a:xfrm>
            <a:off x="939800" y="1854200"/>
            <a:ext cx="914400" cy="914400"/>
          </a:xfrm>
          <a:prstGeom prst="ellipse">
            <a:avLst/>
          </a:prstGeom>
          <a:solidFill>
            <a:srgbClr val="D6E8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2200" b="1">
                <a:solidFill>
                  <a:srgbClr val="14213D"/>
                </a:solidFill>
                <a:latin typeface="Calibri" panose="020F0502020204030204" pitchFamily="34" charset="0"/>
              </a:rPr>
              <a:t>1</a:t>
            </a:r>
          </a:p>
        </p:txBody>
      </p:sp>
      <p:sp>
        <p:nvSpPr>
          <p:cNvPr id="6" name="TextBox 5">
            <a:extLst>
              <a:ext uri="{FF2B5EF4-FFF2-40B4-BE49-F238E27FC236}">
                <a16:creationId xmlns:a16="http://schemas.microsoft.com/office/drawing/2014/main" id="{E80A6178-8340-9DDA-37D2-97DDF1171323}"/>
              </a:ext>
            </a:extLst>
          </p:cNvPr>
          <p:cNvSpPr txBox="1"/>
          <p:nvPr/>
        </p:nvSpPr>
        <p:spPr>
          <a:xfrm>
            <a:off x="508000" y="2870200"/>
            <a:ext cx="1778000" cy="762000"/>
          </a:xfrm>
          <a:prstGeom prst="rect">
            <a:avLst/>
          </a:prstGeom>
          <a:noFill/>
        </p:spPr>
        <p:txBody>
          <a:bodyPr vert="horz" wrap="square" lIns="0" tIns="0" rIns="0" bIns="0" rtlCol="0" anchor="t">
            <a:noAutofit/>
          </a:bodyPr>
          <a:lstStyle/>
          <a:p>
            <a:pPr algn="ctr"/>
            <a:r>
              <a:rPr lang="en-US" sz="1500" b="1">
                <a:solidFill>
                  <a:srgbClr val="14213D"/>
                </a:solidFill>
                <a:latin typeface="Calibri" panose="020F0502020204030204" pitchFamily="34" charset="0"/>
              </a:rPr>
              <a:t>Managing shared resources</a:t>
            </a:r>
          </a:p>
        </p:txBody>
      </p:sp>
      <p:sp>
        <p:nvSpPr>
          <p:cNvPr id="7" name="Oval 6">
            <a:extLst>
              <a:ext uri="{FF2B5EF4-FFF2-40B4-BE49-F238E27FC236}">
                <a16:creationId xmlns:a16="http://schemas.microsoft.com/office/drawing/2014/main" id="{261B7163-3171-3E98-E97F-9EBD214C9B18}"/>
              </a:ext>
            </a:extLst>
          </p:cNvPr>
          <p:cNvSpPr/>
          <p:nvPr/>
        </p:nvSpPr>
        <p:spPr>
          <a:xfrm>
            <a:off x="2819400" y="1854200"/>
            <a:ext cx="914400" cy="914400"/>
          </a:xfrm>
          <a:prstGeom prst="ellipse">
            <a:avLst/>
          </a:prstGeom>
          <a:solidFill>
            <a:srgbClr val="D5EAD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2200" b="1">
                <a:solidFill>
                  <a:srgbClr val="14213D"/>
                </a:solidFill>
                <a:latin typeface="Calibri" panose="020F0502020204030204" pitchFamily="34" charset="0"/>
              </a:rPr>
              <a:t>2</a:t>
            </a:r>
          </a:p>
        </p:txBody>
      </p:sp>
      <p:sp>
        <p:nvSpPr>
          <p:cNvPr id="8" name="TextBox 7">
            <a:extLst>
              <a:ext uri="{FF2B5EF4-FFF2-40B4-BE49-F238E27FC236}">
                <a16:creationId xmlns:a16="http://schemas.microsoft.com/office/drawing/2014/main" id="{A59C735A-8FE1-948E-4576-518870C3DC0C}"/>
              </a:ext>
            </a:extLst>
          </p:cNvPr>
          <p:cNvSpPr txBox="1"/>
          <p:nvPr/>
        </p:nvSpPr>
        <p:spPr>
          <a:xfrm>
            <a:off x="2387600" y="2870200"/>
            <a:ext cx="1778000" cy="762000"/>
          </a:xfrm>
          <a:prstGeom prst="rect">
            <a:avLst/>
          </a:prstGeom>
          <a:noFill/>
        </p:spPr>
        <p:txBody>
          <a:bodyPr vert="horz" wrap="square" lIns="0" tIns="0" rIns="0" bIns="0" rtlCol="0" anchor="t">
            <a:noAutofit/>
          </a:bodyPr>
          <a:lstStyle/>
          <a:p>
            <a:pPr algn="ctr"/>
            <a:r>
              <a:rPr lang="en-US" sz="1500" b="1">
                <a:solidFill>
                  <a:srgbClr val="14213D"/>
                </a:solidFill>
                <a:latin typeface="Calibri" panose="020F0502020204030204" pitchFamily="34" charset="0"/>
              </a:rPr>
              <a:t>Developing approaches and methods</a:t>
            </a:r>
          </a:p>
        </p:txBody>
      </p:sp>
      <p:sp>
        <p:nvSpPr>
          <p:cNvPr id="9" name="Oval 8">
            <a:extLst>
              <a:ext uri="{FF2B5EF4-FFF2-40B4-BE49-F238E27FC236}">
                <a16:creationId xmlns:a16="http://schemas.microsoft.com/office/drawing/2014/main" id="{0770E59B-E2BD-1796-93D8-FCA522ABF5FD}"/>
              </a:ext>
            </a:extLst>
          </p:cNvPr>
          <p:cNvSpPr/>
          <p:nvPr/>
        </p:nvSpPr>
        <p:spPr>
          <a:xfrm>
            <a:off x="4699000" y="1854200"/>
            <a:ext cx="914400" cy="914400"/>
          </a:xfrm>
          <a:prstGeom prst="ellipse">
            <a:avLst/>
          </a:prstGeom>
          <a:solidFill>
            <a:srgbClr val="F3D9D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2200" b="1">
                <a:solidFill>
                  <a:srgbClr val="14213D"/>
                </a:solidFill>
                <a:latin typeface="Calibri" panose="020F0502020204030204" pitchFamily="34" charset="0"/>
              </a:rPr>
              <a:t>3</a:t>
            </a:r>
          </a:p>
        </p:txBody>
      </p:sp>
      <p:sp>
        <p:nvSpPr>
          <p:cNvPr id="10" name="TextBox 9">
            <a:extLst>
              <a:ext uri="{FF2B5EF4-FFF2-40B4-BE49-F238E27FC236}">
                <a16:creationId xmlns:a16="http://schemas.microsoft.com/office/drawing/2014/main" id="{713ADD91-0CCE-CC04-3E99-A4940ACED25D}"/>
              </a:ext>
            </a:extLst>
          </p:cNvPr>
          <p:cNvSpPr txBox="1"/>
          <p:nvPr/>
        </p:nvSpPr>
        <p:spPr>
          <a:xfrm>
            <a:off x="4267200" y="2870200"/>
            <a:ext cx="1778000" cy="762000"/>
          </a:xfrm>
          <a:prstGeom prst="rect">
            <a:avLst/>
          </a:prstGeom>
          <a:noFill/>
        </p:spPr>
        <p:txBody>
          <a:bodyPr vert="horz" wrap="square" lIns="0" tIns="0" rIns="0" bIns="0" rtlCol="0" anchor="t">
            <a:noAutofit/>
          </a:bodyPr>
          <a:lstStyle/>
          <a:p>
            <a:pPr algn="ctr"/>
            <a:r>
              <a:rPr lang="en-US" sz="1500" b="1">
                <a:solidFill>
                  <a:srgbClr val="14213D"/>
                </a:solidFill>
                <a:latin typeface="Calibri" panose="020F0502020204030204" pitchFamily="34" charset="0"/>
              </a:rPr>
              <a:t>Training and oversight</a:t>
            </a:r>
          </a:p>
        </p:txBody>
      </p:sp>
      <p:sp>
        <p:nvSpPr>
          <p:cNvPr id="11" name="Oval 10">
            <a:extLst>
              <a:ext uri="{FF2B5EF4-FFF2-40B4-BE49-F238E27FC236}">
                <a16:creationId xmlns:a16="http://schemas.microsoft.com/office/drawing/2014/main" id="{3EAE5072-8FA6-5190-5F7D-981767523642}"/>
              </a:ext>
            </a:extLst>
          </p:cNvPr>
          <p:cNvSpPr/>
          <p:nvPr/>
        </p:nvSpPr>
        <p:spPr>
          <a:xfrm>
            <a:off x="6578600" y="1854200"/>
            <a:ext cx="914400" cy="914400"/>
          </a:xfrm>
          <a:prstGeom prst="ellipse">
            <a:avLst/>
          </a:prstGeom>
          <a:solidFill>
            <a:srgbClr val="E3D5C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2200" b="1">
                <a:solidFill>
                  <a:srgbClr val="14213D"/>
                </a:solidFill>
                <a:latin typeface="Calibri" panose="020F0502020204030204" pitchFamily="34" charset="0"/>
              </a:rPr>
              <a:t>4</a:t>
            </a:r>
          </a:p>
        </p:txBody>
      </p:sp>
      <p:sp>
        <p:nvSpPr>
          <p:cNvPr id="12" name="TextBox 11">
            <a:extLst>
              <a:ext uri="{FF2B5EF4-FFF2-40B4-BE49-F238E27FC236}">
                <a16:creationId xmlns:a16="http://schemas.microsoft.com/office/drawing/2014/main" id="{D8C26C62-156A-582F-C534-BB73B1890491}"/>
              </a:ext>
            </a:extLst>
          </p:cNvPr>
          <p:cNvSpPr txBox="1"/>
          <p:nvPr/>
        </p:nvSpPr>
        <p:spPr>
          <a:xfrm>
            <a:off x="6146800" y="2870200"/>
            <a:ext cx="1778000" cy="762000"/>
          </a:xfrm>
          <a:prstGeom prst="rect">
            <a:avLst/>
          </a:prstGeom>
          <a:noFill/>
        </p:spPr>
        <p:txBody>
          <a:bodyPr vert="horz" wrap="square" lIns="0" tIns="0" rIns="0" bIns="0" rtlCol="0" anchor="t">
            <a:noAutofit/>
          </a:bodyPr>
          <a:lstStyle/>
          <a:p>
            <a:pPr algn="ctr"/>
            <a:r>
              <a:rPr lang="en-US" sz="1500" b="1">
                <a:solidFill>
                  <a:srgbClr val="14213D"/>
                </a:solidFill>
                <a:latin typeface="Calibri" panose="020F0502020204030204" pitchFamily="34" charset="0"/>
              </a:rPr>
              <a:t>Monitoring compliance</a:t>
            </a:r>
          </a:p>
        </p:txBody>
      </p:sp>
      <p:sp>
        <p:nvSpPr>
          <p:cNvPr id="13" name="Oval 12">
            <a:extLst>
              <a:ext uri="{FF2B5EF4-FFF2-40B4-BE49-F238E27FC236}">
                <a16:creationId xmlns:a16="http://schemas.microsoft.com/office/drawing/2014/main" id="{92EFED40-BA61-C83C-D37D-F352C44A9A7C}"/>
              </a:ext>
            </a:extLst>
          </p:cNvPr>
          <p:cNvSpPr/>
          <p:nvPr/>
        </p:nvSpPr>
        <p:spPr>
          <a:xfrm>
            <a:off x="8458200" y="1854200"/>
            <a:ext cx="914400" cy="914400"/>
          </a:xfrm>
          <a:prstGeom prst="ellipse">
            <a:avLst/>
          </a:prstGeom>
          <a:solidFill>
            <a:srgbClr val="F6E7C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2200" b="1">
                <a:solidFill>
                  <a:srgbClr val="14213D"/>
                </a:solidFill>
                <a:latin typeface="Calibri" panose="020F0502020204030204" pitchFamily="34" charset="0"/>
              </a:rPr>
              <a:t>5</a:t>
            </a:r>
          </a:p>
        </p:txBody>
      </p:sp>
      <p:sp>
        <p:nvSpPr>
          <p:cNvPr id="14" name="TextBox 13">
            <a:extLst>
              <a:ext uri="{FF2B5EF4-FFF2-40B4-BE49-F238E27FC236}">
                <a16:creationId xmlns:a16="http://schemas.microsoft.com/office/drawing/2014/main" id="{2664B095-65DC-4A50-4819-205FAAEA99FE}"/>
              </a:ext>
            </a:extLst>
          </p:cNvPr>
          <p:cNvSpPr txBox="1"/>
          <p:nvPr/>
        </p:nvSpPr>
        <p:spPr>
          <a:xfrm>
            <a:off x="8026400" y="2870200"/>
            <a:ext cx="1778000" cy="762000"/>
          </a:xfrm>
          <a:prstGeom prst="rect">
            <a:avLst/>
          </a:prstGeom>
          <a:noFill/>
        </p:spPr>
        <p:txBody>
          <a:bodyPr vert="horz" wrap="square" lIns="0" tIns="0" rIns="0" bIns="0" rtlCol="0" anchor="t">
            <a:noAutofit/>
          </a:bodyPr>
          <a:lstStyle/>
          <a:p>
            <a:pPr algn="ctr"/>
            <a:r>
              <a:rPr lang="en-US" sz="1500" b="1">
                <a:solidFill>
                  <a:srgbClr val="14213D"/>
                </a:solidFill>
                <a:latin typeface="Calibri" panose="020F0502020204030204" pitchFamily="34" charset="0"/>
              </a:rPr>
              <a:t>Managing documentation</a:t>
            </a:r>
          </a:p>
        </p:txBody>
      </p:sp>
      <p:sp>
        <p:nvSpPr>
          <p:cNvPr id="15" name="Oval 14">
            <a:extLst>
              <a:ext uri="{FF2B5EF4-FFF2-40B4-BE49-F238E27FC236}">
                <a16:creationId xmlns:a16="http://schemas.microsoft.com/office/drawing/2014/main" id="{637BF86E-DFA4-2963-2121-7D0E7664ECC3}"/>
              </a:ext>
            </a:extLst>
          </p:cNvPr>
          <p:cNvSpPr/>
          <p:nvPr/>
        </p:nvSpPr>
        <p:spPr>
          <a:xfrm>
            <a:off x="10337800" y="1854200"/>
            <a:ext cx="914400" cy="914400"/>
          </a:xfrm>
          <a:prstGeom prst="ellipse">
            <a:avLst/>
          </a:prstGeom>
          <a:solidFill>
            <a:srgbClr val="E2D9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2200" b="1">
                <a:solidFill>
                  <a:srgbClr val="14213D"/>
                </a:solidFill>
                <a:latin typeface="Calibri" panose="020F0502020204030204" pitchFamily="34" charset="0"/>
              </a:rPr>
              <a:t>6</a:t>
            </a:r>
          </a:p>
        </p:txBody>
      </p:sp>
      <p:sp>
        <p:nvSpPr>
          <p:cNvPr id="16" name="TextBox 15">
            <a:extLst>
              <a:ext uri="{FF2B5EF4-FFF2-40B4-BE49-F238E27FC236}">
                <a16:creationId xmlns:a16="http://schemas.microsoft.com/office/drawing/2014/main" id="{87A34744-BC16-5F71-9CB3-4757ECDBB3CB}"/>
              </a:ext>
            </a:extLst>
          </p:cNvPr>
          <p:cNvSpPr txBox="1"/>
          <p:nvPr/>
        </p:nvSpPr>
        <p:spPr>
          <a:xfrm>
            <a:off x="9906000" y="2870200"/>
            <a:ext cx="1778000" cy="762000"/>
          </a:xfrm>
          <a:prstGeom prst="rect">
            <a:avLst/>
          </a:prstGeom>
          <a:noFill/>
        </p:spPr>
        <p:txBody>
          <a:bodyPr vert="horz" wrap="square" lIns="0" tIns="0" rIns="0" bIns="0" rtlCol="0" anchor="t">
            <a:noAutofit/>
          </a:bodyPr>
          <a:lstStyle/>
          <a:p>
            <a:pPr algn="ctr"/>
            <a:r>
              <a:rPr lang="en-US" sz="1500" b="1">
                <a:solidFill>
                  <a:srgbClr val="14213D"/>
                </a:solidFill>
                <a:latin typeface="Calibri" panose="020F0502020204030204" pitchFamily="34" charset="0"/>
              </a:rPr>
              <a:t>Coordinating communication</a:t>
            </a:r>
          </a:p>
        </p:txBody>
      </p:sp>
      <p:sp>
        <p:nvSpPr>
          <p:cNvPr id="17" name="Rectangle: Rounded Corners 16">
            <a:extLst>
              <a:ext uri="{FF2B5EF4-FFF2-40B4-BE49-F238E27FC236}">
                <a16:creationId xmlns:a16="http://schemas.microsoft.com/office/drawing/2014/main" id="{7B4376D3-7A11-44B1-F4BD-3FDDF7BE5C42}"/>
              </a:ext>
            </a:extLst>
          </p:cNvPr>
          <p:cNvSpPr/>
          <p:nvPr/>
        </p:nvSpPr>
        <p:spPr>
          <a:xfrm>
            <a:off x="508000" y="3810000"/>
            <a:ext cx="3556000" cy="1905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EB6A571-655B-64A6-0D9D-98A4BDF6F6AA}"/>
              </a:ext>
            </a:extLst>
          </p:cNvPr>
          <p:cNvSpPr txBox="1"/>
          <p:nvPr/>
        </p:nvSpPr>
        <p:spPr>
          <a:xfrm>
            <a:off x="711200" y="3962400"/>
            <a:ext cx="3149600" cy="1651000"/>
          </a:xfrm>
          <a:prstGeom prst="rect">
            <a:avLst/>
          </a:prstGeom>
          <a:noFill/>
        </p:spPr>
        <p:txBody>
          <a:bodyPr vert="horz" wrap="square" lIns="0" tIns="0" rIns="0" bIns="0" rtlCol="0" anchor="t">
            <a:noAutofit/>
          </a:bodyPr>
          <a:lstStyle/>
          <a:p>
            <a:r>
              <a:rPr lang="en-US" sz="1100" b="1">
                <a:solidFill>
                  <a:srgbClr val="5B6475"/>
                </a:solidFill>
                <a:latin typeface="Calibri" panose="020F0502020204030204" pitchFamily="34" charset="0"/>
              </a:rPr>
              <a:t>PMO type</a:t>
            </a:r>
          </a:p>
          <a:p>
            <a:r>
              <a:rPr lang="en-US" sz="1900" b="1">
                <a:solidFill>
                  <a:srgbClr val="14213D"/>
                </a:solidFill>
                <a:latin typeface="Calibri" panose="020F0502020204030204" pitchFamily="34" charset="0"/>
              </a:rPr>
              <a:t>Supportive</a:t>
            </a:r>
          </a:p>
          <a:p>
            <a:pPr>
              <a:spcAft>
                <a:spcPts val="600"/>
              </a:spcAft>
            </a:pPr>
            <a:r>
              <a:rPr lang="en-US" sz="1400" i="1">
                <a:solidFill>
                  <a:srgbClr val="34509A"/>
                </a:solidFill>
                <a:latin typeface="Calibri" panose="020F0502020204030204" pitchFamily="34" charset="0"/>
              </a:rPr>
              <a:t>Low control</a:t>
            </a:r>
          </a:p>
          <a:p>
            <a:r>
              <a:rPr lang="en-US" sz="1400">
                <a:solidFill>
                  <a:srgbClr val="1F2937"/>
                </a:solidFill>
                <a:latin typeface="Calibri" panose="020F0502020204030204" pitchFamily="34" charset="0"/>
              </a:rPr>
              <a:t>Consultative: provides templates, best practices, training, and lessons learned.</a:t>
            </a:r>
          </a:p>
        </p:txBody>
      </p:sp>
      <p:sp>
        <p:nvSpPr>
          <p:cNvPr id="19" name="Rectangle: Rounded Corners 18">
            <a:extLst>
              <a:ext uri="{FF2B5EF4-FFF2-40B4-BE49-F238E27FC236}">
                <a16:creationId xmlns:a16="http://schemas.microsoft.com/office/drawing/2014/main" id="{F8FEC58E-088A-C0FE-AED7-2E0B28338B6E}"/>
              </a:ext>
            </a:extLst>
          </p:cNvPr>
          <p:cNvSpPr/>
          <p:nvPr/>
        </p:nvSpPr>
        <p:spPr>
          <a:xfrm>
            <a:off x="4318000" y="3810000"/>
            <a:ext cx="3556000" cy="1905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3B104489-C85E-847A-2BC9-567FBB0830B4}"/>
              </a:ext>
            </a:extLst>
          </p:cNvPr>
          <p:cNvSpPr txBox="1"/>
          <p:nvPr/>
        </p:nvSpPr>
        <p:spPr>
          <a:xfrm>
            <a:off x="4521200" y="3962400"/>
            <a:ext cx="3149600" cy="1651000"/>
          </a:xfrm>
          <a:prstGeom prst="rect">
            <a:avLst/>
          </a:prstGeom>
          <a:noFill/>
        </p:spPr>
        <p:txBody>
          <a:bodyPr vert="horz" wrap="square" lIns="0" tIns="0" rIns="0" bIns="0" rtlCol="0" anchor="t">
            <a:noAutofit/>
          </a:bodyPr>
          <a:lstStyle/>
          <a:p>
            <a:r>
              <a:rPr lang="en-US" sz="1100" b="1">
                <a:solidFill>
                  <a:srgbClr val="5B6475"/>
                </a:solidFill>
                <a:latin typeface="Calibri" panose="020F0502020204030204" pitchFamily="34" charset="0"/>
              </a:rPr>
              <a:t>PMO type</a:t>
            </a:r>
          </a:p>
          <a:p>
            <a:r>
              <a:rPr lang="en-US" sz="1900" b="1">
                <a:solidFill>
                  <a:srgbClr val="14213D"/>
                </a:solidFill>
                <a:latin typeface="Calibri" panose="020F0502020204030204" pitchFamily="34" charset="0"/>
              </a:rPr>
              <a:t>Controlling</a:t>
            </a:r>
          </a:p>
          <a:p>
            <a:pPr>
              <a:spcAft>
                <a:spcPts val="600"/>
              </a:spcAft>
            </a:pPr>
            <a:r>
              <a:rPr lang="en-US" sz="1400" i="1">
                <a:solidFill>
                  <a:srgbClr val="34509A"/>
                </a:solidFill>
                <a:latin typeface="Calibri" panose="020F0502020204030204" pitchFamily="34" charset="0"/>
              </a:rPr>
              <a:t>Moderate control</a:t>
            </a:r>
          </a:p>
          <a:p>
            <a:r>
              <a:rPr lang="en-US" sz="1400">
                <a:solidFill>
                  <a:srgbClr val="1F2937"/>
                </a:solidFill>
                <a:latin typeface="Calibri" panose="020F0502020204030204" pitchFamily="34" charset="0"/>
              </a:rPr>
              <a:t>Requires compliance with frameworks, templates, and governance.</a:t>
            </a:r>
          </a:p>
        </p:txBody>
      </p:sp>
      <p:sp>
        <p:nvSpPr>
          <p:cNvPr id="21" name="Rectangle: Rounded Corners 20">
            <a:extLst>
              <a:ext uri="{FF2B5EF4-FFF2-40B4-BE49-F238E27FC236}">
                <a16:creationId xmlns:a16="http://schemas.microsoft.com/office/drawing/2014/main" id="{D6216161-6B3F-A7E9-B597-6C6C942C2739}"/>
              </a:ext>
            </a:extLst>
          </p:cNvPr>
          <p:cNvSpPr/>
          <p:nvPr/>
        </p:nvSpPr>
        <p:spPr>
          <a:xfrm>
            <a:off x="8128000" y="3810000"/>
            <a:ext cx="3556000" cy="1905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8ACE0F3A-54A3-F402-BAD8-952AA64892DD}"/>
              </a:ext>
            </a:extLst>
          </p:cNvPr>
          <p:cNvSpPr txBox="1"/>
          <p:nvPr/>
        </p:nvSpPr>
        <p:spPr>
          <a:xfrm>
            <a:off x="8331200" y="3962400"/>
            <a:ext cx="3149600" cy="1651000"/>
          </a:xfrm>
          <a:prstGeom prst="rect">
            <a:avLst/>
          </a:prstGeom>
          <a:noFill/>
        </p:spPr>
        <p:txBody>
          <a:bodyPr vert="horz" wrap="square" lIns="0" tIns="0" rIns="0" bIns="0" rtlCol="0" anchor="t">
            <a:noAutofit/>
          </a:bodyPr>
          <a:lstStyle/>
          <a:p>
            <a:r>
              <a:rPr lang="en-US" sz="1100" b="1">
                <a:solidFill>
                  <a:srgbClr val="5B6475"/>
                </a:solidFill>
                <a:latin typeface="Calibri" panose="020F0502020204030204" pitchFamily="34" charset="0"/>
              </a:rPr>
              <a:t>PMO type</a:t>
            </a:r>
          </a:p>
          <a:p>
            <a:r>
              <a:rPr lang="en-US" sz="1900" b="1">
                <a:solidFill>
                  <a:srgbClr val="14213D"/>
                </a:solidFill>
                <a:latin typeface="Calibri" panose="020F0502020204030204" pitchFamily="34" charset="0"/>
              </a:rPr>
              <a:t>Directive</a:t>
            </a:r>
          </a:p>
          <a:p>
            <a:pPr>
              <a:spcAft>
                <a:spcPts val="600"/>
              </a:spcAft>
            </a:pPr>
            <a:r>
              <a:rPr lang="en-US" sz="1400" i="1">
                <a:solidFill>
                  <a:srgbClr val="34509A"/>
                </a:solidFill>
                <a:latin typeface="Calibri" panose="020F0502020204030204" pitchFamily="34" charset="0"/>
              </a:rPr>
              <a:t>High control</a:t>
            </a:r>
          </a:p>
          <a:p>
            <a:r>
              <a:rPr lang="en-US" sz="1400">
                <a:solidFill>
                  <a:srgbClr val="1F2937"/>
                </a:solidFill>
                <a:latin typeface="Calibri" panose="020F0502020204030204" pitchFamily="34" charset="0"/>
              </a:rPr>
              <a:t>Directly manages the projects.</a:t>
            </a:r>
          </a:p>
        </p:txBody>
      </p:sp>
      <p:sp>
        <p:nvSpPr>
          <p:cNvPr id="23" name="Footer">
            <a:extLst>
              <a:ext uri="{FF2B5EF4-FFF2-40B4-BE49-F238E27FC236}">
                <a16:creationId xmlns:a16="http://schemas.microsoft.com/office/drawing/2014/main" id="{2E70EF35-9B46-CDE8-46F1-864EFBAA0B4C}"/>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PMBOK® Guide — Sixth Edition, Section 2.4.4.3 (Project Management Office)</a:t>
            </a:r>
          </a:p>
        </p:txBody>
      </p:sp>
      <p:sp>
        <p:nvSpPr>
          <p:cNvPr id="24" name="SlideNum">
            <a:extLst>
              <a:ext uri="{FF2B5EF4-FFF2-40B4-BE49-F238E27FC236}">
                <a16:creationId xmlns:a16="http://schemas.microsoft.com/office/drawing/2014/main" id="{B7FD058C-F7E7-9B40-176C-93D759EF6E6A}"/>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70</a:t>
            </a:r>
          </a:p>
        </p:txBody>
      </p:sp>
      <p:sp>
        <p:nvSpPr>
          <p:cNvPr id="25"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2776931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0AD7C61-4738-C849-1F94-281B683F2296}"/>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PMI Code of Ethics: four values</a:t>
            </a:r>
          </a:p>
        </p:txBody>
      </p:sp>
      <p:sp>
        <p:nvSpPr>
          <p:cNvPr id="3" name="Tag">
            <a:extLst>
              <a:ext uri="{FF2B5EF4-FFF2-40B4-BE49-F238E27FC236}">
                <a16:creationId xmlns:a16="http://schemas.microsoft.com/office/drawing/2014/main" id="{0F303D6A-E99B-BE82-8D21-3CDDAC046F5E}"/>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A84A2E"/>
                </a:solidFill>
                <a:latin typeface="Calibri" panose="020F0502020204030204" pitchFamily="34" charset="0"/>
              </a:rPr>
              <a:t>Business Environment deep dive · Supports Task 1 (governance: structure, rules, ethics, and policies)</a:t>
            </a:r>
          </a:p>
        </p:txBody>
      </p:sp>
      <p:sp>
        <p:nvSpPr>
          <p:cNvPr id="4" name="Rectangle: Rounded Corners 3">
            <a:extLst>
              <a:ext uri="{FF2B5EF4-FFF2-40B4-BE49-F238E27FC236}">
                <a16:creationId xmlns:a16="http://schemas.microsoft.com/office/drawing/2014/main" id="{F0362E8D-3D15-3A2B-B9B3-80597684D6E4}"/>
              </a:ext>
            </a:extLst>
          </p:cNvPr>
          <p:cNvSpPr/>
          <p:nvPr/>
        </p:nvSpPr>
        <p:spPr>
          <a:xfrm>
            <a:off x="508000" y="1320800"/>
            <a:ext cx="2641600" cy="508000"/>
          </a:xfrm>
          <a:prstGeom prst="roundRect">
            <a:avLst>
              <a:gd name="adj" fmla="val 8000"/>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600" b="1">
                <a:solidFill>
                  <a:srgbClr val="FFFFFF"/>
                </a:solidFill>
                <a:latin typeface="Calibri" panose="020F0502020204030204" pitchFamily="34" charset="0"/>
              </a:rPr>
              <a:t>Responsibility</a:t>
            </a:r>
          </a:p>
        </p:txBody>
      </p:sp>
      <p:sp>
        <p:nvSpPr>
          <p:cNvPr id="5" name="Rectangle: Rounded Corners 4">
            <a:extLst>
              <a:ext uri="{FF2B5EF4-FFF2-40B4-BE49-F238E27FC236}">
                <a16:creationId xmlns:a16="http://schemas.microsoft.com/office/drawing/2014/main" id="{C85C5EAF-3A89-03E6-7818-804A0318A7D6}"/>
              </a:ext>
            </a:extLst>
          </p:cNvPr>
          <p:cNvSpPr/>
          <p:nvPr/>
        </p:nvSpPr>
        <p:spPr>
          <a:xfrm>
            <a:off x="508000" y="1879600"/>
            <a:ext cx="2641600" cy="2362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A9711E0-C72E-F578-04EE-AF26AC172579}"/>
              </a:ext>
            </a:extLst>
          </p:cNvPr>
          <p:cNvSpPr txBox="1"/>
          <p:nvPr/>
        </p:nvSpPr>
        <p:spPr>
          <a:xfrm>
            <a:off x="685800" y="2032000"/>
            <a:ext cx="2286000" cy="2108200"/>
          </a:xfrm>
          <a:prstGeom prst="rect">
            <a:avLst/>
          </a:prstGeom>
          <a:noFill/>
        </p:spPr>
        <p:txBody>
          <a:bodyPr vert="horz" wrap="square" lIns="0" tIns="0" rIns="0" bIns="0" rtlCol="0" anchor="t">
            <a:noAutofit/>
          </a:bodyPr>
          <a:lstStyle/>
          <a:p>
            <a:r>
              <a:rPr lang="en-US" sz="1300">
                <a:solidFill>
                  <a:srgbClr val="1F2937"/>
                </a:solidFill>
                <a:latin typeface="Calibri" panose="020F0502020204030204" pitchFamily="34" charset="0"/>
              </a:rPr>
              <a:t>Own your decisions and their consequences. Keep commitments, protect confidential information, and report unethical or illegal conduct.</a:t>
            </a:r>
          </a:p>
        </p:txBody>
      </p:sp>
      <p:sp>
        <p:nvSpPr>
          <p:cNvPr id="7" name="Rectangle: Rounded Corners 6">
            <a:extLst>
              <a:ext uri="{FF2B5EF4-FFF2-40B4-BE49-F238E27FC236}">
                <a16:creationId xmlns:a16="http://schemas.microsoft.com/office/drawing/2014/main" id="{48F95FFA-3E5C-BE18-0DAC-3F283DA73830}"/>
              </a:ext>
            </a:extLst>
          </p:cNvPr>
          <p:cNvSpPr/>
          <p:nvPr/>
        </p:nvSpPr>
        <p:spPr>
          <a:xfrm>
            <a:off x="3352800" y="1320800"/>
            <a:ext cx="2641600" cy="508000"/>
          </a:xfrm>
          <a:prstGeom prst="roundRect">
            <a:avLst>
              <a:gd name="adj" fmla="val 8000"/>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600" b="1">
                <a:solidFill>
                  <a:srgbClr val="FFFFFF"/>
                </a:solidFill>
                <a:latin typeface="Calibri" panose="020F0502020204030204" pitchFamily="34" charset="0"/>
              </a:rPr>
              <a:t>Respect</a:t>
            </a:r>
          </a:p>
        </p:txBody>
      </p:sp>
      <p:sp>
        <p:nvSpPr>
          <p:cNvPr id="8" name="Rectangle: Rounded Corners 7">
            <a:extLst>
              <a:ext uri="{FF2B5EF4-FFF2-40B4-BE49-F238E27FC236}">
                <a16:creationId xmlns:a16="http://schemas.microsoft.com/office/drawing/2014/main" id="{2526DCAC-B6E7-F7C9-349A-368492260695}"/>
              </a:ext>
            </a:extLst>
          </p:cNvPr>
          <p:cNvSpPr/>
          <p:nvPr/>
        </p:nvSpPr>
        <p:spPr>
          <a:xfrm>
            <a:off x="3352800" y="1879600"/>
            <a:ext cx="2641600" cy="2362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879A79B-17CA-B860-A106-8D75B15B5062}"/>
              </a:ext>
            </a:extLst>
          </p:cNvPr>
          <p:cNvSpPr txBox="1"/>
          <p:nvPr/>
        </p:nvSpPr>
        <p:spPr>
          <a:xfrm>
            <a:off x="3530600" y="2032000"/>
            <a:ext cx="2286000" cy="2108200"/>
          </a:xfrm>
          <a:prstGeom prst="rect">
            <a:avLst/>
          </a:prstGeom>
          <a:noFill/>
        </p:spPr>
        <p:txBody>
          <a:bodyPr vert="horz" wrap="square" lIns="0" tIns="0" rIns="0" bIns="0" rtlCol="0" anchor="t">
            <a:noAutofit/>
          </a:bodyPr>
          <a:lstStyle/>
          <a:p>
            <a:r>
              <a:rPr lang="en-US" sz="1300">
                <a:solidFill>
                  <a:srgbClr val="1F2937"/>
                </a:solidFill>
                <a:latin typeface="Calibri" panose="020F0502020204030204" pitchFamily="34" charset="0"/>
              </a:rPr>
              <a:t>Listen to other views, negotiate in good faith, and never abuse your power. Respect cultural norms and other people’s property.</a:t>
            </a:r>
          </a:p>
        </p:txBody>
      </p:sp>
      <p:sp>
        <p:nvSpPr>
          <p:cNvPr id="10" name="Rectangle: Rounded Corners 9">
            <a:extLst>
              <a:ext uri="{FF2B5EF4-FFF2-40B4-BE49-F238E27FC236}">
                <a16:creationId xmlns:a16="http://schemas.microsoft.com/office/drawing/2014/main" id="{963493E0-0CCF-2AE7-68CE-020905F840F6}"/>
              </a:ext>
            </a:extLst>
          </p:cNvPr>
          <p:cNvSpPr/>
          <p:nvPr/>
        </p:nvSpPr>
        <p:spPr>
          <a:xfrm>
            <a:off x="6197600" y="1320800"/>
            <a:ext cx="2641600" cy="508000"/>
          </a:xfrm>
          <a:prstGeom prst="roundRect">
            <a:avLst>
              <a:gd name="adj" fmla="val 8000"/>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600" b="1">
                <a:solidFill>
                  <a:srgbClr val="FFFFFF"/>
                </a:solidFill>
                <a:latin typeface="Calibri" panose="020F0502020204030204" pitchFamily="34" charset="0"/>
              </a:rPr>
              <a:t>Fairness</a:t>
            </a:r>
          </a:p>
        </p:txBody>
      </p:sp>
      <p:sp>
        <p:nvSpPr>
          <p:cNvPr id="11" name="Rectangle: Rounded Corners 10">
            <a:extLst>
              <a:ext uri="{FF2B5EF4-FFF2-40B4-BE49-F238E27FC236}">
                <a16:creationId xmlns:a16="http://schemas.microsoft.com/office/drawing/2014/main" id="{7FB09403-98E0-AE08-614F-810F156AF60D}"/>
              </a:ext>
            </a:extLst>
          </p:cNvPr>
          <p:cNvSpPr/>
          <p:nvPr/>
        </p:nvSpPr>
        <p:spPr>
          <a:xfrm>
            <a:off x="6197600" y="1879600"/>
            <a:ext cx="2641600" cy="2362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7DB2CE3-6962-B93F-07C8-59F69A23E297}"/>
              </a:ext>
            </a:extLst>
          </p:cNvPr>
          <p:cNvSpPr txBox="1"/>
          <p:nvPr/>
        </p:nvSpPr>
        <p:spPr>
          <a:xfrm>
            <a:off x="6375400" y="2032000"/>
            <a:ext cx="2286000" cy="2108200"/>
          </a:xfrm>
          <a:prstGeom prst="rect">
            <a:avLst/>
          </a:prstGeom>
          <a:noFill/>
        </p:spPr>
        <p:txBody>
          <a:bodyPr vert="horz" wrap="square" lIns="0" tIns="0" rIns="0" bIns="0" rtlCol="0" anchor="t">
            <a:noAutofit/>
          </a:bodyPr>
          <a:lstStyle/>
          <a:p>
            <a:r>
              <a:rPr lang="en-US" sz="1300">
                <a:solidFill>
                  <a:srgbClr val="1F2937"/>
                </a:solidFill>
                <a:latin typeface="Calibri" panose="020F0502020204030204" pitchFamily="34" charset="0"/>
              </a:rPr>
              <a:t>Decide impartially and transparently. Disclose conflicts of interest; no favoritism, bribes, or discrimination.</a:t>
            </a:r>
          </a:p>
        </p:txBody>
      </p:sp>
      <p:sp>
        <p:nvSpPr>
          <p:cNvPr id="13" name="Rectangle: Rounded Corners 12">
            <a:extLst>
              <a:ext uri="{FF2B5EF4-FFF2-40B4-BE49-F238E27FC236}">
                <a16:creationId xmlns:a16="http://schemas.microsoft.com/office/drawing/2014/main" id="{1EA9D576-3D41-937E-2D3E-8B59C66311A9}"/>
              </a:ext>
            </a:extLst>
          </p:cNvPr>
          <p:cNvSpPr/>
          <p:nvPr/>
        </p:nvSpPr>
        <p:spPr>
          <a:xfrm>
            <a:off x="9042400" y="1320800"/>
            <a:ext cx="2641600" cy="508000"/>
          </a:xfrm>
          <a:prstGeom prst="roundRect">
            <a:avLst>
              <a:gd name="adj" fmla="val 8000"/>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600" b="1">
                <a:solidFill>
                  <a:srgbClr val="FFFFFF"/>
                </a:solidFill>
                <a:latin typeface="Calibri" panose="020F0502020204030204" pitchFamily="34" charset="0"/>
              </a:rPr>
              <a:t>Honesty</a:t>
            </a:r>
          </a:p>
        </p:txBody>
      </p:sp>
      <p:sp>
        <p:nvSpPr>
          <p:cNvPr id="14" name="Rectangle: Rounded Corners 13">
            <a:extLst>
              <a:ext uri="{FF2B5EF4-FFF2-40B4-BE49-F238E27FC236}">
                <a16:creationId xmlns:a16="http://schemas.microsoft.com/office/drawing/2014/main" id="{5BF865AD-322E-F6EE-6546-3DA404AD0C4F}"/>
              </a:ext>
            </a:extLst>
          </p:cNvPr>
          <p:cNvSpPr/>
          <p:nvPr/>
        </p:nvSpPr>
        <p:spPr>
          <a:xfrm>
            <a:off x="9042400" y="1879600"/>
            <a:ext cx="2641600" cy="2362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6D51E9C-A4E3-E316-C96E-4A3A695651E5}"/>
              </a:ext>
            </a:extLst>
          </p:cNvPr>
          <p:cNvSpPr txBox="1"/>
          <p:nvPr/>
        </p:nvSpPr>
        <p:spPr>
          <a:xfrm>
            <a:off x="9220200" y="2032000"/>
            <a:ext cx="2286000" cy="2108200"/>
          </a:xfrm>
          <a:prstGeom prst="rect">
            <a:avLst/>
          </a:prstGeom>
          <a:noFill/>
        </p:spPr>
        <p:txBody>
          <a:bodyPr vert="horz" wrap="square" lIns="0" tIns="0" rIns="0" bIns="0" rtlCol="0" anchor="t">
            <a:noAutofit/>
          </a:bodyPr>
          <a:lstStyle/>
          <a:p>
            <a:r>
              <a:rPr lang="en-US" sz="1300">
                <a:solidFill>
                  <a:srgbClr val="1F2937"/>
                </a:solidFill>
                <a:latin typeface="Calibri" panose="020F0502020204030204" pitchFamily="34" charset="0"/>
              </a:rPr>
              <a:t>Tell the truth in what you say, write, and report. Don’t deceive, overstate, or withhold information.</a:t>
            </a:r>
          </a:p>
        </p:txBody>
      </p:sp>
      <p:sp>
        <p:nvSpPr>
          <p:cNvPr id="16" name="Rectangle: Rounded Corners 15">
            <a:extLst>
              <a:ext uri="{FF2B5EF4-FFF2-40B4-BE49-F238E27FC236}">
                <a16:creationId xmlns:a16="http://schemas.microsoft.com/office/drawing/2014/main" id="{69E73CBF-C48F-AA2E-70F5-9DD0A4078B69}"/>
              </a:ext>
            </a:extLst>
          </p:cNvPr>
          <p:cNvSpPr/>
          <p:nvPr/>
        </p:nvSpPr>
        <p:spPr>
          <a:xfrm>
            <a:off x="508000" y="4394200"/>
            <a:ext cx="11176000" cy="9652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A2EE7141-9507-49C7-2290-A20559899CB4}"/>
              </a:ext>
            </a:extLst>
          </p:cNvPr>
          <p:cNvSpPr txBox="1"/>
          <p:nvPr/>
        </p:nvSpPr>
        <p:spPr>
          <a:xfrm>
            <a:off x="660400" y="4546600"/>
            <a:ext cx="10871200" cy="660400"/>
          </a:xfrm>
          <a:prstGeom prst="rect">
            <a:avLst/>
          </a:prstGeom>
          <a:noFill/>
        </p:spPr>
        <p:txBody>
          <a:bodyPr vert="horz" wrap="square" lIns="0" tIns="0" rIns="0" bIns="0" rtlCol="0" anchor="t">
            <a:noAutofit/>
          </a:bodyPr>
          <a:lstStyle/>
          <a:p>
            <a:pPr>
              <a:spcAft>
                <a:spcPts val="600"/>
              </a:spcAft>
            </a:pPr>
            <a:r>
              <a:rPr lang="en-US" sz="1400" b="1">
                <a:solidFill>
                  <a:srgbClr val="A86F0E"/>
                </a:solidFill>
                <a:latin typeface="Calibri" panose="020F0502020204030204" pitchFamily="34" charset="0"/>
              </a:rPr>
              <a:t>Two kinds of standards</a:t>
            </a:r>
          </a:p>
          <a:p>
            <a:r>
              <a:rPr lang="en-US" sz="1300">
                <a:solidFill>
                  <a:srgbClr val="1F2937"/>
                </a:solidFill>
                <a:latin typeface="Calibri" panose="020F0502020204030204" pitchFamily="34" charset="0"/>
              </a:rPr>
              <a:t>Aspirational standards describe the conduct we strive for. Mandatory standards are firm requirements; violating them can lead to PMI disciplinary action.</a:t>
            </a:r>
          </a:p>
        </p:txBody>
      </p:sp>
      <p:sp>
        <p:nvSpPr>
          <p:cNvPr id="18" name="Rectangle: Rounded Corners 17">
            <a:extLst>
              <a:ext uri="{FF2B5EF4-FFF2-40B4-BE49-F238E27FC236}">
                <a16:creationId xmlns:a16="http://schemas.microsoft.com/office/drawing/2014/main" id="{6FF0D16D-9A6C-363E-241D-56958801346B}"/>
              </a:ext>
            </a:extLst>
          </p:cNvPr>
          <p:cNvSpPr/>
          <p:nvPr/>
        </p:nvSpPr>
        <p:spPr>
          <a:xfrm>
            <a:off x="508000" y="5486400"/>
            <a:ext cx="11176000" cy="838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5DD50A0-B456-332E-9B65-41593D51C372}"/>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when a scenario involves a gift that could sway you, a hidden conflict of interest, or a request to misreport status, refuse, disclose, or report.</a:t>
            </a:r>
          </a:p>
        </p:txBody>
      </p:sp>
      <p:sp>
        <p:nvSpPr>
          <p:cNvPr id="20" name="Footer">
            <a:extLst>
              <a:ext uri="{FF2B5EF4-FFF2-40B4-BE49-F238E27FC236}">
                <a16:creationId xmlns:a16="http://schemas.microsoft.com/office/drawing/2014/main" id="{62017CF0-5C56-E566-C8B9-5DD81BD55C9C}"/>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Code of Ethics and Professional Conduct (2006)</a:t>
            </a:r>
          </a:p>
        </p:txBody>
      </p:sp>
      <p:sp>
        <p:nvSpPr>
          <p:cNvPr id="21" name="SlideNum">
            <a:extLst>
              <a:ext uri="{FF2B5EF4-FFF2-40B4-BE49-F238E27FC236}">
                <a16:creationId xmlns:a16="http://schemas.microsoft.com/office/drawing/2014/main" id="{0662FDFF-AA3F-446E-41A8-330B7C324B13}"/>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71</a:t>
            </a:r>
          </a:p>
        </p:txBody>
      </p:sp>
      <p:sp>
        <p:nvSpPr>
          <p:cNvPr id="22"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7834272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E2B5F9F-9FA4-C22A-D91B-D91CD23C5FE2}"/>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Planning and managing compliance</a:t>
            </a:r>
          </a:p>
        </p:txBody>
      </p:sp>
      <p:sp>
        <p:nvSpPr>
          <p:cNvPr id="3" name="Tag">
            <a:extLst>
              <a:ext uri="{FF2B5EF4-FFF2-40B4-BE49-F238E27FC236}">
                <a16:creationId xmlns:a16="http://schemas.microsoft.com/office/drawing/2014/main" id="{573636BE-D317-AC31-E727-65411F1A6093}"/>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A84A2E"/>
                </a:solidFill>
                <a:latin typeface="Calibri" panose="020F0502020204030204" pitchFamily="34" charset="0"/>
              </a:rPr>
              <a:t>Business Environment deep dive · Supports Task 2 (Plan and manage project compliance)</a:t>
            </a:r>
          </a:p>
        </p:txBody>
      </p:sp>
      <p:sp>
        <p:nvSpPr>
          <p:cNvPr id="4" name="Rectangle: Rounded Corners 3">
            <a:extLst>
              <a:ext uri="{FF2B5EF4-FFF2-40B4-BE49-F238E27FC236}">
                <a16:creationId xmlns:a16="http://schemas.microsoft.com/office/drawing/2014/main" id="{F8968F7B-5106-1DCC-4BFA-EAA43FEAFB62}"/>
              </a:ext>
            </a:extLst>
          </p:cNvPr>
          <p:cNvSpPr/>
          <p:nvPr/>
        </p:nvSpPr>
        <p:spPr>
          <a:xfrm>
            <a:off x="508000" y="1320800"/>
            <a:ext cx="1524000" cy="8890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B918E439-5DFD-1C81-A894-5CA5CADD68D2}"/>
              </a:ext>
            </a:extLst>
          </p:cNvPr>
          <p:cNvSpPr/>
          <p:nvPr/>
        </p:nvSpPr>
        <p:spPr>
          <a:xfrm>
            <a:off x="1092200" y="1397000"/>
            <a:ext cx="355600" cy="3556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1</a:t>
            </a:r>
          </a:p>
        </p:txBody>
      </p:sp>
      <p:sp>
        <p:nvSpPr>
          <p:cNvPr id="6" name="TextBox 5">
            <a:extLst>
              <a:ext uri="{FF2B5EF4-FFF2-40B4-BE49-F238E27FC236}">
                <a16:creationId xmlns:a16="http://schemas.microsoft.com/office/drawing/2014/main" id="{E8EA5A1B-118B-1474-D8D3-F0EF5F5E3C7A}"/>
              </a:ext>
            </a:extLst>
          </p:cNvPr>
          <p:cNvSpPr txBox="1"/>
          <p:nvPr/>
        </p:nvSpPr>
        <p:spPr>
          <a:xfrm>
            <a:off x="584200" y="1803400"/>
            <a:ext cx="1371600" cy="381000"/>
          </a:xfrm>
          <a:prstGeom prst="rect">
            <a:avLst/>
          </a:prstGeom>
          <a:noFill/>
        </p:spPr>
        <p:txBody>
          <a:bodyPr vert="horz" wrap="square" lIns="0" tIns="0" rIns="0" bIns="0" rtlCol="0" anchor="t">
            <a:noAutofit/>
          </a:bodyPr>
          <a:lstStyle/>
          <a:p>
            <a:pPr algn="ctr"/>
            <a:r>
              <a:rPr lang="en-US" sz="1200" b="1">
                <a:solidFill>
                  <a:srgbClr val="14213D"/>
                </a:solidFill>
                <a:latin typeface="Calibri" panose="020F0502020204030204" pitchFamily="34" charset="0"/>
              </a:rPr>
              <a:t>Confirm requirements</a:t>
            </a:r>
          </a:p>
        </p:txBody>
      </p:sp>
      <p:sp>
        <p:nvSpPr>
          <p:cNvPr id="7" name="Rectangle: Rounded Corners 6">
            <a:extLst>
              <a:ext uri="{FF2B5EF4-FFF2-40B4-BE49-F238E27FC236}">
                <a16:creationId xmlns:a16="http://schemas.microsoft.com/office/drawing/2014/main" id="{81EEB8A7-72C8-10F1-95EB-784D0B16D4DD}"/>
              </a:ext>
            </a:extLst>
          </p:cNvPr>
          <p:cNvSpPr/>
          <p:nvPr/>
        </p:nvSpPr>
        <p:spPr>
          <a:xfrm>
            <a:off x="2116709" y="1320800"/>
            <a:ext cx="1524000" cy="8890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59C0A7F-C9B9-F3D9-B968-75D5D55BDC0B}"/>
              </a:ext>
            </a:extLst>
          </p:cNvPr>
          <p:cNvSpPr/>
          <p:nvPr/>
        </p:nvSpPr>
        <p:spPr>
          <a:xfrm>
            <a:off x="2700909" y="1397000"/>
            <a:ext cx="355600" cy="3556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2</a:t>
            </a:r>
          </a:p>
        </p:txBody>
      </p:sp>
      <p:sp>
        <p:nvSpPr>
          <p:cNvPr id="9" name="TextBox 8">
            <a:extLst>
              <a:ext uri="{FF2B5EF4-FFF2-40B4-BE49-F238E27FC236}">
                <a16:creationId xmlns:a16="http://schemas.microsoft.com/office/drawing/2014/main" id="{6D80FC32-56A2-0DA4-99B1-76070FE29B68}"/>
              </a:ext>
            </a:extLst>
          </p:cNvPr>
          <p:cNvSpPr txBox="1"/>
          <p:nvPr/>
        </p:nvSpPr>
        <p:spPr>
          <a:xfrm>
            <a:off x="2192909" y="1803400"/>
            <a:ext cx="1371600" cy="381000"/>
          </a:xfrm>
          <a:prstGeom prst="rect">
            <a:avLst/>
          </a:prstGeom>
          <a:noFill/>
        </p:spPr>
        <p:txBody>
          <a:bodyPr vert="horz" wrap="square" lIns="0" tIns="0" rIns="0" bIns="0" rtlCol="0" anchor="t">
            <a:noAutofit/>
          </a:bodyPr>
          <a:lstStyle/>
          <a:p>
            <a:pPr algn="ctr"/>
            <a:r>
              <a:rPr lang="en-US" sz="1200" b="1">
                <a:solidFill>
                  <a:srgbClr val="14213D"/>
                </a:solidFill>
                <a:latin typeface="Calibri" panose="020F0502020204030204" pitchFamily="34" charset="0"/>
              </a:rPr>
              <a:t>Classify categories</a:t>
            </a:r>
          </a:p>
        </p:txBody>
      </p:sp>
      <p:sp>
        <p:nvSpPr>
          <p:cNvPr id="10" name="Rectangle: Rounded Corners 9">
            <a:extLst>
              <a:ext uri="{FF2B5EF4-FFF2-40B4-BE49-F238E27FC236}">
                <a16:creationId xmlns:a16="http://schemas.microsoft.com/office/drawing/2014/main" id="{A79B39AA-C8CE-7799-8092-92409FC3844A}"/>
              </a:ext>
            </a:extLst>
          </p:cNvPr>
          <p:cNvSpPr/>
          <p:nvPr/>
        </p:nvSpPr>
        <p:spPr>
          <a:xfrm>
            <a:off x="3725418" y="1320800"/>
            <a:ext cx="1524000" cy="8890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F1141E6-E892-67C1-F16D-BF70320F7BCE}"/>
              </a:ext>
            </a:extLst>
          </p:cNvPr>
          <p:cNvSpPr/>
          <p:nvPr/>
        </p:nvSpPr>
        <p:spPr>
          <a:xfrm>
            <a:off x="4309618" y="1397000"/>
            <a:ext cx="355600" cy="3556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3</a:t>
            </a:r>
          </a:p>
        </p:txBody>
      </p:sp>
      <p:sp>
        <p:nvSpPr>
          <p:cNvPr id="12" name="TextBox 11">
            <a:extLst>
              <a:ext uri="{FF2B5EF4-FFF2-40B4-BE49-F238E27FC236}">
                <a16:creationId xmlns:a16="http://schemas.microsoft.com/office/drawing/2014/main" id="{544A670C-9A77-9CA5-EDF2-FDCA5D457741}"/>
              </a:ext>
            </a:extLst>
          </p:cNvPr>
          <p:cNvSpPr txBox="1"/>
          <p:nvPr/>
        </p:nvSpPr>
        <p:spPr>
          <a:xfrm>
            <a:off x="3801618" y="1803400"/>
            <a:ext cx="1371600" cy="381000"/>
          </a:xfrm>
          <a:prstGeom prst="rect">
            <a:avLst/>
          </a:prstGeom>
          <a:noFill/>
        </p:spPr>
        <p:txBody>
          <a:bodyPr vert="horz" wrap="square" lIns="0" tIns="0" rIns="0" bIns="0" rtlCol="0" anchor="t">
            <a:noAutofit/>
          </a:bodyPr>
          <a:lstStyle/>
          <a:p>
            <a:pPr algn="ctr"/>
            <a:r>
              <a:rPr lang="en-US" sz="1200" b="1">
                <a:solidFill>
                  <a:srgbClr val="14213D"/>
                </a:solidFill>
                <a:latin typeface="Calibri" panose="020F0502020204030204" pitchFamily="34" charset="0"/>
              </a:rPr>
              <a:t>Find threats</a:t>
            </a:r>
          </a:p>
        </p:txBody>
      </p:sp>
      <p:sp>
        <p:nvSpPr>
          <p:cNvPr id="13" name="Rectangle: Rounded Corners 12">
            <a:extLst>
              <a:ext uri="{FF2B5EF4-FFF2-40B4-BE49-F238E27FC236}">
                <a16:creationId xmlns:a16="http://schemas.microsoft.com/office/drawing/2014/main" id="{D497081C-5361-BA2B-7625-2CC3269C811F}"/>
              </a:ext>
            </a:extLst>
          </p:cNvPr>
          <p:cNvSpPr/>
          <p:nvPr/>
        </p:nvSpPr>
        <p:spPr>
          <a:xfrm>
            <a:off x="5334127" y="1320800"/>
            <a:ext cx="1524000" cy="8890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5F046F9-0484-4DBF-2E47-6B65EA8CB63F}"/>
              </a:ext>
            </a:extLst>
          </p:cNvPr>
          <p:cNvSpPr/>
          <p:nvPr/>
        </p:nvSpPr>
        <p:spPr>
          <a:xfrm>
            <a:off x="5918327" y="1397000"/>
            <a:ext cx="355600" cy="3556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4</a:t>
            </a:r>
          </a:p>
        </p:txBody>
      </p:sp>
      <p:sp>
        <p:nvSpPr>
          <p:cNvPr id="15" name="TextBox 14">
            <a:extLst>
              <a:ext uri="{FF2B5EF4-FFF2-40B4-BE49-F238E27FC236}">
                <a16:creationId xmlns:a16="http://schemas.microsoft.com/office/drawing/2014/main" id="{FA915F3C-D19E-604A-72B8-6898B595149C}"/>
              </a:ext>
            </a:extLst>
          </p:cNvPr>
          <p:cNvSpPr txBox="1"/>
          <p:nvPr/>
        </p:nvSpPr>
        <p:spPr>
          <a:xfrm>
            <a:off x="5410327" y="1803400"/>
            <a:ext cx="1371600" cy="381000"/>
          </a:xfrm>
          <a:prstGeom prst="rect">
            <a:avLst/>
          </a:prstGeom>
          <a:noFill/>
        </p:spPr>
        <p:txBody>
          <a:bodyPr vert="horz" wrap="square" lIns="0" tIns="0" rIns="0" bIns="0" rtlCol="0" anchor="t">
            <a:noAutofit/>
          </a:bodyPr>
          <a:lstStyle/>
          <a:p>
            <a:pPr algn="ctr"/>
            <a:r>
              <a:rPr lang="en-US" sz="1200" b="1">
                <a:solidFill>
                  <a:srgbClr val="14213D"/>
                </a:solidFill>
                <a:latin typeface="Calibri" panose="020F0502020204030204" pitchFamily="34" charset="0"/>
              </a:rPr>
              <a:t>Use support methods</a:t>
            </a:r>
          </a:p>
        </p:txBody>
      </p:sp>
      <p:sp>
        <p:nvSpPr>
          <p:cNvPr id="16" name="Rectangle: Rounded Corners 15">
            <a:extLst>
              <a:ext uri="{FF2B5EF4-FFF2-40B4-BE49-F238E27FC236}">
                <a16:creationId xmlns:a16="http://schemas.microsoft.com/office/drawing/2014/main" id="{7C630AB9-3C97-01EF-F82E-0A95BE5140CA}"/>
              </a:ext>
            </a:extLst>
          </p:cNvPr>
          <p:cNvSpPr/>
          <p:nvPr/>
        </p:nvSpPr>
        <p:spPr>
          <a:xfrm>
            <a:off x="6942836" y="1320800"/>
            <a:ext cx="1524000" cy="8890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F9D4FC9-FFFA-0F8B-21CD-079043AB8DEF}"/>
              </a:ext>
            </a:extLst>
          </p:cNvPr>
          <p:cNvSpPr/>
          <p:nvPr/>
        </p:nvSpPr>
        <p:spPr>
          <a:xfrm>
            <a:off x="7527036" y="1397000"/>
            <a:ext cx="355600" cy="3556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5</a:t>
            </a:r>
          </a:p>
        </p:txBody>
      </p:sp>
      <p:sp>
        <p:nvSpPr>
          <p:cNvPr id="18" name="TextBox 17">
            <a:extLst>
              <a:ext uri="{FF2B5EF4-FFF2-40B4-BE49-F238E27FC236}">
                <a16:creationId xmlns:a16="http://schemas.microsoft.com/office/drawing/2014/main" id="{8D4147F3-D4A6-D845-C01A-B530702FB94D}"/>
              </a:ext>
            </a:extLst>
          </p:cNvPr>
          <p:cNvSpPr txBox="1"/>
          <p:nvPr/>
        </p:nvSpPr>
        <p:spPr>
          <a:xfrm>
            <a:off x="7019036" y="1803400"/>
            <a:ext cx="1371600" cy="381000"/>
          </a:xfrm>
          <a:prstGeom prst="rect">
            <a:avLst/>
          </a:prstGeom>
          <a:noFill/>
        </p:spPr>
        <p:txBody>
          <a:bodyPr vert="horz" wrap="square" lIns="0" tIns="0" rIns="0" bIns="0" rtlCol="0" anchor="t">
            <a:noAutofit/>
          </a:bodyPr>
          <a:lstStyle/>
          <a:p>
            <a:pPr algn="ctr"/>
            <a:r>
              <a:rPr lang="en-US" sz="1200" b="1">
                <a:solidFill>
                  <a:srgbClr val="14213D"/>
                </a:solidFill>
                <a:latin typeface="Calibri" panose="020F0502020204030204" pitchFamily="34" charset="0"/>
              </a:rPr>
              <a:t>Analyze consequences</a:t>
            </a:r>
          </a:p>
        </p:txBody>
      </p:sp>
      <p:sp>
        <p:nvSpPr>
          <p:cNvPr id="19" name="Rectangle: Rounded Corners 18">
            <a:extLst>
              <a:ext uri="{FF2B5EF4-FFF2-40B4-BE49-F238E27FC236}">
                <a16:creationId xmlns:a16="http://schemas.microsoft.com/office/drawing/2014/main" id="{602C75DA-07FD-1971-F164-B0AD216A2691}"/>
              </a:ext>
            </a:extLst>
          </p:cNvPr>
          <p:cNvSpPr/>
          <p:nvPr/>
        </p:nvSpPr>
        <p:spPr>
          <a:xfrm>
            <a:off x="8551545" y="1320800"/>
            <a:ext cx="1524000" cy="8890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BCF0F71-B99E-538D-D491-65CBAB3BCF6C}"/>
              </a:ext>
            </a:extLst>
          </p:cNvPr>
          <p:cNvSpPr/>
          <p:nvPr/>
        </p:nvSpPr>
        <p:spPr>
          <a:xfrm>
            <a:off x="9135745" y="1397000"/>
            <a:ext cx="355600" cy="3556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6</a:t>
            </a:r>
          </a:p>
        </p:txBody>
      </p:sp>
      <p:sp>
        <p:nvSpPr>
          <p:cNvPr id="21" name="TextBox 20">
            <a:extLst>
              <a:ext uri="{FF2B5EF4-FFF2-40B4-BE49-F238E27FC236}">
                <a16:creationId xmlns:a16="http://schemas.microsoft.com/office/drawing/2014/main" id="{EBB55E4D-10B8-90E8-48C0-151F0A270B7B}"/>
              </a:ext>
            </a:extLst>
          </p:cNvPr>
          <p:cNvSpPr txBox="1"/>
          <p:nvPr/>
        </p:nvSpPr>
        <p:spPr>
          <a:xfrm>
            <a:off x="8627745" y="1803400"/>
            <a:ext cx="1371600" cy="381000"/>
          </a:xfrm>
          <a:prstGeom prst="rect">
            <a:avLst/>
          </a:prstGeom>
          <a:noFill/>
        </p:spPr>
        <p:txBody>
          <a:bodyPr vert="horz" wrap="square" lIns="0" tIns="0" rIns="0" bIns="0" rtlCol="0" anchor="t">
            <a:noAutofit/>
          </a:bodyPr>
          <a:lstStyle/>
          <a:p>
            <a:pPr algn="ctr"/>
            <a:r>
              <a:rPr lang="en-US" sz="1200" b="1">
                <a:solidFill>
                  <a:srgbClr val="14213D"/>
                </a:solidFill>
                <a:latin typeface="Calibri" panose="020F0502020204030204" pitchFamily="34" charset="0"/>
              </a:rPr>
              <a:t>Decide actions</a:t>
            </a:r>
          </a:p>
        </p:txBody>
      </p:sp>
      <p:sp>
        <p:nvSpPr>
          <p:cNvPr id="22" name="Rectangle: Rounded Corners 21">
            <a:extLst>
              <a:ext uri="{FF2B5EF4-FFF2-40B4-BE49-F238E27FC236}">
                <a16:creationId xmlns:a16="http://schemas.microsoft.com/office/drawing/2014/main" id="{7565E0C5-43AE-B590-0D4F-E25DB162F084}"/>
              </a:ext>
            </a:extLst>
          </p:cNvPr>
          <p:cNvSpPr/>
          <p:nvPr/>
        </p:nvSpPr>
        <p:spPr>
          <a:xfrm>
            <a:off x="10160254" y="1320800"/>
            <a:ext cx="1524000" cy="8890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03A80CB7-6290-4A4E-C14F-1756040F527C}"/>
              </a:ext>
            </a:extLst>
          </p:cNvPr>
          <p:cNvSpPr/>
          <p:nvPr/>
        </p:nvSpPr>
        <p:spPr>
          <a:xfrm>
            <a:off x="10744454" y="1397000"/>
            <a:ext cx="355600" cy="3556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7</a:t>
            </a:r>
          </a:p>
        </p:txBody>
      </p:sp>
      <p:sp>
        <p:nvSpPr>
          <p:cNvPr id="24" name="TextBox 23">
            <a:extLst>
              <a:ext uri="{FF2B5EF4-FFF2-40B4-BE49-F238E27FC236}">
                <a16:creationId xmlns:a16="http://schemas.microsoft.com/office/drawing/2014/main" id="{9EB9ADD4-7D5B-538A-B7EE-950CEADA224B}"/>
              </a:ext>
            </a:extLst>
          </p:cNvPr>
          <p:cNvSpPr txBox="1"/>
          <p:nvPr/>
        </p:nvSpPr>
        <p:spPr>
          <a:xfrm>
            <a:off x="10236454" y="1803400"/>
            <a:ext cx="1371600" cy="381000"/>
          </a:xfrm>
          <a:prstGeom prst="rect">
            <a:avLst/>
          </a:prstGeom>
          <a:noFill/>
        </p:spPr>
        <p:txBody>
          <a:bodyPr vert="horz" wrap="square" lIns="0" tIns="0" rIns="0" bIns="0" rtlCol="0" anchor="t">
            <a:noAutofit/>
          </a:bodyPr>
          <a:lstStyle/>
          <a:p>
            <a:pPr algn="ctr"/>
            <a:r>
              <a:rPr lang="en-US" sz="1200" b="1">
                <a:solidFill>
                  <a:srgbClr val="14213D"/>
                </a:solidFill>
                <a:latin typeface="Calibri" panose="020F0502020204030204" pitchFamily="34" charset="0"/>
              </a:rPr>
              <a:t>Measure compliance</a:t>
            </a:r>
          </a:p>
        </p:txBody>
      </p:sp>
      <p:sp>
        <p:nvSpPr>
          <p:cNvPr id="25" name="Rectangle: Rounded Corners 24">
            <a:extLst>
              <a:ext uri="{FF2B5EF4-FFF2-40B4-BE49-F238E27FC236}">
                <a16:creationId xmlns:a16="http://schemas.microsoft.com/office/drawing/2014/main" id="{16E4C3E3-5495-D0EC-D7B0-C680F2CA64D8}"/>
              </a:ext>
            </a:extLst>
          </p:cNvPr>
          <p:cNvSpPr/>
          <p:nvPr/>
        </p:nvSpPr>
        <p:spPr>
          <a:xfrm>
            <a:off x="508000" y="2387600"/>
            <a:ext cx="5461000" cy="29718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DD1E2AF2-F823-AF22-7B8A-87F9426075F4}"/>
              </a:ext>
            </a:extLst>
          </p:cNvPr>
          <p:cNvSpPr txBox="1"/>
          <p:nvPr/>
        </p:nvSpPr>
        <p:spPr>
          <a:xfrm>
            <a:off x="685800" y="2565400"/>
            <a:ext cx="5105400" cy="2616200"/>
          </a:xfrm>
          <a:prstGeom prst="rect">
            <a:avLst/>
          </a:prstGeom>
          <a:noFill/>
        </p:spPr>
        <p:txBody>
          <a:bodyPr vert="horz" wrap="square" lIns="0" tIns="0" rIns="0" bIns="0" rtlCol="0" anchor="t">
            <a:noAutofit/>
          </a:bodyPr>
          <a:lstStyle/>
          <a:p>
            <a:pPr>
              <a:spcAft>
                <a:spcPts val="600"/>
              </a:spcAft>
            </a:pPr>
            <a:r>
              <a:rPr lang="en-US" sz="1500" b="1">
                <a:solidFill>
                  <a:srgbClr val="A84A2E"/>
                </a:solidFill>
                <a:latin typeface="Calibri" panose="020F0502020204030204" pitchFamily="34" charset="0"/>
              </a:rPr>
              <a:t>Compliance categories (examples)</a:t>
            </a:r>
          </a:p>
          <a:p>
            <a:pPr marL="203200" indent="-203200">
              <a:spcAft>
                <a:spcPts val="400"/>
              </a:spcAft>
              <a:buClr>
                <a:srgbClr val="A84A2E"/>
              </a:buClr>
              <a:buFont typeface="+mj-lt"/>
              <a:buChar char="•"/>
            </a:pPr>
            <a:r>
              <a:rPr lang="en-US" sz="1300" b="1">
                <a:solidFill>
                  <a:srgbClr val="14213D"/>
                </a:solidFill>
                <a:latin typeface="Calibri" panose="020F0502020204030204" pitchFamily="34" charset="0"/>
              </a:rPr>
              <a:t>Regulatory and legal:</a:t>
            </a:r>
            <a:r>
              <a:rPr lang="en-US" sz="1300">
                <a:solidFill>
                  <a:srgbClr val="1F2937"/>
                </a:solidFill>
                <a:latin typeface="Calibri" panose="020F0502020204030204" pitchFamily="34" charset="0"/>
              </a:rPr>
              <a:t> permits, privacy law, labor rules.</a:t>
            </a:r>
          </a:p>
          <a:p>
            <a:pPr marL="203200" indent="-203200">
              <a:spcAft>
                <a:spcPts val="400"/>
              </a:spcAft>
              <a:buClr>
                <a:srgbClr val="A84A2E"/>
              </a:buClr>
              <a:buFont typeface="+mj-lt"/>
              <a:buChar char="•"/>
            </a:pPr>
            <a:r>
              <a:rPr lang="en-US" sz="1300" b="1">
                <a:solidFill>
                  <a:srgbClr val="14213D"/>
                </a:solidFill>
                <a:latin typeface="Calibri" panose="020F0502020204030204" pitchFamily="34" charset="0"/>
              </a:rPr>
              <a:t>Industry standards:</a:t>
            </a:r>
            <a:r>
              <a:rPr lang="en-US" sz="1300">
                <a:solidFill>
                  <a:srgbClr val="1F2937"/>
                </a:solidFill>
                <a:latin typeface="Calibri" panose="020F0502020204030204" pitchFamily="34" charset="0"/>
              </a:rPr>
              <a:t> ISO 9001, safety codes, accessibility.</a:t>
            </a:r>
          </a:p>
          <a:p>
            <a:pPr marL="203200" indent="-203200">
              <a:spcAft>
                <a:spcPts val="400"/>
              </a:spcAft>
              <a:buClr>
                <a:srgbClr val="A84A2E"/>
              </a:buClr>
              <a:buFont typeface="+mj-lt"/>
              <a:buChar char="•"/>
            </a:pPr>
            <a:r>
              <a:rPr lang="en-US" sz="1300">
                <a:solidFill>
                  <a:srgbClr val="1F2937"/>
                </a:solidFill>
                <a:latin typeface="Calibri" panose="020F0502020204030204" pitchFamily="34" charset="0"/>
              </a:rPr>
              <a:t>Security and data protection.</a:t>
            </a:r>
          </a:p>
          <a:p>
            <a:pPr marL="203200" indent="-203200">
              <a:spcAft>
                <a:spcPts val="400"/>
              </a:spcAft>
              <a:buClr>
                <a:srgbClr val="A84A2E"/>
              </a:buClr>
              <a:buFont typeface="+mj-lt"/>
              <a:buChar char="•"/>
            </a:pPr>
            <a:r>
              <a:rPr lang="en-US" sz="1300">
                <a:solidFill>
                  <a:srgbClr val="1F2937"/>
                </a:solidFill>
                <a:latin typeface="Calibri" panose="020F0502020204030204" pitchFamily="34" charset="0"/>
              </a:rPr>
              <a:t>Health, safety, and environment, including sustainability.</a:t>
            </a:r>
          </a:p>
          <a:p>
            <a:pPr marL="203200" indent="-203200">
              <a:spcAft>
                <a:spcPts val="400"/>
              </a:spcAft>
              <a:buClr>
                <a:srgbClr val="A84A2E"/>
              </a:buClr>
              <a:buFont typeface="+mj-lt"/>
              <a:buChar char="•"/>
            </a:pPr>
            <a:r>
              <a:rPr lang="en-US" sz="1300">
                <a:solidFill>
                  <a:srgbClr val="1F2937"/>
                </a:solidFill>
                <a:latin typeface="Calibri" panose="020F0502020204030204" pitchFamily="34" charset="0"/>
              </a:rPr>
              <a:t>Contractual terms and internal policies.</a:t>
            </a:r>
          </a:p>
        </p:txBody>
      </p:sp>
      <p:sp>
        <p:nvSpPr>
          <p:cNvPr id="27" name="Rectangle: Rounded Corners 26">
            <a:extLst>
              <a:ext uri="{FF2B5EF4-FFF2-40B4-BE49-F238E27FC236}">
                <a16:creationId xmlns:a16="http://schemas.microsoft.com/office/drawing/2014/main" id="{E50479B4-1396-DA9B-FF0E-1557CB3E44BE}"/>
              </a:ext>
            </a:extLst>
          </p:cNvPr>
          <p:cNvSpPr/>
          <p:nvPr/>
        </p:nvSpPr>
        <p:spPr>
          <a:xfrm>
            <a:off x="6223000" y="2387600"/>
            <a:ext cx="5461000" cy="29718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A91B8F69-9DA8-B794-DC7B-C6E7C1564BAC}"/>
              </a:ext>
            </a:extLst>
          </p:cNvPr>
          <p:cNvSpPr txBox="1"/>
          <p:nvPr/>
        </p:nvSpPr>
        <p:spPr>
          <a:xfrm>
            <a:off x="6400800" y="2565400"/>
            <a:ext cx="5105400" cy="26162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Methods to support compliance</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Build requirements into scope, quality criteria, and the definition of done.</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Assign owners and track items in a compliance register.</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Use audits, inspections, checklists, and training.</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Link compliance threats to the risk register; involve legal early.</a:t>
            </a:r>
          </a:p>
          <a:p>
            <a:pPr marL="203200" indent="-203200">
              <a:spcAft>
                <a:spcPts val="400"/>
              </a:spcAft>
              <a:buClr>
                <a:srgbClr val="34509A"/>
              </a:buClr>
              <a:buFont typeface="+mj-lt"/>
              <a:buChar char="•"/>
            </a:pPr>
            <a:r>
              <a:rPr lang="en-US" sz="1300">
                <a:solidFill>
                  <a:srgbClr val="1F2937"/>
                </a:solidFill>
                <a:latin typeface="Calibri" panose="020F0502020204030204" pitchFamily="34" charset="0"/>
              </a:rPr>
              <a:t>Report compliance status through governance.</a:t>
            </a:r>
          </a:p>
        </p:txBody>
      </p:sp>
      <p:sp>
        <p:nvSpPr>
          <p:cNvPr id="29" name="Rectangle: Rounded Corners 28">
            <a:extLst>
              <a:ext uri="{FF2B5EF4-FFF2-40B4-BE49-F238E27FC236}">
                <a16:creationId xmlns:a16="http://schemas.microsoft.com/office/drawing/2014/main" id="{B018E112-3F6E-F199-C570-828063732C83}"/>
              </a:ext>
            </a:extLst>
          </p:cNvPr>
          <p:cNvSpPr/>
          <p:nvPr/>
        </p:nvSpPr>
        <p:spPr>
          <a:xfrm>
            <a:off x="508000" y="5486400"/>
            <a:ext cx="11176000" cy="838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5A4284D2-D57C-F95F-F8CE-D00EBCF9C3B3}"/>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noncompliance carries legal, financial, and reputational consequences. Plan for compliance up front and measure it regularly; don’t wait for an audit to find the gaps.</a:t>
            </a:r>
          </a:p>
        </p:txBody>
      </p:sp>
      <p:sp>
        <p:nvSpPr>
          <p:cNvPr id="31" name="Footer">
            <a:extLst>
              <a:ext uri="{FF2B5EF4-FFF2-40B4-BE49-F238E27FC236}">
                <a16:creationId xmlns:a16="http://schemas.microsoft.com/office/drawing/2014/main" id="{FCA8FCCE-9521-16A2-1780-41494CA5EDA8}"/>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PMP® Examination Content Outline (July 2026), Business Environment Task 2; PMI, PMBOK® Guide — Sixth Edition, 8.1 and 11.2</a:t>
            </a:r>
          </a:p>
        </p:txBody>
      </p:sp>
      <p:sp>
        <p:nvSpPr>
          <p:cNvPr id="32" name="SlideNum">
            <a:extLst>
              <a:ext uri="{FF2B5EF4-FFF2-40B4-BE49-F238E27FC236}">
                <a16:creationId xmlns:a16="http://schemas.microsoft.com/office/drawing/2014/main" id="{75106C4A-CB85-D10B-E556-15E54DC37B79}"/>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72</a:t>
            </a:r>
          </a:p>
        </p:txBody>
      </p:sp>
      <p:sp>
        <p:nvSpPr>
          <p:cNvPr id="33"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9454155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F9AD018-57A4-6654-8C1D-B51985B31AF3}"/>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Integrated change control and the CCB</a:t>
            </a:r>
          </a:p>
        </p:txBody>
      </p:sp>
      <p:sp>
        <p:nvSpPr>
          <p:cNvPr id="3" name="Tag">
            <a:extLst>
              <a:ext uri="{FF2B5EF4-FFF2-40B4-BE49-F238E27FC236}">
                <a16:creationId xmlns:a16="http://schemas.microsoft.com/office/drawing/2014/main" id="{52A5808A-6D38-34B6-8CEA-086D53D20116}"/>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A84A2E"/>
                </a:solidFill>
                <a:latin typeface="Calibri" panose="020F0502020204030204" pitchFamily="34" charset="0"/>
              </a:rPr>
              <a:t>Business Environment deep dive · Supports Task 3 (Manage and control changes)</a:t>
            </a:r>
          </a:p>
        </p:txBody>
      </p:sp>
      <p:sp>
        <p:nvSpPr>
          <p:cNvPr id="4" name="Rectangle: Rounded Corners 3">
            <a:extLst>
              <a:ext uri="{FF2B5EF4-FFF2-40B4-BE49-F238E27FC236}">
                <a16:creationId xmlns:a16="http://schemas.microsoft.com/office/drawing/2014/main" id="{B3D8C17B-8441-C24A-F139-60EB736D47DB}"/>
              </a:ext>
            </a:extLst>
          </p:cNvPr>
          <p:cNvSpPr/>
          <p:nvPr/>
        </p:nvSpPr>
        <p:spPr>
          <a:xfrm>
            <a:off x="508000" y="1320800"/>
            <a:ext cx="1752600" cy="1219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80BFF0E-88D8-380D-F3AE-F077A59A7381}"/>
              </a:ext>
            </a:extLst>
          </p:cNvPr>
          <p:cNvSpPr txBox="1"/>
          <p:nvPr/>
        </p:nvSpPr>
        <p:spPr>
          <a:xfrm>
            <a:off x="635000" y="1447800"/>
            <a:ext cx="1498600" cy="965200"/>
          </a:xfrm>
          <a:prstGeom prst="rect">
            <a:avLst/>
          </a:prstGeom>
          <a:noFill/>
        </p:spPr>
        <p:txBody>
          <a:bodyPr vert="horz" wrap="square" lIns="0" tIns="0" rIns="0" bIns="0" rtlCol="0" anchor="t">
            <a:noAutofit/>
          </a:bodyPr>
          <a:lstStyle/>
          <a:p>
            <a:pPr>
              <a:spcAft>
                <a:spcPts val="600"/>
              </a:spcAft>
            </a:pPr>
            <a:r>
              <a:rPr lang="en-US" sz="1400" b="1">
                <a:solidFill>
                  <a:srgbClr val="A84A2E"/>
                </a:solidFill>
                <a:latin typeface="Calibri" panose="020F0502020204030204" pitchFamily="34" charset="0"/>
              </a:rPr>
              <a:t>1  Request</a:t>
            </a:r>
          </a:p>
          <a:p>
            <a:r>
              <a:rPr lang="en-US" sz="1200">
                <a:solidFill>
                  <a:srgbClr val="1F2937"/>
                </a:solidFill>
                <a:latin typeface="Calibri" panose="020F0502020204030204" pitchFamily="34" charset="0"/>
              </a:rPr>
              <a:t>Submitted in writing; anyone can raise one</a:t>
            </a:r>
          </a:p>
        </p:txBody>
      </p:sp>
      <p:sp>
        <p:nvSpPr>
          <p:cNvPr id="6" name="Rectangle: Rounded Corners 5">
            <a:extLst>
              <a:ext uri="{FF2B5EF4-FFF2-40B4-BE49-F238E27FC236}">
                <a16:creationId xmlns:a16="http://schemas.microsoft.com/office/drawing/2014/main" id="{3B1A9706-0FD6-34F8-D19B-D45E554708DA}"/>
              </a:ext>
            </a:extLst>
          </p:cNvPr>
          <p:cNvSpPr/>
          <p:nvPr/>
        </p:nvSpPr>
        <p:spPr>
          <a:xfrm>
            <a:off x="2392680" y="1320800"/>
            <a:ext cx="1752600" cy="1219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67070D4-69C6-4332-2168-9370F3EAF0BF}"/>
              </a:ext>
            </a:extLst>
          </p:cNvPr>
          <p:cNvSpPr txBox="1"/>
          <p:nvPr/>
        </p:nvSpPr>
        <p:spPr>
          <a:xfrm>
            <a:off x="2519680" y="1447800"/>
            <a:ext cx="1498600" cy="965200"/>
          </a:xfrm>
          <a:prstGeom prst="rect">
            <a:avLst/>
          </a:prstGeom>
          <a:noFill/>
        </p:spPr>
        <p:txBody>
          <a:bodyPr vert="horz" wrap="square" lIns="0" tIns="0" rIns="0" bIns="0" rtlCol="0" anchor="t">
            <a:noAutofit/>
          </a:bodyPr>
          <a:lstStyle/>
          <a:p>
            <a:pPr>
              <a:spcAft>
                <a:spcPts val="600"/>
              </a:spcAft>
            </a:pPr>
            <a:r>
              <a:rPr lang="en-US" sz="1400" b="1">
                <a:solidFill>
                  <a:srgbClr val="A84A2E"/>
                </a:solidFill>
                <a:latin typeface="Calibri" panose="020F0502020204030204" pitchFamily="34" charset="0"/>
              </a:rPr>
              <a:t>2  Analyze impact</a:t>
            </a:r>
          </a:p>
          <a:p>
            <a:r>
              <a:rPr lang="en-US" sz="1200">
                <a:solidFill>
                  <a:srgbClr val="1F2937"/>
                </a:solidFill>
                <a:latin typeface="Calibri" panose="020F0502020204030204" pitchFamily="34" charset="0"/>
              </a:rPr>
              <a:t>Scope, schedule, cost, quality, and risk</a:t>
            </a:r>
          </a:p>
        </p:txBody>
      </p:sp>
      <p:sp>
        <p:nvSpPr>
          <p:cNvPr id="8" name="Rectangle: Rounded Corners 7">
            <a:extLst>
              <a:ext uri="{FF2B5EF4-FFF2-40B4-BE49-F238E27FC236}">
                <a16:creationId xmlns:a16="http://schemas.microsoft.com/office/drawing/2014/main" id="{60D85B7A-6813-6AE3-8025-5A235BBA730D}"/>
              </a:ext>
            </a:extLst>
          </p:cNvPr>
          <p:cNvSpPr/>
          <p:nvPr/>
        </p:nvSpPr>
        <p:spPr>
          <a:xfrm>
            <a:off x="4277360" y="1320800"/>
            <a:ext cx="1752600" cy="1219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CBCDB7A-5D0D-6550-8EE3-C33C0698F7A6}"/>
              </a:ext>
            </a:extLst>
          </p:cNvPr>
          <p:cNvSpPr txBox="1"/>
          <p:nvPr/>
        </p:nvSpPr>
        <p:spPr>
          <a:xfrm>
            <a:off x="4404360" y="1447800"/>
            <a:ext cx="1498600" cy="965200"/>
          </a:xfrm>
          <a:prstGeom prst="rect">
            <a:avLst/>
          </a:prstGeom>
          <a:noFill/>
        </p:spPr>
        <p:txBody>
          <a:bodyPr vert="horz" wrap="square" lIns="0" tIns="0" rIns="0" bIns="0" rtlCol="0" anchor="t">
            <a:noAutofit/>
          </a:bodyPr>
          <a:lstStyle/>
          <a:p>
            <a:pPr>
              <a:spcAft>
                <a:spcPts val="600"/>
              </a:spcAft>
            </a:pPr>
            <a:r>
              <a:rPr lang="en-US" sz="1400" b="1">
                <a:solidFill>
                  <a:srgbClr val="A84A2E"/>
                </a:solidFill>
                <a:latin typeface="Calibri" panose="020F0502020204030204" pitchFamily="34" charset="0"/>
              </a:rPr>
              <a:t>3  CCB decides</a:t>
            </a:r>
          </a:p>
          <a:p>
            <a:r>
              <a:rPr lang="en-US" sz="1200">
                <a:solidFill>
                  <a:srgbClr val="1F2937"/>
                </a:solidFill>
                <a:latin typeface="Calibri" panose="020F0502020204030204" pitchFamily="34" charset="0"/>
              </a:rPr>
              <a:t>Approve, reject, or defer</a:t>
            </a:r>
          </a:p>
        </p:txBody>
      </p:sp>
      <p:sp>
        <p:nvSpPr>
          <p:cNvPr id="10" name="Rectangle: Rounded Corners 9">
            <a:extLst>
              <a:ext uri="{FF2B5EF4-FFF2-40B4-BE49-F238E27FC236}">
                <a16:creationId xmlns:a16="http://schemas.microsoft.com/office/drawing/2014/main" id="{467E3AD3-9A71-0CB3-A4AE-E5DB8521F498}"/>
              </a:ext>
            </a:extLst>
          </p:cNvPr>
          <p:cNvSpPr/>
          <p:nvPr/>
        </p:nvSpPr>
        <p:spPr>
          <a:xfrm>
            <a:off x="6162040" y="1320800"/>
            <a:ext cx="1752600" cy="1219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D0E7E76-B80C-407B-DF4B-6A895F144846}"/>
              </a:ext>
            </a:extLst>
          </p:cNvPr>
          <p:cNvSpPr txBox="1"/>
          <p:nvPr/>
        </p:nvSpPr>
        <p:spPr>
          <a:xfrm>
            <a:off x="6289040" y="1447800"/>
            <a:ext cx="1498600" cy="965200"/>
          </a:xfrm>
          <a:prstGeom prst="rect">
            <a:avLst/>
          </a:prstGeom>
          <a:noFill/>
        </p:spPr>
        <p:txBody>
          <a:bodyPr vert="horz" wrap="square" lIns="0" tIns="0" rIns="0" bIns="0" rtlCol="0" anchor="t">
            <a:noAutofit/>
          </a:bodyPr>
          <a:lstStyle/>
          <a:p>
            <a:pPr>
              <a:spcAft>
                <a:spcPts val="600"/>
              </a:spcAft>
            </a:pPr>
            <a:r>
              <a:rPr lang="en-US" sz="1400" b="1">
                <a:solidFill>
                  <a:srgbClr val="A84A2E"/>
                </a:solidFill>
                <a:latin typeface="Calibri" panose="020F0502020204030204" pitchFamily="34" charset="0"/>
              </a:rPr>
              <a:t>4  Update</a:t>
            </a:r>
          </a:p>
          <a:p>
            <a:r>
              <a:rPr lang="en-US" sz="1200">
                <a:solidFill>
                  <a:srgbClr val="1F2937"/>
                </a:solidFill>
                <a:latin typeface="Calibri" panose="020F0502020204030204" pitchFamily="34" charset="0"/>
              </a:rPr>
              <a:t>Plan, baselines, and documents</a:t>
            </a:r>
          </a:p>
        </p:txBody>
      </p:sp>
      <p:sp>
        <p:nvSpPr>
          <p:cNvPr id="12" name="Rectangle: Rounded Corners 11">
            <a:extLst>
              <a:ext uri="{FF2B5EF4-FFF2-40B4-BE49-F238E27FC236}">
                <a16:creationId xmlns:a16="http://schemas.microsoft.com/office/drawing/2014/main" id="{563B2F56-1B87-DB7A-71D9-6A4D9BE332E6}"/>
              </a:ext>
            </a:extLst>
          </p:cNvPr>
          <p:cNvSpPr/>
          <p:nvPr/>
        </p:nvSpPr>
        <p:spPr>
          <a:xfrm>
            <a:off x="8046720" y="1320800"/>
            <a:ext cx="1752600" cy="1219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BB88CC3-FE30-29C0-09CD-424DC013B975}"/>
              </a:ext>
            </a:extLst>
          </p:cNvPr>
          <p:cNvSpPr txBox="1"/>
          <p:nvPr/>
        </p:nvSpPr>
        <p:spPr>
          <a:xfrm>
            <a:off x="8173720" y="1447800"/>
            <a:ext cx="1498600" cy="965200"/>
          </a:xfrm>
          <a:prstGeom prst="rect">
            <a:avLst/>
          </a:prstGeom>
          <a:noFill/>
        </p:spPr>
        <p:txBody>
          <a:bodyPr vert="horz" wrap="square" lIns="0" tIns="0" rIns="0" bIns="0" rtlCol="0" anchor="t">
            <a:noAutofit/>
          </a:bodyPr>
          <a:lstStyle/>
          <a:p>
            <a:pPr>
              <a:spcAft>
                <a:spcPts val="600"/>
              </a:spcAft>
            </a:pPr>
            <a:r>
              <a:rPr lang="en-US" sz="1400" b="1">
                <a:solidFill>
                  <a:srgbClr val="A84A2E"/>
                </a:solidFill>
                <a:latin typeface="Calibri" panose="020F0502020204030204" pitchFamily="34" charset="0"/>
              </a:rPr>
              <a:t>5  Implement</a:t>
            </a:r>
          </a:p>
          <a:p>
            <a:r>
              <a:rPr lang="en-US" sz="1200">
                <a:solidFill>
                  <a:srgbClr val="1F2937"/>
                </a:solidFill>
                <a:latin typeface="Calibri" panose="020F0502020204030204" pitchFamily="34" charset="0"/>
              </a:rPr>
              <a:t>Only approved changes</a:t>
            </a:r>
          </a:p>
        </p:txBody>
      </p:sp>
      <p:sp>
        <p:nvSpPr>
          <p:cNvPr id="14" name="Rectangle: Rounded Corners 13">
            <a:extLst>
              <a:ext uri="{FF2B5EF4-FFF2-40B4-BE49-F238E27FC236}">
                <a16:creationId xmlns:a16="http://schemas.microsoft.com/office/drawing/2014/main" id="{227FF1C3-1C07-25AA-C173-2A9110668AE1}"/>
              </a:ext>
            </a:extLst>
          </p:cNvPr>
          <p:cNvSpPr/>
          <p:nvPr/>
        </p:nvSpPr>
        <p:spPr>
          <a:xfrm>
            <a:off x="9931400" y="1320800"/>
            <a:ext cx="1752600" cy="1219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6E03EAC-C43E-9F24-EB4D-8FDB2D07DC1D}"/>
              </a:ext>
            </a:extLst>
          </p:cNvPr>
          <p:cNvSpPr txBox="1"/>
          <p:nvPr/>
        </p:nvSpPr>
        <p:spPr>
          <a:xfrm>
            <a:off x="10058400" y="1447800"/>
            <a:ext cx="1498600" cy="965200"/>
          </a:xfrm>
          <a:prstGeom prst="rect">
            <a:avLst/>
          </a:prstGeom>
          <a:noFill/>
        </p:spPr>
        <p:txBody>
          <a:bodyPr vert="horz" wrap="square" lIns="0" tIns="0" rIns="0" bIns="0" rtlCol="0" anchor="t">
            <a:noAutofit/>
          </a:bodyPr>
          <a:lstStyle/>
          <a:p>
            <a:pPr>
              <a:spcAft>
                <a:spcPts val="600"/>
              </a:spcAft>
            </a:pPr>
            <a:r>
              <a:rPr lang="en-US" sz="1400" b="1">
                <a:solidFill>
                  <a:srgbClr val="A84A2E"/>
                </a:solidFill>
                <a:latin typeface="Calibri" panose="020F0502020204030204" pitchFamily="34" charset="0"/>
              </a:rPr>
              <a:t>6  Communicate</a:t>
            </a:r>
          </a:p>
          <a:p>
            <a:r>
              <a:rPr lang="en-US" sz="1200">
                <a:solidFill>
                  <a:srgbClr val="1F2937"/>
                </a:solidFill>
                <a:latin typeface="Calibri" panose="020F0502020204030204" pitchFamily="34" charset="0"/>
              </a:rPr>
              <a:t>Tell everyone affected</a:t>
            </a:r>
          </a:p>
        </p:txBody>
      </p:sp>
      <p:sp>
        <p:nvSpPr>
          <p:cNvPr id="16" name="Rectangle: Rounded Corners 15">
            <a:extLst>
              <a:ext uri="{FF2B5EF4-FFF2-40B4-BE49-F238E27FC236}">
                <a16:creationId xmlns:a16="http://schemas.microsoft.com/office/drawing/2014/main" id="{1D2F5A34-4495-FE0C-241B-2E965A5C780C}"/>
              </a:ext>
            </a:extLst>
          </p:cNvPr>
          <p:cNvSpPr/>
          <p:nvPr/>
        </p:nvSpPr>
        <p:spPr>
          <a:xfrm>
            <a:off x="508000" y="2692400"/>
            <a:ext cx="5461000" cy="26670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54EC132-0F5C-C546-FD43-804E95228C5B}"/>
              </a:ext>
            </a:extLst>
          </p:cNvPr>
          <p:cNvSpPr txBox="1"/>
          <p:nvPr/>
        </p:nvSpPr>
        <p:spPr>
          <a:xfrm>
            <a:off x="685800" y="2870200"/>
            <a:ext cx="5105400" cy="2311400"/>
          </a:xfrm>
          <a:prstGeom prst="rect">
            <a:avLst/>
          </a:prstGeom>
          <a:noFill/>
        </p:spPr>
        <p:txBody>
          <a:bodyPr vert="horz" wrap="square" lIns="0" tIns="0" rIns="0" bIns="0" rtlCol="0" anchor="t">
            <a:noAutofit/>
          </a:bodyPr>
          <a:lstStyle/>
          <a:p>
            <a:pPr>
              <a:spcAft>
                <a:spcPts val="600"/>
              </a:spcAft>
            </a:pPr>
            <a:r>
              <a:rPr lang="en-US" sz="1500" b="1">
                <a:solidFill>
                  <a:srgbClr val="A84A2E"/>
                </a:solidFill>
                <a:latin typeface="Calibri" panose="020F0502020204030204" pitchFamily="34" charset="0"/>
              </a:rPr>
              <a:t>The change control board (CCB)</a:t>
            </a:r>
          </a:p>
          <a:p>
            <a:pPr marL="203200" indent="-203200">
              <a:spcAft>
                <a:spcPts val="400"/>
              </a:spcAft>
              <a:buClr>
                <a:srgbClr val="A84A2E"/>
              </a:buClr>
              <a:buFont typeface="+mj-lt"/>
              <a:buChar char="•"/>
            </a:pPr>
            <a:r>
              <a:rPr lang="en-US" sz="1300">
                <a:solidFill>
                  <a:srgbClr val="1F2937"/>
                </a:solidFill>
                <a:latin typeface="Calibri" panose="020F0502020204030204" pitchFamily="34" charset="0"/>
              </a:rPr>
              <a:t>A formally chartered group, often the sponsor, project manager, and key stakeholders, that approves, defers, or rejects changes.</a:t>
            </a:r>
          </a:p>
          <a:p>
            <a:pPr marL="203200" indent="-203200">
              <a:spcAft>
                <a:spcPts val="400"/>
              </a:spcAft>
              <a:buClr>
                <a:srgbClr val="A84A2E"/>
              </a:buClr>
              <a:buFont typeface="+mj-lt"/>
              <a:buChar char="•"/>
            </a:pPr>
            <a:r>
              <a:rPr lang="en-US" sz="1300">
                <a:solidFill>
                  <a:srgbClr val="1F2937"/>
                </a:solidFill>
                <a:latin typeface="Calibri" panose="020F0502020204030204" pitchFamily="34" charset="0"/>
              </a:rPr>
              <a:t>The project manager doesn’t approve baseline changes alone unless the plan delegates that authority.</a:t>
            </a:r>
          </a:p>
          <a:p>
            <a:pPr marL="203200" indent="-203200">
              <a:spcAft>
                <a:spcPts val="400"/>
              </a:spcAft>
              <a:buClr>
                <a:srgbClr val="A84A2E"/>
              </a:buClr>
              <a:buFont typeface="+mj-lt"/>
              <a:buChar char="•"/>
            </a:pPr>
            <a:r>
              <a:rPr lang="en-US" sz="1300">
                <a:solidFill>
                  <a:srgbClr val="1F2937"/>
                </a:solidFill>
                <a:latin typeface="Calibri" panose="020F0502020204030204" pitchFamily="34" charset="0"/>
              </a:rPr>
              <a:t>The change log records every request and its outcome.</a:t>
            </a:r>
          </a:p>
          <a:p>
            <a:pPr marL="203200" indent="-203200">
              <a:spcAft>
                <a:spcPts val="400"/>
              </a:spcAft>
              <a:buClr>
                <a:srgbClr val="A84A2E"/>
              </a:buClr>
              <a:buFont typeface="+mj-lt"/>
              <a:buChar char="•"/>
            </a:pPr>
            <a:r>
              <a:rPr lang="en-US" sz="1300">
                <a:solidFill>
                  <a:srgbClr val="1F2937"/>
                </a:solidFill>
                <a:latin typeface="Calibri" panose="020F0502020204030204" pitchFamily="34" charset="0"/>
              </a:rPr>
              <a:t>Predictive controls: the assess-and-implement changes process, change requests, the CCB, and artifact updates.</a:t>
            </a:r>
          </a:p>
        </p:txBody>
      </p:sp>
      <p:sp>
        <p:nvSpPr>
          <p:cNvPr id="18" name="Rectangle: Rounded Corners 17">
            <a:extLst>
              <a:ext uri="{FF2B5EF4-FFF2-40B4-BE49-F238E27FC236}">
                <a16:creationId xmlns:a16="http://schemas.microsoft.com/office/drawing/2014/main" id="{DDD51B5F-605A-7A0C-8A8E-9398E4F262DF}"/>
              </a:ext>
            </a:extLst>
          </p:cNvPr>
          <p:cNvSpPr/>
          <p:nvPr/>
        </p:nvSpPr>
        <p:spPr>
          <a:xfrm>
            <a:off x="6223000" y="2692400"/>
            <a:ext cx="5461000" cy="26670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3DE3FCB-5194-5970-A7C5-73AE3B5E7169}"/>
              </a:ext>
            </a:extLst>
          </p:cNvPr>
          <p:cNvSpPr txBox="1"/>
          <p:nvPr/>
        </p:nvSpPr>
        <p:spPr>
          <a:xfrm>
            <a:off x="6400800" y="2870200"/>
            <a:ext cx="5105400" cy="2311400"/>
          </a:xfrm>
          <a:prstGeom prst="rect">
            <a:avLst/>
          </a:prstGeom>
          <a:noFill/>
        </p:spPr>
        <p:txBody>
          <a:bodyPr vert="horz" wrap="square" lIns="0" tIns="0" rIns="0" bIns="0" rtlCol="0" anchor="t">
            <a:noAutofit/>
          </a:bodyPr>
          <a:lstStyle/>
          <a:p>
            <a:pPr>
              <a:spcAft>
                <a:spcPts val="600"/>
              </a:spcAft>
            </a:pPr>
            <a:r>
              <a:rPr lang="en-US" sz="1500" b="1">
                <a:solidFill>
                  <a:srgbClr val="A86F0E"/>
                </a:solidFill>
                <a:latin typeface="Calibri" panose="020F0502020204030204" pitchFamily="34" charset="0"/>
              </a:rPr>
              <a:t>In adaptive projects</a:t>
            </a:r>
          </a:p>
          <a:p>
            <a:pPr marL="203200" indent="-203200">
              <a:spcAft>
                <a:spcPts val="400"/>
              </a:spcAft>
              <a:buClr>
                <a:srgbClr val="A86F0E"/>
              </a:buClr>
              <a:buFont typeface="+mj-lt"/>
              <a:buChar char="•"/>
            </a:pPr>
            <a:r>
              <a:rPr lang="en-US" sz="1300">
                <a:solidFill>
                  <a:srgbClr val="1F2937"/>
                </a:solidFill>
                <a:latin typeface="Calibri" panose="020F0502020204030204" pitchFamily="34" charset="0"/>
              </a:rPr>
              <a:t>Change is expected: new work goes into the product backlog, and the product owner reprioritizes it.</a:t>
            </a:r>
          </a:p>
          <a:p>
            <a:pPr marL="203200" indent="-203200">
              <a:spcAft>
                <a:spcPts val="400"/>
              </a:spcAft>
              <a:buClr>
                <a:srgbClr val="A86F0E"/>
              </a:buClr>
              <a:buFont typeface="+mj-lt"/>
              <a:buChar char="•"/>
            </a:pPr>
            <a:r>
              <a:rPr lang="en-US" sz="1300">
                <a:solidFill>
                  <a:srgbClr val="1F2937"/>
                </a:solidFill>
                <a:latin typeface="Calibri" panose="020F0502020204030204" pitchFamily="34" charset="0"/>
              </a:rPr>
              <a:t>The sprint goal is protected during the sprint; scope is renegotiated, not forced in.</a:t>
            </a:r>
          </a:p>
          <a:p>
            <a:pPr marL="203200" indent="-203200">
              <a:spcAft>
                <a:spcPts val="400"/>
              </a:spcAft>
              <a:buClr>
                <a:srgbClr val="A86F0E"/>
              </a:buClr>
              <a:buFont typeface="+mj-lt"/>
              <a:buChar char="•"/>
            </a:pPr>
            <a:r>
              <a:rPr lang="en-US" sz="1300">
                <a:solidFill>
                  <a:srgbClr val="1F2937"/>
                </a:solidFill>
                <a:latin typeface="Calibri" panose="020F0502020204030204" pitchFamily="34" charset="0"/>
              </a:rPr>
              <a:t>In hybrid projects, contracts and funding may still have baselines.</a:t>
            </a:r>
          </a:p>
          <a:p>
            <a:pPr marL="203200" indent="-203200">
              <a:spcAft>
                <a:spcPts val="400"/>
              </a:spcAft>
              <a:buClr>
                <a:srgbClr val="A86F0E"/>
              </a:buClr>
              <a:buFont typeface="+mj-lt"/>
              <a:buChar char="•"/>
            </a:pPr>
            <a:r>
              <a:rPr lang="en-US" sz="1300">
                <a:solidFill>
                  <a:srgbClr val="1F2937"/>
                </a:solidFill>
                <a:latin typeface="Calibri" panose="020F0502020204030204" pitchFamily="34" charset="0"/>
              </a:rPr>
              <a:t>The product owner is the key decision-maker; everyone takes part in backlog refinement, and demos clarify requirements.</a:t>
            </a:r>
          </a:p>
          <a:p>
            <a:pPr marL="203200" indent="-203200">
              <a:spcAft>
                <a:spcPts val="400"/>
              </a:spcAft>
              <a:buClr>
                <a:srgbClr val="A86F0E"/>
              </a:buClr>
              <a:buFont typeface="+mj-lt"/>
              <a:buChar char="•"/>
            </a:pPr>
            <a:r>
              <a:rPr lang="en-US" sz="1300">
                <a:solidFill>
                  <a:srgbClr val="1F2937"/>
                </a:solidFill>
                <a:latin typeface="Calibri" panose="020F0502020204030204" pitchFamily="34" charset="0"/>
              </a:rPr>
              <a:t>No changes are pushed into a sprint once it starts. Hybrid projects use whichever controls fit.</a:t>
            </a:r>
          </a:p>
        </p:txBody>
      </p:sp>
      <p:sp>
        <p:nvSpPr>
          <p:cNvPr id="20" name="Rectangle: Rounded Corners 19">
            <a:extLst>
              <a:ext uri="{FF2B5EF4-FFF2-40B4-BE49-F238E27FC236}">
                <a16:creationId xmlns:a16="http://schemas.microsoft.com/office/drawing/2014/main" id="{42581481-10CC-7E8F-CC37-CC01862A2E10}"/>
              </a:ext>
            </a:extLst>
          </p:cNvPr>
          <p:cNvSpPr/>
          <p:nvPr/>
        </p:nvSpPr>
        <p:spPr>
          <a:xfrm>
            <a:off x="508000" y="5486400"/>
            <a:ext cx="11176000" cy="838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388D04A8-3F9C-5B8E-9970-C2BEB7A8B0B0}"/>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evaluate the impact first, then take the request to the CCB. Never implement a change before it is approved; afterward, update the documents and tell the stakeholders.</a:t>
            </a:r>
          </a:p>
        </p:txBody>
      </p:sp>
      <p:sp>
        <p:nvSpPr>
          <p:cNvPr id="22" name="Footer">
            <a:extLst>
              <a:ext uri="{FF2B5EF4-FFF2-40B4-BE49-F238E27FC236}">
                <a16:creationId xmlns:a16="http://schemas.microsoft.com/office/drawing/2014/main" id="{F55AE169-76AA-0E46-FA81-280D686D01BC}"/>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4.6 (Perform Integrated Change Control); PMI and Agile Alliance, Agile Practice Guide (2017)</a:t>
            </a:r>
          </a:p>
        </p:txBody>
      </p:sp>
      <p:sp>
        <p:nvSpPr>
          <p:cNvPr id="23" name="SlideNum">
            <a:extLst>
              <a:ext uri="{FF2B5EF4-FFF2-40B4-BE49-F238E27FC236}">
                <a16:creationId xmlns:a16="http://schemas.microsoft.com/office/drawing/2014/main" id="{489BD702-CFD8-0D4C-55B2-718CADD65424}"/>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73</a:t>
            </a:r>
          </a:p>
        </p:txBody>
      </p:sp>
      <p:sp>
        <p:nvSpPr>
          <p:cNvPr id="24"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84068421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87C08DC-DCC7-430A-0346-EEA9E16BC661}"/>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Predictive change control: the flow</a:t>
            </a:r>
          </a:p>
        </p:txBody>
      </p:sp>
      <p:sp>
        <p:nvSpPr>
          <p:cNvPr id="3" name="Tag">
            <a:extLst>
              <a:ext uri="{FF2B5EF4-FFF2-40B4-BE49-F238E27FC236}">
                <a16:creationId xmlns:a16="http://schemas.microsoft.com/office/drawing/2014/main" id="{1B24E914-8E40-9524-3A38-B013FC1AA89B}"/>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A84A2E"/>
                </a:solidFill>
                <a:latin typeface="Calibri" panose="020F0502020204030204" pitchFamily="34" charset="0"/>
              </a:rPr>
              <a:t>Business Environment deep dive · Supports Task 3 (Execute the change control process)</a:t>
            </a:r>
          </a:p>
        </p:txBody>
      </p:sp>
      <p:sp>
        <p:nvSpPr>
          <p:cNvPr id="4" name="Rectangle: Rounded Corners 3">
            <a:extLst>
              <a:ext uri="{FF2B5EF4-FFF2-40B4-BE49-F238E27FC236}">
                <a16:creationId xmlns:a16="http://schemas.microsoft.com/office/drawing/2014/main" id="{EB74E620-132F-7AA2-55A4-F7178F092234}"/>
              </a:ext>
            </a:extLst>
          </p:cNvPr>
          <p:cNvSpPr/>
          <p:nvPr/>
        </p:nvSpPr>
        <p:spPr>
          <a:xfrm>
            <a:off x="508000" y="1320800"/>
            <a:ext cx="2794000" cy="16256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94E9451-ABC1-5ACD-AB2A-5C74989AFDEA}"/>
              </a:ext>
            </a:extLst>
          </p:cNvPr>
          <p:cNvSpPr txBox="1"/>
          <p:nvPr/>
        </p:nvSpPr>
        <p:spPr>
          <a:xfrm>
            <a:off x="635000" y="1447800"/>
            <a:ext cx="2540000" cy="1371600"/>
          </a:xfrm>
          <a:prstGeom prst="rect">
            <a:avLst/>
          </a:prstGeom>
          <a:noFill/>
        </p:spPr>
        <p:txBody>
          <a:bodyPr vert="horz" wrap="square" lIns="0" tIns="0" rIns="0" bIns="0" rtlCol="0" anchor="t">
            <a:noAutofit/>
          </a:bodyPr>
          <a:lstStyle/>
          <a:p>
            <a:pPr>
              <a:spcAft>
                <a:spcPts val="600"/>
              </a:spcAft>
            </a:pPr>
            <a:r>
              <a:rPr lang="en-US" sz="1300" b="1">
                <a:solidFill>
                  <a:srgbClr val="A84A2E"/>
                </a:solidFill>
                <a:latin typeface="Calibri" panose="020F0502020204030204" pitchFamily="34" charset="0"/>
              </a:rPr>
              <a:t>A formal change control system includes</a:t>
            </a:r>
          </a:p>
          <a:p>
            <a:pPr marL="152400" indent="-152400">
              <a:spcAft>
                <a:spcPts val="400"/>
              </a:spcAft>
              <a:buClr>
                <a:srgbClr val="A84A2E"/>
              </a:buClr>
              <a:buFont typeface="+mj-lt"/>
              <a:buChar char="•"/>
            </a:pPr>
            <a:r>
              <a:rPr lang="en-US" sz="1200">
                <a:solidFill>
                  <a:srgbClr val="1F2937"/>
                </a:solidFill>
                <a:latin typeface="Calibri" panose="020F0502020204030204" pitchFamily="34" charset="0"/>
              </a:rPr>
              <a:t>Forms</a:t>
            </a:r>
          </a:p>
          <a:p>
            <a:pPr marL="152400" indent="-152400">
              <a:spcAft>
                <a:spcPts val="400"/>
              </a:spcAft>
              <a:buClr>
                <a:srgbClr val="A84A2E"/>
              </a:buClr>
              <a:buFont typeface="+mj-lt"/>
              <a:buChar char="•"/>
            </a:pPr>
            <a:r>
              <a:rPr lang="en-US" sz="1200">
                <a:solidFill>
                  <a:srgbClr val="1F2937"/>
                </a:solidFill>
                <a:latin typeface="Calibri" panose="020F0502020204030204" pitchFamily="34" charset="0"/>
              </a:rPr>
              <a:t>Tracking methods</a:t>
            </a:r>
          </a:p>
          <a:p>
            <a:pPr marL="152400" indent="-152400">
              <a:spcAft>
                <a:spcPts val="400"/>
              </a:spcAft>
              <a:buClr>
                <a:srgbClr val="A84A2E"/>
              </a:buClr>
              <a:buFont typeface="+mj-lt"/>
              <a:buChar char="•"/>
            </a:pPr>
            <a:r>
              <a:rPr lang="en-US" sz="1200">
                <a:solidFill>
                  <a:srgbClr val="1F2937"/>
                </a:solidFill>
                <a:latin typeface="Calibri" panose="020F0502020204030204" pitchFamily="34" charset="0"/>
              </a:rPr>
              <a:t>Processes</a:t>
            </a:r>
          </a:p>
          <a:p>
            <a:pPr marL="152400" indent="-152400">
              <a:spcAft>
                <a:spcPts val="400"/>
              </a:spcAft>
              <a:buClr>
                <a:srgbClr val="A84A2E"/>
              </a:buClr>
              <a:buFont typeface="+mj-lt"/>
              <a:buChar char="•"/>
            </a:pPr>
            <a:r>
              <a:rPr lang="en-US" sz="1200">
                <a:solidFill>
                  <a:srgbClr val="1F2937"/>
                </a:solidFill>
                <a:latin typeface="Calibri" panose="020F0502020204030204" pitchFamily="34" charset="0"/>
              </a:rPr>
              <a:t>Approval levels</a:t>
            </a:r>
          </a:p>
        </p:txBody>
      </p:sp>
      <p:sp>
        <p:nvSpPr>
          <p:cNvPr id="6" name="Rectangle: Rounded Corners 5">
            <a:extLst>
              <a:ext uri="{FF2B5EF4-FFF2-40B4-BE49-F238E27FC236}">
                <a16:creationId xmlns:a16="http://schemas.microsoft.com/office/drawing/2014/main" id="{DB977770-5494-04F3-DB77-B39F26A2A6F7}"/>
              </a:ext>
            </a:extLst>
          </p:cNvPr>
          <p:cNvSpPr/>
          <p:nvPr/>
        </p:nvSpPr>
        <p:spPr>
          <a:xfrm>
            <a:off x="508000" y="3073400"/>
            <a:ext cx="2794000" cy="1524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C4E36A7-DD5F-0B4F-C150-6FF809DF104F}"/>
              </a:ext>
            </a:extLst>
          </p:cNvPr>
          <p:cNvSpPr txBox="1"/>
          <p:nvPr/>
        </p:nvSpPr>
        <p:spPr>
          <a:xfrm>
            <a:off x="635000" y="3200400"/>
            <a:ext cx="2540000" cy="1270000"/>
          </a:xfrm>
          <a:prstGeom prst="rect">
            <a:avLst/>
          </a:prstGeom>
          <a:noFill/>
        </p:spPr>
        <p:txBody>
          <a:bodyPr vert="horz" wrap="square" lIns="0" tIns="0" rIns="0" bIns="0" rtlCol="0" anchor="t">
            <a:noAutofit/>
          </a:bodyPr>
          <a:lstStyle/>
          <a:p>
            <a:pPr>
              <a:spcAft>
                <a:spcPts val="600"/>
              </a:spcAft>
            </a:pPr>
            <a:r>
              <a:rPr lang="en-US" sz="1300" b="1">
                <a:solidFill>
                  <a:srgbClr val="34509A"/>
                </a:solidFill>
                <a:latin typeface="Calibri" panose="020F0502020204030204" pitchFamily="34" charset="0"/>
              </a:rPr>
              <a:t>Approval scales with impact</a:t>
            </a:r>
          </a:p>
          <a:p>
            <a:r>
              <a:rPr lang="en-US" sz="1100">
                <a:solidFill>
                  <a:srgbClr val="1F2937"/>
                </a:solidFill>
                <a:latin typeface="Calibri" panose="020F0502020204030204" pitchFamily="34" charset="0"/>
              </a:rPr>
              <a:t>Minor: project manager. Moderate: PM and stakeholders. Major: PM, sponsor, and stakeholders, often the CCB.</a:t>
            </a:r>
          </a:p>
        </p:txBody>
      </p:sp>
      <p:sp>
        <p:nvSpPr>
          <p:cNvPr id="8" name="Rectangle: Rounded Corners 7">
            <a:extLst>
              <a:ext uri="{FF2B5EF4-FFF2-40B4-BE49-F238E27FC236}">
                <a16:creationId xmlns:a16="http://schemas.microsoft.com/office/drawing/2014/main" id="{BE2DDFD4-DC83-8339-C6E2-D09A4171C0DC}"/>
              </a:ext>
            </a:extLst>
          </p:cNvPr>
          <p:cNvSpPr/>
          <p:nvPr/>
        </p:nvSpPr>
        <p:spPr>
          <a:xfrm>
            <a:off x="508000" y="4724400"/>
            <a:ext cx="2794000" cy="1600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2C4CAF3-75E1-EB89-6107-C964CDCFBEA2}"/>
              </a:ext>
            </a:extLst>
          </p:cNvPr>
          <p:cNvSpPr txBox="1"/>
          <p:nvPr/>
        </p:nvSpPr>
        <p:spPr>
          <a:xfrm>
            <a:off x="635000" y="4775200"/>
            <a:ext cx="2540000" cy="1498600"/>
          </a:xfrm>
          <a:prstGeom prst="rect">
            <a:avLst/>
          </a:prstGeom>
          <a:noFill/>
        </p:spPr>
        <p:txBody>
          <a:bodyPr vert="horz" wrap="square" lIns="0" tIns="0" rIns="0" bIns="0" rtlCol="0" anchor="ctr">
            <a:noAutofit/>
          </a:bodyPr>
          <a:lstStyle/>
          <a:p>
            <a:r>
              <a:rPr lang="en-US" sz="1200" i="1">
                <a:solidFill>
                  <a:srgbClr val="14213D"/>
                </a:solidFill>
                <a:latin typeface="Calibri" panose="020F0502020204030204" pitchFamily="34" charset="0"/>
              </a:rPr>
              <a:t>Exam cue: log and assess every request first. The approval level follows the impact, and a rejected request still gets a notice and a change log entry.</a:t>
            </a:r>
          </a:p>
        </p:txBody>
      </p:sp>
      <p:sp>
        <p:nvSpPr>
          <p:cNvPr id="10" name="Rectangle 9">
            <a:extLst>
              <a:ext uri="{FF2B5EF4-FFF2-40B4-BE49-F238E27FC236}">
                <a16:creationId xmlns:a16="http://schemas.microsoft.com/office/drawing/2014/main" id="{13C11401-351D-BA6A-B45D-F96D7440BD09}"/>
              </a:ext>
            </a:extLst>
          </p:cNvPr>
          <p:cNvSpPr/>
          <p:nvPr/>
        </p:nvSpPr>
        <p:spPr>
          <a:xfrm>
            <a:off x="3683000" y="1320800"/>
            <a:ext cx="1524000" cy="381000"/>
          </a:xfrm>
          <a:prstGeom prst="rect">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25400" rIns="38100" bIns="25400" rtlCol="0" anchor="ctr"/>
          <a:lstStyle/>
          <a:p>
            <a:pPr algn="ctr"/>
            <a:r>
              <a:rPr lang="en-US" sz="1000" b="1">
                <a:solidFill>
                  <a:srgbClr val="FFFFFF"/>
                </a:solidFill>
                <a:latin typeface="Calibri" panose="020F0502020204030204" pitchFamily="34" charset="0"/>
              </a:rPr>
              <a:t>Submit change request</a:t>
            </a:r>
          </a:p>
        </p:txBody>
      </p:sp>
      <p:sp>
        <p:nvSpPr>
          <p:cNvPr id="11" name="Rectangle 10">
            <a:extLst>
              <a:ext uri="{FF2B5EF4-FFF2-40B4-BE49-F238E27FC236}">
                <a16:creationId xmlns:a16="http://schemas.microsoft.com/office/drawing/2014/main" id="{83370F32-A64A-89EE-D715-5CF8CA6D1475}"/>
              </a:ext>
            </a:extLst>
          </p:cNvPr>
          <p:cNvSpPr/>
          <p:nvPr/>
        </p:nvSpPr>
        <p:spPr>
          <a:xfrm>
            <a:off x="5461000" y="1320800"/>
            <a:ext cx="2286000" cy="38100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25400" rIns="38100" bIns="25400" rtlCol="0" anchor="ctr"/>
          <a:lstStyle/>
          <a:p>
            <a:pPr algn="ctr"/>
            <a:r>
              <a:rPr lang="en-US" sz="1000" b="1">
                <a:solidFill>
                  <a:srgbClr val="FFFFFF"/>
                </a:solidFill>
                <a:latin typeface="Calibri" panose="020F0502020204030204" pitchFamily="34" charset="0"/>
              </a:rPr>
              <a:t>Log the change request</a:t>
            </a:r>
          </a:p>
        </p:txBody>
      </p:sp>
      <p:cxnSp>
        <p:nvCxnSpPr>
          <p:cNvPr id="12" name="Straight Connector 11">
            <a:extLst>
              <a:ext uri="{FF2B5EF4-FFF2-40B4-BE49-F238E27FC236}">
                <a16:creationId xmlns:a16="http://schemas.microsoft.com/office/drawing/2014/main" id="{D9452881-C852-4440-F257-7686F53FAF8A}"/>
              </a:ext>
            </a:extLst>
          </p:cNvPr>
          <p:cNvCxnSpPr/>
          <p:nvPr/>
        </p:nvCxnSpPr>
        <p:spPr>
          <a:xfrm>
            <a:off x="5207000" y="1511300"/>
            <a:ext cx="254000" cy="0"/>
          </a:xfrm>
          <a:prstGeom prst="line">
            <a:avLst/>
          </a:prstGeom>
          <a:ln w="19050">
            <a:solidFill>
              <a:srgbClr val="5B6475"/>
            </a:solidFill>
            <a:tailEnd type="triangle"/>
          </a:ln>
        </p:spPr>
        <p:style>
          <a:lnRef idx="2">
            <a:schemeClr val="accent1"/>
          </a:lnRef>
          <a:fillRef idx="0">
            <a:schemeClr val="accent1"/>
          </a:fillRef>
          <a:effectRef idx="1">
            <a:schemeClr val="accent1"/>
          </a:effectRef>
          <a:fontRef idx="minor">
            <a:schemeClr val="tx1"/>
          </a:fontRef>
        </p:style>
      </p:cxnSp>
      <p:sp>
        <p:nvSpPr>
          <p:cNvPr id="13" name="Diamond 12">
            <a:extLst>
              <a:ext uri="{FF2B5EF4-FFF2-40B4-BE49-F238E27FC236}">
                <a16:creationId xmlns:a16="http://schemas.microsoft.com/office/drawing/2014/main" id="{D275F37F-7CD5-A819-E56B-673107D61822}"/>
              </a:ext>
            </a:extLst>
          </p:cNvPr>
          <p:cNvSpPr/>
          <p:nvPr/>
        </p:nvSpPr>
        <p:spPr>
          <a:xfrm>
            <a:off x="5461000" y="1854200"/>
            <a:ext cx="2286000" cy="533400"/>
          </a:xfrm>
          <a:prstGeom prst="diamond">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25400" rIns="38100" bIns="25400" rtlCol="0" anchor="ctr"/>
          <a:lstStyle/>
          <a:p>
            <a:pPr algn="ctr"/>
            <a:r>
              <a:rPr lang="en-US" sz="1000" b="1">
                <a:solidFill>
                  <a:srgbClr val="FFFFFF"/>
                </a:solidFill>
                <a:latin typeface="Calibri" panose="020F0502020204030204" pitchFamily="34" charset="0"/>
              </a:rPr>
              <a:t>Passes the initial screen?</a:t>
            </a:r>
          </a:p>
        </p:txBody>
      </p:sp>
      <p:cxnSp>
        <p:nvCxnSpPr>
          <p:cNvPr id="14" name="Straight Connector 13">
            <a:extLst>
              <a:ext uri="{FF2B5EF4-FFF2-40B4-BE49-F238E27FC236}">
                <a16:creationId xmlns:a16="http://schemas.microsoft.com/office/drawing/2014/main" id="{00BA8179-FE78-0279-D72D-C97C6B75BABD}"/>
              </a:ext>
            </a:extLst>
          </p:cNvPr>
          <p:cNvCxnSpPr/>
          <p:nvPr/>
        </p:nvCxnSpPr>
        <p:spPr>
          <a:xfrm>
            <a:off x="6604000" y="1701800"/>
            <a:ext cx="0" cy="152400"/>
          </a:xfrm>
          <a:prstGeom prst="line">
            <a:avLst/>
          </a:prstGeom>
          <a:ln w="19050">
            <a:solidFill>
              <a:srgbClr val="5B6475"/>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1A85B6F4-08BD-B6F4-1393-B6C8A85F5D3A}"/>
              </a:ext>
            </a:extLst>
          </p:cNvPr>
          <p:cNvSpPr/>
          <p:nvPr/>
        </p:nvSpPr>
        <p:spPr>
          <a:xfrm>
            <a:off x="9398000" y="1930400"/>
            <a:ext cx="2159000" cy="381000"/>
          </a:xfrm>
          <a:prstGeom prst="rect">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25400" rIns="38100" bIns="25400" rtlCol="0" anchor="ctr"/>
          <a:lstStyle/>
          <a:p>
            <a:pPr algn="ctr"/>
            <a:r>
              <a:rPr lang="en-US" sz="1000" b="1">
                <a:solidFill>
                  <a:srgbClr val="FFFFFF"/>
                </a:solidFill>
                <a:latin typeface="Calibri" panose="020F0502020204030204" pitchFamily="34" charset="0"/>
              </a:rPr>
              <a:t>Send a rejection notice</a:t>
            </a:r>
          </a:p>
        </p:txBody>
      </p:sp>
      <p:cxnSp>
        <p:nvCxnSpPr>
          <p:cNvPr id="16" name="Straight Connector 15">
            <a:extLst>
              <a:ext uri="{FF2B5EF4-FFF2-40B4-BE49-F238E27FC236}">
                <a16:creationId xmlns:a16="http://schemas.microsoft.com/office/drawing/2014/main" id="{9D6CAE9E-5A05-19B9-046E-BE9E15E521B2}"/>
              </a:ext>
            </a:extLst>
          </p:cNvPr>
          <p:cNvCxnSpPr/>
          <p:nvPr/>
        </p:nvCxnSpPr>
        <p:spPr>
          <a:xfrm>
            <a:off x="7747000" y="2120900"/>
            <a:ext cx="1651000" cy="0"/>
          </a:xfrm>
          <a:prstGeom prst="line">
            <a:avLst/>
          </a:prstGeom>
          <a:ln w="19050">
            <a:solidFill>
              <a:srgbClr val="5B6475"/>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0964ECFC-FF3C-D395-AF53-64D3D2FE790E}"/>
              </a:ext>
            </a:extLst>
          </p:cNvPr>
          <p:cNvSpPr txBox="1"/>
          <p:nvPr/>
        </p:nvSpPr>
        <p:spPr>
          <a:xfrm>
            <a:off x="8128000" y="1930400"/>
            <a:ext cx="508000" cy="177800"/>
          </a:xfrm>
          <a:prstGeom prst="rect">
            <a:avLst/>
          </a:prstGeom>
          <a:noFill/>
        </p:spPr>
        <p:txBody>
          <a:bodyPr vert="horz" wrap="square" lIns="0" tIns="0" rIns="0" bIns="0" rtlCol="0" anchor="t">
            <a:noAutofit/>
          </a:bodyPr>
          <a:lstStyle/>
          <a:p>
            <a:r>
              <a:rPr lang="en-US" sz="1000" b="1">
                <a:solidFill>
                  <a:srgbClr val="A84A2E"/>
                </a:solidFill>
                <a:latin typeface="Calibri" panose="020F0502020204030204" pitchFamily="34" charset="0"/>
              </a:rPr>
              <a:t>No</a:t>
            </a:r>
          </a:p>
        </p:txBody>
      </p:sp>
      <p:sp>
        <p:nvSpPr>
          <p:cNvPr id="18" name="Diamond 17">
            <a:extLst>
              <a:ext uri="{FF2B5EF4-FFF2-40B4-BE49-F238E27FC236}">
                <a16:creationId xmlns:a16="http://schemas.microsoft.com/office/drawing/2014/main" id="{AF13F3D4-3690-014C-7BBC-D6744D4FBD2E}"/>
              </a:ext>
            </a:extLst>
          </p:cNvPr>
          <p:cNvSpPr/>
          <p:nvPr/>
        </p:nvSpPr>
        <p:spPr>
          <a:xfrm>
            <a:off x="5461000" y="2540000"/>
            <a:ext cx="2286000" cy="533400"/>
          </a:xfrm>
          <a:prstGeom prst="diamond">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25400" rIns="38100" bIns="25400" rtlCol="0" anchor="ctr"/>
          <a:lstStyle/>
          <a:p>
            <a:pPr algn="ctr"/>
            <a:r>
              <a:rPr lang="en-US" sz="1000" b="1">
                <a:solidFill>
                  <a:srgbClr val="FFFFFF"/>
                </a:solidFill>
                <a:latin typeface="Calibri" panose="020F0502020204030204" pitchFamily="34" charset="0"/>
              </a:rPr>
              <a:t>Deliverable or baseline affected?</a:t>
            </a:r>
          </a:p>
        </p:txBody>
      </p:sp>
      <p:cxnSp>
        <p:nvCxnSpPr>
          <p:cNvPr id="19" name="Straight Connector 18">
            <a:extLst>
              <a:ext uri="{FF2B5EF4-FFF2-40B4-BE49-F238E27FC236}">
                <a16:creationId xmlns:a16="http://schemas.microsoft.com/office/drawing/2014/main" id="{2A8D2E52-2CBA-1BD1-65AA-B8931BBF2386}"/>
              </a:ext>
            </a:extLst>
          </p:cNvPr>
          <p:cNvCxnSpPr/>
          <p:nvPr/>
        </p:nvCxnSpPr>
        <p:spPr>
          <a:xfrm>
            <a:off x="6604000" y="2387600"/>
            <a:ext cx="0" cy="152400"/>
          </a:xfrm>
          <a:prstGeom prst="line">
            <a:avLst/>
          </a:prstGeom>
          <a:ln w="19050">
            <a:solidFill>
              <a:srgbClr val="5B6475"/>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412F5B8F-7BD8-9CEB-4698-CB4863851C32}"/>
              </a:ext>
            </a:extLst>
          </p:cNvPr>
          <p:cNvSpPr txBox="1"/>
          <p:nvPr/>
        </p:nvSpPr>
        <p:spPr>
          <a:xfrm>
            <a:off x="6654800" y="2362200"/>
            <a:ext cx="381000" cy="152400"/>
          </a:xfrm>
          <a:prstGeom prst="rect">
            <a:avLst/>
          </a:prstGeom>
          <a:noFill/>
        </p:spPr>
        <p:txBody>
          <a:bodyPr vert="horz" wrap="square" lIns="0" tIns="0" rIns="0" bIns="0" rtlCol="0" anchor="t">
            <a:noAutofit/>
          </a:bodyPr>
          <a:lstStyle/>
          <a:p>
            <a:r>
              <a:rPr lang="en-US" sz="900" b="1">
                <a:solidFill>
                  <a:srgbClr val="5B6475"/>
                </a:solidFill>
                <a:latin typeface="Calibri" panose="020F0502020204030204" pitchFamily="34" charset="0"/>
              </a:rPr>
              <a:t>Yes</a:t>
            </a:r>
          </a:p>
        </p:txBody>
      </p:sp>
      <p:cxnSp>
        <p:nvCxnSpPr>
          <p:cNvPr id="21" name="Straight Connector 20">
            <a:extLst>
              <a:ext uri="{FF2B5EF4-FFF2-40B4-BE49-F238E27FC236}">
                <a16:creationId xmlns:a16="http://schemas.microsoft.com/office/drawing/2014/main" id="{6BA6C3DA-452D-D2DE-E0A2-A8925D349B6C}"/>
              </a:ext>
            </a:extLst>
          </p:cNvPr>
          <p:cNvCxnSpPr/>
          <p:nvPr/>
        </p:nvCxnSpPr>
        <p:spPr>
          <a:xfrm>
            <a:off x="7747000" y="2806700"/>
            <a:ext cx="2286000" cy="0"/>
          </a:xfrm>
          <a:prstGeom prst="line">
            <a:avLst/>
          </a:prstGeom>
          <a:ln w="19050">
            <a:solidFill>
              <a:srgbClr val="5B6475"/>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C24C594D-0902-5EBA-3386-B2DCF203BC1A}"/>
              </a:ext>
            </a:extLst>
          </p:cNvPr>
          <p:cNvCxnSpPr/>
          <p:nvPr/>
        </p:nvCxnSpPr>
        <p:spPr>
          <a:xfrm flipV="1">
            <a:off x="10033000" y="2311400"/>
            <a:ext cx="0" cy="495300"/>
          </a:xfrm>
          <a:prstGeom prst="line">
            <a:avLst/>
          </a:prstGeom>
          <a:ln w="19050">
            <a:solidFill>
              <a:srgbClr val="5B6475"/>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90F859E1-7CDE-04AC-94A7-3F6537E1E20B}"/>
              </a:ext>
            </a:extLst>
          </p:cNvPr>
          <p:cNvSpPr txBox="1"/>
          <p:nvPr/>
        </p:nvSpPr>
        <p:spPr>
          <a:xfrm>
            <a:off x="8128000" y="2616200"/>
            <a:ext cx="508000" cy="177800"/>
          </a:xfrm>
          <a:prstGeom prst="rect">
            <a:avLst/>
          </a:prstGeom>
          <a:noFill/>
        </p:spPr>
        <p:txBody>
          <a:bodyPr vert="horz" wrap="square" lIns="0" tIns="0" rIns="0" bIns="0" rtlCol="0" anchor="t">
            <a:noAutofit/>
          </a:bodyPr>
          <a:lstStyle/>
          <a:p>
            <a:r>
              <a:rPr lang="en-US" sz="1000" b="1">
                <a:solidFill>
                  <a:srgbClr val="A84A2E"/>
                </a:solidFill>
                <a:latin typeface="Calibri" panose="020F0502020204030204" pitchFamily="34" charset="0"/>
              </a:rPr>
              <a:t>No</a:t>
            </a:r>
          </a:p>
        </p:txBody>
      </p:sp>
      <p:sp>
        <p:nvSpPr>
          <p:cNvPr id="24" name="Rectangle 23">
            <a:extLst>
              <a:ext uri="{FF2B5EF4-FFF2-40B4-BE49-F238E27FC236}">
                <a16:creationId xmlns:a16="http://schemas.microsoft.com/office/drawing/2014/main" id="{BE262035-5CC1-750B-7FFE-F3494693C2A7}"/>
              </a:ext>
            </a:extLst>
          </p:cNvPr>
          <p:cNvSpPr/>
          <p:nvPr/>
        </p:nvSpPr>
        <p:spPr>
          <a:xfrm>
            <a:off x="5461000" y="3225800"/>
            <a:ext cx="2286000" cy="35560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25400" rIns="38100" bIns="25400" rtlCol="0" anchor="ctr"/>
          <a:lstStyle/>
          <a:p>
            <a:pPr algn="ctr"/>
            <a:r>
              <a:rPr lang="en-US" sz="1000" b="1">
                <a:solidFill>
                  <a:srgbClr val="FFFFFF"/>
                </a:solidFill>
                <a:latin typeface="Calibri" panose="020F0502020204030204" pitchFamily="34" charset="0"/>
              </a:rPr>
              <a:t>Prepare an impact statement</a:t>
            </a:r>
          </a:p>
        </p:txBody>
      </p:sp>
      <p:cxnSp>
        <p:nvCxnSpPr>
          <p:cNvPr id="25" name="Straight Connector 24">
            <a:extLst>
              <a:ext uri="{FF2B5EF4-FFF2-40B4-BE49-F238E27FC236}">
                <a16:creationId xmlns:a16="http://schemas.microsoft.com/office/drawing/2014/main" id="{20B57EE5-2B92-448F-0B1A-55A205EA3BCF}"/>
              </a:ext>
            </a:extLst>
          </p:cNvPr>
          <p:cNvCxnSpPr/>
          <p:nvPr/>
        </p:nvCxnSpPr>
        <p:spPr>
          <a:xfrm>
            <a:off x="6604000" y="3073400"/>
            <a:ext cx="0" cy="152400"/>
          </a:xfrm>
          <a:prstGeom prst="line">
            <a:avLst/>
          </a:prstGeom>
          <a:ln w="19050">
            <a:solidFill>
              <a:srgbClr val="5B6475"/>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FABD4C0F-503E-68C7-4117-F82D53D5B61A}"/>
              </a:ext>
            </a:extLst>
          </p:cNvPr>
          <p:cNvSpPr txBox="1"/>
          <p:nvPr/>
        </p:nvSpPr>
        <p:spPr>
          <a:xfrm>
            <a:off x="6654800" y="3048000"/>
            <a:ext cx="381000" cy="152400"/>
          </a:xfrm>
          <a:prstGeom prst="rect">
            <a:avLst/>
          </a:prstGeom>
          <a:noFill/>
        </p:spPr>
        <p:txBody>
          <a:bodyPr vert="horz" wrap="square" lIns="0" tIns="0" rIns="0" bIns="0" rtlCol="0" anchor="t">
            <a:noAutofit/>
          </a:bodyPr>
          <a:lstStyle/>
          <a:p>
            <a:r>
              <a:rPr lang="en-US" sz="900" b="1">
                <a:solidFill>
                  <a:srgbClr val="5B6475"/>
                </a:solidFill>
                <a:latin typeface="Calibri" panose="020F0502020204030204" pitchFamily="34" charset="0"/>
              </a:rPr>
              <a:t>Yes</a:t>
            </a:r>
          </a:p>
        </p:txBody>
      </p:sp>
      <p:cxnSp>
        <p:nvCxnSpPr>
          <p:cNvPr id="27" name="Straight Connector 26">
            <a:extLst>
              <a:ext uri="{FF2B5EF4-FFF2-40B4-BE49-F238E27FC236}">
                <a16:creationId xmlns:a16="http://schemas.microsoft.com/office/drawing/2014/main" id="{16A5D18D-0422-4639-432C-967A98D79126}"/>
              </a:ext>
            </a:extLst>
          </p:cNvPr>
          <p:cNvCxnSpPr/>
          <p:nvPr/>
        </p:nvCxnSpPr>
        <p:spPr>
          <a:xfrm>
            <a:off x="6604000" y="3581400"/>
            <a:ext cx="0" cy="88900"/>
          </a:xfrm>
          <a:prstGeom prst="line">
            <a:avLst/>
          </a:prstGeom>
          <a:ln w="19050">
            <a:solidFill>
              <a:srgbClr val="5B6475"/>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C41DB444-FAD9-CF15-E81B-998747B44AA6}"/>
              </a:ext>
            </a:extLst>
          </p:cNvPr>
          <p:cNvCxnSpPr/>
          <p:nvPr/>
        </p:nvCxnSpPr>
        <p:spPr>
          <a:xfrm>
            <a:off x="4635500" y="3670300"/>
            <a:ext cx="3937000" cy="0"/>
          </a:xfrm>
          <a:prstGeom prst="line">
            <a:avLst/>
          </a:prstGeom>
          <a:ln w="19050">
            <a:solidFill>
              <a:srgbClr val="5B6475"/>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EBDBD3-5E26-AC39-A9A3-744DDFAFB3BB}"/>
              </a:ext>
            </a:extLst>
          </p:cNvPr>
          <p:cNvCxnSpPr/>
          <p:nvPr/>
        </p:nvCxnSpPr>
        <p:spPr>
          <a:xfrm>
            <a:off x="4635500" y="3670300"/>
            <a:ext cx="0" cy="139700"/>
          </a:xfrm>
          <a:prstGeom prst="line">
            <a:avLst/>
          </a:prstGeom>
          <a:ln w="19050">
            <a:solidFill>
              <a:srgbClr val="5B6475"/>
            </a:solidFill>
            <a:tailEnd type="triangle"/>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F0183B4F-C45C-72F6-CB3F-B302CDF4E2A9}"/>
              </a:ext>
            </a:extLst>
          </p:cNvPr>
          <p:cNvSpPr/>
          <p:nvPr/>
        </p:nvSpPr>
        <p:spPr>
          <a:xfrm>
            <a:off x="3683000" y="3810000"/>
            <a:ext cx="1905000" cy="431800"/>
          </a:xfrm>
          <a:prstGeom prst="rect">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25400" rIns="38100" bIns="25400" rtlCol="0" anchor="ctr"/>
          <a:lstStyle/>
          <a:p>
            <a:pPr algn="ctr"/>
            <a:r>
              <a:rPr lang="en-US" sz="1000" b="1">
                <a:solidFill>
                  <a:srgbClr val="FFFFFF"/>
                </a:solidFill>
                <a:latin typeface="Calibri" panose="020F0502020204030204" pitchFamily="34" charset="0"/>
              </a:rPr>
              <a:t>PM review</a:t>
            </a:r>
          </a:p>
        </p:txBody>
      </p:sp>
      <p:sp>
        <p:nvSpPr>
          <p:cNvPr id="31" name="TextBox 30">
            <a:extLst>
              <a:ext uri="{FF2B5EF4-FFF2-40B4-BE49-F238E27FC236}">
                <a16:creationId xmlns:a16="http://schemas.microsoft.com/office/drawing/2014/main" id="{4BCFBB5F-B9BD-9E01-2441-52FFB7B0DEB4}"/>
              </a:ext>
            </a:extLst>
          </p:cNvPr>
          <p:cNvSpPr txBox="1"/>
          <p:nvPr/>
        </p:nvSpPr>
        <p:spPr>
          <a:xfrm>
            <a:off x="4686300" y="3644900"/>
            <a:ext cx="889000" cy="152400"/>
          </a:xfrm>
          <a:prstGeom prst="rect">
            <a:avLst/>
          </a:prstGeom>
          <a:noFill/>
        </p:spPr>
        <p:txBody>
          <a:bodyPr vert="horz" wrap="square" lIns="0" tIns="0" rIns="0" bIns="0" rtlCol="0" anchor="t">
            <a:noAutofit/>
          </a:bodyPr>
          <a:lstStyle/>
          <a:p>
            <a:r>
              <a:rPr lang="en-US" sz="900" b="1">
                <a:solidFill>
                  <a:srgbClr val="5B6475"/>
                </a:solidFill>
                <a:latin typeface="Calibri" panose="020F0502020204030204" pitchFamily="34" charset="0"/>
              </a:rPr>
              <a:t>Minor</a:t>
            </a:r>
          </a:p>
        </p:txBody>
      </p:sp>
      <p:cxnSp>
        <p:nvCxnSpPr>
          <p:cNvPr id="32" name="Straight Connector 31">
            <a:extLst>
              <a:ext uri="{FF2B5EF4-FFF2-40B4-BE49-F238E27FC236}">
                <a16:creationId xmlns:a16="http://schemas.microsoft.com/office/drawing/2014/main" id="{516ADB46-DC4F-77DE-6FDA-0DAB4BEEB560}"/>
              </a:ext>
            </a:extLst>
          </p:cNvPr>
          <p:cNvCxnSpPr/>
          <p:nvPr/>
        </p:nvCxnSpPr>
        <p:spPr>
          <a:xfrm>
            <a:off x="6604000" y="3670300"/>
            <a:ext cx="0" cy="139700"/>
          </a:xfrm>
          <a:prstGeom prst="line">
            <a:avLst/>
          </a:prstGeom>
          <a:ln w="19050">
            <a:solidFill>
              <a:srgbClr val="5B6475"/>
            </a:solidFill>
            <a:tailEnd type="triangle"/>
          </a:ln>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A12FBA30-5A7E-4B87-58CE-19EA08765FA3}"/>
              </a:ext>
            </a:extLst>
          </p:cNvPr>
          <p:cNvSpPr/>
          <p:nvPr/>
        </p:nvSpPr>
        <p:spPr>
          <a:xfrm>
            <a:off x="5651500" y="3810000"/>
            <a:ext cx="1905000" cy="431800"/>
          </a:xfrm>
          <a:prstGeom prst="rect">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25400" rIns="38100" bIns="25400" rtlCol="0" anchor="ctr"/>
          <a:lstStyle/>
          <a:p>
            <a:pPr algn="ctr"/>
            <a:r>
              <a:rPr lang="en-US" sz="1000" b="1">
                <a:solidFill>
                  <a:srgbClr val="FFFFFF"/>
                </a:solidFill>
                <a:latin typeface="Calibri" panose="020F0502020204030204" pitchFamily="34" charset="0"/>
              </a:rPr>
              <a:t>PM and stakeholder review</a:t>
            </a:r>
          </a:p>
        </p:txBody>
      </p:sp>
      <p:sp>
        <p:nvSpPr>
          <p:cNvPr id="34" name="TextBox 33">
            <a:extLst>
              <a:ext uri="{FF2B5EF4-FFF2-40B4-BE49-F238E27FC236}">
                <a16:creationId xmlns:a16="http://schemas.microsoft.com/office/drawing/2014/main" id="{0F1689FF-BAA4-49B7-B72A-087767BC1754}"/>
              </a:ext>
            </a:extLst>
          </p:cNvPr>
          <p:cNvSpPr txBox="1"/>
          <p:nvPr/>
        </p:nvSpPr>
        <p:spPr>
          <a:xfrm>
            <a:off x="6654800" y="3644900"/>
            <a:ext cx="889000" cy="152400"/>
          </a:xfrm>
          <a:prstGeom prst="rect">
            <a:avLst/>
          </a:prstGeom>
          <a:noFill/>
        </p:spPr>
        <p:txBody>
          <a:bodyPr vert="horz" wrap="square" lIns="0" tIns="0" rIns="0" bIns="0" rtlCol="0" anchor="t">
            <a:noAutofit/>
          </a:bodyPr>
          <a:lstStyle/>
          <a:p>
            <a:r>
              <a:rPr lang="en-US" sz="900" b="1">
                <a:solidFill>
                  <a:srgbClr val="5B6475"/>
                </a:solidFill>
                <a:latin typeface="Calibri" panose="020F0502020204030204" pitchFamily="34" charset="0"/>
              </a:rPr>
              <a:t>Moderate</a:t>
            </a:r>
          </a:p>
        </p:txBody>
      </p:sp>
      <p:cxnSp>
        <p:nvCxnSpPr>
          <p:cNvPr id="35" name="Straight Connector 34">
            <a:extLst>
              <a:ext uri="{FF2B5EF4-FFF2-40B4-BE49-F238E27FC236}">
                <a16:creationId xmlns:a16="http://schemas.microsoft.com/office/drawing/2014/main" id="{5818FBF0-EB4E-E6A2-C330-6F114E7B6A34}"/>
              </a:ext>
            </a:extLst>
          </p:cNvPr>
          <p:cNvCxnSpPr/>
          <p:nvPr/>
        </p:nvCxnSpPr>
        <p:spPr>
          <a:xfrm>
            <a:off x="8572500" y="3670300"/>
            <a:ext cx="0" cy="139700"/>
          </a:xfrm>
          <a:prstGeom prst="line">
            <a:avLst/>
          </a:prstGeom>
          <a:ln w="19050">
            <a:solidFill>
              <a:srgbClr val="5B6475"/>
            </a:solidFill>
            <a:tailEnd type="triangle"/>
          </a:ln>
        </p:spPr>
        <p:style>
          <a:lnRef idx="2">
            <a:schemeClr val="accent1"/>
          </a:lnRef>
          <a:fillRef idx="0">
            <a:schemeClr val="accent1"/>
          </a:fillRef>
          <a:effectRef idx="1">
            <a:schemeClr val="accent1"/>
          </a:effectRef>
          <a:fontRef idx="minor">
            <a:schemeClr val="tx1"/>
          </a:fontRef>
        </p:style>
      </p:cxnSp>
      <p:sp>
        <p:nvSpPr>
          <p:cNvPr id="36" name="Rectangle 35">
            <a:extLst>
              <a:ext uri="{FF2B5EF4-FFF2-40B4-BE49-F238E27FC236}">
                <a16:creationId xmlns:a16="http://schemas.microsoft.com/office/drawing/2014/main" id="{753F8189-D47D-D518-6FD2-8E3CE8330118}"/>
              </a:ext>
            </a:extLst>
          </p:cNvPr>
          <p:cNvSpPr/>
          <p:nvPr/>
        </p:nvSpPr>
        <p:spPr>
          <a:xfrm>
            <a:off x="7620000" y="3810000"/>
            <a:ext cx="1905000" cy="431800"/>
          </a:xfrm>
          <a:prstGeom prst="rect">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25400" rIns="38100" bIns="25400" rtlCol="0" anchor="ctr"/>
          <a:lstStyle/>
          <a:p>
            <a:pPr algn="ctr"/>
            <a:r>
              <a:rPr lang="en-US" sz="1000" b="1">
                <a:solidFill>
                  <a:srgbClr val="FFFFFF"/>
                </a:solidFill>
                <a:latin typeface="Calibri" panose="020F0502020204030204" pitchFamily="34" charset="0"/>
              </a:rPr>
              <a:t>PM, sponsor, and stakeholder review</a:t>
            </a:r>
          </a:p>
        </p:txBody>
      </p:sp>
      <p:sp>
        <p:nvSpPr>
          <p:cNvPr id="37" name="TextBox 36">
            <a:extLst>
              <a:ext uri="{FF2B5EF4-FFF2-40B4-BE49-F238E27FC236}">
                <a16:creationId xmlns:a16="http://schemas.microsoft.com/office/drawing/2014/main" id="{C25330C2-0662-3512-5FDF-848B12B3E631}"/>
              </a:ext>
            </a:extLst>
          </p:cNvPr>
          <p:cNvSpPr txBox="1"/>
          <p:nvPr/>
        </p:nvSpPr>
        <p:spPr>
          <a:xfrm>
            <a:off x="8623300" y="3644900"/>
            <a:ext cx="889000" cy="152400"/>
          </a:xfrm>
          <a:prstGeom prst="rect">
            <a:avLst/>
          </a:prstGeom>
          <a:noFill/>
        </p:spPr>
        <p:txBody>
          <a:bodyPr vert="horz" wrap="square" lIns="0" tIns="0" rIns="0" bIns="0" rtlCol="0" anchor="t">
            <a:noAutofit/>
          </a:bodyPr>
          <a:lstStyle/>
          <a:p>
            <a:r>
              <a:rPr lang="en-US" sz="900" b="1">
                <a:solidFill>
                  <a:srgbClr val="5B6475"/>
                </a:solidFill>
                <a:latin typeface="Calibri" panose="020F0502020204030204" pitchFamily="34" charset="0"/>
              </a:rPr>
              <a:t>Major</a:t>
            </a:r>
          </a:p>
        </p:txBody>
      </p:sp>
      <p:cxnSp>
        <p:nvCxnSpPr>
          <p:cNvPr id="38" name="Straight Connector 37">
            <a:extLst>
              <a:ext uri="{FF2B5EF4-FFF2-40B4-BE49-F238E27FC236}">
                <a16:creationId xmlns:a16="http://schemas.microsoft.com/office/drawing/2014/main" id="{24DD9EC2-DA15-1C17-B0E7-81AE8A3D1EB8}"/>
              </a:ext>
            </a:extLst>
          </p:cNvPr>
          <p:cNvCxnSpPr/>
          <p:nvPr/>
        </p:nvCxnSpPr>
        <p:spPr>
          <a:xfrm>
            <a:off x="4635500" y="4241800"/>
            <a:ext cx="0" cy="88900"/>
          </a:xfrm>
          <a:prstGeom prst="line">
            <a:avLst/>
          </a:prstGeom>
          <a:ln w="19050">
            <a:solidFill>
              <a:srgbClr val="5B6475"/>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CE6C8FF1-6911-A27F-5B6B-4860D4D5EE79}"/>
              </a:ext>
            </a:extLst>
          </p:cNvPr>
          <p:cNvCxnSpPr/>
          <p:nvPr/>
        </p:nvCxnSpPr>
        <p:spPr>
          <a:xfrm>
            <a:off x="6604000" y="4241800"/>
            <a:ext cx="0" cy="88900"/>
          </a:xfrm>
          <a:prstGeom prst="line">
            <a:avLst/>
          </a:prstGeom>
          <a:ln w="19050">
            <a:solidFill>
              <a:srgbClr val="5B6475"/>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D0C2139F-3E14-F732-167F-0CDC4E2884DD}"/>
              </a:ext>
            </a:extLst>
          </p:cNvPr>
          <p:cNvCxnSpPr/>
          <p:nvPr/>
        </p:nvCxnSpPr>
        <p:spPr>
          <a:xfrm>
            <a:off x="8572500" y="4241800"/>
            <a:ext cx="0" cy="88900"/>
          </a:xfrm>
          <a:prstGeom prst="line">
            <a:avLst/>
          </a:prstGeom>
          <a:ln w="19050">
            <a:solidFill>
              <a:srgbClr val="5B6475"/>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DE7DB491-6464-4733-D114-3AF79CB77709}"/>
              </a:ext>
            </a:extLst>
          </p:cNvPr>
          <p:cNvCxnSpPr/>
          <p:nvPr/>
        </p:nvCxnSpPr>
        <p:spPr>
          <a:xfrm>
            <a:off x="4635500" y="4330700"/>
            <a:ext cx="3937000" cy="0"/>
          </a:xfrm>
          <a:prstGeom prst="line">
            <a:avLst/>
          </a:prstGeom>
          <a:ln w="19050">
            <a:solidFill>
              <a:srgbClr val="5B6475"/>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8DAD01B-462A-C34D-D928-B94F20C24B41}"/>
              </a:ext>
            </a:extLst>
          </p:cNvPr>
          <p:cNvCxnSpPr/>
          <p:nvPr/>
        </p:nvCxnSpPr>
        <p:spPr>
          <a:xfrm>
            <a:off x="6604000" y="4330700"/>
            <a:ext cx="0" cy="88900"/>
          </a:xfrm>
          <a:prstGeom prst="line">
            <a:avLst/>
          </a:prstGeom>
          <a:ln w="19050">
            <a:solidFill>
              <a:srgbClr val="5B6475"/>
            </a:solidFill>
            <a:tailEnd type="triangle"/>
          </a:ln>
        </p:spPr>
        <p:style>
          <a:lnRef idx="2">
            <a:schemeClr val="accent1"/>
          </a:lnRef>
          <a:fillRef idx="0">
            <a:schemeClr val="accent1"/>
          </a:fillRef>
          <a:effectRef idx="1">
            <a:schemeClr val="accent1"/>
          </a:effectRef>
          <a:fontRef idx="minor">
            <a:schemeClr val="tx1"/>
          </a:fontRef>
        </p:style>
      </p:cxnSp>
      <p:sp>
        <p:nvSpPr>
          <p:cNvPr id="43" name="Diamond 42">
            <a:extLst>
              <a:ext uri="{FF2B5EF4-FFF2-40B4-BE49-F238E27FC236}">
                <a16:creationId xmlns:a16="http://schemas.microsoft.com/office/drawing/2014/main" id="{7CABBED7-6A05-30EF-C1CA-04F4A015D58E}"/>
              </a:ext>
            </a:extLst>
          </p:cNvPr>
          <p:cNvSpPr/>
          <p:nvPr/>
        </p:nvSpPr>
        <p:spPr>
          <a:xfrm>
            <a:off x="5461000" y="4419600"/>
            <a:ext cx="2286000" cy="533400"/>
          </a:xfrm>
          <a:prstGeom prst="diamond">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25400" rIns="38100" bIns="25400" rtlCol="0" anchor="ctr"/>
          <a:lstStyle/>
          <a:p>
            <a:pPr algn="ctr"/>
            <a:r>
              <a:rPr lang="en-US" sz="1000" b="1">
                <a:solidFill>
                  <a:srgbClr val="FFFFFF"/>
                </a:solidFill>
                <a:latin typeface="Calibri" panose="020F0502020204030204" pitchFamily="34" charset="0"/>
              </a:rPr>
              <a:t>Change authorized?</a:t>
            </a:r>
          </a:p>
        </p:txBody>
      </p:sp>
      <p:cxnSp>
        <p:nvCxnSpPr>
          <p:cNvPr id="44" name="Straight Connector 43">
            <a:extLst>
              <a:ext uri="{FF2B5EF4-FFF2-40B4-BE49-F238E27FC236}">
                <a16:creationId xmlns:a16="http://schemas.microsoft.com/office/drawing/2014/main" id="{10C9CD15-B34F-C133-B4D9-DC88C4299DE1}"/>
              </a:ext>
            </a:extLst>
          </p:cNvPr>
          <p:cNvCxnSpPr/>
          <p:nvPr/>
        </p:nvCxnSpPr>
        <p:spPr>
          <a:xfrm>
            <a:off x="7747000" y="4686300"/>
            <a:ext cx="3429000" cy="0"/>
          </a:xfrm>
          <a:prstGeom prst="line">
            <a:avLst/>
          </a:prstGeom>
          <a:ln w="19050">
            <a:solidFill>
              <a:srgbClr val="5B6475"/>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A9E1EE5-37DE-5CB7-7AC8-2DBABE64EEFE}"/>
              </a:ext>
            </a:extLst>
          </p:cNvPr>
          <p:cNvCxnSpPr/>
          <p:nvPr/>
        </p:nvCxnSpPr>
        <p:spPr>
          <a:xfrm flipV="1">
            <a:off x="11176000" y="2311400"/>
            <a:ext cx="0" cy="2374900"/>
          </a:xfrm>
          <a:prstGeom prst="line">
            <a:avLst/>
          </a:prstGeom>
          <a:ln w="19050">
            <a:solidFill>
              <a:srgbClr val="5B6475"/>
            </a:solidFill>
            <a:tailEnd type="triangle"/>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35C08D56-FA92-D9A1-9FA2-1EAFA3A36A8A}"/>
              </a:ext>
            </a:extLst>
          </p:cNvPr>
          <p:cNvSpPr txBox="1"/>
          <p:nvPr/>
        </p:nvSpPr>
        <p:spPr>
          <a:xfrm>
            <a:off x="8128000" y="4495800"/>
            <a:ext cx="508000" cy="177800"/>
          </a:xfrm>
          <a:prstGeom prst="rect">
            <a:avLst/>
          </a:prstGeom>
          <a:noFill/>
        </p:spPr>
        <p:txBody>
          <a:bodyPr vert="horz" wrap="square" lIns="0" tIns="0" rIns="0" bIns="0" rtlCol="0" anchor="t">
            <a:noAutofit/>
          </a:bodyPr>
          <a:lstStyle/>
          <a:p>
            <a:r>
              <a:rPr lang="en-US" sz="1000" b="1">
                <a:solidFill>
                  <a:srgbClr val="A84A2E"/>
                </a:solidFill>
                <a:latin typeface="Calibri" panose="020F0502020204030204" pitchFamily="34" charset="0"/>
              </a:rPr>
              <a:t>No</a:t>
            </a:r>
          </a:p>
        </p:txBody>
      </p:sp>
      <p:cxnSp>
        <p:nvCxnSpPr>
          <p:cNvPr id="47" name="Straight Connector 46">
            <a:extLst>
              <a:ext uri="{FF2B5EF4-FFF2-40B4-BE49-F238E27FC236}">
                <a16:creationId xmlns:a16="http://schemas.microsoft.com/office/drawing/2014/main" id="{82E8A0DC-C571-71F6-33F8-C0ADF1754003}"/>
              </a:ext>
            </a:extLst>
          </p:cNvPr>
          <p:cNvCxnSpPr/>
          <p:nvPr/>
        </p:nvCxnSpPr>
        <p:spPr>
          <a:xfrm>
            <a:off x="6604000" y="4953000"/>
            <a:ext cx="0" cy="203200"/>
          </a:xfrm>
          <a:prstGeom prst="line">
            <a:avLst/>
          </a:prstGeom>
          <a:ln w="19050">
            <a:solidFill>
              <a:srgbClr val="5B6475"/>
            </a:solidFill>
            <a:tailEnd type="triangle"/>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6D926738-1159-FFFA-3E40-E4F73F80F045}"/>
              </a:ext>
            </a:extLst>
          </p:cNvPr>
          <p:cNvSpPr txBox="1"/>
          <p:nvPr/>
        </p:nvSpPr>
        <p:spPr>
          <a:xfrm>
            <a:off x="6654800" y="4965700"/>
            <a:ext cx="381000" cy="152400"/>
          </a:xfrm>
          <a:prstGeom prst="rect">
            <a:avLst/>
          </a:prstGeom>
          <a:noFill/>
        </p:spPr>
        <p:txBody>
          <a:bodyPr vert="horz" wrap="square" lIns="0" tIns="0" rIns="0" bIns="0" rtlCol="0" anchor="t">
            <a:noAutofit/>
          </a:bodyPr>
          <a:lstStyle/>
          <a:p>
            <a:r>
              <a:rPr lang="en-US" sz="900" b="1">
                <a:solidFill>
                  <a:srgbClr val="5B6475"/>
                </a:solidFill>
                <a:latin typeface="Calibri" panose="020F0502020204030204" pitchFamily="34" charset="0"/>
              </a:rPr>
              <a:t>Yes</a:t>
            </a:r>
          </a:p>
        </p:txBody>
      </p:sp>
      <p:sp>
        <p:nvSpPr>
          <p:cNvPr id="49" name="Rectangle 48">
            <a:extLst>
              <a:ext uri="{FF2B5EF4-FFF2-40B4-BE49-F238E27FC236}">
                <a16:creationId xmlns:a16="http://schemas.microsoft.com/office/drawing/2014/main" id="{597B3E3B-41A6-B315-34EA-92513B3AF7C5}"/>
              </a:ext>
            </a:extLst>
          </p:cNvPr>
          <p:cNvSpPr/>
          <p:nvPr/>
        </p:nvSpPr>
        <p:spPr>
          <a:xfrm>
            <a:off x="5461000" y="5156200"/>
            <a:ext cx="2286000" cy="431800"/>
          </a:xfrm>
          <a:prstGeom prst="rect">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25400" rIns="38100" bIns="25400" rtlCol="0" anchor="ctr"/>
          <a:lstStyle/>
          <a:p>
            <a:pPr algn="ctr"/>
            <a:r>
              <a:rPr lang="en-US" sz="1000" b="1">
                <a:solidFill>
                  <a:srgbClr val="FFFFFF"/>
                </a:solidFill>
                <a:latin typeface="Calibri" panose="020F0502020204030204" pitchFamily="34" charset="0"/>
              </a:rPr>
              <a:t>Build and communicate the change</a:t>
            </a:r>
          </a:p>
        </p:txBody>
      </p:sp>
      <p:sp>
        <p:nvSpPr>
          <p:cNvPr id="50" name="Rectangle 49">
            <a:extLst>
              <a:ext uri="{FF2B5EF4-FFF2-40B4-BE49-F238E27FC236}">
                <a16:creationId xmlns:a16="http://schemas.microsoft.com/office/drawing/2014/main" id="{E0142A94-DD24-8C29-71D4-7379274E2CC0}"/>
              </a:ext>
            </a:extLst>
          </p:cNvPr>
          <p:cNvSpPr/>
          <p:nvPr/>
        </p:nvSpPr>
        <p:spPr>
          <a:xfrm>
            <a:off x="8001000" y="5156200"/>
            <a:ext cx="1651000" cy="431800"/>
          </a:xfrm>
          <a:prstGeom prst="rect">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25400" rIns="38100" bIns="25400" rtlCol="0" anchor="ctr"/>
          <a:lstStyle/>
          <a:p>
            <a:pPr algn="ctr"/>
            <a:r>
              <a:rPr lang="en-US" sz="1000" b="1">
                <a:solidFill>
                  <a:srgbClr val="FFFFFF"/>
                </a:solidFill>
                <a:latin typeface="Calibri" panose="020F0502020204030204" pitchFamily="34" charset="0"/>
              </a:rPr>
              <a:t>Execute the change</a:t>
            </a:r>
          </a:p>
        </p:txBody>
      </p:sp>
      <p:sp>
        <p:nvSpPr>
          <p:cNvPr id="51" name="Rectangle 50">
            <a:extLst>
              <a:ext uri="{FF2B5EF4-FFF2-40B4-BE49-F238E27FC236}">
                <a16:creationId xmlns:a16="http://schemas.microsoft.com/office/drawing/2014/main" id="{220CBAB0-EF30-3835-1C79-B98AD9FA01CB}"/>
              </a:ext>
            </a:extLst>
          </p:cNvPr>
          <p:cNvSpPr/>
          <p:nvPr/>
        </p:nvSpPr>
        <p:spPr>
          <a:xfrm>
            <a:off x="9906000" y="5156200"/>
            <a:ext cx="1778000" cy="431800"/>
          </a:xfrm>
          <a:prstGeom prst="rect">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25400" rIns="38100" bIns="25400" rtlCol="0" anchor="ctr"/>
          <a:lstStyle/>
          <a:p>
            <a:pPr algn="ctr"/>
            <a:r>
              <a:rPr lang="en-US" sz="1000" b="1">
                <a:solidFill>
                  <a:srgbClr val="FFFFFF"/>
                </a:solidFill>
                <a:latin typeface="Calibri" panose="020F0502020204030204" pitchFamily="34" charset="0"/>
              </a:rPr>
              <a:t>Rebalance the project</a:t>
            </a:r>
          </a:p>
        </p:txBody>
      </p:sp>
      <p:cxnSp>
        <p:nvCxnSpPr>
          <p:cNvPr id="52" name="Straight Connector 51">
            <a:extLst>
              <a:ext uri="{FF2B5EF4-FFF2-40B4-BE49-F238E27FC236}">
                <a16:creationId xmlns:a16="http://schemas.microsoft.com/office/drawing/2014/main" id="{87EB92E9-059B-A80D-C8D4-90AB21821C17}"/>
              </a:ext>
            </a:extLst>
          </p:cNvPr>
          <p:cNvCxnSpPr/>
          <p:nvPr/>
        </p:nvCxnSpPr>
        <p:spPr>
          <a:xfrm>
            <a:off x="7747000" y="5372100"/>
            <a:ext cx="254000" cy="0"/>
          </a:xfrm>
          <a:prstGeom prst="line">
            <a:avLst/>
          </a:prstGeom>
          <a:ln w="19050">
            <a:solidFill>
              <a:srgbClr val="5B6475"/>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169637A6-1241-5A3E-61E2-BA08158BC33C}"/>
              </a:ext>
            </a:extLst>
          </p:cNvPr>
          <p:cNvCxnSpPr/>
          <p:nvPr/>
        </p:nvCxnSpPr>
        <p:spPr>
          <a:xfrm>
            <a:off x="9652000" y="5372100"/>
            <a:ext cx="254000" cy="0"/>
          </a:xfrm>
          <a:prstGeom prst="line">
            <a:avLst/>
          </a:prstGeom>
          <a:ln w="19050">
            <a:solidFill>
              <a:srgbClr val="5B6475"/>
            </a:solidFill>
            <a:tailEnd type="triangle"/>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542C96F3-D2CA-E7D3-A66E-A8D49EF0F5AD}"/>
              </a:ext>
            </a:extLst>
          </p:cNvPr>
          <p:cNvSpPr txBox="1"/>
          <p:nvPr/>
        </p:nvSpPr>
        <p:spPr>
          <a:xfrm>
            <a:off x="5461000" y="5664200"/>
            <a:ext cx="6223000" cy="381000"/>
          </a:xfrm>
          <a:prstGeom prst="rect">
            <a:avLst/>
          </a:prstGeom>
          <a:noFill/>
        </p:spPr>
        <p:txBody>
          <a:bodyPr vert="horz" wrap="square" lIns="0" tIns="0" rIns="0" bIns="0" rtlCol="0" anchor="t">
            <a:noAutofit/>
          </a:bodyPr>
          <a:lstStyle/>
          <a:p>
            <a:r>
              <a:rPr lang="en-US" sz="1100" i="1">
                <a:solidFill>
                  <a:srgbClr val="5B6475"/>
                </a:solidFill>
                <a:latin typeface="Calibri" panose="020F0502020204030204" pitchFamily="34" charset="0"/>
              </a:rPr>
              <a:t>Rebalance: update the plan, baselines, and documents, then tell stakeholders.</a:t>
            </a:r>
          </a:p>
        </p:txBody>
      </p:sp>
      <p:sp>
        <p:nvSpPr>
          <p:cNvPr id="55" name="Footer">
            <a:extLst>
              <a:ext uri="{FF2B5EF4-FFF2-40B4-BE49-F238E27FC236}">
                <a16:creationId xmlns:a16="http://schemas.microsoft.com/office/drawing/2014/main" id="{F49B09DE-A1F0-18E6-7208-1FC54850783C}"/>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4.6 (Perform Integrated Change Control); adapted from PMI course material</a:t>
            </a:r>
          </a:p>
        </p:txBody>
      </p:sp>
      <p:sp>
        <p:nvSpPr>
          <p:cNvPr id="56" name="SlideNum">
            <a:extLst>
              <a:ext uri="{FF2B5EF4-FFF2-40B4-BE49-F238E27FC236}">
                <a16:creationId xmlns:a16="http://schemas.microsoft.com/office/drawing/2014/main" id="{85D662EE-39B9-EF47-25EE-085CDFD02FCD}"/>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74</a:t>
            </a:r>
          </a:p>
        </p:txBody>
      </p:sp>
      <p:sp>
        <p:nvSpPr>
          <p:cNvPr id="57"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408539084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B8A16CE-8AC6-7C68-AD9F-7B28456FCDE2}"/>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Four types of change requests</a:t>
            </a:r>
          </a:p>
        </p:txBody>
      </p:sp>
      <p:sp>
        <p:nvSpPr>
          <p:cNvPr id="3" name="Tag">
            <a:extLst>
              <a:ext uri="{FF2B5EF4-FFF2-40B4-BE49-F238E27FC236}">
                <a16:creationId xmlns:a16="http://schemas.microsoft.com/office/drawing/2014/main" id="{957A8177-899F-EABA-28A9-60634990B856}"/>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A84A2E"/>
                </a:solidFill>
                <a:latin typeface="Calibri" panose="020F0502020204030204" pitchFamily="34" charset="0"/>
              </a:rPr>
              <a:t>Business Environment deep dive · Supports Task 3 (Manage and control changes)</a:t>
            </a:r>
          </a:p>
        </p:txBody>
      </p:sp>
      <p:sp>
        <p:nvSpPr>
          <p:cNvPr id="4" name="Rectangle: Rounded Corners 3">
            <a:extLst>
              <a:ext uri="{FF2B5EF4-FFF2-40B4-BE49-F238E27FC236}">
                <a16:creationId xmlns:a16="http://schemas.microsoft.com/office/drawing/2014/main" id="{855B5E25-55F9-9F73-1B2E-26389AAE4954}"/>
              </a:ext>
            </a:extLst>
          </p:cNvPr>
          <p:cNvSpPr/>
          <p:nvPr/>
        </p:nvSpPr>
        <p:spPr>
          <a:xfrm>
            <a:off x="508000" y="1320800"/>
            <a:ext cx="2641600" cy="2489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82190E7-701F-3415-4FBD-D8B53DAD2DBD}"/>
              </a:ext>
            </a:extLst>
          </p:cNvPr>
          <p:cNvSpPr txBox="1"/>
          <p:nvPr/>
        </p:nvSpPr>
        <p:spPr>
          <a:xfrm>
            <a:off x="660400" y="1473200"/>
            <a:ext cx="2336800" cy="2184400"/>
          </a:xfrm>
          <a:prstGeom prst="rect">
            <a:avLst/>
          </a:prstGeom>
          <a:noFill/>
        </p:spPr>
        <p:txBody>
          <a:bodyPr vert="horz" wrap="square" lIns="0" tIns="0" rIns="0" bIns="0" rtlCol="0" anchor="t">
            <a:noAutofit/>
          </a:bodyPr>
          <a:lstStyle/>
          <a:p>
            <a:pPr>
              <a:spcAft>
                <a:spcPts val="600"/>
              </a:spcAft>
            </a:pPr>
            <a:r>
              <a:rPr lang="en-US" sz="1500" b="1">
                <a:solidFill>
                  <a:srgbClr val="A84A2E"/>
                </a:solidFill>
                <a:latin typeface="Calibri" panose="020F0502020204030204" pitchFamily="34" charset="0"/>
              </a:rPr>
              <a:t>Corrective action</a:t>
            </a:r>
          </a:p>
          <a:p>
            <a:r>
              <a:rPr lang="en-US" sz="1200">
                <a:solidFill>
                  <a:srgbClr val="1F2937"/>
                </a:solidFill>
                <a:latin typeface="Calibri" panose="020F0502020204030204" pitchFamily="34" charset="0"/>
              </a:rPr>
              <a:t>Realigns the performance of the project work with the project management plan.</a:t>
            </a:r>
          </a:p>
          <a:p>
            <a:r>
              <a:rPr lang="en-US" sz="1200" i="1">
                <a:solidFill>
                  <a:srgbClr val="5B6475"/>
                </a:solidFill>
                <a:latin typeface="Calibri" panose="020F0502020204030204" pitchFamily="34" charset="0"/>
              </a:rPr>
              <a:t>Example: the work is two weeks behind, so approve overtime to get back on plan.</a:t>
            </a:r>
          </a:p>
        </p:txBody>
      </p:sp>
      <p:sp>
        <p:nvSpPr>
          <p:cNvPr id="6" name="Rectangle: Rounded Corners 5">
            <a:extLst>
              <a:ext uri="{FF2B5EF4-FFF2-40B4-BE49-F238E27FC236}">
                <a16:creationId xmlns:a16="http://schemas.microsoft.com/office/drawing/2014/main" id="{FB637142-6172-2594-6E03-9D98364D27F7}"/>
              </a:ext>
            </a:extLst>
          </p:cNvPr>
          <p:cNvSpPr/>
          <p:nvPr/>
        </p:nvSpPr>
        <p:spPr>
          <a:xfrm>
            <a:off x="3352800" y="1320800"/>
            <a:ext cx="2641600" cy="2489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161FAF8-B374-CB74-CDB9-2B9E299B20EB}"/>
              </a:ext>
            </a:extLst>
          </p:cNvPr>
          <p:cNvSpPr txBox="1"/>
          <p:nvPr/>
        </p:nvSpPr>
        <p:spPr>
          <a:xfrm>
            <a:off x="3505200" y="1473200"/>
            <a:ext cx="2336800" cy="2184400"/>
          </a:xfrm>
          <a:prstGeom prst="rect">
            <a:avLst/>
          </a:prstGeom>
          <a:noFill/>
        </p:spPr>
        <p:txBody>
          <a:bodyPr vert="horz" wrap="square" lIns="0" tIns="0" rIns="0" bIns="0" rtlCol="0" anchor="t">
            <a:noAutofit/>
          </a:bodyPr>
          <a:lstStyle/>
          <a:p>
            <a:pPr>
              <a:spcAft>
                <a:spcPts val="600"/>
              </a:spcAft>
            </a:pPr>
            <a:r>
              <a:rPr lang="en-US" sz="1500" b="1">
                <a:solidFill>
                  <a:srgbClr val="A84A2E"/>
                </a:solidFill>
                <a:latin typeface="Calibri" panose="020F0502020204030204" pitchFamily="34" charset="0"/>
              </a:rPr>
              <a:t>Preventive action</a:t>
            </a:r>
          </a:p>
          <a:p>
            <a:r>
              <a:rPr lang="en-US" sz="1200">
                <a:solidFill>
                  <a:srgbClr val="1F2937"/>
                </a:solidFill>
                <a:latin typeface="Calibri" panose="020F0502020204030204" pitchFamily="34" charset="0"/>
              </a:rPr>
              <a:t>Helps ensure future performance stays aligned with the plan.</a:t>
            </a:r>
          </a:p>
          <a:p>
            <a:r>
              <a:rPr lang="en-US" sz="1200" i="1">
                <a:solidFill>
                  <a:srgbClr val="5B6475"/>
                </a:solidFill>
                <a:latin typeface="Calibri" panose="020F0502020204030204" pitchFamily="34" charset="0"/>
              </a:rPr>
              <a:t>Example: a supplier’s deliveries are trending late, so line up a backup before it hurts.</a:t>
            </a:r>
          </a:p>
        </p:txBody>
      </p:sp>
      <p:sp>
        <p:nvSpPr>
          <p:cNvPr id="8" name="Rectangle: Rounded Corners 7">
            <a:extLst>
              <a:ext uri="{FF2B5EF4-FFF2-40B4-BE49-F238E27FC236}">
                <a16:creationId xmlns:a16="http://schemas.microsoft.com/office/drawing/2014/main" id="{ABABC5E5-8703-091F-FEEC-E1D5FC6EF2BE}"/>
              </a:ext>
            </a:extLst>
          </p:cNvPr>
          <p:cNvSpPr/>
          <p:nvPr/>
        </p:nvSpPr>
        <p:spPr>
          <a:xfrm>
            <a:off x="6197600" y="1320800"/>
            <a:ext cx="2641600" cy="2489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B0D163B-A526-B61E-A9C1-E12B26716771}"/>
              </a:ext>
            </a:extLst>
          </p:cNvPr>
          <p:cNvSpPr txBox="1"/>
          <p:nvPr/>
        </p:nvSpPr>
        <p:spPr>
          <a:xfrm>
            <a:off x="6350000" y="1473200"/>
            <a:ext cx="2336800" cy="2184400"/>
          </a:xfrm>
          <a:prstGeom prst="rect">
            <a:avLst/>
          </a:prstGeom>
          <a:noFill/>
        </p:spPr>
        <p:txBody>
          <a:bodyPr vert="horz" wrap="square" lIns="0" tIns="0" rIns="0" bIns="0" rtlCol="0" anchor="t">
            <a:noAutofit/>
          </a:bodyPr>
          <a:lstStyle/>
          <a:p>
            <a:pPr>
              <a:spcAft>
                <a:spcPts val="600"/>
              </a:spcAft>
            </a:pPr>
            <a:r>
              <a:rPr lang="en-US" sz="1500" b="1">
                <a:solidFill>
                  <a:srgbClr val="A84A2E"/>
                </a:solidFill>
                <a:latin typeface="Calibri" panose="020F0502020204030204" pitchFamily="34" charset="0"/>
              </a:rPr>
              <a:t>Defect repair</a:t>
            </a:r>
          </a:p>
          <a:p>
            <a:r>
              <a:rPr lang="en-US" sz="1200">
                <a:solidFill>
                  <a:srgbClr val="1F2937"/>
                </a:solidFill>
                <a:latin typeface="Calibri" panose="020F0502020204030204" pitchFamily="34" charset="0"/>
              </a:rPr>
              <a:t>Modifies a nonconforming product or product component.</a:t>
            </a:r>
          </a:p>
          <a:p>
            <a:r>
              <a:rPr lang="en-US" sz="1200" i="1">
                <a:solidFill>
                  <a:srgbClr val="5B6475"/>
                </a:solidFill>
                <a:latin typeface="Calibri" panose="020F0502020204030204" pitchFamily="34" charset="0"/>
              </a:rPr>
              <a:t>Example: a weld fails inspection and is redone.</a:t>
            </a:r>
          </a:p>
        </p:txBody>
      </p:sp>
      <p:sp>
        <p:nvSpPr>
          <p:cNvPr id="10" name="Rectangle: Rounded Corners 9">
            <a:extLst>
              <a:ext uri="{FF2B5EF4-FFF2-40B4-BE49-F238E27FC236}">
                <a16:creationId xmlns:a16="http://schemas.microsoft.com/office/drawing/2014/main" id="{04E52D5E-510B-35DF-947B-CC07F2950E06}"/>
              </a:ext>
            </a:extLst>
          </p:cNvPr>
          <p:cNvSpPr/>
          <p:nvPr/>
        </p:nvSpPr>
        <p:spPr>
          <a:xfrm>
            <a:off x="9042400" y="1320800"/>
            <a:ext cx="2641600" cy="2489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46F4309-0A8D-CE84-77D6-198038515BED}"/>
              </a:ext>
            </a:extLst>
          </p:cNvPr>
          <p:cNvSpPr txBox="1"/>
          <p:nvPr/>
        </p:nvSpPr>
        <p:spPr>
          <a:xfrm>
            <a:off x="9194800" y="1473200"/>
            <a:ext cx="2336800" cy="2184400"/>
          </a:xfrm>
          <a:prstGeom prst="rect">
            <a:avLst/>
          </a:prstGeom>
          <a:noFill/>
        </p:spPr>
        <p:txBody>
          <a:bodyPr vert="horz" wrap="square" lIns="0" tIns="0" rIns="0" bIns="0" rtlCol="0" anchor="t">
            <a:noAutofit/>
          </a:bodyPr>
          <a:lstStyle/>
          <a:p>
            <a:pPr>
              <a:spcAft>
                <a:spcPts val="600"/>
              </a:spcAft>
            </a:pPr>
            <a:r>
              <a:rPr lang="en-US" sz="1500" b="1">
                <a:solidFill>
                  <a:srgbClr val="A84A2E"/>
                </a:solidFill>
                <a:latin typeface="Calibri" panose="020F0502020204030204" pitchFamily="34" charset="0"/>
              </a:rPr>
              <a:t>Update</a:t>
            </a:r>
          </a:p>
          <a:p>
            <a:r>
              <a:rPr lang="en-US" sz="1200">
                <a:solidFill>
                  <a:srgbClr val="1F2937"/>
                </a:solidFill>
                <a:latin typeface="Calibri" panose="020F0502020204030204" pitchFamily="34" charset="0"/>
              </a:rPr>
              <a:t>Changes a baseline or other formally controlled document, such as a contract.</a:t>
            </a:r>
          </a:p>
          <a:p>
            <a:r>
              <a:rPr lang="en-US" sz="1200" i="1">
                <a:solidFill>
                  <a:srgbClr val="5B6475"/>
                </a:solidFill>
                <a:latin typeface="Calibri" panose="020F0502020204030204" pitchFamily="34" charset="0"/>
              </a:rPr>
              <a:t>Example: the scope baseline is revised after an approved change.</a:t>
            </a:r>
          </a:p>
        </p:txBody>
      </p:sp>
      <p:sp>
        <p:nvSpPr>
          <p:cNvPr id="12" name="Rectangle: Rounded Corners 11">
            <a:extLst>
              <a:ext uri="{FF2B5EF4-FFF2-40B4-BE49-F238E27FC236}">
                <a16:creationId xmlns:a16="http://schemas.microsoft.com/office/drawing/2014/main" id="{A80FFF1A-F38D-536D-7350-53AEFFBCB237}"/>
              </a:ext>
            </a:extLst>
          </p:cNvPr>
          <p:cNvSpPr/>
          <p:nvPr/>
        </p:nvSpPr>
        <p:spPr>
          <a:xfrm>
            <a:off x="508000" y="3962400"/>
            <a:ext cx="5461000" cy="1397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3FFA2472-08D2-AF8C-6227-B3C716B8AD43}"/>
              </a:ext>
            </a:extLst>
          </p:cNvPr>
          <p:cNvSpPr txBox="1"/>
          <p:nvPr/>
        </p:nvSpPr>
        <p:spPr>
          <a:xfrm>
            <a:off x="660400" y="4114800"/>
            <a:ext cx="5156200" cy="10922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How they flow</a:t>
            </a:r>
          </a:p>
          <a:p>
            <a:r>
              <a:rPr lang="en-US" sz="1200">
                <a:solidFill>
                  <a:srgbClr val="1F2937"/>
                </a:solidFill>
                <a:latin typeface="Calibri" panose="020F0502020204030204" pitchFamily="34" charset="0"/>
              </a:rPr>
              <a:t>Raised while directing, monitoring, or checking quality; decided in Perform Integrated Change Control; approved requests are carried out in Direct and Manage Project Work, and repairs are verified in Control Quality.</a:t>
            </a:r>
          </a:p>
        </p:txBody>
      </p:sp>
      <p:sp>
        <p:nvSpPr>
          <p:cNvPr id="14" name="Rectangle: Rounded Corners 13">
            <a:extLst>
              <a:ext uri="{FF2B5EF4-FFF2-40B4-BE49-F238E27FC236}">
                <a16:creationId xmlns:a16="http://schemas.microsoft.com/office/drawing/2014/main" id="{EF3B4C01-B3E6-32DF-C701-815096E4FFBE}"/>
              </a:ext>
            </a:extLst>
          </p:cNvPr>
          <p:cNvSpPr/>
          <p:nvPr/>
        </p:nvSpPr>
        <p:spPr>
          <a:xfrm>
            <a:off x="6223000" y="3962400"/>
            <a:ext cx="5461000" cy="13970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1963B23-6198-6865-523D-8B43743D1F26}"/>
              </a:ext>
            </a:extLst>
          </p:cNvPr>
          <p:cNvSpPr txBox="1"/>
          <p:nvPr/>
        </p:nvSpPr>
        <p:spPr>
          <a:xfrm>
            <a:off x="6375400" y="4114800"/>
            <a:ext cx="5156200" cy="1092200"/>
          </a:xfrm>
          <a:prstGeom prst="rect">
            <a:avLst/>
          </a:prstGeom>
          <a:noFill/>
        </p:spPr>
        <p:txBody>
          <a:bodyPr vert="horz" wrap="square" lIns="0" tIns="0" rIns="0" bIns="0" rtlCol="0" anchor="t">
            <a:noAutofit/>
          </a:bodyPr>
          <a:lstStyle/>
          <a:p>
            <a:pPr>
              <a:spcAft>
                <a:spcPts val="600"/>
              </a:spcAft>
            </a:pPr>
            <a:r>
              <a:rPr lang="en-US" sz="1400" b="1">
                <a:solidFill>
                  <a:srgbClr val="A86F0E"/>
                </a:solidFill>
                <a:latin typeface="Calibri" panose="020F0502020204030204" pitchFamily="34" charset="0"/>
              </a:rPr>
              <a:t>Telling them apart</a:t>
            </a:r>
          </a:p>
          <a:p>
            <a:r>
              <a:rPr lang="en-US" sz="1200">
                <a:solidFill>
                  <a:srgbClr val="1F2937"/>
                </a:solidFill>
                <a:latin typeface="Calibri" panose="020F0502020204030204" pitchFamily="34" charset="0"/>
              </a:rPr>
              <a:t>Corrective: already off plan. Preventive: a trend says you will be. Defect repair: fix the product. Update: change a controlled document.</a:t>
            </a:r>
          </a:p>
        </p:txBody>
      </p:sp>
      <p:sp>
        <p:nvSpPr>
          <p:cNvPr id="16" name="Rectangle: Rounded Corners 15">
            <a:extLst>
              <a:ext uri="{FF2B5EF4-FFF2-40B4-BE49-F238E27FC236}">
                <a16:creationId xmlns:a16="http://schemas.microsoft.com/office/drawing/2014/main" id="{A7481427-8360-9C65-EA7D-307A33595515}"/>
              </a:ext>
            </a:extLst>
          </p:cNvPr>
          <p:cNvSpPr/>
          <p:nvPr/>
        </p:nvSpPr>
        <p:spPr>
          <a:xfrm>
            <a:off x="508000" y="5486400"/>
            <a:ext cx="11176000" cy="838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2499F10-319C-8157-C16A-DFB8DB540EE4}"/>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every type is a change request, so each goes through integrated change control when it affects the plan, baselines, or controlled documents.</a:t>
            </a:r>
          </a:p>
        </p:txBody>
      </p:sp>
      <p:sp>
        <p:nvSpPr>
          <p:cNvPr id="18" name="Footer">
            <a:extLst>
              <a:ext uri="{FF2B5EF4-FFF2-40B4-BE49-F238E27FC236}">
                <a16:creationId xmlns:a16="http://schemas.microsoft.com/office/drawing/2014/main" id="{B8D0D58E-81D9-8A4B-0C84-9FF8A8A6FDAF}"/>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4.3.3.4 (change requests) and 4.6; adapted from PMI course material</a:t>
            </a:r>
          </a:p>
        </p:txBody>
      </p:sp>
      <p:sp>
        <p:nvSpPr>
          <p:cNvPr id="19" name="SlideNum">
            <a:extLst>
              <a:ext uri="{FF2B5EF4-FFF2-40B4-BE49-F238E27FC236}">
                <a16:creationId xmlns:a16="http://schemas.microsoft.com/office/drawing/2014/main" id="{8D607DD9-9C81-C833-917C-2C28CEE0DC5E}"/>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75</a:t>
            </a:r>
          </a:p>
        </p:txBody>
      </p:sp>
      <p:sp>
        <p:nvSpPr>
          <p:cNvPr id="20"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25607701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E9849F3-8970-3057-61B1-1FFF6DEC5E90}"/>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Risk management runs in seven processes</a:t>
            </a:r>
          </a:p>
        </p:txBody>
      </p:sp>
      <p:sp>
        <p:nvSpPr>
          <p:cNvPr id="3" name="Tag">
            <a:extLst>
              <a:ext uri="{FF2B5EF4-FFF2-40B4-BE49-F238E27FC236}">
                <a16:creationId xmlns:a16="http://schemas.microsoft.com/office/drawing/2014/main" id="{84C839A6-8153-92D9-DC4A-623E1ABFF09B}"/>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A84A2E"/>
                </a:solidFill>
                <a:latin typeface="Calibri" panose="020F0502020204030204" pitchFamily="34" charset="0"/>
              </a:rPr>
              <a:t>Business Environment deep dive · Supports Business Environment Task 5 · Plan and manage risk</a:t>
            </a:r>
          </a:p>
        </p:txBody>
      </p:sp>
      <p:sp>
        <p:nvSpPr>
          <p:cNvPr id="4" name="Rectangle: Rounded Corners 3">
            <a:extLst>
              <a:ext uri="{FF2B5EF4-FFF2-40B4-BE49-F238E27FC236}">
                <a16:creationId xmlns:a16="http://schemas.microsoft.com/office/drawing/2014/main" id="{FB211A7A-F84E-69BA-A560-DB6624049CA9}"/>
              </a:ext>
            </a:extLst>
          </p:cNvPr>
          <p:cNvSpPr/>
          <p:nvPr/>
        </p:nvSpPr>
        <p:spPr>
          <a:xfrm>
            <a:off x="508000" y="1397000"/>
            <a:ext cx="11176000" cy="635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5992B2A2-3C12-013B-3627-A9121168B693}"/>
              </a:ext>
            </a:extLst>
          </p:cNvPr>
          <p:cNvSpPr/>
          <p:nvPr/>
        </p:nvSpPr>
        <p:spPr>
          <a:xfrm>
            <a:off x="685800" y="1524000"/>
            <a:ext cx="381000" cy="3810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300" b="1">
                <a:solidFill>
                  <a:srgbClr val="FFFFFF"/>
                </a:solidFill>
                <a:latin typeface="Calibri" panose="020F0502020204030204" pitchFamily="34" charset="0"/>
              </a:rPr>
              <a:t>1</a:t>
            </a:r>
          </a:p>
        </p:txBody>
      </p:sp>
      <p:sp>
        <p:nvSpPr>
          <p:cNvPr id="6" name="TextBox 5">
            <a:extLst>
              <a:ext uri="{FF2B5EF4-FFF2-40B4-BE49-F238E27FC236}">
                <a16:creationId xmlns:a16="http://schemas.microsoft.com/office/drawing/2014/main" id="{4115424B-6E61-048F-96FE-550003E1CDAF}"/>
              </a:ext>
            </a:extLst>
          </p:cNvPr>
          <p:cNvSpPr txBox="1"/>
          <p:nvPr/>
        </p:nvSpPr>
        <p:spPr>
          <a:xfrm>
            <a:off x="1270000" y="1397000"/>
            <a:ext cx="3683000" cy="635000"/>
          </a:xfrm>
          <a:prstGeom prst="rect">
            <a:avLst/>
          </a:prstGeom>
          <a:noFill/>
        </p:spPr>
        <p:txBody>
          <a:bodyPr vert="horz" wrap="square" lIns="0" tIns="0" rIns="0" bIns="0" rtlCol="0" anchor="ctr">
            <a:noAutofit/>
          </a:bodyPr>
          <a:lstStyle/>
          <a:p>
            <a:r>
              <a:rPr lang="en-US" sz="1600" b="1">
                <a:solidFill>
                  <a:srgbClr val="14213D"/>
                </a:solidFill>
                <a:latin typeface="Calibri" panose="020F0502020204030204" pitchFamily="34" charset="0"/>
              </a:rPr>
              <a:t>Plan Risk Management</a:t>
            </a:r>
          </a:p>
        </p:txBody>
      </p:sp>
      <p:sp>
        <p:nvSpPr>
          <p:cNvPr id="7" name="TextBox 6">
            <a:extLst>
              <a:ext uri="{FF2B5EF4-FFF2-40B4-BE49-F238E27FC236}">
                <a16:creationId xmlns:a16="http://schemas.microsoft.com/office/drawing/2014/main" id="{7F48F39E-6A4B-CB96-FE40-D2C206ED14B3}"/>
              </a:ext>
            </a:extLst>
          </p:cNvPr>
          <p:cNvSpPr txBox="1"/>
          <p:nvPr/>
        </p:nvSpPr>
        <p:spPr>
          <a:xfrm>
            <a:off x="5080000" y="1397000"/>
            <a:ext cx="6413500" cy="635000"/>
          </a:xfrm>
          <a:prstGeom prst="rect">
            <a:avLst/>
          </a:prstGeom>
          <a:noFill/>
        </p:spPr>
        <p:txBody>
          <a:bodyPr vert="horz" wrap="square" lIns="0" tIns="0" rIns="0" bIns="0" rtlCol="0" anchor="ctr">
            <a:noAutofit/>
          </a:bodyPr>
          <a:lstStyle/>
          <a:p>
            <a:r>
              <a:rPr lang="en-US" sz="1400">
                <a:solidFill>
                  <a:srgbClr val="1F2937"/>
                </a:solidFill>
                <a:latin typeface="Calibri" panose="020F0502020204030204" pitchFamily="34" charset="0"/>
              </a:rPr>
              <a:t>Decide how risk work will be done; output is the risk management plan.</a:t>
            </a:r>
          </a:p>
        </p:txBody>
      </p:sp>
      <p:sp>
        <p:nvSpPr>
          <p:cNvPr id="8" name="Oval 7">
            <a:extLst>
              <a:ext uri="{FF2B5EF4-FFF2-40B4-BE49-F238E27FC236}">
                <a16:creationId xmlns:a16="http://schemas.microsoft.com/office/drawing/2014/main" id="{3659CFAC-D16F-360D-2C76-4FACD8651E88}"/>
              </a:ext>
            </a:extLst>
          </p:cNvPr>
          <p:cNvSpPr/>
          <p:nvPr/>
        </p:nvSpPr>
        <p:spPr>
          <a:xfrm>
            <a:off x="685800" y="2222500"/>
            <a:ext cx="381000" cy="3810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300" b="1">
                <a:solidFill>
                  <a:srgbClr val="FFFFFF"/>
                </a:solidFill>
                <a:latin typeface="Calibri" panose="020F0502020204030204" pitchFamily="34" charset="0"/>
              </a:rPr>
              <a:t>2</a:t>
            </a:r>
          </a:p>
        </p:txBody>
      </p:sp>
      <p:sp>
        <p:nvSpPr>
          <p:cNvPr id="9" name="TextBox 8">
            <a:extLst>
              <a:ext uri="{FF2B5EF4-FFF2-40B4-BE49-F238E27FC236}">
                <a16:creationId xmlns:a16="http://schemas.microsoft.com/office/drawing/2014/main" id="{FE27EFDB-96B5-345B-8122-FCD641BB764C}"/>
              </a:ext>
            </a:extLst>
          </p:cNvPr>
          <p:cNvSpPr txBox="1"/>
          <p:nvPr/>
        </p:nvSpPr>
        <p:spPr>
          <a:xfrm>
            <a:off x="1270000" y="2095500"/>
            <a:ext cx="3683000" cy="635000"/>
          </a:xfrm>
          <a:prstGeom prst="rect">
            <a:avLst/>
          </a:prstGeom>
          <a:noFill/>
        </p:spPr>
        <p:txBody>
          <a:bodyPr vert="horz" wrap="square" lIns="0" tIns="0" rIns="0" bIns="0" rtlCol="0" anchor="ctr">
            <a:noAutofit/>
          </a:bodyPr>
          <a:lstStyle/>
          <a:p>
            <a:r>
              <a:rPr lang="en-US" sz="1600" b="1">
                <a:solidFill>
                  <a:srgbClr val="14213D"/>
                </a:solidFill>
                <a:latin typeface="Calibri" panose="020F0502020204030204" pitchFamily="34" charset="0"/>
              </a:rPr>
              <a:t>Identify Risks</a:t>
            </a:r>
          </a:p>
        </p:txBody>
      </p:sp>
      <p:sp>
        <p:nvSpPr>
          <p:cNvPr id="10" name="TextBox 9">
            <a:extLst>
              <a:ext uri="{FF2B5EF4-FFF2-40B4-BE49-F238E27FC236}">
                <a16:creationId xmlns:a16="http://schemas.microsoft.com/office/drawing/2014/main" id="{5801770F-D78F-4017-EC4A-1F99BB4E929F}"/>
              </a:ext>
            </a:extLst>
          </p:cNvPr>
          <p:cNvSpPr txBox="1"/>
          <p:nvPr/>
        </p:nvSpPr>
        <p:spPr>
          <a:xfrm>
            <a:off x="5080000" y="2095500"/>
            <a:ext cx="6413500" cy="635000"/>
          </a:xfrm>
          <a:prstGeom prst="rect">
            <a:avLst/>
          </a:prstGeom>
          <a:noFill/>
        </p:spPr>
        <p:txBody>
          <a:bodyPr vert="horz" wrap="square" lIns="0" tIns="0" rIns="0" bIns="0" rtlCol="0" anchor="ctr">
            <a:noAutofit/>
          </a:bodyPr>
          <a:lstStyle/>
          <a:p>
            <a:r>
              <a:rPr lang="en-US" sz="1400">
                <a:solidFill>
                  <a:srgbClr val="1F2937"/>
                </a:solidFill>
                <a:latin typeface="Calibri" panose="020F0502020204030204" pitchFamily="34" charset="0"/>
              </a:rPr>
              <a:t>Find individual risks and sources of overall risk; start the risk register and risk report.</a:t>
            </a:r>
          </a:p>
        </p:txBody>
      </p:sp>
      <p:sp>
        <p:nvSpPr>
          <p:cNvPr id="11" name="Rectangle: Rounded Corners 10">
            <a:extLst>
              <a:ext uri="{FF2B5EF4-FFF2-40B4-BE49-F238E27FC236}">
                <a16:creationId xmlns:a16="http://schemas.microsoft.com/office/drawing/2014/main" id="{072D3228-0589-6E2D-3320-71E2133A14D4}"/>
              </a:ext>
            </a:extLst>
          </p:cNvPr>
          <p:cNvSpPr/>
          <p:nvPr/>
        </p:nvSpPr>
        <p:spPr>
          <a:xfrm>
            <a:off x="508000" y="2794000"/>
            <a:ext cx="11176000" cy="635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4F02A89-1101-2DFA-5BA9-E8A79D60941F}"/>
              </a:ext>
            </a:extLst>
          </p:cNvPr>
          <p:cNvSpPr/>
          <p:nvPr/>
        </p:nvSpPr>
        <p:spPr>
          <a:xfrm>
            <a:off x="685800" y="2921000"/>
            <a:ext cx="381000" cy="3810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300" b="1">
                <a:solidFill>
                  <a:srgbClr val="FFFFFF"/>
                </a:solidFill>
                <a:latin typeface="Calibri" panose="020F0502020204030204" pitchFamily="34" charset="0"/>
              </a:rPr>
              <a:t>3</a:t>
            </a:r>
          </a:p>
        </p:txBody>
      </p:sp>
      <p:sp>
        <p:nvSpPr>
          <p:cNvPr id="13" name="TextBox 12">
            <a:extLst>
              <a:ext uri="{FF2B5EF4-FFF2-40B4-BE49-F238E27FC236}">
                <a16:creationId xmlns:a16="http://schemas.microsoft.com/office/drawing/2014/main" id="{7AB003DA-1D6E-61C0-D607-879224716D59}"/>
              </a:ext>
            </a:extLst>
          </p:cNvPr>
          <p:cNvSpPr txBox="1"/>
          <p:nvPr/>
        </p:nvSpPr>
        <p:spPr>
          <a:xfrm>
            <a:off x="1270000" y="2794000"/>
            <a:ext cx="3683000" cy="635000"/>
          </a:xfrm>
          <a:prstGeom prst="rect">
            <a:avLst/>
          </a:prstGeom>
          <a:noFill/>
        </p:spPr>
        <p:txBody>
          <a:bodyPr vert="horz" wrap="square" lIns="0" tIns="0" rIns="0" bIns="0" rtlCol="0" anchor="ctr">
            <a:noAutofit/>
          </a:bodyPr>
          <a:lstStyle/>
          <a:p>
            <a:r>
              <a:rPr lang="en-US" sz="1600" b="1">
                <a:solidFill>
                  <a:srgbClr val="14213D"/>
                </a:solidFill>
                <a:latin typeface="Calibri" panose="020F0502020204030204" pitchFamily="34" charset="0"/>
              </a:rPr>
              <a:t>Perform Qualitative Risk Analysis</a:t>
            </a:r>
          </a:p>
        </p:txBody>
      </p:sp>
      <p:sp>
        <p:nvSpPr>
          <p:cNvPr id="14" name="TextBox 13">
            <a:extLst>
              <a:ext uri="{FF2B5EF4-FFF2-40B4-BE49-F238E27FC236}">
                <a16:creationId xmlns:a16="http://schemas.microsoft.com/office/drawing/2014/main" id="{C5D287D8-7857-C89D-2C43-C89738D6E397}"/>
              </a:ext>
            </a:extLst>
          </p:cNvPr>
          <p:cNvSpPr txBox="1"/>
          <p:nvPr/>
        </p:nvSpPr>
        <p:spPr>
          <a:xfrm>
            <a:off x="5080000" y="2794000"/>
            <a:ext cx="6413500" cy="635000"/>
          </a:xfrm>
          <a:prstGeom prst="rect">
            <a:avLst/>
          </a:prstGeom>
          <a:noFill/>
        </p:spPr>
        <p:txBody>
          <a:bodyPr vert="horz" wrap="square" lIns="0" tIns="0" rIns="0" bIns="0" rtlCol="0" anchor="ctr">
            <a:noAutofit/>
          </a:bodyPr>
          <a:lstStyle/>
          <a:p>
            <a:r>
              <a:rPr lang="en-US" sz="1400">
                <a:solidFill>
                  <a:srgbClr val="1F2937"/>
                </a:solidFill>
                <a:latin typeface="Calibri" panose="020F0502020204030204" pitchFamily="34" charset="0"/>
              </a:rPr>
              <a:t>Prioritize risks by probability and impact (probability and impact matrix).</a:t>
            </a:r>
          </a:p>
        </p:txBody>
      </p:sp>
      <p:sp>
        <p:nvSpPr>
          <p:cNvPr id="15" name="Oval 14">
            <a:extLst>
              <a:ext uri="{FF2B5EF4-FFF2-40B4-BE49-F238E27FC236}">
                <a16:creationId xmlns:a16="http://schemas.microsoft.com/office/drawing/2014/main" id="{3D7837D7-93D0-1A46-61BA-9C16855E0F9D}"/>
              </a:ext>
            </a:extLst>
          </p:cNvPr>
          <p:cNvSpPr/>
          <p:nvPr/>
        </p:nvSpPr>
        <p:spPr>
          <a:xfrm>
            <a:off x="685800" y="3619500"/>
            <a:ext cx="381000" cy="3810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300" b="1">
                <a:solidFill>
                  <a:srgbClr val="FFFFFF"/>
                </a:solidFill>
                <a:latin typeface="Calibri" panose="020F0502020204030204" pitchFamily="34" charset="0"/>
              </a:rPr>
              <a:t>4</a:t>
            </a:r>
          </a:p>
        </p:txBody>
      </p:sp>
      <p:sp>
        <p:nvSpPr>
          <p:cNvPr id="16" name="TextBox 15">
            <a:extLst>
              <a:ext uri="{FF2B5EF4-FFF2-40B4-BE49-F238E27FC236}">
                <a16:creationId xmlns:a16="http://schemas.microsoft.com/office/drawing/2014/main" id="{E896995A-AF21-5E0A-1536-63F0E0CFDBB3}"/>
              </a:ext>
            </a:extLst>
          </p:cNvPr>
          <p:cNvSpPr txBox="1"/>
          <p:nvPr/>
        </p:nvSpPr>
        <p:spPr>
          <a:xfrm>
            <a:off x="1270000" y="3492500"/>
            <a:ext cx="3683000" cy="635000"/>
          </a:xfrm>
          <a:prstGeom prst="rect">
            <a:avLst/>
          </a:prstGeom>
          <a:noFill/>
        </p:spPr>
        <p:txBody>
          <a:bodyPr vert="horz" wrap="square" lIns="0" tIns="0" rIns="0" bIns="0" rtlCol="0" anchor="ctr">
            <a:noAutofit/>
          </a:bodyPr>
          <a:lstStyle/>
          <a:p>
            <a:r>
              <a:rPr lang="en-US" sz="1600" b="1">
                <a:solidFill>
                  <a:srgbClr val="14213D"/>
                </a:solidFill>
                <a:latin typeface="Calibri" panose="020F0502020204030204" pitchFamily="34" charset="0"/>
              </a:rPr>
              <a:t>Perform Quantitative Risk Analysis</a:t>
            </a:r>
          </a:p>
        </p:txBody>
      </p:sp>
      <p:sp>
        <p:nvSpPr>
          <p:cNvPr id="17" name="TextBox 16">
            <a:extLst>
              <a:ext uri="{FF2B5EF4-FFF2-40B4-BE49-F238E27FC236}">
                <a16:creationId xmlns:a16="http://schemas.microsoft.com/office/drawing/2014/main" id="{BFE9D589-EE38-F50C-221C-3E5C018F0055}"/>
              </a:ext>
            </a:extLst>
          </p:cNvPr>
          <p:cNvSpPr txBox="1"/>
          <p:nvPr/>
        </p:nvSpPr>
        <p:spPr>
          <a:xfrm>
            <a:off x="5080000" y="3492500"/>
            <a:ext cx="6413500" cy="635000"/>
          </a:xfrm>
          <a:prstGeom prst="rect">
            <a:avLst/>
          </a:prstGeom>
          <a:noFill/>
        </p:spPr>
        <p:txBody>
          <a:bodyPr vert="horz" wrap="square" lIns="0" tIns="0" rIns="0" bIns="0" rtlCol="0" anchor="ctr">
            <a:noAutofit/>
          </a:bodyPr>
          <a:lstStyle/>
          <a:p>
            <a:r>
              <a:rPr lang="en-US" sz="1400">
                <a:solidFill>
                  <a:srgbClr val="1F2937"/>
                </a:solidFill>
                <a:latin typeface="Calibri" panose="020F0502020204030204" pitchFamily="34" charset="0"/>
              </a:rPr>
              <a:t>Numerically model overall exposure: Monte Carlo simulation, decision trees, EMV.</a:t>
            </a:r>
          </a:p>
        </p:txBody>
      </p:sp>
      <p:sp>
        <p:nvSpPr>
          <p:cNvPr id="18" name="Rectangle: Rounded Corners 17">
            <a:extLst>
              <a:ext uri="{FF2B5EF4-FFF2-40B4-BE49-F238E27FC236}">
                <a16:creationId xmlns:a16="http://schemas.microsoft.com/office/drawing/2014/main" id="{C86FFBB4-2CF3-FD05-180F-9A830BB94988}"/>
              </a:ext>
            </a:extLst>
          </p:cNvPr>
          <p:cNvSpPr/>
          <p:nvPr/>
        </p:nvSpPr>
        <p:spPr>
          <a:xfrm>
            <a:off x="508000" y="4191000"/>
            <a:ext cx="11176000" cy="635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7146064-5867-84D2-8AC8-D701EF6FCAF1}"/>
              </a:ext>
            </a:extLst>
          </p:cNvPr>
          <p:cNvSpPr/>
          <p:nvPr/>
        </p:nvSpPr>
        <p:spPr>
          <a:xfrm>
            <a:off x="685800" y="4318000"/>
            <a:ext cx="381000" cy="3810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300" b="1">
                <a:solidFill>
                  <a:srgbClr val="FFFFFF"/>
                </a:solidFill>
                <a:latin typeface="Calibri" panose="020F0502020204030204" pitchFamily="34" charset="0"/>
              </a:rPr>
              <a:t>5</a:t>
            </a:r>
          </a:p>
        </p:txBody>
      </p:sp>
      <p:sp>
        <p:nvSpPr>
          <p:cNvPr id="20" name="TextBox 19">
            <a:extLst>
              <a:ext uri="{FF2B5EF4-FFF2-40B4-BE49-F238E27FC236}">
                <a16:creationId xmlns:a16="http://schemas.microsoft.com/office/drawing/2014/main" id="{49CE3775-E982-0D90-CA14-4275DB781986}"/>
              </a:ext>
            </a:extLst>
          </p:cNvPr>
          <p:cNvSpPr txBox="1"/>
          <p:nvPr/>
        </p:nvSpPr>
        <p:spPr>
          <a:xfrm>
            <a:off x="1270000" y="4191000"/>
            <a:ext cx="3683000" cy="635000"/>
          </a:xfrm>
          <a:prstGeom prst="rect">
            <a:avLst/>
          </a:prstGeom>
          <a:noFill/>
        </p:spPr>
        <p:txBody>
          <a:bodyPr vert="horz" wrap="square" lIns="0" tIns="0" rIns="0" bIns="0" rtlCol="0" anchor="ctr">
            <a:noAutofit/>
          </a:bodyPr>
          <a:lstStyle/>
          <a:p>
            <a:r>
              <a:rPr lang="en-US" sz="1600" b="1">
                <a:solidFill>
                  <a:srgbClr val="14213D"/>
                </a:solidFill>
                <a:latin typeface="Calibri" panose="020F0502020204030204" pitchFamily="34" charset="0"/>
              </a:rPr>
              <a:t>Plan Risk Responses</a:t>
            </a:r>
          </a:p>
        </p:txBody>
      </p:sp>
      <p:sp>
        <p:nvSpPr>
          <p:cNvPr id="21" name="TextBox 20">
            <a:extLst>
              <a:ext uri="{FF2B5EF4-FFF2-40B4-BE49-F238E27FC236}">
                <a16:creationId xmlns:a16="http://schemas.microsoft.com/office/drawing/2014/main" id="{41356466-01F3-F740-3AAF-C81D1F51FC2F}"/>
              </a:ext>
            </a:extLst>
          </p:cNvPr>
          <p:cNvSpPr txBox="1"/>
          <p:nvPr/>
        </p:nvSpPr>
        <p:spPr>
          <a:xfrm>
            <a:off x="5080000" y="4191000"/>
            <a:ext cx="6413500" cy="635000"/>
          </a:xfrm>
          <a:prstGeom prst="rect">
            <a:avLst/>
          </a:prstGeom>
          <a:noFill/>
        </p:spPr>
        <p:txBody>
          <a:bodyPr vert="horz" wrap="square" lIns="0" tIns="0" rIns="0" bIns="0" rtlCol="0" anchor="ctr">
            <a:noAutofit/>
          </a:bodyPr>
          <a:lstStyle/>
          <a:p>
            <a:r>
              <a:rPr lang="en-US" sz="1400">
                <a:solidFill>
                  <a:srgbClr val="1F2937"/>
                </a:solidFill>
                <a:latin typeface="Calibri" panose="020F0502020204030204" pitchFamily="34" charset="0"/>
              </a:rPr>
              <a:t>Threats: escalate, avoid, transfer, mitigate, accept. Opportunities: escalate, exploit, share, enhance, accept.</a:t>
            </a:r>
          </a:p>
        </p:txBody>
      </p:sp>
      <p:sp>
        <p:nvSpPr>
          <p:cNvPr id="22" name="Oval 21">
            <a:extLst>
              <a:ext uri="{FF2B5EF4-FFF2-40B4-BE49-F238E27FC236}">
                <a16:creationId xmlns:a16="http://schemas.microsoft.com/office/drawing/2014/main" id="{980D5C0E-10FF-E0AC-43A9-10D8C49981D4}"/>
              </a:ext>
            </a:extLst>
          </p:cNvPr>
          <p:cNvSpPr/>
          <p:nvPr/>
        </p:nvSpPr>
        <p:spPr>
          <a:xfrm>
            <a:off x="685800" y="5016500"/>
            <a:ext cx="381000" cy="3810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300" b="1">
                <a:solidFill>
                  <a:srgbClr val="FFFFFF"/>
                </a:solidFill>
                <a:latin typeface="Calibri" panose="020F0502020204030204" pitchFamily="34" charset="0"/>
              </a:rPr>
              <a:t>6</a:t>
            </a:r>
          </a:p>
        </p:txBody>
      </p:sp>
      <p:sp>
        <p:nvSpPr>
          <p:cNvPr id="23" name="TextBox 22">
            <a:extLst>
              <a:ext uri="{FF2B5EF4-FFF2-40B4-BE49-F238E27FC236}">
                <a16:creationId xmlns:a16="http://schemas.microsoft.com/office/drawing/2014/main" id="{F8470951-E0CC-F552-73D8-E4BF01B65640}"/>
              </a:ext>
            </a:extLst>
          </p:cNvPr>
          <p:cNvSpPr txBox="1"/>
          <p:nvPr/>
        </p:nvSpPr>
        <p:spPr>
          <a:xfrm>
            <a:off x="1270000" y="4889500"/>
            <a:ext cx="3683000" cy="635000"/>
          </a:xfrm>
          <a:prstGeom prst="rect">
            <a:avLst/>
          </a:prstGeom>
          <a:noFill/>
        </p:spPr>
        <p:txBody>
          <a:bodyPr vert="horz" wrap="square" lIns="0" tIns="0" rIns="0" bIns="0" rtlCol="0" anchor="ctr">
            <a:noAutofit/>
          </a:bodyPr>
          <a:lstStyle/>
          <a:p>
            <a:r>
              <a:rPr lang="en-US" sz="1600" b="1">
                <a:solidFill>
                  <a:srgbClr val="14213D"/>
                </a:solidFill>
                <a:latin typeface="Calibri" panose="020F0502020204030204" pitchFamily="34" charset="0"/>
              </a:rPr>
              <a:t>Implement Risk Responses</a:t>
            </a:r>
          </a:p>
        </p:txBody>
      </p:sp>
      <p:sp>
        <p:nvSpPr>
          <p:cNvPr id="24" name="TextBox 23">
            <a:extLst>
              <a:ext uri="{FF2B5EF4-FFF2-40B4-BE49-F238E27FC236}">
                <a16:creationId xmlns:a16="http://schemas.microsoft.com/office/drawing/2014/main" id="{97C80F3F-4E44-FF99-A24C-741D718CB12A}"/>
              </a:ext>
            </a:extLst>
          </p:cNvPr>
          <p:cNvSpPr txBox="1"/>
          <p:nvPr/>
        </p:nvSpPr>
        <p:spPr>
          <a:xfrm>
            <a:off x="5080000" y="4889500"/>
            <a:ext cx="6413500" cy="635000"/>
          </a:xfrm>
          <a:prstGeom prst="rect">
            <a:avLst/>
          </a:prstGeom>
          <a:noFill/>
        </p:spPr>
        <p:txBody>
          <a:bodyPr vert="horz" wrap="square" lIns="0" tIns="0" rIns="0" bIns="0" rtlCol="0" anchor="ctr">
            <a:noAutofit/>
          </a:bodyPr>
          <a:lstStyle/>
          <a:p>
            <a:r>
              <a:rPr lang="en-US" sz="1400">
                <a:solidFill>
                  <a:srgbClr val="1F2937"/>
                </a:solidFill>
                <a:latin typeface="Calibri" panose="020F0502020204030204" pitchFamily="34" charset="0"/>
              </a:rPr>
              <a:t>Carry out the agreed risk response plans.</a:t>
            </a:r>
          </a:p>
        </p:txBody>
      </p:sp>
      <p:sp>
        <p:nvSpPr>
          <p:cNvPr id="25" name="Rectangle: Rounded Corners 24">
            <a:extLst>
              <a:ext uri="{FF2B5EF4-FFF2-40B4-BE49-F238E27FC236}">
                <a16:creationId xmlns:a16="http://schemas.microsoft.com/office/drawing/2014/main" id="{B5E74B7C-8ACA-256A-BC2F-383C75E75111}"/>
              </a:ext>
            </a:extLst>
          </p:cNvPr>
          <p:cNvSpPr/>
          <p:nvPr/>
        </p:nvSpPr>
        <p:spPr>
          <a:xfrm>
            <a:off x="508000" y="5588000"/>
            <a:ext cx="11176000" cy="635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6A686AF4-F4C2-C463-41CF-95559D501988}"/>
              </a:ext>
            </a:extLst>
          </p:cNvPr>
          <p:cNvSpPr/>
          <p:nvPr/>
        </p:nvSpPr>
        <p:spPr>
          <a:xfrm>
            <a:off x="685800" y="5715000"/>
            <a:ext cx="381000" cy="3810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300" b="1">
                <a:solidFill>
                  <a:srgbClr val="FFFFFF"/>
                </a:solidFill>
                <a:latin typeface="Calibri" panose="020F0502020204030204" pitchFamily="34" charset="0"/>
              </a:rPr>
              <a:t>7</a:t>
            </a:r>
          </a:p>
        </p:txBody>
      </p:sp>
      <p:sp>
        <p:nvSpPr>
          <p:cNvPr id="27" name="TextBox 26">
            <a:extLst>
              <a:ext uri="{FF2B5EF4-FFF2-40B4-BE49-F238E27FC236}">
                <a16:creationId xmlns:a16="http://schemas.microsoft.com/office/drawing/2014/main" id="{CF658B06-CA26-BE5B-E127-621F04169C5B}"/>
              </a:ext>
            </a:extLst>
          </p:cNvPr>
          <p:cNvSpPr txBox="1"/>
          <p:nvPr/>
        </p:nvSpPr>
        <p:spPr>
          <a:xfrm>
            <a:off x="1270000" y="5588000"/>
            <a:ext cx="3683000" cy="635000"/>
          </a:xfrm>
          <a:prstGeom prst="rect">
            <a:avLst/>
          </a:prstGeom>
          <a:noFill/>
        </p:spPr>
        <p:txBody>
          <a:bodyPr vert="horz" wrap="square" lIns="0" tIns="0" rIns="0" bIns="0" rtlCol="0" anchor="ctr">
            <a:noAutofit/>
          </a:bodyPr>
          <a:lstStyle/>
          <a:p>
            <a:r>
              <a:rPr lang="en-US" sz="1600" b="1">
                <a:solidFill>
                  <a:srgbClr val="14213D"/>
                </a:solidFill>
                <a:latin typeface="Calibri" panose="020F0502020204030204" pitchFamily="34" charset="0"/>
              </a:rPr>
              <a:t>Monitor Risks</a:t>
            </a:r>
          </a:p>
        </p:txBody>
      </p:sp>
      <p:sp>
        <p:nvSpPr>
          <p:cNvPr id="28" name="TextBox 27">
            <a:extLst>
              <a:ext uri="{FF2B5EF4-FFF2-40B4-BE49-F238E27FC236}">
                <a16:creationId xmlns:a16="http://schemas.microsoft.com/office/drawing/2014/main" id="{9A57E90F-0297-DC9A-F0C1-3CF0EDC904A1}"/>
              </a:ext>
            </a:extLst>
          </p:cNvPr>
          <p:cNvSpPr txBox="1"/>
          <p:nvPr/>
        </p:nvSpPr>
        <p:spPr>
          <a:xfrm>
            <a:off x="5080000" y="5588000"/>
            <a:ext cx="6413500" cy="635000"/>
          </a:xfrm>
          <a:prstGeom prst="rect">
            <a:avLst/>
          </a:prstGeom>
          <a:noFill/>
        </p:spPr>
        <p:txBody>
          <a:bodyPr vert="horz" wrap="square" lIns="0" tIns="0" rIns="0" bIns="0" rtlCol="0" anchor="ctr">
            <a:noAutofit/>
          </a:bodyPr>
          <a:lstStyle/>
          <a:p>
            <a:r>
              <a:rPr lang="en-US" sz="1400">
                <a:solidFill>
                  <a:srgbClr val="1F2937"/>
                </a:solidFill>
                <a:latin typeface="Calibri" panose="020F0502020204030204" pitchFamily="34" charset="0"/>
              </a:rPr>
              <a:t>Track identified risks, find new ones, and evaluate whether responses are working.</a:t>
            </a:r>
          </a:p>
        </p:txBody>
      </p:sp>
      <p:sp>
        <p:nvSpPr>
          <p:cNvPr id="29" name="Footer">
            <a:extLst>
              <a:ext uri="{FF2B5EF4-FFF2-40B4-BE49-F238E27FC236}">
                <a16:creationId xmlns:a16="http://schemas.microsoft.com/office/drawing/2014/main" id="{F7E71628-4422-FC2B-1AC0-F8B09CAC3ED3}"/>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PMBOK® Guide — Sixth Edition, Chapter 11 (Project Risk Management)</a:t>
            </a:r>
          </a:p>
        </p:txBody>
      </p:sp>
      <p:sp>
        <p:nvSpPr>
          <p:cNvPr id="30" name="SlideNum">
            <a:extLst>
              <a:ext uri="{FF2B5EF4-FFF2-40B4-BE49-F238E27FC236}">
                <a16:creationId xmlns:a16="http://schemas.microsoft.com/office/drawing/2014/main" id="{0CCF5D66-8321-E106-333D-C2E8B7F127D0}"/>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76</a:t>
            </a:r>
          </a:p>
        </p:txBody>
      </p:sp>
      <p:sp>
        <p:nvSpPr>
          <p:cNvPr id="31"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10550310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74CB6528-523E-BBBA-98F0-3356CB11D71E}"/>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Risk attitude: playing it safe or taking a chance</a:t>
            </a:r>
          </a:p>
        </p:txBody>
      </p:sp>
      <p:sp>
        <p:nvSpPr>
          <p:cNvPr id="3" name="Tag">
            <a:extLst>
              <a:ext uri="{FF2B5EF4-FFF2-40B4-BE49-F238E27FC236}">
                <a16:creationId xmlns:a16="http://schemas.microsoft.com/office/drawing/2014/main" id="{744DD94B-B3C6-2B19-BA87-FDD3EFFA9EA8}"/>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A84A2E"/>
                </a:solidFill>
                <a:latin typeface="Calibri" panose="020F0502020204030204" pitchFamily="34" charset="0"/>
              </a:rPr>
              <a:t>Business Environment deep dive · Supports Business Environment Task 5 (Plan and manage risk)</a:t>
            </a:r>
          </a:p>
        </p:txBody>
      </p:sp>
      <p:sp>
        <p:nvSpPr>
          <p:cNvPr id="4" name="Rectangle: Rounded Corners 3">
            <a:extLst>
              <a:ext uri="{FF2B5EF4-FFF2-40B4-BE49-F238E27FC236}">
                <a16:creationId xmlns:a16="http://schemas.microsoft.com/office/drawing/2014/main" id="{D2770A0E-6DFD-1363-2E9E-F84CCC0F82D4}"/>
              </a:ext>
            </a:extLst>
          </p:cNvPr>
          <p:cNvSpPr/>
          <p:nvPr/>
        </p:nvSpPr>
        <p:spPr>
          <a:xfrm>
            <a:off x="508000" y="1320800"/>
            <a:ext cx="2641600" cy="17780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89E7E24-211F-D7E2-BD74-DF9551BAE193}"/>
              </a:ext>
            </a:extLst>
          </p:cNvPr>
          <p:cNvSpPr txBox="1"/>
          <p:nvPr/>
        </p:nvSpPr>
        <p:spPr>
          <a:xfrm>
            <a:off x="660400" y="1473200"/>
            <a:ext cx="2336800" cy="1473200"/>
          </a:xfrm>
          <a:prstGeom prst="rect">
            <a:avLst/>
          </a:prstGeom>
          <a:noFill/>
        </p:spPr>
        <p:txBody>
          <a:bodyPr vert="horz" wrap="square" lIns="0" tIns="0" rIns="0" bIns="0" rtlCol="0" anchor="t">
            <a:noAutofit/>
          </a:bodyPr>
          <a:lstStyle/>
          <a:p>
            <a:pPr>
              <a:spcAft>
                <a:spcPts val="600"/>
              </a:spcAft>
            </a:pPr>
            <a:r>
              <a:rPr lang="en-US" sz="1500" b="1">
                <a:solidFill>
                  <a:srgbClr val="0F7C80"/>
                </a:solidFill>
                <a:latin typeface="Calibri" panose="020F0502020204030204" pitchFamily="34" charset="0"/>
              </a:rPr>
              <a:t>Risk averse</a:t>
            </a:r>
          </a:p>
          <a:p>
            <a:r>
              <a:rPr lang="en-US" sz="1200">
                <a:solidFill>
                  <a:srgbClr val="1F2937"/>
                </a:solidFill>
                <a:latin typeface="Calibri" panose="020F0502020204030204" pitchFamily="34" charset="0"/>
              </a:rPr>
              <a:t>Plays it safe. Uncomfortable with uncertainty; favors avoiding or reducing threats, even at a cost.</a:t>
            </a:r>
          </a:p>
        </p:txBody>
      </p:sp>
      <p:sp>
        <p:nvSpPr>
          <p:cNvPr id="6" name="Rectangle: Rounded Corners 5">
            <a:extLst>
              <a:ext uri="{FF2B5EF4-FFF2-40B4-BE49-F238E27FC236}">
                <a16:creationId xmlns:a16="http://schemas.microsoft.com/office/drawing/2014/main" id="{BD96B05C-00A6-C9D5-BC27-3D8BC8D69149}"/>
              </a:ext>
            </a:extLst>
          </p:cNvPr>
          <p:cNvSpPr/>
          <p:nvPr/>
        </p:nvSpPr>
        <p:spPr>
          <a:xfrm>
            <a:off x="3352800" y="1320800"/>
            <a:ext cx="2641600" cy="1778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2617953-A887-CAEA-D94E-5ADC7E311BCC}"/>
              </a:ext>
            </a:extLst>
          </p:cNvPr>
          <p:cNvSpPr txBox="1"/>
          <p:nvPr/>
        </p:nvSpPr>
        <p:spPr>
          <a:xfrm>
            <a:off x="3505200" y="1473200"/>
            <a:ext cx="2336800" cy="14732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Risk tolerant</a:t>
            </a:r>
          </a:p>
          <a:p>
            <a:r>
              <a:rPr lang="en-US" sz="1200">
                <a:solidFill>
                  <a:srgbClr val="1F2937"/>
                </a:solidFill>
                <a:latin typeface="Calibri" panose="020F0502020204030204" pitchFamily="34" charset="0"/>
              </a:rPr>
              <a:t>Comfortable with most uncertainty; may not react enough to real threats.</a:t>
            </a:r>
          </a:p>
        </p:txBody>
      </p:sp>
      <p:sp>
        <p:nvSpPr>
          <p:cNvPr id="8" name="Rectangle: Rounded Corners 7">
            <a:extLst>
              <a:ext uri="{FF2B5EF4-FFF2-40B4-BE49-F238E27FC236}">
                <a16:creationId xmlns:a16="http://schemas.microsoft.com/office/drawing/2014/main" id="{17C76059-0B19-44EE-0280-1A6A64A1AD6D}"/>
              </a:ext>
            </a:extLst>
          </p:cNvPr>
          <p:cNvSpPr/>
          <p:nvPr/>
        </p:nvSpPr>
        <p:spPr>
          <a:xfrm>
            <a:off x="6197600" y="1320800"/>
            <a:ext cx="2641600" cy="1778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B9B7954-74C4-A89E-A149-11914F7899F7}"/>
              </a:ext>
            </a:extLst>
          </p:cNvPr>
          <p:cNvSpPr txBox="1"/>
          <p:nvPr/>
        </p:nvSpPr>
        <p:spPr>
          <a:xfrm>
            <a:off x="6350000" y="1473200"/>
            <a:ext cx="2336800" cy="14732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Risk neutral</a:t>
            </a:r>
          </a:p>
          <a:p>
            <a:r>
              <a:rPr lang="en-US" sz="1200">
                <a:solidFill>
                  <a:srgbClr val="1F2937"/>
                </a:solidFill>
                <a:latin typeface="Calibri" panose="020F0502020204030204" pitchFamily="34" charset="0"/>
              </a:rPr>
              <a:t>Weighs today’s risk against the long-term payoff; looks at expected value.</a:t>
            </a:r>
          </a:p>
        </p:txBody>
      </p:sp>
      <p:sp>
        <p:nvSpPr>
          <p:cNvPr id="10" name="Rectangle: Rounded Corners 9">
            <a:extLst>
              <a:ext uri="{FF2B5EF4-FFF2-40B4-BE49-F238E27FC236}">
                <a16:creationId xmlns:a16="http://schemas.microsoft.com/office/drawing/2014/main" id="{AC49AF28-B7C9-8ACA-D4DD-3C8B491A32D8}"/>
              </a:ext>
            </a:extLst>
          </p:cNvPr>
          <p:cNvSpPr/>
          <p:nvPr/>
        </p:nvSpPr>
        <p:spPr>
          <a:xfrm>
            <a:off x="9042400" y="1320800"/>
            <a:ext cx="2641600" cy="17780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A2DBB93-2A9C-E465-1A1B-2AA254F8C6A1}"/>
              </a:ext>
            </a:extLst>
          </p:cNvPr>
          <p:cNvSpPr txBox="1"/>
          <p:nvPr/>
        </p:nvSpPr>
        <p:spPr>
          <a:xfrm>
            <a:off x="9194800" y="1473200"/>
            <a:ext cx="2336800" cy="1473200"/>
          </a:xfrm>
          <a:prstGeom prst="rect">
            <a:avLst/>
          </a:prstGeom>
          <a:noFill/>
        </p:spPr>
        <p:txBody>
          <a:bodyPr vert="horz" wrap="square" lIns="0" tIns="0" rIns="0" bIns="0" rtlCol="0" anchor="t">
            <a:noAutofit/>
          </a:bodyPr>
          <a:lstStyle/>
          <a:p>
            <a:pPr>
              <a:spcAft>
                <a:spcPts val="600"/>
              </a:spcAft>
            </a:pPr>
            <a:r>
              <a:rPr lang="en-US" sz="1500" b="1">
                <a:solidFill>
                  <a:srgbClr val="A84A2E"/>
                </a:solidFill>
                <a:latin typeface="Calibri" panose="020F0502020204030204" pitchFamily="34" charset="0"/>
              </a:rPr>
              <a:t>Risk seeking</a:t>
            </a:r>
          </a:p>
          <a:p>
            <a:r>
              <a:rPr lang="en-US" sz="1200">
                <a:solidFill>
                  <a:srgbClr val="1F2937"/>
                </a:solidFill>
                <a:latin typeface="Calibri" panose="020F0502020204030204" pitchFamily="34" charset="0"/>
              </a:rPr>
              <a:t>Welcomes uncertainty for a chance at a bigger reward; may take on too much risk.</a:t>
            </a:r>
          </a:p>
        </p:txBody>
      </p:sp>
      <p:cxnSp>
        <p:nvCxnSpPr>
          <p:cNvPr id="12" name="Straight Connector 11">
            <a:extLst>
              <a:ext uri="{FF2B5EF4-FFF2-40B4-BE49-F238E27FC236}">
                <a16:creationId xmlns:a16="http://schemas.microsoft.com/office/drawing/2014/main" id="{57B7671D-8191-3C82-F57A-B12E77C7691A}"/>
              </a:ext>
            </a:extLst>
          </p:cNvPr>
          <p:cNvCxnSpPr/>
          <p:nvPr/>
        </p:nvCxnSpPr>
        <p:spPr>
          <a:xfrm>
            <a:off x="762000" y="3276600"/>
            <a:ext cx="10668000" cy="0"/>
          </a:xfrm>
          <a:prstGeom prst="line">
            <a:avLst/>
          </a:prstGeom>
          <a:ln w="25400">
            <a:solidFill>
              <a:srgbClr val="5B6475"/>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A7FE8622-19DC-20FC-7C57-E2CFD093DE17}"/>
              </a:ext>
            </a:extLst>
          </p:cNvPr>
          <p:cNvSpPr txBox="1"/>
          <p:nvPr/>
        </p:nvSpPr>
        <p:spPr>
          <a:xfrm>
            <a:off x="508000" y="3352800"/>
            <a:ext cx="3048000" cy="203200"/>
          </a:xfrm>
          <a:prstGeom prst="rect">
            <a:avLst/>
          </a:prstGeom>
          <a:noFill/>
        </p:spPr>
        <p:txBody>
          <a:bodyPr vert="horz" wrap="square" lIns="0" tIns="0" rIns="0" bIns="0" rtlCol="0" anchor="t">
            <a:noAutofit/>
          </a:bodyPr>
          <a:lstStyle/>
          <a:p>
            <a:r>
              <a:rPr lang="en-US" sz="1100" b="1">
                <a:solidFill>
                  <a:srgbClr val="0F7C80"/>
                </a:solidFill>
                <a:latin typeface="Calibri" panose="020F0502020204030204" pitchFamily="34" charset="0"/>
              </a:rPr>
              <a:t>Avoids uncertainty</a:t>
            </a:r>
          </a:p>
        </p:txBody>
      </p:sp>
      <p:sp>
        <p:nvSpPr>
          <p:cNvPr id="14" name="TextBox 13">
            <a:extLst>
              <a:ext uri="{FF2B5EF4-FFF2-40B4-BE49-F238E27FC236}">
                <a16:creationId xmlns:a16="http://schemas.microsoft.com/office/drawing/2014/main" id="{F324F571-DA2C-4452-C06A-B67A2AE428E0}"/>
              </a:ext>
            </a:extLst>
          </p:cNvPr>
          <p:cNvSpPr txBox="1"/>
          <p:nvPr/>
        </p:nvSpPr>
        <p:spPr>
          <a:xfrm>
            <a:off x="8636000" y="3352800"/>
            <a:ext cx="3048000" cy="203200"/>
          </a:xfrm>
          <a:prstGeom prst="rect">
            <a:avLst/>
          </a:prstGeom>
          <a:noFill/>
        </p:spPr>
        <p:txBody>
          <a:bodyPr vert="horz" wrap="square" lIns="0" tIns="0" rIns="0" bIns="0" rtlCol="0" anchor="t">
            <a:noAutofit/>
          </a:bodyPr>
          <a:lstStyle/>
          <a:p>
            <a:pPr algn="r"/>
            <a:r>
              <a:rPr lang="en-US" sz="1100" b="1">
                <a:solidFill>
                  <a:srgbClr val="A84A2E"/>
                </a:solidFill>
                <a:latin typeface="Calibri" panose="020F0502020204030204" pitchFamily="34" charset="0"/>
              </a:rPr>
              <a:t>Embraces uncertainty</a:t>
            </a:r>
          </a:p>
        </p:txBody>
      </p:sp>
      <p:sp>
        <p:nvSpPr>
          <p:cNvPr id="15" name="Rectangle: Rounded Corners 14">
            <a:extLst>
              <a:ext uri="{FF2B5EF4-FFF2-40B4-BE49-F238E27FC236}">
                <a16:creationId xmlns:a16="http://schemas.microsoft.com/office/drawing/2014/main" id="{BD8910ED-9F83-6830-C23A-F69FC965F1E5}"/>
              </a:ext>
            </a:extLst>
          </p:cNvPr>
          <p:cNvSpPr/>
          <p:nvPr/>
        </p:nvSpPr>
        <p:spPr>
          <a:xfrm>
            <a:off x="508000" y="3708400"/>
            <a:ext cx="3556000" cy="1651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ABB7F35-4207-8E30-1C55-8E288C8ABDB2}"/>
              </a:ext>
            </a:extLst>
          </p:cNvPr>
          <p:cNvSpPr txBox="1"/>
          <p:nvPr/>
        </p:nvSpPr>
        <p:spPr>
          <a:xfrm>
            <a:off x="660400" y="3860800"/>
            <a:ext cx="3251200" cy="13462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Risk appetite</a:t>
            </a:r>
          </a:p>
          <a:p>
            <a:r>
              <a:rPr lang="en-US" sz="1200">
                <a:solidFill>
                  <a:srgbClr val="1F2937"/>
                </a:solidFill>
                <a:latin typeface="Calibri" panose="020F0502020204030204" pitchFamily="34" charset="0"/>
              </a:rPr>
              <a:t>How much uncertainty an organization or person is willing to accept in anticipation of a reward.</a:t>
            </a:r>
          </a:p>
        </p:txBody>
      </p:sp>
      <p:sp>
        <p:nvSpPr>
          <p:cNvPr id="17" name="Rectangle: Rounded Corners 16">
            <a:extLst>
              <a:ext uri="{FF2B5EF4-FFF2-40B4-BE49-F238E27FC236}">
                <a16:creationId xmlns:a16="http://schemas.microsoft.com/office/drawing/2014/main" id="{6AE5D514-E905-8D1D-9E57-7C45C1E0BBFC}"/>
              </a:ext>
            </a:extLst>
          </p:cNvPr>
          <p:cNvSpPr/>
          <p:nvPr/>
        </p:nvSpPr>
        <p:spPr>
          <a:xfrm>
            <a:off x="4318000" y="3708400"/>
            <a:ext cx="3556000" cy="1651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0EFA31D-A331-47D2-C977-E7465A76C8AD}"/>
              </a:ext>
            </a:extLst>
          </p:cNvPr>
          <p:cNvSpPr txBox="1"/>
          <p:nvPr/>
        </p:nvSpPr>
        <p:spPr>
          <a:xfrm>
            <a:off x="4470400" y="3860800"/>
            <a:ext cx="3251200" cy="13462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Risk threshold</a:t>
            </a:r>
          </a:p>
          <a:p>
            <a:r>
              <a:rPr lang="en-US" sz="1200">
                <a:solidFill>
                  <a:srgbClr val="1F2937"/>
                </a:solidFill>
                <a:latin typeface="Calibri" panose="020F0502020204030204" pitchFamily="34" charset="0"/>
              </a:rPr>
              <a:t>The level of exposure above which risks are addressed and below which they may be accepted.</a:t>
            </a:r>
          </a:p>
        </p:txBody>
      </p:sp>
      <p:sp>
        <p:nvSpPr>
          <p:cNvPr id="19" name="Rectangle: Rounded Corners 18">
            <a:extLst>
              <a:ext uri="{FF2B5EF4-FFF2-40B4-BE49-F238E27FC236}">
                <a16:creationId xmlns:a16="http://schemas.microsoft.com/office/drawing/2014/main" id="{D8CFC8F5-A6D8-583F-CA67-BD00A786DDDA}"/>
              </a:ext>
            </a:extLst>
          </p:cNvPr>
          <p:cNvSpPr/>
          <p:nvPr/>
        </p:nvSpPr>
        <p:spPr>
          <a:xfrm>
            <a:off x="8128000" y="3708400"/>
            <a:ext cx="3556000" cy="16510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08483D24-ADF6-FF1D-59F6-AFDD63A9D47B}"/>
              </a:ext>
            </a:extLst>
          </p:cNvPr>
          <p:cNvSpPr txBox="1"/>
          <p:nvPr/>
        </p:nvSpPr>
        <p:spPr>
          <a:xfrm>
            <a:off x="8280400" y="3860800"/>
            <a:ext cx="3251200" cy="1346200"/>
          </a:xfrm>
          <a:prstGeom prst="rect">
            <a:avLst/>
          </a:prstGeom>
          <a:noFill/>
        </p:spPr>
        <p:txBody>
          <a:bodyPr vert="horz" wrap="square" lIns="0" tIns="0" rIns="0" bIns="0" rtlCol="0" anchor="t">
            <a:noAutofit/>
          </a:bodyPr>
          <a:lstStyle/>
          <a:p>
            <a:pPr>
              <a:spcAft>
                <a:spcPts val="600"/>
              </a:spcAft>
            </a:pPr>
            <a:r>
              <a:rPr lang="en-US" sz="1400" b="1">
                <a:solidFill>
                  <a:srgbClr val="A86F0E"/>
                </a:solidFill>
                <a:latin typeface="Calibri" panose="020F0502020204030204" pitchFamily="34" charset="0"/>
              </a:rPr>
              <a:t>Where it shows up</a:t>
            </a:r>
          </a:p>
          <a:p>
            <a:r>
              <a:rPr lang="en-US" sz="1200">
                <a:solidFill>
                  <a:srgbClr val="1F2937"/>
                </a:solidFill>
                <a:latin typeface="Calibri" panose="020F0502020204030204" pitchFamily="34" charset="0"/>
              </a:rPr>
              <a:t>Stakeholder risk appetites are captured in Plan Risk Management and set the thresholds in the risk management plan.</a:t>
            </a:r>
          </a:p>
        </p:txBody>
      </p:sp>
      <p:sp>
        <p:nvSpPr>
          <p:cNvPr id="21" name="Rectangle: Rounded Corners 20">
            <a:extLst>
              <a:ext uri="{FF2B5EF4-FFF2-40B4-BE49-F238E27FC236}">
                <a16:creationId xmlns:a16="http://schemas.microsoft.com/office/drawing/2014/main" id="{34248EB1-E5DF-5BAB-C56B-FD9D00D7E0C8}"/>
              </a:ext>
            </a:extLst>
          </p:cNvPr>
          <p:cNvSpPr/>
          <p:nvPr/>
        </p:nvSpPr>
        <p:spPr>
          <a:xfrm>
            <a:off x="508000" y="5486400"/>
            <a:ext cx="11176000" cy="838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5D37854A-1D6F-A510-7889-3327369B6D01}"/>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a stakeholder who wants to ‘play it safe’ is risk averse. Learn risk appetites early, because they set the thresholds used to rank and respond to risks.</a:t>
            </a:r>
          </a:p>
        </p:txBody>
      </p:sp>
      <p:sp>
        <p:nvSpPr>
          <p:cNvPr id="23" name="Footer">
            <a:extLst>
              <a:ext uri="{FF2B5EF4-FFF2-40B4-BE49-F238E27FC236}">
                <a16:creationId xmlns:a16="http://schemas.microsoft.com/office/drawing/2014/main" id="{8F854043-2C5E-D5BA-2CA5-79FEC179AC70}"/>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11.1 and Glossary (risk appetite, risk threshold); D. Hillson and R. Murray-Webster, Understanding and Managing Risk Attitude (2007)</a:t>
            </a:r>
          </a:p>
        </p:txBody>
      </p:sp>
      <p:sp>
        <p:nvSpPr>
          <p:cNvPr id="24" name="SlideNum">
            <a:extLst>
              <a:ext uri="{FF2B5EF4-FFF2-40B4-BE49-F238E27FC236}">
                <a16:creationId xmlns:a16="http://schemas.microsoft.com/office/drawing/2014/main" id="{13B6BCAE-17ED-7A7D-C029-26CC588FCFDB}"/>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77</a:t>
            </a:r>
          </a:p>
        </p:txBody>
      </p:sp>
      <p:sp>
        <p:nvSpPr>
          <p:cNvPr id="25"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67414026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8E1F326-A820-D831-252F-86AC2DCA3003}"/>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Delphi: reaching expert consensus anonymously</a:t>
            </a:r>
          </a:p>
        </p:txBody>
      </p:sp>
      <p:sp>
        <p:nvSpPr>
          <p:cNvPr id="3" name="Tag">
            <a:extLst>
              <a:ext uri="{FF2B5EF4-FFF2-40B4-BE49-F238E27FC236}">
                <a16:creationId xmlns:a16="http://schemas.microsoft.com/office/drawing/2014/main" id="{6DCB9E97-068A-8882-BF35-B73244DDFE9A}"/>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A84A2E"/>
                </a:solidFill>
                <a:latin typeface="Calibri" panose="020F0502020204030204" pitchFamily="34" charset="0"/>
              </a:rPr>
              <a:t>Business Environment deep dive · Supports Business Environment Task 5 and Process Task 8 · Identify risks; estimate project tasks</a:t>
            </a:r>
          </a:p>
        </p:txBody>
      </p:sp>
      <p:sp>
        <p:nvSpPr>
          <p:cNvPr id="4" name="Rectangle: Rounded Corners 3">
            <a:extLst>
              <a:ext uri="{FF2B5EF4-FFF2-40B4-BE49-F238E27FC236}">
                <a16:creationId xmlns:a16="http://schemas.microsoft.com/office/drawing/2014/main" id="{F843C43E-C56C-030E-34B4-87C7CA30AE15}"/>
              </a:ext>
            </a:extLst>
          </p:cNvPr>
          <p:cNvSpPr/>
          <p:nvPr/>
        </p:nvSpPr>
        <p:spPr>
          <a:xfrm>
            <a:off x="508000" y="1422400"/>
            <a:ext cx="2667000" cy="1905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10CCEE5-5A6C-4BE3-9E94-D066CFCE6DB4}"/>
              </a:ext>
            </a:extLst>
          </p:cNvPr>
          <p:cNvSpPr txBox="1"/>
          <p:nvPr/>
        </p:nvSpPr>
        <p:spPr>
          <a:xfrm>
            <a:off x="685800" y="1600200"/>
            <a:ext cx="2311400" cy="1549400"/>
          </a:xfrm>
          <a:prstGeom prst="rect">
            <a:avLst/>
          </a:prstGeom>
          <a:noFill/>
        </p:spPr>
        <p:txBody>
          <a:bodyPr vert="horz" wrap="square" lIns="0" tIns="0" rIns="0" bIns="0" rtlCol="0" anchor="t">
            <a:noAutofit/>
          </a:bodyPr>
          <a:lstStyle/>
          <a:p>
            <a:pPr>
              <a:spcAft>
                <a:spcPts val="600"/>
              </a:spcAft>
            </a:pPr>
            <a:r>
              <a:rPr lang="en-US" sz="1500" b="1">
                <a:solidFill>
                  <a:srgbClr val="14213D"/>
                </a:solidFill>
                <a:latin typeface="Calibri" panose="020F0502020204030204" pitchFamily="34" charset="0"/>
              </a:rPr>
              <a:t>1  Facilitator poses the question</a:t>
            </a:r>
          </a:p>
          <a:p>
            <a:r>
              <a:rPr lang="en-US" sz="1400">
                <a:solidFill>
                  <a:srgbClr val="1F2937"/>
                </a:solidFill>
                <a:latin typeface="Calibri" panose="020F0502020204030204" pitchFamily="34" charset="0"/>
              </a:rPr>
              <a:t>A facilitator selects experts and sends each a questionnaire.</a:t>
            </a:r>
          </a:p>
        </p:txBody>
      </p:sp>
      <p:sp>
        <p:nvSpPr>
          <p:cNvPr id="6" name="Rectangle: Rounded Corners 5">
            <a:extLst>
              <a:ext uri="{FF2B5EF4-FFF2-40B4-BE49-F238E27FC236}">
                <a16:creationId xmlns:a16="http://schemas.microsoft.com/office/drawing/2014/main" id="{C6938485-74B9-D721-D44E-674B5CDF7A3F}"/>
              </a:ext>
            </a:extLst>
          </p:cNvPr>
          <p:cNvSpPr/>
          <p:nvPr/>
        </p:nvSpPr>
        <p:spPr>
          <a:xfrm>
            <a:off x="3810000" y="1422400"/>
            <a:ext cx="2667000" cy="1905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0F2EE64-0E77-47D6-CB10-8F29FEF4FC91}"/>
              </a:ext>
            </a:extLst>
          </p:cNvPr>
          <p:cNvSpPr txBox="1"/>
          <p:nvPr/>
        </p:nvSpPr>
        <p:spPr>
          <a:xfrm>
            <a:off x="3987800" y="1600200"/>
            <a:ext cx="2311400" cy="1549400"/>
          </a:xfrm>
          <a:prstGeom prst="rect">
            <a:avLst/>
          </a:prstGeom>
          <a:noFill/>
        </p:spPr>
        <p:txBody>
          <a:bodyPr vert="horz" wrap="square" lIns="0" tIns="0" rIns="0" bIns="0" rtlCol="0" anchor="t">
            <a:noAutofit/>
          </a:bodyPr>
          <a:lstStyle/>
          <a:p>
            <a:pPr>
              <a:spcAft>
                <a:spcPts val="600"/>
              </a:spcAft>
            </a:pPr>
            <a:r>
              <a:rPr lang="en-US" sz="1500" b="1">
                <a:solidFill>
                  <a:srgbClr val="14213D"/>
                </a:solidFill>
                <a:latin typeface="Calibri" panose="020F0502020204030204" pitchFamily="34" charset="0"/>
              </a:rPr>
              <a:t>2  Experts answer anonymously</a:t>
            </a:r>
          </a:p>
          <a:p>
            <a:r>
              <a:rPr lang="en-US" sz="1400">
                <a:solidFill>
                  <a:srgbClr val="1F2937"/>
                </a:solidFill>
                <a:latin typeface="Calibri" panose="020F0502020204030204" pitchFamily="34" charset="0"/>
              </a:rPr>
              <a:t>Responses go only to the facilitator, never to each other.</a:t>
            </a:r>
          </a:p>
        </p:txBody>
      </p:sp>
      <p:sp>
        <p:nvSpPr>
          <p:cNvPr id="8" name="Rectangle: Rounded Corners 7">
            <a:extLst>
              <a:ext uri="{FF2B5EF4-FFF2-40B4-BE49-F238E27FC236}">
                <a16:creationId xmlns:a16="http://schemas.microsoft.com/office/drawing/2014/main" id="{FF4FA715-203E-53A8-FCDE-A55F71AF3CEE}"/>
              </a:ext>
            </a:extLst>
          </p:cNvPr>
          <p:cNvSpPr/>
          <p:nvPr/>
        </p:nvSpPr>
        <p:spPr>
          <a:xfrm>
            <a:off x="3810000" y="4140200"/>
            <a:ext cx="2667000" cy="1905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1189B50-5ACF-66D7-65F2-2DF2E86FF799}"/>
              </a:ext>
            </a:extLst>
          </p:cNvPr>
          <p:cNvSpPr txBox="1"/>
          <p:nvPr/>
        </p:nvSpPr>
        <p:spPr>
          <a:xfrm>
            <a:off x="3987800" y="4318000"/>
            <a:ext cx="2311400" cy="1549400"/>
          </a:xfrm>
          <a:prstGeom prst="rect">
            <a:avLst/>
          </a:prstGeom>
          <a:noFill/>
        </p:spPr>
        <p:txBody>
          <a:bodyPr vert="horz" wrap="square" lIns="0" tIns="0" rIns="0" bIns="0" rtlCol="0" anchor="t">
            <a:noAutofit/>
          </a:bodyPr>
          <a:lstStyle/>
          <a:p>
            <a:pPr>
              <a:spcAft>
                <a:spcPts val="600"/>
              </a:spcAft>
            </a:pPr>
            <a:r>
              <a:rPr lang="en-US" sz="1500" b="1">
                <a:solidFill>
                  <a:srgbClr val="14213D"/>
                </a:solidFill>
                <a:latin typeface="Calibri" panose="020F0502020204030204" pitchFamily="34" charset="0"/>
              </a:rPr>
              <a:t>3  Facilitator shares a summary</a:t>
            </a:r>
          </a:p>
          <a:p>
            <a:r>
              <a:rPr lang="en-US" sz="1400">
                <a:solidFill>
                  <a:srgbClr val="1F2937"/>
                </a:solidFill>
                <a:latin typeface="Calibri" panose="020F0502020204030204" pitchFamily="34" charset="0"/>
              </a:rPr>
              <a:t>Answers are compiled, and the anonymous summary goes back to everyone.</a:t>
            </a:r>
          </a:p>
        </p:txBody>
      </p:sp>
      <p:sp>
        <p:nvSpPr>
          <p:cNvPr id="10" name="Rectangle: Rounded Corners 9">
            <a:extLst>
              <a:ext uri="{FF2B5EF4-FFF2-40B4-BE49-F238E27FC236}">
                <a16:creationId xmlns:a16="http://schemas.microsoft.com/office/drawing/2014/main" id="{6236FCE4-F3FB-8BF0-0397-EEF57E724B88}"/>
              </a:ext>
            </a:extLst>
          </p:cNvPr>
          <p:cNvSpPr/>
          <p:nvPr/>
        </p:nvSpPr>
        <p:spPr>
          <a:xfrm>
            <a:off x="508000" y="4140200"/>
            <a:ext cx="2667000" cy="1905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3107584-F2DC-8895-97A0-ACFCF793FEBD}"/>
              </a:ext>
            </a:extLst>
          </p:cNvPr>
          <p:cNvSpPr txBox="1"/>
          <p:nvPr/>
        </p:nvSpPr>
        <p:spPr>
          <a:xfrm>
            <a:off x="685800" y="4318000"/>
            <a:ext cx="2311400" cy="1549400"/>
          </a:xfrm>
          <a:prstGeom prst="rect">
            <a:avLst/>
          </a:prstGeom>
          <a:noFill/>
        </p:spPr>
        <p:txBody>
          <a:bodyPr vert="horz" wrap="square" lIns="0" tIns="0" rIns="0" bIns="0" rtlCol="0" anchor="t">
            <a:noAutofit/>
          </a:bodyPr>
          <a:lstStyle/>
          <a:p>
            <a:pPr>
              <a:spcAft>
                <a:spcPts val="600"/>
              </a:spcAft>
            </a:pPr>
            <a:r>
              <a:rPr lang="en-US" sz="1500" b="1">
                <a:solidFill>
                  <a:srgbClr val="14213D"/>
                </a:solidFill>
                <a:latin typeface="Calibri" panose="020F0502020204030204" pitchFamily="34" charset="0"/>
              </a:rPr>
              <a:t>4  Experts revise and repeat</a:t>
            </a:r>
          </a:p>
          <a:p>
            <a:r>
              <a:rPr lang="en-US" sz="1400">
                <a:solidFill>
                  <a:srgbClr val="1F2937"/>
                </a:solidFill>
                <a:latin typeface="Calibri" panose="020F0502020204030204" pitchFamily="34" charset="0"/>
              </a:rPr>
              <a:t>Experts reconsider in light of the group; rounds continue until answers converge.</a:t>
            </a:r>
          </a:p>
        </p:txBody>
      </p:sp>
      <p:sp>
        <p:nvSpPr>
          <p:cNvPr id="12" name="Arrow: Right 11">
            <a:extLst>
              <a:ext uri="{FF2B5EF4-FFF2-40B4-BE49-F238E27FC236}">
                <a16:creationId xmlns:a16="http://schemas.microsoft.com/office/drawing/2014/main" id="{3630295E-5ADD-074F-FFD8-1D7B457E7E23}"/>
              </a:ext>
            </a:extLst>
          </p:cNvPr>
          <p:cNvSpPr/>
          <p:nvPr/>
        </p:nvSpPr>
        <p:spPr>
          <a:xfrm>
            <a:off x="3225800" y="2184400"/>
            <a:ext cx="533400" cy="330200"/>
          </a:xfrm>
          <a:prstGeom prst="rightArrow">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Down 12">
            <a:extLst>
              <a:ext uri="{FF2B5EF4-FFF2-40B4-BE49-F238E27FC236}">
                <a16:creationId xmlns:a16="http://schemas.microsoft.com/office/drawing/2014/main" id="{EF3F8699-0AE7-3308-CECB-1D7E7F8B6ADF}"/>
              </a:ext>
            </a:extLst>
          </p:cNvPr>
          <p:cNvSpPr/>
          <p:nvPr/>
        </p:nvSpPr>
        <p:spPr>
          <a:xfrm>
            <a:off x="4978400" y="3378200"/>
            <a:ext cx="330200" cy="711200"/>
          </a:xfrm>
          <a:prstGeom prst="downArrow">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Left 13">
            <a:extLst>
              <a:ext uri="{FF2B5EF4-FFF2-40B4-BE49-F238E27FC236}">
                <a16:creationId xmlns:a16="http://schemas.microsoft.com/office/drawing/2014/main" id="{CDA1CD91-30F1-0DED-08AD-0C36746DD253}"/>
              </a:ext>
            </a:extLst>
          </p:cNvPr>
          <p:cNvSpPr/>
          <p:nvPr/>
        </p:nvSpPr>
        <p:spPr>
          <a:xfrm>
            <a:off x="3225800" y="4902200"/>
            <a:ext cx="533400" cy="330200"/>
          </a:xfrm>
          <a:prstGeom prst="leftArrow">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Up 14">
            <a:extLst>
              <a:ext uri="{FF2B5EF4-FFF2-40B4-BE49-F238E27FC236}">
                <a16:creationId xmlns:a16="http://schemas.microsoft.com/office/drawing/2014/main" id="{5F2B4812-C099-80EB-12C4-E98248B7EB81}"/>
              </a:ext>
            </a:extLst>
          </p:cNvPr>
          <p:cNvSpPr/>
          <p:nvPr/>
        </p:nvSpPr>
        <p:spPr>
          <a:xfrm>
            <a:off x="1676400" y="3378200"/>
            <a:ext cx="330200" cy="711200"/>
          </a:xfrm>
          <a:prstGeom prst="upArrow">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663F4A14-A5B4-2409-7AAF-1BC37BC87FE8}"/>
              </a:ext>
            </a:extLst>
          </p:cNvPr>
          <p:cNvSpPr/>
          <p:nvPr/>
        </p:nvSpPr>
        <p:spPr>
          <a:xfrm>
            <a:off x="7112000" y="1422400"/>
            <a:ext cx="4572000" cy="22225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7F708F8-5B67-0EDF-F069-021FB38CB8A4}"/>
              </a:ext>
            </a:extLst>
          </p:cNvPr>
          <p:cNvSpPr txBox="1"/>
          <p:nvPr/>
        </p:nvSpPr>
        <p:spPr>
          <a:xfrm>
            <a:off x="7315200" y="1625600"/>
            <a:ext cx="4165600" cy="1816100"/>
          </a:xfrm>
          <a:prstGeom prst="rect">
            <a:avLst/>
          </a:prstGeom>
          <a:noFill/>
        </p:spPr>
        <p:txBody>
          <a:bodyPr vert="horz" wrap="square" lIns="0" tIns="0" rIns="0" bIns="0" rtlCol="0" anchor="t">
            <a:noAutofit/>
          </a:bodyPr>
          <a:lstStyle/>
          <a:p>
            <a:pPr>
              <a:spcAft>
                <a:spcPts val="600"/>
              </a:spcAft>
            </a:pPr>
            <a:r>
              <a:rPr lang="en-US" sz="1700" b="1">
                <a:solidFill>
                  <a:srgbClr val="14213D"/>
                </a:solidFill>
                <a:latin typeface="Calibri" panose="020F0502020204030204" pitchFamily="34" charset="0"/>
              </a:rPr>
              <a:t>Why anonymity matters</a:t>
            </a:r>
          </a:p>
          <a:p>
            <a:r>
              <a:rPr lang="en-US" sz="1400">
                <a:solidFill>
                  <a:srgbClr val="1F2937"/>
                </a:solidFill>
                <a:latin typeface="Calibri" panose="020F0502020204030204" pitchFamily="34" charset="0"/>
              </a:rPr>
              <a:t>It removes the bandwagon effect and the pull of senior or dominant voices, so each expert’s judgment counts equally.</a:t>
            </a:r>
          </a:p>
        </p:txBody>
      </p:sp>
      <p:sp>
        <p:nvSpPr>
          <p:cNvPr id="18" name="Rectangle: Rounded Corners 17">
            <a:extLst>
              <a:ext uri="{FF2B5EF4-FFF2-40B4-BE49-F238E27FC236}">
                <a16:creationId xmlns:a16="http://schemas.microsoft.com/office/drawing/2014/main" id="{0978841E-3639-70B8-53D3-33F94D5D9F7B}"/>
              </a:ext>
            </a:extLst>
          </p:cNvPr>
          <p:cNvSpPr/>
          <p:nvPr/>
        </p:nvSpPr>
        <p:spPr>
          <a:xfrm>
            <a:off x="7112000" y="3822700"/>
            <a:ext cx="4572000" cy="22225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CDD4C925-F499-24A1-F527-A387AFDF9286}"/>
              </a:ext>
            </a:extLst>
          </p:cNvPr>
          <p:cNvSpPr txBox="1"/>
          <p:nvPr/>
        </p:nvSpPr>
        <p:spPr>
          <a:xfrm>
            <a:off x="7315200" y="4025900"/>
            <a:ext cx="4165600" cy="1816100"/>
          </a:xfrm>
          <a:prstGeom prst="rect">
            <a:avLst/>
          </a:prstGeom>
          <a:noFill/>
        </p:spPr>
        <p:txBody>
          <a:bodyPr vert="horz" wrap="square" lIns="0" tIns="0" rIns="0" bIns="0" rtlCol="0" anchor="t">
            <a:noAutofit/>
          </a:bodyPr>
          <a:lstStyle/>
          <a:p>
            <a:pPr>
              <a:spcAft>
                <a:spcPts val="600"/>
              </a:spcAft>
            </a:pPr>
            <a:r>
              <a:rPr lang="en-US" sz="1700" b="1">
                <a:solidFill>
                  <a:srgbClr val="14213D"/>
                </a:solidFill>
                <a:latin typeface="Calibri" panose="020F0502020204030204" pitchFamily="34" charset="0"/>
              </a:rPr>
              <a:t>Where you’ll see it</a:t>
            </a:r>
          </a:p>
          <a:p>
            <a:r>
              <a:rPr lang="en-US" sz="1400">
                <a:solidFill>
                  <a:srgbClr val="1F2937"/>
                </a:solidFill>
                <a:latin typeface="Calibri" panose="020F0502020204030204" pitchFamily="34" charset="0"/>
              </a:rPr>
              <a:t>Risk identification, estimating, and forecasting when hard data is thin. Wideband Delphi and Planning Poker are team-based variants.</a:t>
            </a:r>
          </a:p>
        </p:txBody>
      </p:sp>
      <p:sp>
        <p:nvSpPr>
          <p:cNvPr id="20" name="Footer">
            <a:extLst>
              <a:ext uri="{FF2B5EF4-FFF2-40B4-BE49-F238E27FC236}">
                <a16:creationId xmlns:a16="http://schemas.microsoft.com/office/drawing/2014/main" id="{5A6CF207-6BF0-9818-C5BC-F341DE17175C}"/>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N. Dalkey and O. Helmer, ‘An Experimental Application of the Delphi Method to the Use of Experts’ (RAND Corporation; Management Science, 1963)</a:t>
            </a:r>
          </a:p>
        </p:txBody>
      </p:sp>
      <p:sp>
        <p:nvSpPr>
          <p:cNvPr id="21" name="SlideNum">
            <a:extLst>
              <a:ext uri="{FF2B5EF4-FFF2-40B4-BE49-F238E27FC236}">
                <a16:creationId xmlns:a16="http://schemas.microsoft.com/office/drawing/2014/main" id="{E0B88709-31AE-F221-3342-0B68C10EBED7}"/>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78</a:t>
            </a:r>
          </a:p>
        </p:txBody>
      </p:sp>
      <p:sp>
        <p:nvSpPr>
          <p:cNvPr id="22"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8841319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FE0B9732-AA71-B9C8-BD97-B75EE48CBE04}"/>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Risks vs. issues, and the issue log</a:t>
            </a:r>
          </a:p>
        </p:txBody>
      </p:sp>
      <p:sp>
        <p:nvSpPr>
          <p:cNvPr id="3" name="Tag">
            <a:extLst>
              <a:ext uri="{FF2B5EF4-FFF2-40B4-BE49-F238E27FC236}">
                <a16:creationId xmlns:a16="http://schemas.microsoft.com/office/drawing/2014/main" id="{928FC6C0-F327-C297-FD56-EA7A0C66E9E4}"/>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A84A2E"/>
                </a:solidFill>
                <a:latin typeface="Calibri" panose="020F0502020204030204" pitchFamily="34" charset="0"/>
              </a:rPr>
              <a:t>Business Environment deep dive · Supports Task 4 (Recognize when a risk becomes an issue) and Task 5</a:t>
            </a:r>
          </a:p>
        </p:txBody>
      </p:sp>
      <p:graphicFrame>
        <p:nvGraphicFramePr>
          <p:cNvPr id="4" name="Table">
            <a:extLst>
              <a:ext uri="{FF2B5EF4-FFF2-40B4-BE49-F238E27FC236}">
                <a16:creationId xmlns:a16="http://schemas.microsoft.com/office/drawing/2014/main" id="{B2E6560E-1538-34D4-51CF-62BF30673BA7}"/>
              </a:ext>
            </a:extLst>
          </p:cNvPr>
          <p:cNvGraphicFramePr>
            <a:graphicFrameLocks noGrp="1"/>
          </p:cNvGraphicFramePr>
          <p:nvPr>
            <p:extLst>
              <p:ext uri="{D42A27DB-BD31-4B8C-83A1-F6EECF244321}">
                <p14:modId xmlns:p14="http://schemas.microsoft.com/office/powerpoint/2010/main" val="1240814819"/>
              </p:ext>
            </p:extLst>
          </p:nvPr>
        </p:nvGraphicFramePr>
        <p:xfrm>
          <a:off x="508000" y="1320800"/>
          <a:ext cx="6731000" cy="1905000"/>
        </p:xfrm>
        <a:graphic>
          <a:graphicData uri="http://schemas.openxmlformats.org/drawingml/2006/table">
            <a:tbl>
              <a:tblPr firstRow="1" bandRow="1">
                <a:tableStyleId>{2D5ABB26-0587-4C30-8999-92F81FD0307C}</a:tableStyleId>
              </a:tblPr>
              <a:tblGrid>
                <a:gridCol w="1397000">
                  <a:extLst>
                    <a:ext uri="{9D8B030D-6E8A-4147-A177-3AD203B41FA5}">
                      <a16:colId xmlns:a16="http://schemas.microsoft.com/office/drawing/2014/main" val="4125011830"/>
                    </a:ext>
                  </a:extLst>
                </a:gridCol>
                <a:gridCol w="2667000">
                  <a:extLst>
                    <a:ext uri="{9D8B030D-6E8A-4147-A177-3AD203B41FA5}">
                      <a16:colId xmlns:a16="http://schemas.microsoft.com/office/drawing/2014/main" val="1391165833"/>
                    </a:ext>
                  </a:extLst>
                </a:gridCol>
                <a:gridCol w="2667000">
                  <a:extLst>
                    <a:ext uri="{9D8B030D-6E8A-4147-A177-3AD203B41FA5}">
                      <a16:colId xmlns:a16="http://schemas.microsoft.com/office/drawing/2014/main" val="1035082756"/>
                    </a:ext>
                  </a:extLst>
                </a:gridCol>
              </a:tblGrid>
              <a:tr h="381000">
                <a:tc>
                  <a:txBody>
                    <a:bodyPr/>
                    <a:lstStyle/>
                    <a:p>
                      <a:endParaRPr lang="en-US" sz="1200" b="1">
                        <a:solidFill>
                          <a:srgbClr val="FFFFFF"/>
                        </a:solidFill>
                        <a:latin typeface="Calibri" panose="020F0502020204030204" pitchFamily="34" charset="0"/>
                      </a:endParaRPr>
                    </a:p>
                  </a:txBody>
                  <a:tcPr marL="127000" marR="101600" marT="63500" marB="63500" anchor="ctr">
                    <a:solidFill>
                      <a:srgbClr val="14213D"/>
                    </a:solidFill>
                  </a:tcPr>
                </a:tc>
                <a:tc>
                  <a:txBody>
                    <a:bodyPr/>
                    <a:lstStyle/>
                    <a:p>
                      <a:r>
                        <a:rPr lang="en-US" sz="1200" b="1">
                          <a:solidFill>
                            <a:srgbClr val="FFFFFF"/>
                          </a:solidFill>
                          <a:latin typeface="Calibri" panose="020F0502020204030204" pitchFamily="34" charset="0"/>
                        </a:rPr>
                        <a:t>Risk</a:t>
                      </a:r>
                    </a:p>
                  </a:txBody>
                  <a:tcPr marL="127000" marR="101600" marT="63500" marB="63500" anchor="ctr">
                    <a:solidFill>
                      <a:srgbClr val="14213D"/>
                    </a:solidFill>
                  </a:tcPr>
                </a:tc>
                <a:tc>
                  <a:txBody>
                    <a:bodyPr/>
                    <a:lstStyle/>
                    <a:p>
                      <a:r>
                        <a:rPr lang="en-US" sz="1200" b="1">
                          <a:solidFill>
                            <a:srgbClr val="FFFFFF"/>
                          </a:solidFill>
                          <a:latin typeface="Calibri" panose="020F0502020204030204" pitchFamily="34" charset="0"/>
                        </a:rPr>
                        <a:t>Issue</a:t>
                      </a:r>
                    </a:p>
                  </a:txBody>
                  <a:tcPr marL="127000" marR="101600" marT="63500" marB="63500" anchor="ctr">
                    <a:solidFill>
                      <a:srgbClr val="14213D"/>
                    </a:solidFill>
                  </a:tcPr>
                </a:tc>
                <a:extLst>
                  <a:ext uri="{0D108BD9-81ED-4DB2-BD59-A6C34878D82A}">
                    <a16:rowId xmlns:a16="http://schemas.microsoft.com/office/drawing/2014/main" val="2474869929"/>
                  </a:ext>
                </a:extLst>
              </a:tr>
              <a:tr h="381000">
                <a:tc>
                  <a:txBody>
                    <a:bodyPr/>
                    <a:lstStyle/>
                    <a:p>
                      <a:r>
                        <a:rPr lang="en-US" sz="1200" b="1">
                          <a:solidFill>
                            <a:srgbClr val="14213D"/>
                          </a:solidFill>
                          <a:latin typeface="Calibri" panose="020F0502020204030204" pitchFamily="34" charset="0"/>
                        </a:rPr>
                        <a:t>Time focus</a:t>
                      </a:r>
                    </a:p>
                  </a:txBody>
                  <a:tcPr marL="127000" marR="101600" marT="63500" marB="63500" anchor="ctr">
                    <a:solidFill>
                      <a:srgbClr val="FFFFFF"/>
                    </a:solidFill>
                  </a:tcPr>
                </a:tc>
                <a:tc>
                  <a:txBody>
                    <a:bodyPr/>
                    <a:lstStyle/>
                    <a:p>
                      <a:r>
                        <a:rPr lang="en-US" sz="1200">
                          <a:solidFill>
                            <a:srgbClr val="1F2937"/>
                          </a:solidFill>
                          <a:latin typeface="Calibri" panose="020F0502020204030204" pitchFamily="34" charset="0"/>
                        </a:rPr>
                        <a:t>The future: may happen</a:t>
                      </a:r>
                    </a:p>
                  </a:txBody>
                  <a:tcPr marL="127000" marR="101600" marT="63500" marB="63500" anchor="ctr">
                    <a:solidFill>
                      <a:srgbClr val="FFFFFF"/>
                    </a:solidFill>
                  </a:tcPr>
                </a:tc>
                <a:tc>
                  <a:txBody>
                    <a:bodyPr/>
                    <a:lstStyle/>
                    <a:p>
                      <a:r>
                        <a:rPr lang="en-US" sz="1200">
                          <a:solidFill>
                            <a:srgbClr val="1F2937"/>
                          </a:solidFill>
                          <a:latin typeface="Calibri" panose="020F0502020204030204" pitchFamily="34" charset="0"/>
                        </a:rPr>
                        <a:t>The present: has happened</a:t>
                      </a:r>
                    </a:p>
                  </a:txBody>
                  <a:tcPr marL="127000" marR="101600" marT="63500" marB="63500" anchor="ctr">
                    <a:solidFill>
                      <a:srgbClr val="FFFFFF"/>
                    </a:solidFill>
                  </a:tcPr>
                </a:tc>
                <a:extLst>
                  <a:ext uri="{0D108BD9-81ED-4DB2-BD59-A6C34878D82A}">
                    <a16:rowId xmlns:a16="http://schemas.microsoft.com/office/drawing/2014/main" val="2058062008"/>
                  </a:ext>
                </a:extLst>
              </a:tr>
              <a:tr h="381000">
                <a:tc>
                  <a:txBody>
                    <a:bodyPr/>
                    <a:lstStyle/>
                    <a:p>
                      <a:r>
                        <a:rPr lang="en-US" sz="1200" b="1">
                          <a:solidFill>
                            <a:srgbClr val="14213D"/>
                          </a:solidFill>
                          <a:latin typeface="Calibri" panose="020F0502020204030204" pitchFamily="34" charset="0"/>
                        </a:rPr>
                        <a:t>Effect</a:t>
                      </a:r>
                    </a:p>
                  </a:txBody>
                  <a:tcPr marL="127000" marR="101600" marT="63500" marB="63500" anchor="ctr">
                    <a:solidFill>
                      <a:srgbClr val="F3F5F8"/>
                    </a:solidFill>
                  </a:tcPr>
                </a:tc>
                <a:tc>
                  <a:txBody>
                    <a:bodyPr/>
                    <a:lstStyle/>
                    <a:p>
                      <a:r>
                        <a:rPr lang="en-US" sz="1200">
                          <a:solidFill>
                            <a:srgbClr val="1F2937"/>
                          </a:solidFill>
                          <a:latin typeface="Calibri" panose="020F0502020204030204" pitchFamily="34" charset="0"/>
                        </a:rPr>
                        <a:t>Positive (opportunity) or negative (threat)</a:t>
                      </a:r>
                    </a:p>
                  </a:txBody>
                  <a:tcPr marL="127000" marR="101600" marT="63500" marB="63500" anchor="ctr">
                    <a:solidFill>
                      <a:srgbClr val="F3F5F8"/>
                    </a:solidFill>
                  </a:tcPr>
                </a:tc>
                <a:tc>
                  <a:txBody>
                    <a:bodyPr/>
                    <a:lstStyle/>
                    <a:p>
                      <a:r>
                        <a:rPr lang="en-US" sz="1200">
                          <a:solidFill>
                            <a:srgbClr val="1F2937"/>
                          </a:solidFill>
                          <a:latin typeface="Calibri" panose="020F0502020204030204" pitchFamily="34" charset="0"/>
                        </a:rPr>
                        <a:t>Negative: a problem to solve</a:t>
                      </a:r>
                    </a:p>
                  </a:txBody>
                  <a:tcPr marL="127000" marR="101600" marT="63500" marB="63500" anchor="ctr">
                    <a:solidFill>
                      <a:srgbClr val="F3F5F8"/>
                    </a:solidFill>
                  </a:tcPr>
                </a:tc>
                <a:extLst>
                  <a:ext uri="{0D108BD9-81ED-4DB2-BD59-A6C34878D82A}">
                    <a16:rowId xmlns:a16="http://schemas.microsoft.com/office/drawing/2014/main" val="3893474875"/>
                  </a:ext>
                </a:extLst>
              </a:tr>
              <a:tr h="381000">
                <a:tc>
                  <a:txBody>
                    <a:bodyPr/>
                    <a:lstStyle/>
                    <a:p>
                      <a:r>
                        <a:rPr lang="en-US" sz="1200" b="1">
                          <a:solidFill>
                            <a:srgbClr val="14213D"/>
                          </a:solidFill>
                          <a:latin typeface="Calibri" panose="020F0502020204030204" pitchFamily="34" charset="0"/>
                        </a:rPr>
                        <a:t>Recorded in</a:t>
                      </a:r>
                    </a:p>
                  </a:txBody>
                  <a:tcPr marL="127000" marR="101600" marT="63500" marB="63500" anchor="ctr">
                    <a:solidFill>
                      <a:srgbClr val="FFFFFF"/>
                    </a:solidFill>
                  </a:tcPr>
                </a:tc>
                <a:tc>
                  <a:txBody>
                    <a:bodyPr/>
                    <a:lstStyle/>
                    <a:p>
                      <a:r>
                        <a:rPr lang="en-US" sz="1200">
                          <a:solidFill>
                            <a:srgbClr val="1F2937"/>
                          </a:solidFill>
                          <a:latin typeface="Calibri" panose="020F0502020204030204" pitchFamily="34" charset="0"/>
                        </a:rPr>
                        <a:t>Risk register</a:t>
                      </a:r>
                    </a:p>
                  </a:txBody>
                  <a:tcPr marL="127000" marR="101600" marT="63500" marB="63500" anchor="ctr">
                    <a:solidFill>
                      <a:srgbClr val="FFFFFF"/>
                    </a:solidFill>
                  </a:tcPr>
                </a:tc>
                <a:tc>
                  <a:txBody>
                    <a:bodyPr/>
                    <a:lstStyle/>
                    <a:p>
                      <a:r>
                        <a:rPr lang="en-US" sz="1200">
                          <a:solidFill>
                            <a:srgbClr val="1F2937"/>
                          </a:solidFill>
                          <a:latin typeface="Calibri" panose="020F0502020204030204" pitchFamily="34" charset="0"/>
                        </a:rPr>
                        <a:t>Issue log</a:t>
                      </a:r>
                    </a:p>
                  </a:txBody>
                  <a:tcPr marL="127000" marR="101600" marT="63500" marB="63500" anchor="ctr">
                    <a:solidFill>
                      <a:srgbClr val="FFFFFF"/>
                    </a:solidFill>
                  </a:tcPr>
                </a:tc>
                <a:extLst>
                  <a:ext uri="{0D108BD9-81ED-4DB2-BD59-A6C34878D82A}">
                    <a16:rowId xmlns:a16="http://schemas.microsoft.com/office/drawing/2014/main" val="267993946"/>
                  </a:ext>
                </a:extLst>
              </a:tr>
              <a:tr h="381000">
                <a:tc>
                  <a:txBody>
                    <a:bodyPr/>
                    <a:lstStyle/>
                    <a:p>
                      <a:r>
                        <a:rPr lang="en-US" sz="1200" b="1">
                          <a:solidFill>
                            <a:srgbClr val="14213D"/>
                          </a:solidFill>
                          <a:latin typeface="Calibri" panose="020F0502020204030204" pitchFamily="34" charset="0"/>
                        </a:rPr>
                        <a:t>Response</a:t>
                      </a:r>
                    </a:p>
                  </a:txBody>
                  <a:tcPr marL="127000" marR="101600" marT="63500" marB="63500" anchor="ctr">
                    <a:solidFill>
                      <a:srgbClr val="F3F5F8"/>
                    </a:solidFill>
                  </a:tcPr>
                </a:tc>
                <a:tc>
                  <a:txBody>
                    <a:bodyPr/>
                    <a:lstStyle/>
                    <a:p>
                      <a:r>
                        <a:rPr lang="en-US" sz="1200">
                          <a:solidFill>
                            <a:srgbClr val="1F2937"/>
                          </a:solidFill>
                          <a:latin typeface="Calibri" panose="020F0502020204030204" pitchFamily="34" charset="0"/>
                        </a:rPr>
                        <a:t>Risk response, planned in advance</a:t>
                      </a:r>
                    </a:p>
                  </a:txBody>
                  <a:tcPr marL="127000" marR="101600" marT="63500" marB="63500" anchor="ctr">
                    <a:solidFill>
                      <a:srgbClr val="F3F5F8"/>
                    </a:solidFill>
                  </a:tcPr>
                </a:tc>
                <a:tc>
                  <a:txBody>
                    <a:bodyPr/>
                    <a:lstStyle/>
                    <a:p>
                      <a:r>
                        <a:rPr lang="en-US" sz="1200">
                          <a:solidFill>
                            <a:srgbClr val="1F2937"/>
                          </a:solidFill>
                          <a:latin typeface="Calibri" panose="020F0502020204030204" pitchFamily="34" charset="0"/>
                        </a:rPr>
                        <a:t>Workaround (if no plan, or the plan failed)</a:t>
                      </a:r>
                    </a:p>
                  </a:txBody>
                  <a:tcPr marL="127000" marR="101600" marT="63500" marB="63500" anchor="ctr">
                    <a:solidFill>
                      <a:srgbClr val="F3F5F8"/>
                    </a:solidFill>
                  </a:tcPr>
                </a:tc>
                <a:extLst>
                  <a:ext uri="{0D108BD9-81ED-4DB2-BD59-A6C34878D82A}">
                    <a16:rowId xmlns:a16="http://schemas.microsoft.com/office/drawing/2014/main" val="1907734393"/>
                  </a:ext>
                </a:extLst>
              </a:tr>
            </a:tbl>
          </a:graphicData>
        </a:graphic>
      </p:graphicFrame>
      <p:sp>
        <p:nvSpPr>
          <p:cNvPr id="5" name="Rectangle: Rounded Corners 4">
            <a:extLst>
              <a:ext uri="{FF2B5EF4-FFF2-40B4-BE49-F238E27FC236}">
                <a16:creationId xmlns:a16="http://schemas.microsoft.com/office/drawing/2014/main" id="{1E0B8D2E-5E3C-038C-7178-326C74DF3757}"/>
              </a:ext>
            </a:extLst>
          </p:cNvPr>
          <p:cNvSpPr/>
          <p:nvPr/>
        </p:nvSpPr>
        <p:spPr>
          <a:xfrm>
            <a:off x="7366000" y="1320800"/>
            <a:ext cx="4318000" cy="212852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AA78F56-7A4E-06A9-4879-47185650855A}"/>
              </a:ext>
            </a:extLst>
          </p:cNvPr>
          <p:cNvSpPr txBox="1"/>
          <p:nvPr/>
        </p:nvSpPr>
        <p:spPr>
          <a:xfrm>
            <a:off x="7518400" y="1473200"/>
            <a:ext cx="4013200" cy="1600200"/>
          </a:xfrm>
          <a:prstGeom prst="rect">
            <a:avLst/>
          </a:prstGeom>
          <a:noFill/>
        </p:spPr>
        <p:txBody>
          <a:bodyPr vert="horz" wrap="square" lIns="0" tIns="0" rIns="0" bIns="0" rtlCol="0" anchor="t">
            <a:noAutofit/>
          </a:bodyPr>
          <a:lstStyle/>
          <a:p>
            <a:pPr>
              <a:spcAft>
                <a:spcPts val="600"/>
              </a:spcAft>
            </a:pPr>
            <a:r>
              <a:rPr lang="en-US" sz="1400" b="1">
                <a:solidFill>
                  <a:srgbClr val="A84A2E"/>
                </a:solidFill>
                <a:latin typeface="Calibri" panose="020F0502020204030204" pitchFamily="34" charset="0"/>
              </a:rPr>
              <a:t>When a risk becomes an issue</a:t>
            </a:r>
          </a:p>
          <a:p>
            <a:pPr marL="152400" indent="-152400">
              <a:spcAft>
                <a:spcPts val="400"/>
              </a:spcAft>
              <a:buClr>
                <a:srgbClr val="A84A2E"/>
              </a:buClr>
              <a:buFont typeface="+mj-lt"/>
              <a:buChar char="•"/>
            </a:pPr>
            <a:r>
              <a:rPr lang="en-US" sz="1200">
                <a:solidFill>
                  <a:srgbClr val="1F2937"/>
                </a:solidFill>
                <a:latin typeface="Calibri" panose="020F0502020204030204" pitchFamily="34" charset="0"/>
              </a:rPr>
              <a:t>A planned response exists: carry out the contingency plan.</a:t>
            </a:r>
          </a:p>
          <a:p>
            <a:pPr marL="152400" indent="-152400">
              <a:spcAft>
                <a:spcPts val="400"/>
              </a:spcAft>
              <a:buClr>
                <a:srgbClr val="A84A2E"/>
              </a:buClr>
              <a:buFont typeface="+mj-lt"/>
              <a:buChar char="•"/>
            </a:pPr>
            <a:r>
              <a:rPr lang="en-US" sz="1200">
                <a:solidFill>
                  <a:srgbClr val="1F2937"/>
                </a:solidFill>
                <a:latin typeface="Calibri" panose="020F0502020204030204" pitchFamily="34" charset="0"/>
              </a:rPr>
              <a:t>No plan, or it failed: use a workaround.</a:t>
            </a:r>
          </a:p>
          <a:p>
            <a:pPr marL="152400" indent="-152400">
              <a:spcAft>
                <a:spcPts val="400"/>
              </a:spcAft>
              <a:buClr>
                <a:srgbClr val="A84A2E"/>
              </a:buClr>
              <a:buFont typeface="+mj-lt"/>
              <a:buChar char="•"/>
            </a:pPr>
            <a:r>
              <a:rPr lang="en-US" sz="1200">
                <a:solidFill>
                  <a:srgbClr val="1F2937"/>
                </a:solidFill>
                <a:latin typeface="Calibri" panose="020F0502020204030204" pitchFamily="34" charset="0"/>
              </a:rPr>
              <a:t>Log it in the issue log; update the risk register; watch for secondary risks.</a:t>
            </a:r>
          </a:p>
        </p:txBody>
      </p:sp>
      <p:sp>
        <p:nvSpPr>
          <p:cNvPr id="7" name="TextBox 6">
            <a:extLst>
              <a:ext uri="{FF2B5EF4-FFF2-40B4-BE49-F238E27FC236}">
                <a16:creationId xmlns:a16="http://schemas.microsoft.com/office/drawing/2014/main" id="{8D271797-BF7C-67FC-7418-926F45F6141A}"/>
              </a:ext>
            </a:extLst>
          </p:cNvPr>
          <p:cNvSpPr txBox="1"/>
          <p:nvPr/>
        </p:nvSpPr>
        <p:spPr>
          <a:xfrm>
            <a:off x="508000" y="3530600"/>
            <a:ext cx="5080000" cy="228600"/>
          </a:xfrm>
          <a:prstGeom prst="rect">
            <a:avLst/>
          </a:prstGeom>
          <a:noFill/>
        </p:spPr>
        <p:txBody>
          <a:bodyPr vert="horz" wrap="square" lIns="0" tIns="0" rIns="0" bIns="0" rtlCol="0" anchor="t">
            <a:noAutofit/>
          </a:bodyPr>
          <a:lstStyle/>
          <a:p>
            <a:r>
              <a:rPr lang="en-US" sz="1400" b="1">
                <a:solidFill>
                  <a:srgbClr val="14213D"/>
                </a:solidFill>
                <a:latin typeface="Calibri" panose="020F0502020204030204" pitchFamily="34" charset="0"/>
              </a:rPr>
              <a:t>Issue log (example)</a:t>
            </a:r>
          </a:p>
        </p:txBody>
      </p:sp>
      <p:graphicFrame>
        <p:nvGraphicFramePr>
          <p:cNvPr id="8" name="Table">
            <a:extLst>
              <a:ext uri="{FF2B5EF4-FFF2-40B4-BE49-F238E27FC236}">
                <a16:creationId xmlns:a16="http://schemas.microsoft.com/office/drawing/2014/main" id="{B556DFC8-2773-B5E3-88A6-9E1CC1262F7D}"/>
              </a:ext>
            </a:extLst>
          </p:cNvPr>
          <p:cNvGraphicFramePr>
            <a:graphicFrameLocks noGrp="1"/>
          </p:cNvGraphicFramePr>
          <p:nvPr>
            <p:extLst>
              <p:ext uri="{D42A27DB-BD31-4B8C-83A1-F6EECF244321}">
                <p14:modId xmlns:p14="http://schemas.microsoft.com/office/powerpoint/2010/main" val="3764235314"/>
              </p:ext>
            </p:extLst>
          </p:nvPr>
        </p:nvGraphicFramePr>
        <p:xfrm>
          <a:off x="508000" y="3784600"/>
          <a:ext cx="11176000" cy="1727200"/>
        </p:xfrm>
        <a:graphic>
          <a:graphicData uri="http://schemas.openxmlformats.org/drawingml/2006/table">
            <a:tbl>
              <a:tblPr firstRow="1" bandRow="1">
                <a:tableStyleId>{2D5ABB26-0587-4C30-8999-92F81FD0307C}</a:tableStyleId>
              </a:tblPr>
              <a:tblGrid>
                <a:gridCol w="457200">
                  <a:extLst>
                    <a:ext uri="{9D8B030D-6E8A-4147-A177-3AD203B41FA5}">
                      <a16:colId xmlns:a16="http://schemas.microsoft.com/office/drawing/2014/main" val="2957438843"/>
                    </a:ext>
                  </a:extLst>
                </a:gridCol>
                <a:gridCol w="2413000">
                  <a:extLst>
                    <a:ext uri="{9D8B030D-6E8A-4147-A177-3AD203B41FA5}">
                      <a16:colId xmlns:a16="http://schemas.microsoft.com/office/drawing/2014/main" val="351535017"/>
                    </a:ext>
                  </a:extLst>
                </a:gridCol>
                <a:gridCol w="762000">
                  <a:extLst>
                    <a:ext uri="{9D8B030D-6E8A-4147-A177-3AD203B41FA5}">
                      <a16:colId xmlns:a16="http://schemas.microsoft.com/office/drawing/2014/main" val="2887157165"/>
                    </a:ext>
                  </a:extLst>
                </a:gridCol>
                <a:gridCol w="660400">
                  <a:extLst>
                    <a:ext uri="{9D8B030D-6E8A-4147-A177-3AD203B41FA5}">
                      <a16:colId xmlns:a16="http://schemas.microsoft.com/office/drawing/2014/main" val="1370137933"/>
                    </a:ext>
                  </a:extLst>
                </a:gridCol>
                <a:gridCol w="787400">
                  <a:extLst>
                    <a:ext uri="{9D8B030D-6E8A-4147-A177-3AD203B41FA5}">
                      <a16:colId xmlns:a16="http://schemas.microsoft.com/office/drawing/2014/main" val="617841934"/>
                    </a:ext>
                  </a:extLst>
                </a:gridCol>
                <a:gridCol w="1574800">
                  <a:extLst>
                    <a:ext uri="{9D8B030D-6E8A-4147-A177-3AD203B41FA5}">
                      <a16:colId xmlns:a16="http://schemas.microsoft.com/office/drawing/2014/main" val="3042084287"/>
                    </a:ext>
                  </a:extLst>
                </a:gridCol>
                <a:gridCol w="685800">
                  <a:extLst>
                    <a:ext uri="{9D8B030D-6E8A-4147-A177-3AD203B41FA5}">
                      <a16:colId xmlns:a16="http://schemas.microsoft.com/office/drawing/2014/main" val="3815551107"/>
                    </a:ext>
                  </a:extLst>
                </a:gridCol>
                <a:gridCol w="3835400">
                  <a:extLst>
                    <a:ext uri="{9D8B030D-6E8A-4147-A177-3AD203B41FA5}">
                      <a16:colId xmlns:a16="http://schemas.microsoft.com/office/drawing/2014/main" val="3641518905"/>
                    </a:ext>
                  </a:extLst>
                </a:gridCol>
              </a:tblGrid>
              <a:tr h="330200">
                <a:tc>
                  <a:txBody>
                    <a:bodyPr/>
                    <a:lstStyle/>
                    <a:p>
                      <a:r>
                        <a:rPr lang="en-US" sz="1100" b="1">
                          <a:solidFill>
                            <a:srgbClr val="FFFFFF"/>
                          </a:solidFill>
                          <a:latin typeface="Calibri" panose="020F0502020204030204" pitchFamily="34" charset="0"/>
                        </a:rPr>
                        <a:t>ID</a:t>
                      </a:r>
                    </a:p>
                  </a:txBody>
                  <a:tcPr marL="127000" marR="101600" marT="63500" marB="63500" anchor="ctr">
                    <a:solidFill>
                      <a:srgbClr val="14213D"/>
                    </a:solidFill>
                  </a:tcPr>
                </a:tc>
                <a:tc>
                  <a:txBody>
                    <a:bodyPr/>
                    <a:lstStyle/>
                    <a:p>
                      <a:r>
                        <a:rPr lang="en-US" sz="1100" b="1">
                          <a:solidFill>
                            <a:srgbClr val="FFFFFF"/>
                          </a:solidFill>
                          <a:latin typeface="Calibri" panose="020F0502020204030204" pitchFamily="34" charset="0"/>
                        </a:rPr>
                        <a:t>Description</a:t>
                      </a:r>
                    </a:p>
                  </a:txBody>
                  <a:tcPr marL="127000" marR="101600" marT="63500" marB="63500" anchor="ctr">
                    <a:solidFill>
                      <a:srgbClr val="14213D"/>
                    </a:solidFill>
                  </a:tcPr>
                </a:tc>
                <a:tc>
                  <a:txBody>
                    <a:bodyPr/>
                    <a:lstStyle/>
                    <a:p>
                      <a:r>
                        <a:rPr lang="en-US" sz="1100" b="1">
                          <a:solidFill>
                            <a:srgbClr val="FFFFFF"/>
                          </a:solidFill>
                          <a:latin typeface="Calibri" panose="020F0502020204030204" pitchFamily="34" charset="0"/>
                        </a:rPr>
                        <a:t>Opened</a:t>
                      </a:r>
                    </a:p>
                  </a:txBody>
                  <a:tcPr marL="127000" marR="101600" marT="63500" marB="63500" anchor="ctr">
                    <a:solidFill>
                      <a:srgbClr val="14213D"/>
                    </a:solidFill>
                  </a:tcPr>
                </a:tc>
                <a:tc>
                  <a:txBody>
                    <a:bodyPr/>
                    <a:lstStyle/>
                    <a:p>
                      <a:r>
                        <a:rPr lang="en-US" sz="1100" b="1">
                          <a:solidFill>
                            <a:srgbClr val="FFFFFF"/>
                          </a:solidFill>
                          <a:latin typeface="Calibri" panose="020F0502020204030204" pitchFamily="34" charset="0"/>
                        </a:rPr>
                        <a:t>Due</a:t>
                      </a:r>
                    </a:p>
                  </a:txBody>
                  <a:tcPr marL="127000" marR="101600" marT="63500" marB="63500" anchor="ctr">
                    <a:solidFill>
                      <a:srgbClr val="14213D"/>
                    </a:solidFill>
                  </a:tcPr>
                </a:tc>
                <a:tc>
                  <a:txBody>
                    <a:bodyPr/>
                    <a:lstStyle/>
                    <a:p>
                      <a:r>
                        <a:rPr lang="en-US" sz="1100" b="1">
                          <a:solidFill>
                            <a:srgbClr val="FFFFFF"/>
                          </a:solidFill>
                          <a:latin typeface="Calibri" panose="020F0502020204030204" pitchFamily="34" charset="0"/>
                        </a:rPr>
                        <a:t>Priority</a:t>
                      </a:r>
                    </a:p>
                  </a:txBody>
                  <a:tcPr marL="127000" marR="101600" marT="63500" marB="63500" anchor="ctr">
                    <a:solidFill>
                      <a:srgbClr val="14213D"/>
                    </a:solidFill>
                  </a:tcPr>
                </a:tc>
                <a:tc>
                  <a:txBody>
                    <a:bodyPr/>
                    <a:lstStyle/>
                    <a:p>
                      <a:r>
                        <a:rPr lang="en-US" sz="1100" b="1">
                          <a:solidFill>
                            <a:srgbClr val="FFFFFF"/>
                          </a:solidFill>
                          <a:latin typeface="Calibri" panose="020F0502020204030204" pitchFamily="34" charset="0"/>
                        </a:rPr>
                        <a:t>Owner</a:t>
                      </a:r>
                    </a:p>
                  </a:txBody>
                  <a:tcPr marL="127000" marR="101600" marT="63500" marB="63500" anchor="ctr">
                    <a:solidFill>
                      <a:srgbClr val="14213D"/>
                    </a:solidFill>
                  </a:tcPr>
                </a:tc>
                <a:tc>
                  <a:txBody>
                    <a:bodyPr/>
                    <a:lstStyle/>
                    <a:p>
                      <a:r>
                        <a:rPr lang="en-US" sz="1100" b="1">
                          <a:solidFill>
                            <a:srgbClr val="FFFFFF"/>
                          </a:solidFill>
                          <a:latin typeface="Calibri" panose="020F0502020204030204" pitchFamily="34" charset="0"/>
                        </a:rPr>
                        <a:t>Status</a:t>
                      </a:r>
                    </a:p>
                  </a:txBody>
                  <a:tcPr marL="127000" marR="101600" marT="63500" marB="63500" anchor="ctr">
                    <a:solidFill>
                      <a:srgbClr val="14213D"/>
                    </a:solidFill>
                  </a:tcPr>
                </a:tc>
                <a:tc>
                  <a:txBody>
                    <a:bodyPr/>
                    <a:lstStyle/>
                    <a:p>
                      <a:r>
                        <a:rPr lang="en-US" sz="1100" b="1">
                          <a:solidFill>
                            <a:srgbClr val="FFFFFF"/>
                          </a:solidFill>
                          <a:latin typeface="Calibri" panose="020F0502020204030204" pitchFamily="34" charset="0"/>
                        </a:rPr>
                        <a:t>Assigned action</a:t>
                      </a:r>
                    </a:p>
                  </a:txBody>
                  <a:tcPr marL="127000" marR="101600" marT="63500" marB="63500" anchor="ctr">
                    <a:solidFill>
                      <a:srgbClr val="14213D"/>
                    </a:solidFill>
                  </a:tcPr>
                </a:tc>
                <a:extLst>
                  <a:ext uri="{0D108BD9-81ED-4DB2-BD59-A6C34878D82A}">
                    <a16:rowId xmlns:a16="http://schemas.microsoft.com/office/drawing/2014/main" val="350551185"/>
                  </a:ext>
                </a:extLst>
              </a:tr>
              <a:tr h="330200">
                <a:tc>
                  <a:txBody>
                    <a:bodyPr/>
                    <a:lstStyle/>
                    <a:p>
                      <a:r>
                        <a:rPr lang="en-US" sz="1100" b="1">
                          <a:solidFill>
                            <a:srgbClr val="14213D"/>
                          </a:solidFill>
                          <a:latin typeface="Calibri" panose="020F0502020204030204" pitchFamily="34" charset="0"/>
                        </a:rPr>
                        <a:t>25</a:t>
                      </a:r>
                    </a:p>
                  </a:txBody>
                  <a:tcPr marL="127000" marR="101600" marT="63500" marB="63500" anchor="ctr">
                    <a:solidFill>
                      <a:srgbClr val="FFFFFF"/>
                    </a:solidFill>
                  </a:tcPr>
                </a:tc>
                <a:tc>
                  <a:txBody>
                    <a:bodyPr/>
                    <a:lstStyle/>
                    <a:p>
                      <a:r>
                        <a:rPr lang="en-US" sz="1100">
                          <a:solidFill>
                            <a:srgbClr val="1F2937"/>
                          </a:solidFill>
                          <a:latin typeface="Calibri" panose="020F0502020204030204" pitchFamily="34" charset="0"/>
                        </a:rPr>
                        <a:t>Transport strike delays materials</a:t>
                      </a:r>
                    </a:p>
                  </a:txBody>
                  <a:tcPr marL="127000" marR="101600" marT="63500" marB="63500" anchor="ctr">
                    <a:solidFill>
                      <a:srgbClr val="FFFFFF"/>
                    </a:solidFill>
                  </a:tcPr>
                </a:tc>
                <a:tc>
                  <a:txBody>
                    <a:bodyPr/>
                    <a:lstStyle/>
                    <a:p>
                      <a:r>
                        <a:rPr lang="en-US" sz="1100">
                          <a:solidFill>
                            <a:srgbClr val="1F2937"/>
                          </a:solidFill>
                          <a:latin typeface="Calibri" panose="020F0502020204030204" pitchFamily="34" charset="0"/>
                        </a:rPr>
                        <a:t>Jan 15</a:t>
                      </a:r>
                    </a:p>
                  </a:txBody>
                  <a:tcPr marL="127000" marR="101600" marT="63500" marB="63500" anchor="ctr">
                    <a:solidFill>
                      <a:srgbClr val="FFFFFF"/>
                    </a:solidFill>
                  </a:tcPr>
                </a:tc>
                <a:tc>
                  <a:txBody>
                    <a:bodyPr/>
                    <a:lstStyle/>
                    <a:p>
                      <a:r>
                        <a:rPr lang="en-US" sz="1100">
                          <a:solidFill>
                            <a:srgbClr val="1F2937"/>
                          </a:solidFill>
                          <a:latin typeface="Calibri" panose="020F0502020204030204" pitchFamily="34" charset="0"/>
                        </a:rPr>
                        <a:t>Feb 1</a:t>
                      </a:r>
                    </a:p>
                  </a:txBody>
                  <a:tcPr marL="127000" marR="101600" marT="63500" marB="63500" anchor="ctr">
                    <a:solidFill>
                      <a:srgbClr val="FFFFFF"/>
                    </a:solidFill>
                  </a:tcPr>
                </a:tc>
                <a:tc>
                  <a:txBody>
                    <a:bodyPr/>
                    <a:lstStyle/>
                    <a:p>
                      <a:r>
                        <a:rPr lang="en-US" sz="1100">
                          <a:solidFill>
                            <a:srgbClr val="1F2937"/>
                          </a:solidFill>
                          <a:latin typeface="Calibri" panose="020F0502020204030204" pitchFamily="34" charset="0"/>
                        </a:rPr>
                        <a:t>High</a:t>
                      </a:r>
                    </a:p>
                  </a:txBody>
                  <a:tcPr marL="127000" marR="101600" marT="63500" marB="63500" anchor="ctr">
                    <a:solidFill>
                      <a:srgbClr val="FFFFFF"/>
                    </a:solidFill>
                  </a:tcPr>
                </a:tc>
                <a:tc>
                  <a:txBody>
                    <a:bodyPr/>
                    <a:lstStyle/>
                    <a:p>
                      <a:r>
                        <a:rPr lang="en-US" sz="1100">
                          <a:solidFill>
                            <a:srgbClr val="1F2937"/>
                          </a:solidFill>
                          <a:latin typeface="Calibri" panose="020F0502020204030204" pitchFamily="34" charset="0"/>
                        </a:rPr>
                        <a:t>Procurement lead</a:t>
                      </a:r>
                    </a:p>
                  </a:txBody>
                  <a:tcPr marL="127000" marR="101600" marT="63500" marB="63500" anchor="ctr">
                    <a:solidFill>
                      <a:srgbClr val="FFFFFF"/>
                    </a:solidFill>
                  </a:tcPr>
                </a:tc>
                <a:tc>
                  <a:txBody>
                    <a:bodyPr/>
                    <a:lstStyle/>
                    <a:p>
                      <a:r>
                        <a:rPr lang="en-US" sz="1100">
                          <a:solidFill>
                            <a:srgbClr val="1F2937"/>
                          </a:solidFill>
                          <a:latin typeface="Calibri" panose="020F0502020204030204" pitchFamily="34" charset="0"/>
                        </a:rPr>
                        <a:t>Open</a:t>
                      </a:r>
                    </a:p>
                  </a:txBody>
                  <a:tcPr marL="127000" marR="101600" marT="63500" marB="63500" anchor="ctr">
                    <a:solidFill>
                      <a:srgbClr val="FFFFFF"/>
                    </a:solidFill>
                  </a:tcPr>
                </a:tc>
                <a:tc>
                  <a:txBody>
                    <a:bodyPr/>
                    <a:lstStyle/>
                    <a:p>
                      <a:r>
                        <a:rPr lang="en-US" sz="1100">
                          <a:solidFill>
                            <a:srgbClr val="1F2937"/>
                          </a:solidFill>
                          <a:latin typeface="Calibri" panose="020F0502020204030204" pitchFamily="34" charset="0"/>
                        </a:rPr>
                        <a:t>Press the carrier to resolve; tasks are on the critical path</a:t>
                      </a:r>
                    </a:p>
                  </a:txBody>
                  <a:tcPr marL="127000" marR="101600" marT="63500" marB="63500" anchor="ctr">
                    <a:solidFill>
                      <a:srgbClr val="FFFFFF"/>
                    </a:solidFill>
                  </a:tcPr>
                </a:tc>
                <a:extLst>
                  <a:ext uri="{0D108BD9-81ED-4DB2-BD59-A6C34878D82A}">
                    <a16:rowId xmlns:a16="http://schemas.microsoft.com/office/drawing/2014/main" val="2071168995"/>
                  </a:ext>
                </a:extLst>
              </a:tr>
              <a:tr h="330200">
                <a:tc>
                  <a:txBody>
                    <a:bodyPr/>
                    <a:lstStyle/>
                    <a:p>
                      <a:r>
                        <a:rPr lang="en-US" sz="1100" b="1">
                          <a:solidFill>
                            <a:srgbClr val="14213D"/>
                          </a:solidFill>
                          <a:latin typeface="Calibri" panose="020F0502020204030204" pitchFamily="34" charset="0"/>
                        </a:rPr>
                        <a:t>26</a:t>
                      </a:r>
                    </a:p>
                  </a:txBody>
                  <a:tcPr marL="127000" marR="101600" marT="63500" marB="63500" anchor="ctr">
                    <a:solidFill>
                      <a:srgbClr val="F3F5F8"/>
                    </a:solidFill>
                  </a:tcPr>
                </a:tc>
                <a:tc>
                  <a:txBody>
                    <a:bodyPr/>
                    <a:lstStyle/>
                    <a:p>
                      <a:r>
                        <a:rPr lang="en-US" sz="1100">
                          <a:solidFill>
                            <a:srgbClr val="1F2937"/>
                          </a:solidFill>
                          <a:latin typeface="Calibri" panose="020F0502020204030204" pitchFamily="34" charset="0"/>
                        </a:rPr>
                        <a:t>Glazing supplier unavailable</a:t>
                      </a:r>
                    </a:p>
                  </a:txBody>
                  <a:tcPr marL="127000" marR="101600" marT="63500" marB="63500" anchor="ctr">
                    <a:solidFill>
                      <a:srgbClr val="F3F5F8"/>
                    </a:solidFill>
                  </a:tcPr>
                </a:tc>
                <a:tc>
                  <a:txBody>
                    <a:bodyPr/>
                    <a:lstStyle/>
                    <a:p>
                      <a:r>
                        <a:rPr lang="en-US" sz="1100">
                          <a:solidFill>
                            <a:srgbClr val="1F2937"/>
                          </a:solidFill>
                          <a:latin typeface="Calibri" panose="020F0502020204030204" pitchFamily="34" charset="0"/>
                        </a:rPr>
                        <a:t>Jan 15</a:t>
                      </a:r>
                    </a:p>
                  </a:txBody>
                  <a:tcPr marL="127000" marR="101600" marT="63500" marB="63500" anchor="ctr">
                    <a:solidFill>
                      <a:srgbClr val="F3F5F8"/>
                    </a:solidFill>
                  </a:tcPr>
                </a:tc>
                <a:tc>
                  <a:txBody>
                    <a:bodyPr/>
                    <a:lstStyle/>
                    <a:p>
                      <a:r>
                        <a:rPr lang="en-US" sz="1100">
                          <a:solidFill>
                            <a:srgbClr val="1F2937"/>
                          </a:solidFill>
                          <a:latin typeface="Calibri" panose="020F0502020204030204" pitchFamily="34" charset="0"/>
                        </a:rPr>
                        <a:t>Feb 1</a:t>
                      </a:r>
                    </a:p>
                  </a:txBody>
                  <a:tcPr marL="127000" marR="101600" marT="63500" marB="63500" anchor="ctr">
                    <a:solidFill>
                      <a:srgbClr val="F3F5F8"/>
                    </a:solidFill>
                  </a:tcPr>
                </a:tc>
                <a:tc>
                  <a:txBody>
                    <a:bodyPr/>
                    <a:lstStyle/>
                    <a:p>
                      <a:r>
                        <a:rPr lang="en-US" sz="1100">
                          <a:solidFill>
                            <a:srgbClr val="1F2937"/>
                          </a:solidFill>
                          <a:latin typeface="Calibri" panose="020F0502020204030204" pitchFamily="34" charset="0"/>
                        </a:rPr>
                        <a:t>Medium</a:t>
                      </a:r>
                    </a:p>
                  </a:txBody>
                  <a:tcPr marL="127000" marR="101600" marT="63500" marB="63500" anchor="ctr">
                    <a:solidFill>
                      <a:srgbClr val="F3F5F8"/>
                    </a:solidFill>
                  </a:tcPr>
                </a:tc>
                <a:tc>
                  <a:txBody>
                    <a:bodyPr/>
                    <a:lstStyle/>
                    <a:p>
                      <a:r>
                        <a:rPr lang="en-US" sz="1100">
                          <a:solidFill>
                            <a:srgbClr val="1F2937"/>
                          </a:solidFill>
                          <a:latin typeface="Calibri" panose="020F0502020204030204" pitchFamily="34" charset="0"/>
                        </a:rPr>
                        <a:t>General contractor</a:t>
                      </a:r>
                    </a:p>
                  </a:txBody>
                  <a:tcPr marL="127000" marR="101600" marT="63500" marB="63500" anchor="ctr">
                    <a:solidFill>
                      <a:srgbClr val="F3F5F8"/>
                    </a:solidFill>
                  </a:tcPr>
                </a:tc>
                <a:tc>
                  <a:txBody>
                    <a:bodyPr/>
                    <a:lstStyle/>
                    <a:p>
                      <a:r>
                        <a:rPr lang="en-US" sz="1100">
                          <a:solidFill>
                            <a:srgbClr val="1F2937"/>
                          </a:solidFill>
                          <a:latin typeface="Calibri" panose="020F0502020204030204" pitchFamily="34" charset="0"/>
                        </a:rPr>
                        <a:t>Open</a:t>
                      </a:r>
                    </a:p>
                  </a:txBody>
                  <a:tcPr marL="127000" marR="101600" marT="63500" marB="63500" anchor="ctr">
                    <a:solidFill>
                      <a:srgbClr val="F3F5F8"/>
                    </a:solidFill>
                  </a:tcPr>
                </a:tc>
                <a:tc>
                  <a:txBody>
                    <a:bodyPr/>
                    <a:lstStyle/>
                    <a:p>
                      <a:r>
                        <a:rPr lang="en-US" sz="1100">
                          <a:solidFill>
                            <a:srgbClr val="1F2937"/>
                          </a:solidFill>
                          <a:latin typeface="Calibri" panose="020F0502020204030204" pitchFamily="34" charset="0"/>
                        </a:rPr>
                        <a:t>Find alternate suppliers and get pricing</a:t>
                      </a:r>
                    </a:p>
                  </a:txBody>
                  <a:tcPr marL="127000" marR="101600" marT="63500" marB="63500" anchor="ctr">
                    <a:solidFill>
                      <a:srgbClr val="F3F5F8"/>
                    </a:solidFill>
                  </a:tcPr>
                </a:tc>
                <a:extLst>
                  <a:ext uri="{0D108BD9-81ED-4DB2-BD59-A6C34878D82A}">
                    <a16:rowId xmlns:a16="http://schemas.microsoft.com/office/drawing/2014/main" val="3380009278"/>
                  </a:ext>
                </a:extLst>
              </a:tr>
              <a:tr h="330200">
                <a:tc>
                  <a:txBody>
                    <a:bodyPr/>
                    <a:lstStyle/>
                    <a:p>
                      <a:r>
                        <a:rPr lang="en-US" sz="1100" b="1">
                          <a:solidFill>
                            <a:srgbClr val="14213D"/>
                          </a:solidFill>
                          <a:latin typeface="Calibri" panose="020F0502020204030204" pitchFamily="34" charset="0"/>
                        </a:rPr>
                        <a:t>27</a:t>
                      </a:r>
                    </a:p>
                  </a:txBody>
                  <a:tcPr marL="127000" marR="101600" marT="63500" marB="63500" anchor="ctr">
                    <a:solidFill>
                      <a:srgbClr val="FFFFFF"/>
                    </a:solidFill>
                  </a:tcPr>
                </a:tc>
                <a:tc>
                  <a:txBody>
                    <a:bodyPr/>
                    <a:lstStyle/>
                    <a:p>
                      <a:r>
                        <a:rPr lang="en-US" sz="1100">
                          <a:solidFill>
                            <a:srgbClr val="1F2937"/>
                          </a:solidFill>
                          <a:latin typeface="Calibri" panose="020F0502020204030204" pitchFamily="34" charset="0"/>
                        </a:rPr>
                        <a:t>Key client stakeholder is dissatisfied</a:t>
                      </a:r>
                    </a:p>
                  </a:txBody>
                  <a:tcPr marL="127000" marR="101600" marT="63500" marB="63500" anchor="ctr">
                    <a:solidFill>
                      <a:srgbClr val="FFFFFF"/>
                    </a:solidFill>
                  </a:tcPr>
                </a:tc>
                <a:tc>
                  <a:txBody>
                    <a:bodyPr/>
                    <a:lstStyle/>
                    <a:p>
                      <a:r>
                        <a:rPr lang="en-US" sz="1100">
                          <a:solidFill>
                            <a:srgbClr val="1F2937"/>
                          </a:solidFill>
                          <a:latin typeface="Calibri" panose="020F0502020204030204" pitchFamily="34" charset="0"/>
                        </a:rPr>
                        <a:t>Jan 15</a:t>
                      </a:r>
                    </a:p>
                  </a:txBody>
                  <a:tcPr marL="127000" marR="101600" marT="63500" marB="63500" anchor="ctr">
                    <a:solidFill>
                      <a:srgbClr val="FFFFFF"/>
                    </a:solidFill>
                  </a:tcPr>
                </a:tc>
                <a:tc>
                  <a:txBody>
                    <a:bodyPr/>
                    <a:lstStyle/>
                    <a:p>
                      <a:r>
                        <a:rPr lang="en-US" sz="1100">
                          <a:solidFill>
                            <a:srgbClr val="1F2937"/>
                          </a:solidFill>
                          <a:latin typeface="Calibri" panose="020F0502020204030204" pitchFamily="34" charset="0"/>
                        </a:rPr>
                        <a:t>Feb 1</a:t>
                      </a:r>
                    </a:p>
                  </a:txBody>
                  <a:tcPr marL="127000" marR="101600" marT="63500" marB="63500" anchor="ctr">
                    <a:solidFill>
                      <a:srgbClr val="FFFFFF"/>
                    </a:solidFill>
                  </a:tcPr>
                </a:tc>
                <a:tc>
                  <a:txBody>
                    <a:bodyPr/>
                    <a:lstStyle/>
                    <a:p>
                      <a:r>
                        <a:rPr lang="en-US" sz="1100">
                          <a:solidFill>
                            <a:srgbClr val="1F2937"/>
                          </a:solidFill>
                          <a:latin typeface="Calibri" panose="020F0502020204030204" pitchFamily="34" charset="0"/>
                        </a:rPr>
                        <a:t>High</a:t>
                      </a:r>
                    </a:p>
                  </a:txBody>
                  <a:tcPr marL="127000" marR="101600" marT="63500" marB="63500" anchor="ctr">
                    <a:solidFill>
                      <a:srgbClr val="FFFFFF"/>
                    </a:solidFill>
                  </a:tcPr>
                </a:tc>
                <a:tc>
                  <a:txBody>
                    <a:bodyPr/>
                    <a:lstStyle/>
                    <a:p>
                      <a:r>
                        <a:rPr lang="en-US" sz="1100">
                          <a:solidFill>
                            <a:srgbClr val="1F2937"/>
                          </a:solidFill>
                          <a:latin typeface="Calibri" panose="020F0502020204030204" pitchFamily="34" charset="0"/>
                        </a:rPr>
                        <a:t>Project manager</a:t>
                      </a:r>
                    </a:p>
                  </a:txBody>
                  <a:tcPr marL="127000" marR="101600" marT="63500" marB="63500" anchor="ctr">
                    <a:solidFill>
                      <a:srgbClr val="FFFFFF"/>
                    </a:solidFill>
                  </a:tcPr>
                </a:tc>
                <a:tc>
                  <a:txBody>
                    <a:bodyPr/>
                    <a:lstStyle/>
                    <a:p>
                      <a:r>
                        <a:rPr lang="en-US" sz="1100">
                          <a:solidFill>
                            <a:srgbClr val="1F2937"/>
                          </a:solidFill>
                          <a:latin typeface="Calibri" panose="020F0502020204030204" pitchFamily="34" charset="0"/>
                        </a:rPr>
                        <a:t>Open</a:t>
                      </a:r>
                    </a:p>
                  </a:txBody>
                  <a:tcPr marL="127000" marR="101600" marT="63500" marB="63500" anchor="ctr">
                    <a:solidFill>
                      <a:srgbClr val="FFFFFF"/>
                    </a:solidFill>
                  </a:tcPr>
                </a:tc>
                <a:tc>
                  <a:txBody>
                    <a:bodyPr/>
                    <a:lstStyle/>
                    <a:p>
                      <a:r>
                        <a:rPr lang="en-US" sz="1100">
                          <a:solidFill>
                            <a:srgbClr val="1F2937"/>
                          </a:solidFill>
                          <a:latin typeface="Calibri" panose="020F0502020204030204" pitchFamily="34" charset="0"/>
                        </a:rPr>
                        <a:t>Meet to understand the concerns and agree an action plan</a:t>
                      </a:r>
                    </a:p>
                  </a:txBody>
                  <a:tcPr marL="127000" marR="101600" marT="63500" marB="63500" anchor="ctr">
                    <a:solidFill>
                      <a:srgbClr val="FFFFFF"/>
                    </a:solidFill>
                  </a:tcPr>
                </a:tc>
                <a:extLst>
                  <a:ext uri="{0D108BD9-81ED-4DB2-BD59-A6C34878D82A}">
                    <a16:rowId xmlns:a16="http://schemas.microsoft.com/office/drawing/2014/main" val="2150539281"/>
                  </a:ext>
                </a:extLst>
              </a:tr>
            </a:tbl>
          </a:graphicData>
        </a:graphic>
      </p:graphicFrame>
      <p:sp>
        <p:nvSpPr>
          <p:cNvPr id="9" name="Rectangle: Rounded Corners 8">
            <a:extLst>
              <a:ext uri="{FF2B5EF4-FFF2-40B4-BE49-F238E27FC236}">
                <a16:creationId xmlns:a16="http://schemas.microsoft.com/office/drawing/2014/main" id="{B01CC008-BA02-529B-204D-041A8DD60727}"/>
              </a:ext>
            </a:extLst>
          </p:cNvPr>
          <p:cNvSpPr/>
          <p:nvPr/>
        </p:nvSpPr>
        <p:spPr>
          <a:xfrm>
            <a:off x="508000" y="5486400"/>
            <a:ext cx="11176000" cy="838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F42CE60-6327-A415-2036-A0C9424293F5}"/>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if it has already happened, it is an issue. Assign an owner and a due date, act now, and update the risk register if the risk had been identified.</a:t>
            </a:r>
          </a:p>
        </p:txBody>
      </p:sp>
      <p:sp>
        <p:nvSpPr>
          <p:cNvPr id="11" name="Footer">
            <a:extLst>
              <a:ext uri="{FF2B5EF4-FFF2-40B4-BE49-F238E27FC236}">
                <a16:creationId xmlns:a16="http://schemas.microsoft.com/office/drawing/2014/main" id="{5C13A93E-2BAF-AB16-A2CD-61C2A3291C82}"/>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4.3.3.3 (issue log), 11.2.3.1 (risk register), and Glossary (workaround); adapted from PMI course material</a:t>
            </a:r>
          </a:p>
        </p:txBody>
      </p:sp>
      <p:sp>
        <p:nvSpPr>
          <p:cNvPr id="12" name="SlideNum">
            <a:extLst>
              <a:ext uri="{FF2B5EF4-FFF2-40B4-BE49-F238E27FC236}">
                <a16:creationId xmlns:a16="http://schemas.microsoft.com/office/drawing/2014/main" id="{72180B10-C1F8-7CA9-0E77-743CCBAF99EE}"/>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79</a:t>
            </a:r>
          </a:p>
        </p:txBody>
      </p:sp>
      <p:sp>
        <p:nvSpPr>
          <p:cNvPr id="13"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79167414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490CA0C-3C39-5EAE-829F-DD7E8312C579}"/>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Impediments, obstacles, and blockers</a:t>
            </a:r>
          </a:p>
        </p:txBody>
      </p:sp>
      <p:sp>
        <p:nvSpPr>
          <p:cNvPr id="3" name="Tag">
            <a:extLst>
              <a:ext uri="{FF2B5EF4-FFF2-40B4-BE49-F238E27FC236}">
                <a16:creationId xmlns:a16="http://schemas.microsoft.com/office/drawing/2014/main" id="{65A185D7-3EDA-9A7D-2880-ADEF86DAA935}"/>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A84A2E"/>
                </a:solidFill>
                <a:latin typeface="Calibri" panose="020F0502020204030204" pitchFamily="34" charset="0"/>
              </a:rPr>
              <a:t>Business Environment deep dive · Supports Task 4 (Remove impediments and manage issues)</a:t>
            </a:r>
          </a:p>
        </p:txBody>
      </p:sp>
      <p:sp>
        <p:nvSpPr>
          <p:cNvPr id="4" name="Rectangle: Rounded Corners 3">
            <a:extLst>
              <a:ext uri="{FF2B5EF4-FFF2-40B4-BE49-F238E27FC236}">
                <a16:creationId xmlns:a16="http://schemas.microsoft.com/office/drawing/2014/main" id="{9CD010AF-D2D0-B617-2C51-9CA36810EF5A}"/>
              </a:ext>
            </a:extLst>
          </p:cNvPr>
          <p:cNvSpPr/>
          <p:nvPr/>
        </p:nvSpPr>
        <p:spPr>
          <a:xfrm>
            <a:off x="508000" y="1320800"/>
            <a:ext cx="3556000" cy="8128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25400" rIns="127000" bIns="25400" rtlCol="0" anchor="ctr"/>
          <a:lstStyle/>
          <a:p>
            <a:pPr algn="ctr"/>
            <a:r>
              <a:rPr lang="en-US" sz="1600" b="1">
                <a:solidFill>
                  <a:srgbClr val="A86F0E"/>
                </a:solidFill>
                <a:latin typeface="Calibri" panose="020F0502020204030204" pitchFamily="34" charset="0"/>
              </a:rPr>
              <a:t>Impediment</a:t>
            </a:r>
          </a:p>
          <a:p>
            <a:pPr algn="ctr"/>
            <a:r>
              <a:rPr lang="en-US" sz="1200">
                <a:solidFill>
                  <a:srgbClr val="1F2937"/>
                </a:solidFill>
                <a:latin typeface="Calibri" panose="020F0502020204030204" pitchFamily="34" charset="0"/>
              </a:rPr>
              <a:t>Slows progress but doesn’t stop it.</a:t>
            </a:r>
          </a:p>
        </p:txBody>
      </p:sp>
      <p:sp>
        <p:nvSpPr>
          <p:cNvPr id="5" name="Rectangle: Rounded Corners 4">
            <a:extLst>
              <a:ext uri="{FF2B5EF4-FFF2-40B4-BE49-F238E27FC236}">
                <a16:creationId xmlns:a16="http://schemas.microsoft.com/office/drawing/2014/main" id="{46D4BEAC-457C-9BC8-D868-E6F5FC51EBF9}"/>
              </a:ext>
            </a:extLst>
          </p:cNvPr>
          <p:cNvSpPr/>
          <p:nvPr/>
        </p:nvSpPr>
        <p:spPr>
          <a:xfrm>
            <a:off x="4318000" y="1320800"/>
            <a:ext cx="3556000" cy="8128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25400" rIns="127000" bIns="25400" rtlCol="0" anchor="ctr"/>
          <a:lstStyle/>
          <a:p>
            <a:pPr algn="ctr"/>
            <a:r>
              <a:rPr lang="en-US" sz="1600" b="1">
                <a:solidFill>
                  <a:srgbClr val="A84A2E"/>
                </a:solidFill>
                <a:latin typeface="Calibri" panose="020F0502020204030204" pitchFamily="34" charset="0"/>
              </a:rPr>
              <a:t>Obstacle</a:t>
            </a:r>
          </a:p>
          <a:p>
            <a:pPr algn="ctr"/>
            <a:r>
              <a:rPr lang="en-US" sz="1200">
                <a:solidFill>
                  <a:srgbClr val="1F2937"/>
                </a:solidFill>
                <a:latin typeface="Calibri" panose="020F0502020204030204" pitchFamily="34" charset="0"/>
              </a:rPr>
              <a:t>More significant: can cause substantial delays.</a:t>
            </a:r>
          </a:p>
        </p:txBody>
      </p:sp>
      <p:sp>
        <p:nvSpPr>
          <p:cNvPr id="6" name="Rectangle: Rounded Corners 5">
            <a:extLst>
              <a:ext uri="{FF2B5EF4-FFF2-40B4-BE49-F238E27FC236}">
                <a16:creationId xmlns:a16="http://schemas.microsoft.com/office/drawing/2014/main" id="{22776949-495C-66B3-B07E-C97FE693C11B}"/>
              </a:ext>
            </a:extLst>
          </p:cNvPr>
          <p:cNvSpPr/>
          <p:nvPr/>
        </p:nvSpPr>
        <p:spPr>
          <a:xfrm>
            <a:off x="8128000" y="1320800"/>
            <a:ext cx="3556000" cy="812800"/>
          </a:xfrm>
          <a:prstGeom prst="roundRect">
            <a:avLst>
              <a:gd name="adj" fmla="val 8000"/>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25400" rIns="127000" bIns="25400" rtlCol="0" anchor="ctr"/>
          <a:lstStyle/>
          <a:p>
            <a:pPr algn="ctr"/>
            <a:r>
              <a:rPr lang="en-US" sz="1600" b="1">
                <a:solidFill>
                  <a:srgbClr val="FFFFFF"/>
                </a:solidFill>
                <a:latin typeface="Calibri" panose="020F0502020204030204" pitchFamily="34" charset="0"/>
              </a:rPr>
              <a:t>Blocker</a:t>
            </a:r>
          </a:p>
          <a:p>
            <a:pPr algn="ctr"/>
            <a:r>
              <a:rPr lang="en-US" sz="1200">
                <a:solidFill>
                  <a:srgbClr val="FFFFFF"/>
                </a:solidFill>
                <a:latin typeface="Calibri" panose="020F0502020204030204" pitchFamily="34" charset="0"/>
              </a:rPr>
              <a:t>Stops progress completely.</a:t>
            </a:r>
          </a:p>
        </p:txBody>
      </p:sp>
      <p:cxnSp>
        <p:nvCxnSpPr>
          <p:cNvPr id="7" name="Straight Connector 6">
            <a:extLst>
              <a:ext uri="{FF2B5EF4-FFF2-40B4-BE49-F238E27FC236}">
                <a16:creationId xmlns:a16="http://schemas.microsoft.com/office/drawing/2014/main" id="{C76524B0-E7CE-3F91-7D78-BE71EF090C2C}"/>
              </a:ext>
            </a:extLst>
          </p:cNvPr>
          <p:cNvCxnSpPr/>
          <p:nvPr/>
        </p:nvCxnSpPr>
        <p:spPr>
          <a:xfrm>
            <a:off x="762000" y="2235200"/>
            <a:ext cx="10668000" cy="0"/>
          </a:xfrm>
          <a:prstGeom prst="line">
            <a:avLst/>
          </a:prstGeom>
          <a:ln w="19050">
            <a:solidFill>
              <a:srgbClr val="5B6475"/>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A879858D-3142-1A6E-DCBE-84999093BEE5}"/>
              </a:ext>
            </a:extLst>
          </p:cNvPr>
          <p:cNvSpPr txBox="1"/>
          <p:nvPr/>
        </p:nvSpPr>
        <p:spPr>
          <a:xfrm>
            <a:off x="8890000" y="2260600"/>
            <a:ext cx="2794000" cy="177800"/>
          </a:xfrm>
          <a:prstGeom prst="rect">
            <a:avLst/>
          </a:prstGeom>
          <a:noFill/>
        </p:spPr>
        <p:txBody>
          <a:bodyPr vert="horz" wrap="square" lIns="0" tIns="0" rIns="0" bIns="0" rtlCol="0" anchor="t">
            <a:noAutofit/>
          </a:bodyPr>
          <a:lstStyle/>
          <a:p>
            <a:pPr algn="r"/>
            <a:r>
              <a:rPr lang="en-US" sz="1000" i="1">
                <a:solidFill>
                  <a:srgbClr val="5B6475"/>
                </a:solidFill>
                <a:latin typeface="Calibri" panose="020F0502020204030204" pitchFamily="34" charset="0"/>
              </a:rPr>
              <a:t>Increasing severity</a:t>
            </a:r>
          </a:p>
        </p:txBody>
      </p:sp>
      <p:sp>
        <p:nvSpPr>
          <p:cNvPr id="9" name="TextBox 8">
            <a:extLst>
              <a:ext uri="{FF2B5EF4-FFF2-40B4-BE49-F238E27FC236}">
                <a16:creationId xmlns:a16="http://schemas.microsoft.com/office/drawing/2014/main" id="{FAFD1D0A-AA5D-627B-2570-83870CA022BD}"/>
              </a:ext>
            </a:extLst>
          </p:cNvPr>
          <p:cNvSpPr txBox="1"/>
          <p:nvPr/>
        </p:nvSpPr>
        <p:spPr>
          <a:xfrm>
            <a:off x="508000" y="2463800"/>
            <a:ext cx="5080000" cy="228600"/>
          </a:xfrm>
          <a:prstGeom prst="rect">
            <a:avLst/>
          </a:prstGeom>
          <a:noFill/>
        </p:spPr>
        <p:txBody>
          <a:bodyPr vert="horz" wrap="square" lIns="0" tIns="0" rIns="0" bIns="0" rtlCol="0" anchor="t">
            <a:noAutofit/>
          </a:bodyPr>
          <a:lstStyle/>
          <a:p>
            <a:r>
              <a:rPr lang="en-US" sz="1400" b="1">
                <a:solidFill>
                  <a:srgbClr val="14213D"/>
                </a:solidFill>
                <a:latin typeface="Calibri" panose="020F0502020204030204" pitchFamily="34" charset="0"/>
              </a:rPr>
              <a:t>Identify them early</a:t>
            </a:r>
          </a:p>
        </p:txBody>
      </p:sp>
      <p:sp>
        <p:nvSpPr>
          <p:cNvPr id="10" name="Rectangle: Rounded Corners 9">
            <a:extLst>
              <a:ext uri="{FF2B5EF4-FFF2-40B4-BE49-F238E27FC236}">
                <a16:creationId xmlns:a16="http://schemas.microsoft.com/office/drawing/2014/main" id="{2BF605DA-C167-82DE-9B89-22DE8B701D53}"/>
              </a:ext>
            </a:extLst>
          </p:cNvPr>
          <p:cNvSpPr/>
          <p:nvPr/>
        </p:nvSpPr>
        <p:spPr>
          <a:xfrm>
            <a:off x="508000" y="2717800"/>
            <a:ext cx="2133600" cy="457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200" b="1">
                <a:solidFill>
                  <a:srgbClr val="14213D"/>
                </a:solidFill>
                <a:latin typeface="Calibri" panose="020F0502020204030204" pitchFamily="34" charset="0"/>
              </a:rPr>
              <a:t>Daily coordination meetings</a:t>
            </a:r>
          </a:p>
        </p:txBody>
      </p:sp>
      <p:sp>
        <p:nvSpPr>
          <p:cNvPr id="11" name="Rectangle: Rounded Corners 10">
            <a:extLst>
              <a:ext uri="{FF2B5EF4-FFF2-40B4-BE49-F238E27FC236}">
                <a16:creationId xmlns:a16="http://schemas.microsoft.com/office/drawing/2014/main" id="{8C4DD38B-6A49-5B56-7904-2E9916700A69}"/>
              </a:ext>
            </a:extLst>
          </p:cNvPr>
          <p:cNvSpPr/>
          <p:nvPr/>
        </p:nvSpPr>
        <p:spPr>
          <a:xfrm>
            <a:off x="2768600" y="2717800"/>
            <a:ext cx="2133600" cy="457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200" b="1">
                <a:solidFill>
                  <a:srgbClr val="14213D"/>
                </a:solidFill>
                <a:latin typeface="Calibri" panose="020F0502020204030204" pitchFamily="34" charset="0"/>
              </a:rPr>
              <a:t>Retrospectives</a:t>
            </a:r>
          </a:p>
        </p:txBody>
      </p:sp>
      <p:sp>
        <p:nvSpPr>
          <p:cNvPr id="12" name="Rectangle: Rounded Corners 11">
            <a:extLst>
              <a:ext uri="{FF2B5EF4-FFF2-40B4-BE49-F238E27FC236}">
                <a16:creationId xmlns:a16="http://schemas.microsoft.com/office/drawing/2014/main" id="{9D5AEF73-1DDE-DF7E-89BE-4386DB35E77E}"/>
              </a:ext>
            </a:extLst>
          </p:cNvPr>
          <p:cNvSpPr/>
          <p:nvPr/>
        </p:nvSpPr>
        <p:spPr>
          <a:xfrm>
            <a:off x="5029200" y="2717800"/>
            <a:ext cx="2133600" cy="457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200" b="1">
                <a:solidFill>
                  <a:srgbClr val="14213D"/>
                </a:solidFill>
                <a:latin typeface="Calibri" panose="020F0502020204030204" pitchFamily="34" charset="0"/>
              </a:rPr>
              <a:t>Watch for bottlenecks</a:t>
            </a:r>
          </a:p>
        </p:txBody>
      </p:sp>
      <p:sp>
        <p:nvSpPr>
          <p:cNvPr id="13" name="Rectangle: Rounded Corners 12">
            <a:extLst>
              <a:ext uri="{FF2B5EF4-FFF2-40B4-BE49-F238E27FC236}">
                <a16:creationId xmlns:a16="http://schemas.microsoft.com/office/drawing/2014/main" id="{FA758667-9F7E-47A6-1335-C13A86E005C6}"/>
              </a:ext>
            </a:extLst>
          </p:cNvPr>
          <p:cNvSpPr/>
          <p:nvPr/>
        </p:nvSpPr>
        <p:spPr>
          <a:xfrm>
            <a:off x="7289800" y="2717800"/>
            <a:ext cx="2133600" cy="457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200" b="1">
                <a:solidFill>
                  <a:srgbClr val="14213D"/>
                </a:solidFill>
                <a:latin typeface="Calibri" panose="020F0502020204030204" pitchFamily="34" charset="0"/>
              </a:rPr>
              <a:t>Monitor dependencies</a:t>
            </a:r>
          </a:p>
        </p:txBody>
      </p:sp>
      <p:sp>
        <p:nvSpPr>
          <p:cNvPr id="14" name="Rectangle: Rounded Corners 13">
            <a:extLst>
              <a:ext uri="{FF2B5EF4-FFF2-40B4-BE49-F238E27FC236}">
                <a16:creationId xmlns:a16="http://schemas.microsoft.com/office/drawing/2014/main" id="{1CDD09D7-0DD5-FD06-EDF5-6608D5316A7F}"/>
              </a:ext>
            </a:extLst>
          </p:cNvPr>
          <p:cNvSpPr/>
          <p:nvPr/>
        </p:nvSpPr>
        <p:spPr>
          <a:xfrm>
            <a:off x="9550400" y="2717800"/>
            <a:ext cx="2133600" cy="457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200" b="1">
                <a:solidFill>
                  <a:srgbClr val="14213D"/>
                </a:solidFill>
                <a:latin typeface="Calibri" panose="020F0502020204030204" pitchFamily="34" charset="0"/>
              </a:rPr>
              <a:t>Track historical data</a:t>
            </a:r>
          </a:p>
        </p:txBody>
      </p:sp>
      <p:sp>
        <p:nvSpPr>
          <p:cNvPr id="15" name="TextBox 14">
            <a:extLst>
              <a:ext uri="{FF2B5EF4-FFF2-40B4-BE49-F238E27FC236}">
                <a16:creationId xmlns:a16="http://schemas.microsoft.com/office/drawing/2014/main" id="{32C664C9-E517-E811-D24E-D771FA6B950C}"/>
              </a:ext>
            </a:extLst>
          </p:cNvPr>
          <p:cNvSpPr txBox="1"/>
          <p:nvPr/>
        </p:nvSpPr>
        <p:spPr>
          <a:xfrm>
            <a:off x="508000" y="3327400"/>
            <a:ext cx="7620000" cy="228600"/>
          </a:xfrm>
          <a:prstGeom prst="rect">
            <a:avLst/>
          </a:prstGeom>
          <a:noFill/>
        </p:spPr>
        <p:txBody>
          <a:bodyPr vert="horz" wrap="square" lIns="0" tIns="0" rIns="0" bIns="0" rtlCol="0" anchor="t">
            <a:noAutofit/>
          </a:bodyPr>
          <a:lstStyle/>
          <a:p>
            <a:r>
              <a:rPr lang="en-US" sz="1400" b="1">
                <a:solidFill>
                  <a:srgbClr val="14213D"/>
                </a:solidFill>
                <a:latin typeface="Calibri" panose="020F0502020204030204" pitchFamily="34" charset="0"/>
              </a:rPr>
              <a:t>Determine and apply an intervention strategy</a:t>
            </a:r>
          </a:p>
        </p:txBody>
      </p:sp>
      <p:sp>
        <p:nvSpPr>
          <p:cNvPr id="16" name="Arrow: Chevron 15">
            <a:extLst>
              <a:ext uri="{FF2B5EF4-FFF2-40B4-BE49-F238E27FC236}">
                <a16:creationId xmlns:a16="http://schemas.microsoft.com/office/drawing/2014/main" id="{81A99944-E774-1859-C1F9-E5FD4C8B4A69}"/>
              </a:ext>
            </a:extLst>
          </p:cNvPr>
          <p:cNvSpPr/>
          <p:nvPr/>
        </p:nvSpPr>
        <p:spPr>
          <a:xfrm>
            <a:off x="508000" y="3581400"/>
            <a:ext cx="2336800" cy="508000"/>
          </a:xfrm>
          <a:prstGeom prst="chevron">
            <a:avLst/>
          </a:prstGeom>
          <a:solidFill>
            <a:srgbClr val="1F346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25400" rIns="177800" bIns="25400" rtlCol="0" anchor="ctr"/>
          <a:lstStyle/>
          <a:p>
            <a:pPr algn="ctr"/>
            <a:r>
              <a:rPr lang="en-US" sz="1100" b="1">
                <a:solidFill>
                  <a:srgbClr val="FFFFFF"/>
                </a:solidFill>
                <a:latin typeface="Calibri" panose="020F0502020204030204" pitchFamily="34" charset="0"/>
              </a:rPr>
              <a:t>Understand the context</a:t>
            </a:r>
          </a:p>
        </p:txBody>
      </p:sp>
      <p:sp>
        <p:nvSpPr>
          <p:cNvPr id="17" name="Arrow: Chevron 16">
            <a:extLst>
              <a:ext uri="{FF2B5EF4-FFF2-40B4-BE49-F238E27FC236}">
                <a16:creationId xmlns:a16="http://schemas.microsoft.com/office/drawing/2014/main" id="{7141CC4F-DA59-DF3A-F999-781CCA1C4320}"/>
              </a:ext>
            </a:extLst>
          </p:cNvPr>
          <p:cNvSpPr/>
          <p:nvPr/>
        </p:nvSpPr>
        <p:spPr>
          <a:xfrm>
            <a:off x="2743200" y="3581400"/>
            <a:ext cx="2336800" cy="508000"/>
          </a:xfrm>
          <a:prstGeom prst="chevron">
            <a:avLst/>
          </a:prstGeom>
          <a:solidFill>
            <a:srgbClr val="2A42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25400" rIns="177800" bIns="25400" rtlCol="0" anchor="ctr"/>
          <a:lstStyle/>
          <a:p>
            <a:pPr algn="ctr"/>
            <a:r>
              <a:rPr lang="en-US" sz="1100" b="1">
                <a:solidFill>
                  <a:srgbClr val="FFFFFF"/>
                </a:solidFill>
                <a:latin typeface="Calibri" panose="020F0502020204030204" pitchFamily="34" charset="0"/>
              </a:rPr>
              <a:t>Define shared objectives</a:t>
            </a:r>
          </a:p>
        </p:txBody>
      </p:sp>
      <p:sp>
        <p:nvSpPr>
          <p:cNvPr id="18" name="Arrow: Chevron 17">
            <a:extLst>
              <a:ext uri="{FF2B5EF4-FFF2-40B4-BE49-F238E27FC236}">
                <a16:creationId xmlns:a16="http://schemas.microsoft.com/office/drawing/2014/main" id="{63DE6ABF-1F98-9E90-2998-088346643CA9}"/>
              </a:ext>
            </a:extLst>
          </p:cNvPr>
          <p:cNvSpPr/>
          <p:nvPr/>
        </p:nvSpPr>
        <p:spPr>
          <a:xfrm>
            <a:off x="4978400" y="3581400"/>
            <a:ext cx="2336800" cy="508000"/>
          </a:xfrm>
          <a:prstGeom prst="chevron">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25400" rIns="177800" bIns="25400" rtlCol="0" anchor="ctr"/>
          <a:lstStyle/>
          <a:p>
            <a:pPr algn="ctr"/>
            <a:r>
              <a:rPr lang="en-US" sz="1100" b="1">
                <a:solidFill>
                  <a:srgbClr val="FFFFFF"/>
                </a:solidFill>
                <a:latin typeface="Calibri" panose="020F0502020204030204" pitchFamily="34" charset="0"/>
              </a:rPr>
              <a:t>Collect and analyze data</a:t>
            </a:r>
          </a:p>
        </p:txBody>
      </p:sp>
      <p:sp>
        <p:nvSpPr>
          <p:cNvPr id="19" name="Arrow: Chevron 18">
            <a:extLst>
              <a:ext uri="{FF2B5EF4-FFF2-40B4-BE49-F238E27FC236}">
                <a16:creationId xmlns:a16="http://schemas.microsoft.com/office/drawing/2014/main" id="{F5A07870-B0B6-5AE7-52EF-9D1317C087F7}"/>
              </a:ext>
            </a:extLst>
          </p:cNvPr>
          <p:cNvSpPr/>
          <p:nvPr/>
        </p:nvSpPr>
        <p:spPr>
          <a:xfrm>
            <a:off x="7213600" y="3581400"/>
            <a:ext cx="2336800" cy="508000"/>
          </a:xfrm>
          <a:prstGeom prst="chevron">
            <a:avLst/>
          </a:prstGeom>
          <a:solidFill>
            <a:srgbClr val="4F68A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25400" rIns="177800" bIns="25400" rtlCol="0" anchor="ctr"/>
          <a:lstStyle/>
          <a:p>
            <a:pPr algn="ctr"/>
            <a:r>
              <a:rPr lang="en-US" sz="1100" b="1">
                <a:solidFill>
                  <a:srgbClr val="FFFFFF"/>
                </a:solidFill>
                <a:latin typeface="Calibri" panose="020F0502020204030204" pitchFamily="34" charset="0"/>
              </a:rPr>
              <a:t>Target the approach</a:t>
            </a:r>
          </a:p>
        </p:txBody>
      </p:sp>
      <p:sp>
        <p:nvSpPr>
          <p:cNvPr id="20" name="Arrow: Chevron 19">
            <a:extLst>
              <a:ext uri="{FF2B5EF4-FFF2-40B4-BE49-F238E27FC236}">
                <a16:creationId xmlns:a16="http://schemas.microsoft.com/office/drawing/2014/main" id="{E7466515-CAF0-BDBC-2682-CD550DC4C088}"/>
              </a:ext>
            </a:extLst>
          </p:cNvPr>
          <p:cNvSpPr/>
          <p:nvPr/>
        </p:nvSpPr>
        <p:spPr>
          <a:xfrm>
            <a:off x="9448800" y="3581400"/>
            <a:ext cx="2336800" cy="508000"/>
          </a:xfrm>
          <a:prstGeom prst="chevron">
            <a:avLst/>
          </a:prstGeom>
          <a:solidFill>
            <a:srgbClr val="6B82C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25400" rIns="177800" bIns="25400" rtlCol="0" anchor="ctr"/>
          <a:lstStyle/>
          <a:p>
            <a:pPr algn="ctr"/>
            <a:r>
              <a:rPr lang="en-US" sz="1100" b="1">
                <a:solidFill>
                  <a:srgbClr val="FFFFFF"/>
                </a:solidFill>
                <a:latin typeface="Calibri" panose="020F0502020204030204" pitchFamily="34" charset="0"/>
              </a:rPr>
              <a:t>Include team and stakeholders</a:t>
            </a:r>
          </a:p>
        </p:txBody>
      </p:sp>
      <p:sp>
        <p:nvSpPr>
          <p:cNvPr id="21" name="Rectangle: Rounded Corners 20">
            <a:extLst>
              <a:ext uri="{FF2B5EF4-FFF2-40B4-BE49-F238E27FC236}">
                <a16:creationId xmlns:a16="http://schemas.microsoft.com/office/drawing/2014/main" id="{41874D2F-9E5D-5159-4B1C-3141F4E7E874}"/>
              </a:ext>
            </a:extLst>
          </p:cNvPr>
          <p:cNvSpPr/>
          <p:nvPr/>
        </p:nvSpPr>
        <p:spPr>
          <a:xfrm>
            <a:off x="508000" y="4241800"/>
            <a:ext cx="5461000" cy="11176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42BC4DC0-FBCF-39DB-C08F-A82748D824E3}"/>
              </a:ext>
            </a:extLst>
          </p:cNvPr>
          <p:cNvSpPr txBox="1"/>
          <p:nvPr/>
        </p:nvSpPr>
        <p:spPr>
          <a:xfrm>
            <a:off x="660400" y="4394200"/>
            <a:ext cx="5156200" cy="8128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Evaluate, prioritize, and make visible</a:t>
            </a:r>
          </a:p>
          <a:p>
            <a:r>
              <a:rPr lang="en-US" sz="1200">
                <a:solidFill>
                  <a:srgbClr val="1F2937"/>
                </a:solidFill>
                <a:latin typeface="Calibri" panose="020F0502020204030204" pitchFamily="34" charset="0"/>
              </a:rPr>
              <a:t>Assess the impact on value, schedule, and the team; post impediments on a visible board or log; work the biggest first; reassess until each is gone.</a:t>
            </a:r>
          </a:p>
        </p:txBody>
      </p:sp>
      <p:sp>
        <p:nvSpPr>
          <p:cNvPr id="23" name="Rectangle: Rounded Corners 22">
            <a:extLst>
              <a:ext uri="{FF2B5EF4-FFF2-40B4-BE49-F238E27FC236}">
                <a16:creationId xmlns:a16="http://schemas.microsoft.com/office/drawing/2014/main" id="{A6A154F8-4B63-221C-EACE-CA8EDA9A55C2}"/>
              </a:ext>
            </a:extLst>
          </p:cNvPr>
          <p:cNvSpPr/>
          <p:nvPr/>
        </p:nvSpPr>
        <p:spPr>
          <a:xfrm>
            <a:off x="6223000" y="4241800"/>
            <a:ext cx="5461000" cy="11176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76BE08E-E943-3BC1-2A43-CEA2EAF10285}"/>
              </a:ext>
            </a:extLst>
          </p:cNvPr>
          <p:cNvSpPr txBox="1"/>
          <p:nvPr/>
        </p:nvSpPr>
        <p:spPr>
          <a:xfrm>
            <a:off x="6375400" y="4394200"/>
            <a:ext cx="5156200" cy="812800"/>
          </a:xfrm>
          <a:prstGeom prst="rect">
            <a:avLst/>
          </a:prstGeom>
          <a:noFill/>
        </p:spPr>
        <p:txBody>
          <a:bodyPr vert="horz" wrap="square" lIns="0" tIns="0" rIns="0" bIns="0" rtlCol="0" anchor="t">
            <a:noAutofit/>
          </a:bodyPr>
          <a:lstStyle/>
          <a:p>
            <a:pPr>
              <a:spcAft>
                <a:spcPts val="600"/>
              </a:spcAft>
            </a:pPr>
            <a:r>
              <a:rPr lang="en-US" sz="1400" b="1">
                <a:solidFill>
                  <a:srgbClr val="A86F0E"/>
                </a:solidFill>
                <a:latin typeface="Calibri" panose="020F0502020204030204" pitchFamily="34" charset="0"/>
              </a:rPr>
              <a:t>Who removes it</a:t>
            </a:r>
          </a:p>
          <a:p>
            <a:r>
              <a:rPr lang="en-US" sz="1200">
                <a:solidFill>
                  <a:srgbClr val="1F2937"/>
                </a:solidFill>
                <a:latin typeface="Calibri" panose="020F0502020204030204" pitchFamily="34" charset="0"/>
              </a:rPr>
              <a:t>The team solves what it can. The project manager or scrum master removes what the team can’t, and escalates what is beyond the project’s authority.</a:t>
            </a:r>
          </a:p>
        </p:txBody>
      </p:sp>
      <p:sp>
        <p:nvSpPr>
          <p:cNvPr id="25" name="Rectangle: Rounded Corners 24">
            <a:extLst>
              <a:ext uri="{FF2B5EF4-FFF2-40B4-BE49-F238E27FC236}">
                <a16:creationId xmlns:a16="http://schemas.microsoft.com/office/drawing/2014/main" id="{2665BB2E-1E40-AC81-A4B3-C1D29497E4CD}"/>
              </a:ext>
            </a:extLst>
          </p:cNvPr>
          <p:cNvSpPr/>
          <p:nvPr/>
        </p:nvSpPr>
        <p:spPr>
          <a:xfrm>
            <a:off x="508000" y="5486400"/>
            <a:ext cx="11176000" cy="838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385A31FF-E6D1-3D5F-DCBE-1B603FBC2E0B}"/>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an impediment raised at the daily standup is resolved after the meeting, not during it. The servant leader clears the path, then checks that it stays clear.</a:t>
            </a:r>
          </a:p>
        </p:txBody>
      </p:sp>
      <p:sp>
        <p:nvSpPr>
          <p:cNvPr id="27" name="Footer">
            <a:extLst>
              <a:ext uri="{FF2B5EF4-FFF2-40B4-BE49-F238E27FC236}">
                <a16:creationId xmlns:a16="http://schemas.microsoft.com/office/drawing/2014/main" id="{BFC24304-7988-873C-6DB3-592C8FB3FC9B}"/>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PMP® Examination Content Outline (July 2026), Business Environment Task 4; PMI and Agile Alliance, Agile Practice Guide (2017); adapted from PMI course material</a:t>
            </a:r>
          </a:p>
        </p:txBody>
      </p:sp>
      <p:sp>
        <p:nvSpPr>
          <p:cNvPr id="28" name="SlideNum">
            <a:extLst>
              <a:ext uri="{FF2B5EF4-FFF2-40B4-BE49-F238E27FC236}">
                <a16:creationId xmlns:a16="http://schemas.microsoft.com/office/drawing/2014/main" id="{E6C1A0C6-D8F9-FC40-BB92-33D3ECCCA445}"/>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80</a:t>
            </a:r>
          </a:p>
        </p:txBody>
      </p:sp>
      <p:sp>
        <p:nvSpPr>
          <p:cNvPr id="29"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57523778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A1E7F1E-A324-1C23-9B2D-410507A0CCB2}"/>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Supporting organizational change</a:t>
            </a:r>
          </a:p>
        </p:txBody>
      </p:sp>
      <p:sp>
        <p:nvSpPr>
          <p:cNvPr id="3" name="Tag">
            <a:extLst>
              <a:ext uri="{FF2B5EF4-FFF2-40B4-BE49-F238E27FC236}">
                <a16:creationId xmlns:a16="http://schemas.microsoft.com/office/drawing/2014/main" id="{AB9B90E3-CA3E-D58F-81B9-66616D65AD66}"/>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A84A2E"/>
                </a:solidFill>
                <a:latin typeface="Calibri" panose="020F0502020204030204" pitchFamily="34" charset="0"/>
              </a:rPr>
              <a:t>Business Environment deep dive · Supports Task 7 (Support organizational change)</a:t>
            </a:r>
          </a:p>
        </p:txBody>
      </p:sp>
      <p:sp>
        <p:nvSpPr>
          <p:cNvPr id="4" name="Rectangle: Rounded Corners 3">
            <a:extLst>
              <a:ext uri="{FF2B5EF4-FFF2-40B4-BE49-F238E27FC236}">
                <a16:creationId xmlns:a16="http://schemas.microsoft.com/office/drawing/2014/main" id="{9F61759A-2898-1B87-BA35-0A554427D1A1}"/>
              </a:ext>
            </a:extLst>
          </p:cNvPr>
          <p:cNvSpPr/>
          <p:nvPr/>
        </p:nvSpPr>
        <p:spPr>
          <a:xfrm>
            <a:off x="508000" y="1320800"/>
            <a:ext cx="3606800" cy="29210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7FB6609-F6EE-990A-8EA1-A68F102CB39F}"/>
              </a:ext>
            </a:extLst>
          </p:cNvPr>
          <p:cNvSpPr txBox="1"/>
          <p:nvPr/>
        </p:nvSpPr>
        <p:spPr>
          <a:xfrm>
            <a:off x="685800" y="1498600"/>
            <a:ext cx="3251200" cy="2565400"/>
          </a:xfrm>
          <a:prstGeom prst="rect">
            <a:avLst/>
          </a:prstGeom>
          <a:noFill/>
        </p:spPr>
        <p:txBody>
          <a:bodyPr vert="horz" wrap="square" lIns="0" tIns="0" rIns="0" bIns="0" rtlCol="0" anchor="t">
            <a:noAutofit/>
          </a:bodyPr>
          <a:lstStyle/>
          <a:p>
            <a:pPr>
              <a:spcAft>
                <a:spcPts val="600"/>
              </a:spcAft>
            </a:pPr>
            <a:r>
              <a:rPr lang="en-US" sz="1500" b="1">
                <a:solidFill>
                  <a:srgbClr val="A84A2E"/>
                </a:solidFill>
                <a:latin typeface="Calibri" panose="020F0502020204030204" pitchFamily="34" charset="0"/>
              </a:rPr>
              <a:t>Lewin: three stages</a:t>
            </a:r>
          </a:p>
          <a:p>
            <a:pPr>
              <a:spcAft>
                <a:spcPts val="400"/>
              </a:spcAft>
            </a:pPr>
            <a:r>
              <a:rPr lang="en-US" sz="1300" b="1">
                <a:solidFill>
                  <a:srgbClr val="14213D"/>
                </a:solidFill>
                <a:latin typeface="Calibri" panose="020F0502020204030204" pitchFamily="34" charset="0"/>
              </a:rPr>
              <a:t>Unfreeze:</a:t>
            </a:r>
            <a:r>
              <a:rPr lang="en-US" sz="1300">
                <a:solidFill>
                  <a:srgbClr val="1F2937"/>
                </a:solidFill>
                <a:latin typeface="Calibri" panose="020F0502020204030204" pitchFamily="34" charset="0"/>
              </a:rPr>
              <a:t> show why the current way must change.</a:t>
            </a:r>
          </a:p>
          <a:p>
            <a:pPr>
              <a:spcAft>
                <a:spcPts val="400"/>
              </a:spcAft>
            </a:pPr>
            <a:r>
              <a:rPr lang="en-US" sz="1300" b="1">
                <a:solidFill>
                  <a:srgbClr val="14213D"/>
                </a:solidFill>
                <a:latin typeface="Calibri" panose="020F0502020204030204" pitchFamily="34" charset="0"/>
              </a:rPr>
              <a:t>Change:</a:t>
            </a:r>
            <a:r>
              <a:rPr lang="en-US" sz="1300">
                <a:solidFill>
                  <a:srgbClr val="1F2937"/>
                </a:solidFill>
                <a:latin typeface="Calibri" panose="020F0502020204030204" pitchFamily="34" charset="0"/>
              </a:rPr>
              <a:t> move to the new way, with support and training.</a:t>
            </a:r>
          </a:p>
          <a:p>
            <a:pPr>
              <a:spcAft>
                <a:spcPts val="400"/>
              </a:spcAft>
            </a:pPr>
            <a:r>
              <a:rPr lang="en-US" sz="1300" b="1">
                <a:solidFill>
                  <a:srgbClr val="14213D"/>
                </a:solidFill>
                <a:latin typeface="Calibri" panose="020F0502020204030204" pitchFamily="34" charset="0"/>
              </a:rPr>
              <a:t>Refreeze:</a:t>
            </a:r>
            <a:r>
              <a:rPr lang="en-US" sz="1300">
                <a:solidFill>
                  <a:srgbClr val="1F2937"/>
                </a:solidFill>
                <a:latin typeface="Calibri" panose="020F0502020204030204" pitchFamily="34" charset="0"/>
              </a:rPr>
              <a:t> lock it in with new processes, measures, and rewards.</a:t>
            </a:r>
          </a:p>
        </p:txBody>
      </p:sp>
      <p:sp>
        <p:nvSpPr>
          <p:cNvPr id="6" name="Rectangle: Rounded Corners 5">
            <a:extLst>
              <a:ext uri="{FF2B5EF4-FFF2-40B4-BE49-F238E27FC236}">
                <a16:creationId xmlns:a16="http://schemas.microsoft.com/office/drawing/2014/main" id="{D98D5593-4581-1860-B113-59C1922EB5EF}"/>
              </a:ext>
            </a:extLst>
          </p:cNvPr>
          <p:cNvSpPr/>
          <p:nvPr/>
        </p:nvSpPr>
        <p:spPr>
          <a:xfrm>
            <a:off x="4292600" y="1320800"/>
            <a:ext cx="3606800" cy="29210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D0AA06D-2ADA-EF17-7F27-5F4EA79402EA}"/>
              </a:ext>
            </a:extLst>
          </p:cNvPr>
          <p:cNvSpPr txBox="1"/>
          <p:nvPr/>
        </p:nvSpPr>
        <p:spPr>
          <a:xfrm>
            <a:off x="4470400" y="1498600"/>
            <a:ext cx="3251200" cy="2565400"/>
          </a:xfrm>
          <a:prstGeom prst="rect">
            <a:avLst/>
          </a:prstGeom>
          <a:noFill/>
        </p:spPr>
        <p:txBody>
          <a:bodyPr vert="horz" wrap="square" lIns="0" tIns="0" rIns="0" bIns="0" rtlCol="0" anchor="t">
            <a:noAutofit/>
          </a:bodyPr>
          <a:lstStyle/>
          <a:p>
            <a:pPr>
              <a:spcAft>
                <a:spcPts val="600"/>
              </a:spcAft>
            </a:pPr>
            <a:r>
              <a:rPr lang="en-US" sz="1500" b="1">
                <a:solidFill>
                  <a:srgbClr val="A84A2E"/>
                </a:solidFill>
                <a:latin typeface="Calibri" panose="020F0502020204030204" pitchFamily="34" charset="0"/>
              </a:rPr>
              <a:t>Kotter: leading change</a:t>
            </a:r>
          </a:p>
          <a:p>
            <a:pPr>
              <a:spcAft>
                <a:spcPts val="400"/>
              </a:spcAft>
            </a:pPr>
            <a:r>
              <a:rPr lang="en-US" sz="1300">
                <a:solidFill>
                  <a:srgbClr val="1F2937"/>
                </a:solidFill>
                <a:latin typeface="Calibri" panose="020F0502020204030204" pitchFamily="34" charset="0"/>
              </a:rPr>
              <a:t>Eight steps in three phases:</a:t>
            </a:r>
          </a:p>
          <a:p>
            <a:pPr marL="177800" indent="-177800">
              <a:spcAft>
                <a:spcPts val="400"/>
              </a:spcAft>
              <a:buClr>
                <a:srgbClr val="A84A2E"/>
              </a:buClr>
              <a:buFont typeface="+mj-lt"/>
              <a:buChar char="•"/>
            </a:pPr>
            <a:r>
              <a:rPr lang="en-US" sz="1300">
                <a:solidFill>
                  <a:srgbClr val="1F2937"/>
                </a:solidFill>
                <a:latin typeface="Calibri" panose="020F0502020204030204" pitchFamily="34" charset="0"/>
              </a:rPr>
              <a:t>Create the climate for change</a:t>
            </a:r>
          </a:p>
          <a:p>
            <a:pPr marL="177800" indent="-177800">
              <a:spcAft>
                <a:spcPts val="400"/>
              </a:spcAft>
              <a:buClr>
                <a:srgbClr val="A84A2E"/>
              </a:buClr>
              <a:buFont typeface="+mj-lt"/>
              <a:buChar char="•"/>
            </a:pPr>
            <a:r>
              <a:rPr lang="en-US" sz="1300">
                <a:solidFill>
                  <a:srgbClr val="1F2937"/>
                </a:solidFill>
                <a:latin typeface="Calibri" panose="020F0502020204030204" pitchFamily="34" charset="0"/>
              </a:rPr>
              <a:t>Engage and enable the organization</a:t>
            </a:r>
          </a:p>
          <a:p>
            <a:pPr marL="177800" indent="-177800">
              <a:spcAft>
                <a:spcPts val="400"/>
              </a:spcAft>
              <a:buClr>
                <a:srgbClr val="A84A2E"/>
              </a:buClr>
              <a:buFont typeface="+mj-lt"/>
              <a:buChar char="•"/>
            </a:pPr>
            <a:r>
              <a:rPr lang="en-US" sz="1300">
                <a:solidFill>
                  <a:srgbClr val="1F2937"/>
                </a:solidFill>
                <a:latin typeface="Calibri" panose="020F0502020204030204" pitchFamily="34" charset="0"/>
              </a:rPr>
              <a:t>Implement and sustain the change</a:t>
            </a:r>
          </a:p>
          <a:p>
            <a:pPr>
              <a:spcAft>
                <a:spcPts val="400"/>
              </a:spcAft>
            </a:pPr>
            <a:r>
              <a:rPr lang="en-US" sz="1300" i="1">
                <a:solidFill>
                  <a:srgbClr val="5B6475"/>
                </a:solidFill>
                <a:latin typeface="Calibri" panose="020F0502020204030204" pitchFamily="34" charset="0"/>
              </a:rPr>
              <a:t>See the Kotter slide for each step.</a:t>
            </a:r>
          </a:p>
        </p:txBody>
      </p:sp>
      <p:sp>
        <p:nvSpPr>
          <p:cNvPr id="8" name="Rectangle: Rounded Corners 7">
            <a:extLst>
              <a:ext uri="{FF2B5EF4-FFF2-40B4-BE49-F238E27FC236}">
                <a16:creationId xmlns:a16="http://schemas.microsoft.com/office/drawing/2014/main" id="{61C35573-F1AF-A70B-8374-951C3845FB80}"/>
              </a:ext>
            </a:extLst>
          </p:cNvPr>
          <p:cNvSpPr/>
          <p:nvPr/>
        </p:nvSpPr>
        <p:spPr>
          <a:xfrm>
            <a:off x="8077200" y="1320800"/>
            <a:ext cx="3606800" cy="29210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64C817C-B178-2E78-EE8B-5FA81A88BC00}"/>
              </a:ext>
            </a:extLst>
          </p:cNvPr>
          <p:cNvSpPr txBox="1"/>
          <p:nvPr/>
        </p:nvSpPr>
        <p:spPr>
          <a:xfrm>
            <a:off x="8255000" y="1498600"/>
            <a:ext cx="3251200" cy="2565400"/>
          </a:xfrm>
          <a:prstGeom prst="rect">
            <a:avLst/>
          </a:prstGeom>
          <a:noFill/>
        </p:spPr>
        <p:txBody>
          <a:bodyPr vert="horz" wrap="square" lIns="0" tIns="0" rIns="0" bIns="0" rtlCol="0" anchor="t">
            <a:noAutofit/>
          </a:bodyPr>
          <a:lstStyle/>
          <a:p>
            <a:pPr>
              <a:spcAft>
                <a:spcPts val="600"/>
              </a:spcAft>
            </a:pPr>
            <a:r>
              <a:rPr lang="en-US" sz="1500" b="1">
                <a:solidFill>
                  <a:srgbClr val="A84A2E"/>
                </a:solidFill>
                <a:latin typeface="Calibri" panose="020F0502020204030204" pitchFamily="34" charset="0"/>
              </a:rPr>
              <a:t>ADKAR: change for each person</a:t>
            </a:r>
          </a:p>
          <a:p>
            <a:pPr>
              <a:spcAft>
                <a:spcPts val="600"/>
              </a:spcAft>
            </a:pPr>
            <a:r>
              <a:rPr lang="en-US" sz="1600" b="1">
                <a:solidFill>
                  <a:srgbClr val="A84A2E"/>
                </a:solidFill>
                <a:latin typeface="Calibri" panose="020F0502020204030204" pitchFamily="34" charset="0"/>
              </a:rPr>
              <a:t>A</a:t>
            </a:r>
            <a:r>
              <a:rPr lang="en-US" sz="1300">
                <a:solidFill>
                  <a:srgbClr val="1F2937"/>
                </a:solidFill>
                <a:latin typeface="Calibri" panose="020F0502020204030204" pitchFamily="34" charset="0"/>
              </a:rPr>
              <a:t>wareness of the need</a:t>
            </a:r>
          </a:p>
          <a:p>
            <a:pPr>
              <a:spcAft>
                <a:spcPts val="600"/>
              </a:spcAft>
            </a:pPr>
            <a:r>
              <a:rPr lang="en-US" sz="1600" b="1">
                <a:solidFill>
                  <a:srgbClr val="A84A2E"/>
                </a:solidFill>
                <a:latin typeface="Calibri" panose="020F0502020204030204" pitchFamily="34" charset="0"/>
              </a:rPr>
              <a:t>D</a:t>
            </a:r>
            <a:r>
              <a:rPr lang="en-US" sz="1300">
                <a:solidFill>
                  <a:srgbClr val="1F2937"/>
                </a:solidFill>
                <a:latin typeface="Calibri" panose="020F0502020204030204" pitchFamily="34" charset="0"/>
              </a:rPr>
              <a:t>esire to take part</a:t>
            </a:r>
          </a:p>
          <a:p>
            <a:pPr>
              <a:spcAft>
                <a:spcPts val="600"/>
              </a:spcAft>
            </a:pPr>
            <a:r>
              <a:rPr lang="en-US" sz="1600" b="1">
                <a:solidFill>
                  <a:srgbClr val="A84A2E"/>
                </a:solidFill>
                <a:latin typeface="Calibri" panose="020F0502020204030204" pitchFamily="34" charset="0"/>
              </a:rPr>
              <a:t>K</a:t>
            </a:r>
            <a:r>
              <a:rPr lang="en-US" sz="1300">
                <a:solidFill>
                  <a:srgbClr val="1F2937"/>
                </a:solidFill>
                <a:latin typeface="Calibri" panose="020F0502020204030204" pitchFamily="34" charset="0"/>
              </a:rPr>
              <a:t>nowledge of how to change</a:t>
            </a:r>
          </a:p>
          <a:p>
            <a:pPr>
              <a:spcAft>
                <a:spcPts val="600"/>
              </a:spcAft>
            </a:pPr>
            <a:r>
              <a:rPr lang="en-US" sz="1600" b="1">
                <a:solidFill>
                  <a:srgbClr val="A84A2E"/>
                </a:solidFill>
                <a:latin typeface="Calibri" panose="020F0502020204030204" pitchFamily="34" charset="0"/>
              </a:rPr>
              <a:t>A</a:t>
            </a:r>
            <a:r>
              <a:rPr lang="en-US" sz="1300">
                <a:solidFill>
                  <a:srgbClr val="1F2937"/>
                </a:solidFill>
                <a:latin typeface="Calibri" panose="020F0502020204030204" pitchFamily="34" charset="0"/>
              </a:rPr>
              <a:t>bility to do it</a:t>
            </a:r>
          </a:p>
          <a:p>
            <a:pPr>
              <a:spcAft>
                <a:spcPts val="600"/>
              </a:spcAft>
            </a:pPr>
            <a:r>
              <a:rPr lang="en-US" sz="1600" b="1">
                <a:solidFill>
                  <a:srgbClr val="A84A2E"/>
                </a:solidFill>
                <a:latin typeface="Calibri" panose="020F0502020204030204" pitchFamily="34" charset="0"/>
              </a:rPr>
              <a:t>R</a:t>
            </a:r>
            <a:r>
              <a:rPr lang="en-US" sz="1300">
                <a:solidFill>
                  <a:srgbClr val="1F2937"/>
                </a:solidFill>
                <a:latin typeface="Calibri" panose="020F0502020204030204" pitchFamily="34" charset="0"/>
              </a:rPr>
              <a:t>einforcement to sustain it (next slide)</a:t>
            </a:r>
          </a:p>
        </p:txBody>
      </p:sp>
      <p:sp>
        <p:nvSpPr>
          <p:cNvPr id="10" name="Rectangle: Rounded Corners 9">
            <a:extLst>
              <a:ext uri="{FF2B5EF4-FFF2-40B4-BE49-F238E27FC236}">
                <a16:creationId xmlns:a16="http://schemas.microsoft.com/office/drawing/2014/main" id="{B50CF146-6AA2-1AF2-5011-AC3B55A4EF66}"/>
              </a:ext>
            </a:extLst>
          </p:cNvPr>
          <p:cNvSpPr/>
          <p:nvPr/>
        </p:nvSpPr>
        <p:spPr>
          <a:xfrm>
            <a:off x="508000" y="4368800"/>
            <a:ext cx="11176000" cy="9906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2C623D7-231B-FDB8-6D4F-EE0BF6F292B4}"/>
              </a:ext>
            </a:extLst>
          </p:cNvPr>
          <p:cNvSpPr txBox="1"/>
          <p:nvPr/>
        </p:nvSpPr>
        <p:spPr>
          <a:xfrm>
            <a:off x="660400" y="4521200"/>
            <a:ext cx="10871200" cy="685800"/>
          </a:xfrm>
          <a:prstGeom prst="rect">
            <a:avLst/>
          </a:prstGeom>
          <a:noFill/>
        </p:spPr>
        <p:txBody>
          <a:bodyPr vert="horz" wrap="square" lIns="0" tIns="0" rIns="0" bIns="0" rtlCol="0" anchor="t">
            <a:noAutofit/>
          </a:bodyPr>
          <a:lstStyle/>
          <a:p>
            <a:pPr>
              <a:spcAft>
                <a:spcPts val="600"/>
              </a:spcAft>
            </a:pPr>
            <a:r>
              <a:rPr lang="en-US" sz="1400" b="1">
                <a:solidFill>
                  <a:srgbClr val="A86F0E"/>
                </a:solidFill>
                <a:latin typeface="Calibri" panose="020F0502020204030204" pitchFamily="34" charset="0"/>
              </a:rPr>
              <a:t>Assess the culture first</a:t>
            </a:r>
          </a:p>
          <a:p>
            <a:r>
              <a:rPr lang="en-US" sz="1300">
                <a:solidFill>
                  <a:srgbClr val="1F2937"/>
                </a:solidFill>
                <a:latin typeface="Calibri" panose="020F0502020204030204" pitchFamily="34" charset="0"/>
              </a:rPr>
              <a:t>Look at decision style, risk appetite, power distance, and readiness for change. Then evaluate how the change affects the project, and tailor the approach.</a:t>
            </a:r>
          </a:p>
        </p:txBody>
      </p:sp>
      <p:sp>
        <p:nvSpPr>
          <p:cNvPr id="12" name="Rectangle: Rounded Corners 11">
            <a:extLst>
              <a:ext uri="{FF2B5EF4-FFF2-40B4-BE49-F238E27FC236}">
                <a16:creationId xmlns:a16="http://schemas.microsoft.com/office/drawing/2014/main" id="{9999FFAB-8B98-4426-641F-EAB94C7A10FA}"/>
              </a:ext>
            </a:extLst>
          </p:cNvPr>
          <p:cNvSpPr/>
          <p:nvPr/>
        </p:nvSpPr>
        <p:spPr>
          <a:xfrm>
            <a:off x="508000" y="5486400"/>
            <a:ext cx="11176000" cy="838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00B3516-62E5-4D49-09F1-9CE27041FA25}"/>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people adopt change one person at a time. Build awareness and desire before training, and reinforce after go-live so people don’t slip back.</a:t>
            </a:r>
          </a:p>
        </p:txBody>
      </p:sp>
      <p:sp>
        <p:nvSpPr>
          <p:cNvPr id="14" name="Footer">
            <a:extLst>
              <a:ext uri="{FF2B5EF4-FFF2-40B4-BE49-F238E27FC236}">
                <a16:creationId xmlns:a16="http://schemas.microsoft.com/office/drawing/2014/main" id="{F7D149B6-E931-3863-21F1-7170287B4C41}"/>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Kurt Lewin (1947); John P. Kotter, Leading Change (1996); Jeff Hiatt, ADKAR (Prosci, 2006); PMI, Managing Change in Organizations (2013)</a:t>
            </a:r>
          </a:p>
        </p:txBody>
      </p:sp>
      <p:sp>
        <p:nvSpPr>
          <p:cNvPr id="15" name="SlideNum">
            <a:extLst>
              <a:ext uri="{FF2B5EF4-FFF2-40B4-BE49-F238E27FC236}">
                <a16:creationId xmlns:a16="http://schemas.microsoft.com/office/drawing/2014/main" id="{35F09D51-F343-1425-4EB5-99C16CC62CD6}"/>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81</a:t>
            </a:r>
          </a:p>
        </p:txBody>
      </p:sp>
      <p:sp>
        <p:nvSpPr>
          <p:cNvPr id="16"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72024002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2F3DFD4-D9C5-6CC2-77EA-895F49CC322B}"/>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ADKAR: change happens one person at a time</a:t>
            </a:r>
          </a:p>
        </p:txBody>
      </p:sp>
      <p:sp>
        <p:nvSpPr>
          <p:cNvPr id="3" name="Tag">
            <a:extLst>
              <a:ext uri="{FF2B5EF4-FFF2-40B4-BE49-F238E27FC236}">
                <a16:creationId xmlns:a16="http://schemas.microsoft.com/office/drawing/2014/main" id="{C6A3247A-89D3-D918-5007-2306224E1A11}"/>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A84A2E"/>
                </a:solidFill>
                <a:latin typeface="Calibri" panose="020F0502020204030204" pitchFamily="34" charset="0"/>
              </a:rPr>
              <a:t>Business Environment deep dive · Supports Task 7 (Support organizational change)</a:t>
            </a:r>
          </a:p>
        </p:txBody>
      </p:sp>
      <p:sp>
        <p:nvSpPr>
          <p:cNvPr id="4" name="Rectangle 3">
            <a:extLst>
              <a:ext uri="{FF2B5EF4-FFF2-40B4-BE49-F238E27FC236}">
                <a16:creationId xmlns:a16="http://schemas.microsoft.com/office/drawing/2014/main" id="{2552BE45-5B93-6394-F502-E0ACD9723017}"/>
              </a:ext>
            </a:extLst>
          </p:cNvPr>
          <p:cNvSpPr/>
          <p:nvPr/>
        </p:nvSpPr>
        <p:spPr>
          <a:xfrm>
            <a:off x="508000" y="1320800"/>
            <a:ext cx="2133600" cy="711200"/>
          </a:xfrm>
          <a:prstGeom prst="rect">
            <a:avLst/>
          </a:prstGeom>
          <a:solidFill>
            <a:srgbClr val="1F346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2200" b="1">
                <a:solidFill>
                  <a:srgbClr val="FFFFFF"/>
                </a:solidFill>
                <a:latin typeface="Calibri" panose="020F0502020204030204" pitchFamily="34" charset="0"/>
              </a:rPr>
              <a:t>A</a:t>
            </a:r>
          </a:p>
          <a:p>
            <a:pPr algn="ctr"/>
            <a:r>
              <a:rPr lang="en-US" sz="1200" b="1">
                <a:solidFill>
                  <a:srgbClr val="FFFFFF"/>
                </a:solidFill>
                <a:latin typeface="Calibri" panose="020F0502020204030204" pitchFamily="34" charset="0"/>
              </a:rPr>
              <a:t>Awareness</a:t>
            </a:r>
          </a:p>
        </p:txBody>
      </p:sp>
      <p:sp>
        <p:nvSpPr>
          <p:cNvPr id="5" name="Rectangle 4">
            <a:extLst>
              <a:ext uri="{FF2B5EF4-FFF2-40B4-BE49-F238E27FC236}">
                <a16:creationId xmlns:a16="http://schemas.microsoft.com/office/drawing/2014/main" id="{9F66A729-4BBF-017F-C26C-FCAF6DC0F634}"/>
              </a:ext>
            </a:extLst>
          </p:cNvPr>
          <p:cNvSpPr/>
          <p:nvPr/>
        </p:nvSpPr>
        <p:spPr>
          <a:xfrm>
            <a:off x="508000" y="2032000"/>
            <a:ext cx="2133600" cy="2133600"/>
          </a:xfrm>
          <a:prstGeom prst="rect">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7E5FC6D-8BD0-803A-A7EC-BC7BDBD90D41}"/>
              </a:ext>
            </a:extLst>
          </p:cNvPr>
          <p:cNvSpPr txBox="1"/>
          <p:nvPr/>
        </p:nvSpPr>
        <p:spPr>
          <a:xfrm>
            <a:off x="609600" y="2108200"/>
            <a:ext cx="1930400" cy="2032000"/>
          </a:xfrm>
          <a:prstGeom prst="rect">
            <a:avLst/>
          </a:prstGeom>
          <a:noFill/>
        </p:spPr>
        <p:txBody>
          <a:bodyPr vert="horz" wrap="square" lIns="0" tIns="0" rIns="0" bIns="0" rtlCol="0" anchor="t">
            <a:noAutofit/>
          </a:bodyPr>
          <a:lstStyle/>
          <a:p>
            <a:r>
              <a:rPr lang="en-US" sz="1000" b="1">
                <a:solidFill>
                  <a:srgbClr val="1F3466"/>
                </a:solidFill>
                <a:latin typeface="Calibri" panose="020F0502020204030204" pitchFamily="34" charset="0"/>
              </a:rPr>
              <a:t>Goal</a:t>
            </a:r>
          </a:p>
          <a:p>
            <a:pPr>
              <a:spcAft>
                <a:spcPts val="600"/>
              </a:spcAft>
            </a:pPr>
            <a:r>
              <a:rPr lang="en-US" sz="1100">
                <a:solidFill>
                  <a:srgbClr val="1F2937"/>
                </a:solidFill>
                <a:latin typeface="Calibri" panose="020F0502020204030204" pitchFamily="34" charset="0"/>
              </a:rPr>
              <a:t>Understands why the change is needed</a:t>
            </a:r>
          </a:p>
          <a:p>
            <a:r>
              <a:rPr lang="en-US" sz="1000" b="1">
                <a:solidFill>
                  <a:srgbClr val="1F3466"/>
                </a:solidFill>
                <a:latin typeface="Calibri" panose="020F0502020204030204" pitchFamily="34" charset="0"/>
              </a:rPr>
              <a:t>Build it with</a:t>
            </a:r>
          </a:p>
          <a:p>
            <a:pPr>
              <a:spcAft>
                <a:spcPts val="600"/>
              </a:spcAft>
            </a:pPr>
            <a:r>
              <a:rPr lang="en-US" sz="1100">
                <a:solidFill>
                  <a:srgbClr val="1F2937"/>
                </a:solidFill>
                <a:latin typeface="Calibri" panose="020F0502020204030204" pitchFamily="34" charset="0"/>
              </a:rPr>
              <a:t>Sponsor messages on the business reason and the risk of not changing</a:t>
            </a:r>
          </a:p>
          <a:p>
            <a:r>
              <a:rPr lang="en-US" sz="1000" b="1">
                <a:solidFill>
                  <a:srgbClr val="1F3466"/>
                </a:solidFill>
                <a:latin typeface="Calibri" panose="020F0502020204030204" pitchFamily="34" charset="0"/>
              </a:rPr>
              <a:t>If it’s missing</a:t>
            </a:r>
          </a:p>
          <a:p>
            <a:r>
              <a:rPr lang="en-US" sz="1100" i="1">
                <a:solidFill>
                  <a:srgbClr val="1F2937"/>
                </a:solidFill>
                <a:latin typeface="Calibri" panose="020F0502020204030204" pitchFamily="34" charset="0"/>
              </a:rPr>
              <a:t>‘Why are we doing this?’</a:t>
            </a:r>
          </a:p>
        </p:txBody>
      </p:sp>
      <p:sp>
        <p:nvSpPr>
          <p:cNvPr id="7" name="Rectangle 6">
            <a:extLst>
              <a:ext uri="{FF2B5EF4-FFF2-40B4-BE49-F238E27FC236}">
                <a16:creationId xmlns:a16="http://schemas.microsoft.com/office/drawing/2014/main" id="{8C3DE9C1-EB45-D280-5F48-05BEF7587AA4}"/>
              </a:ext>
            </a:extLst>
          </p:cNvPr>
          <p:cNvSpPr/>
          <p:nvPr/>
        </p:nvSpPr>
        <p:spPr>
          <a:xfrm>
            <a:off x="2768600" y="1320800"/>
            <a:ext cx="2133600" cy="71120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2200" b="1">
                <a:solidFill>
                  <a:srgbClr val="FFFFFF"/>
                </a:solidFill>
                <a:latin typeface="Calibri" panose="020F0502020204030204" pitchFamily="34" charset="0"/>
              </a:rPr>
              <a:t>D</a:t>
            </a:r>
          </a:p>
          <a:p>
            <a:pPr algn="ctr"/>
            <a:r>
              <a:rPr lang="en-US" sz="1200" b="1">
                <a:solidFill>
                  <a:srgbClr val="FFFFFF"/>
                </a:solidFill>
                <a:latin typeface="Calibri" panose="020F0502020204030204" pitchFamily="34" charset="0"/>
              </a:rPr>
              <a:t>Desire</a:t>
            </a:r>
          </a:p>
        </p:txBody>
      </p:sp>
      <p:sp>
        <p:nvSpPr>
          <p:cNvPr id="8" name="Rectangle 7">
            <a:extLst>
              <a:ext uri="{FF2B5EF4-FFF2-40B4-BE49-F238E27FC236}">
                <a16:creationId xmlns:a16="http://schemas.microsoft.com/office/drawing/2014/main" id="{12DDA343-062D-3C61-A8C8-6D9D2E4796F0}"/>
              </a:ext>
            </a:extLst>
          </p:cNvPr>
          <p:cNvSpPr/>
          <p:nvPr/>
        </p:nvSpPr>
        <p:spPr>
          <a:xfrm>
            <a:off x="2768600" y="2032000"/>
            <a:ext cx="2133600" cy="2133600"/>
          </a:xfrm>
          <a:prstGeom prst="rect">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41E3211-4EFE-7304-AAFB-D60DE72E18D8}"/>
              </a:ext>
            </a:extLst>
          </p:cNvPr>
          <p:cNvSpPr txBox="1"/>
          <p:nvPr/>
        </p:nvSpPr>
        <p:spPr>
          <a:xfrm>
            <a:off x="2870200" y="2108200"/>
            <a:ext cx="1930400" cy="2032000"/>
          </a:xfrm>
          <a:prstGeom prst="rect">
            <a:avLst/>
          </a:prstGeom>
          <a:noFill/>
        </p:spPr>
        <p:txBody>
          <a:bodyPr vert="horz" wrap="square" lIns="0" tIns="0" rIns="0" bIns="0" rtlCol="0" anchor="t">
            <a:noAutofit/>
          </a:bodyPr>
          <a:lstStyle/>
          <a:p>
            <a:r>
              <a:rPr lang="en-US" sz="1000" b="1">
                <a:solidFill>
                  <a:srgbClr val="34509A"/>
                </a:solidFill>
                <a:latin typeface="Calibri" panose="020F0502020204030204" pitchFamily="34" charset="0"/>
              </a:rPr>
              <a:t>Goal</a:t>
            </a:r>
          </a:p>
          <a:p>
            <a:pPr>
              <a:spcAft>
                <a:spcPts val="600"/>
              </a:spcAft>
            </a:pPr>
            <a:r>
              <a:rPr lang="en-US" sz="1100">
                <a:solidFill>
                  <a:srgbClr val="1F2937"/>
                </a:solidFill>
                <a:latin typeface="Calibri" panose="020F0502020204030204" pitchFamily="34" charset="0"/>
              </a:rPr>
              <a:t>Chooses to support and take part</a:t>
            </a:r>
          </a:p>
          <a:p>
            <a:r>
              <a:rPr lang="en-US" sz="1000" b="1">
                <a:solidFill>
                  <a:srgbClr val="34509A"/>
                </a:solidFill>
                <a:latin typeface="Calibri" panose="020F0502020204030204" pitchFamily="34" charset="0"/>
              </a:rPr>
              <a:t>Build it with</a:t>
            </a:r>
          </a:p>
          <a:p>
            <a:pPr>
              <a:spcAft>
                <a:spcPts val="600"/>
              </a:spcAft>
            </a:pPr>
            <a:r>
              <a:rPr lang="en-US" sz="1100">
                <a:solidFill>
                  <a:srgbClr val="1F2937"/>
                </a:solidFill>
                <a:latin typeface="Calibri" panose="020F0502020204030204" pitchFamily="34" charset="0"/>
              </a:rPr>
              <a:t>Sponsorship, manager coaching, answering ‘what’s in it for me?’, handling resistance</a:t>
            </a:r>
          </a:p>
          <a:p>
            <a:r>
              <a:rPr lang="en-US" sz="1000" b="1">
                <a:solidFill>
                  <a:srgbClr val="34509A"/>
                </a:solidFill>
                <a:latin typeface="Calibri" panose="020F0502020204030204" pitchFamily="34" charset="0"/>
              </a:rPr>
              <a:t>If it’s missing</a:t>
            </a:r>
          </a:p>
          <a:p>
            <a:r>
              <a:rPr lang="en-US" sz="1100" i="1">
                <a:solidFill>
                  <a:srgbClr val="1F2937"/>
                </a:solidFill>
                <a:latin typeface="Calibri" panose="020F0502020204030204" pitchFamily="34" charset="0"/>
              </a:rPr>
              <a:t>Resistance or quiet non-adoption</a:t>
            </a:r>
          </a:p>
        </p:txBody>
      </p:sp>
      <p:sp>
        <p:nvSpPr>
          <p:cNvPr id="10" name="Rectangle 9">
            <a:extLst>
              <a:ext uri="{FF2B5EF4-FFF2-40B4-BE49-F238E27FC236}">
                <a16:creationId xmlns:a16="http://schemas.microsoft.com/office/drawing/2014/main" id="{B50FC2F7-5DCB-5330-7976-1C6D763F3566}"/>
              </a:ext>
            </a:extLst>
          </p:cNvPr>
          <p:cNvSpPr/>
          <p:nvPr/>
        </p:nvSpPr>
        <p:spPr>
          <a:xfrm>
            <a:off x="5029200" y="1320800"/>
            <a:ext cx="2133600" cy="711200"/>
          </a:xfrm>
          <a:prstGeom prst="rect">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2200" b="1">
                <a:solidFill>
                  <a:srgbClr val="FFFFFF"/>
                </a:solidFill>
                <a:latin typeface="Calibri" panose="020F0502020204030204" pitchFamily="34" charset="0"/>
              </a:rPr>
              <a:t>K</a:t>
            </a:r>
          </a:p>
          <a:p>
            <a:pPr algn="ctr"/>
            <a:r>
              <a:rPr lang="en-US" sz="1200" b="1">
                <a:solidFill>
                  <a:srgbClr val="FFFFFF"/>
                </a:solidFill>
                <a:latin typeface="Calibri" panose="020F0502020204030204" pitchFamily="34" charset="0"/>
              </a:rPr>
              <a:t>Knowledge</a:t>
            </a:r>
          </a:p>
        </p:txBody>
      </p:sp>
      <p:sp>
        <p:nvSpPr>
          <p:cNvPr id="11" name="Rectangle 10">
            <a:extLst>
              <a:ext uri="{FF2B5EF4-FFF2-40B4-BE49-F238E27FC236}">
                <a16:creationId xmlns:a16="http://schemas.microsoft.com/office/drawing/2014/main" id="{C1ECDF42-52F7-78F7-55B5-49DA56DBFACD}"/>
              </a:ext>
            </a:extLst>
          </p:cNvPr>
          <p:cNvSpPr/>
          <p:nvPr/>
        </p:nvSpPr>
        <p:spPr>
          <a:xfrm>
            <a:off x="5029200" y="2032000"/>
            <a:ext cx="2133600" cy="2133600"/>
          </a:xfrm>
          <a:prstGeom prst="rect">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D5EF351-5015-8D98-169B-676D86A57770}"/>
              </a:ext>
            </a:extLst>
          </p:cNvPr>
          <p:cNvSpPr txBox="1"/>
          <p:nvPr/>
        </p:nvSpPr>
        <p:spPr>
          <a:xfrm>
            <a:off x="5130800" y="2108200"/>
            <a:ext cx="1930400" cy="2032000"/>
          </a:xfrm>
          <a:prstGeom prst="rect">
            <a:avLst/>
          </a:prstGeom>
          <a:noFill/>
        </p:spPr>
        <p:txBody>
          <a:bodyPr vert="horz" wrap="square" lIns="0" tIns="0" rIns="0" bIns="0" rtlCol="0" anchor="t">
            <a:noAutofit/>
          </a:bodyPr>
          <a:lstStyle/>
          <a:p>
            <a:r>
              <a:rPr lang="en-US" sz="1000" b="1">
                <a:solidFill>
                  <a:srgbClr val="0F7C80"/>
                </a:solidFill>
                <a:latin typeface="Calibri" panose="020F0502020204030204" pitchFamily="34" charset="0"/>
              </a:rPr>
              <a:t>Goal</a:t>
            </a:r>
          </a:p>
          <a:p>
            <a:pPr>
              <a:spcAft>
                <a:spcPts val="600"/>
              </a:spcAft>
            </a:pPr>
            <a:r>
              <a:rPr lang="en-US" sz="1100">
                <a:solidFill>
                  <a:srgbClr val="1F2937"/>
                </a:solidFill>
                <a:latin typeface="Calibri" panose="020F0502020204030204" pitchFamily="34" charset="0"/>
              </a:rPr>
              <a:t>Knows how to change</a:t>
            </a:r>
          </a:p>
          <a:p>
            <a:r>
              <a:rPr lang="en-US" sz="1000" b="1">
                <a:solidFill>
                  <a:srgbClr val="0F7C80"/>
                </a:solidFill>
                <a:latin typeface="Calibri" panose="020F0502020204030204" pitchFamily="34" charset="0"/>
              </a:rPr>
              <a:t>Build it with</a:t>
            </a:r>
          </a:p>
          <a:p>
            <a:pPr>
              <a:spcAft>
                <a:spcPts val="600"/>
              </a:spcAft>
            </a:pPr>
            <a:r>
              <a:rPr lang="en-US" sz="1100">
                <a:solidFill>
                  <a:srgbClr val="1F2937"/>
                </a:solidFill>
                <a:latin typeface="Calibri" panose="020F0502020204030204" pitchFamily="34" charset="0"/>
              </a:rPr>
              <a:t>Training, job aids, coaching, and forums</a:t>
            </a:r>
          </a:p>
          <a:p>
            <a:r>
              <a:rPr lang="en-US" sz="1000" b="1">
                <a:solidFill>
                  <a:srgbClr val="0F7C80"/>
                </a:solidFill>
                <a:latin typeface="Calibri" panose="020F0502020204030204" pitchFamily="34" charset="0"/>
              </a:rPr>
              <a:t>If it’s missing</a:t>
            </a:r>
          </a:p>
          <a:p>
            <a:r>
              <a:rPr lang="en-US" sz="1100" i="1">
                <a:solidFill>
                  <a:srgbClr val="1F2937"/>
                </a:solidFill>
                <a:latin typeface="Calibri" panose="020F0502020204030204" pitchFamily="34" charset="0"/>
              </a:rPr>
              <a:t>‘I want to, but I don’t know how.’</a:t>
            </a:r>
          </a:p>
        </p:txBody>
      </p:sp>
      <p:sp>
        <p:nvSpPr>
          <p:cNvPr id="13" name="Rectangle 12">
            <a:extLst>
              <a:ext uri="{FF2B5EF4-FFF2-40B4-BE49-F238E27FC236}">
                <a16:creationId xmlns:a16="http://schemas.microsoft.com/office/drawing/2014/main" id="{2499062F-851B-F6AE-C15E-09F039AC1311}"/>
              </a:ext>
            </a:extLst>
          </p:cNvPr>
          <p:cNvSpPr/>
          <p:nvPr/>
        </p:nvSpPr>
        <p:spPr>
          <a:xfrm>
            <a:off x="7289800" y="1320800"/>
            <a:ext cx="2133600" cy="711200"/>
          </a:xfrm>
          <a:prstGeom prst="rect">
            <a:avLst/>
          </a:prstGeom>
          <a:solidFill>
            <a:srgbClr val="0B5E6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2200" b="1">
                <a:solidFill>
                  <a:srgbClr val="FFFFFF"/>
                </a:solidFill>
                <a:latin typeface="Calibri" panose="020F0502020204030204" pitchFamily="34" charset="0"/>
              </a:rPr>
              <a:t>A</a:t>
            </a:r>
          </a:p>
          <a:p>
            <a:pPr algn="ctr"/>
            <a:r>
              <a:rPr lang="en-US" sz="1200" b="1">
                <a:solidFill>
                  <a:srgbClr val="FFFFFF"/>
                </a:solidFill>
                <a:latin typeface="Calibri" panose="020F0502020204030204" pitchFamily="34" charset="0"/>
              </a:rPr>
              <a:t>Ability</a:t>
            </a:r>
          </a:p>
        </p:txBody>
      </p:sp>
      <p:sp>
        <p:nvSpPr>
          <p:cNvPr id="14" name="Rectangle 13">
            <a:extLst>
              <a:ext uri="{FF2B5EF4-FFF2-40B4-BE49-F238E27FC236}">
                <a16:creationId xmlns:a16="http://schemas.microsoft.com/office/drawing/2014/main" id="{82F9D0EE-82AE-E208-7348-49CD374ACB31}"/>
              </a:ext>
            </a:extLst>
          </p:cNvPr>
          <p:cNvSpPr/>
          <p:nvPr/>
        </p:nvSpPr>
        <p:spPr>
          <a:xfrm>
            <a:off x="7289800" y="2032000"/>
            <a:ext cx="2133600" cy="2133600"/>
          </a:xfrm>
          <a:prstGeom prst="rect">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897CA51A-998D-3130-F1D6-3FF48D0FF333}"/>
              </a:ext>
            </a:extLst>
          </p:cNvPr>
          <p:cNvSpPr txBox="1"/>
          <p:nvPr/>
        </p:nvSpPr>
        <p:spPr>
          <a:xfrm>
            <a:off x="7391400" y="2108200"/>
            <a:ext cx="1930400" cy="2032000"/>
          </a:xfrm>
          <a:prstGeom prst="rect">
            <a:avLst/>
          </a:prstGeom>
          <a:noFill/>
        </p:spPr>
        <p:txBody>
          <a:bodyPr vert="horz" wrap="square" lIns="0" tIns="0" rIns="0" bIns="0" rtlCol="0" anchor="t">
            <a:noAutofit/>
          </a:bodyPr>
          <a:lstStyle/>
          <a:p>
            <a:r>
              <a:rPr lang="en-US" sz="1000" b="1">
                <a:solidFill>
                  <a:srgbClr val="0B5E61"/>
                </a:solidFill>
                <a:latin typeface="Calibri" panose="020F0502020204030204" pitchFamily="34" charset="0"/>
              </a:rPr>
              <a:t>Goal</a:t>
            </a:r>
          </a:p>
          <a:p>
            <a:pPr>
              <a:spcAft>
                <a:spcPts val="600"/>
              </a:spcAft>
            </a:pPr>
            <a:r>
              <a:rPr lang="en-US" sz="1100">
                <a:solidFill>
                  <a:srgbClr val="1F2937"/>
                </a:solidFill>
                <a:latin typeface="Calibri" panose="020F0502020204030204" pitchFamily="34" charset="0"/>
              </a:rPr>
              <a:t>Can do it in practice</a:t>
            </a:r>
          </a:p>
          <a:p>
            <a:r>
              <a:rPr lang="en-US" sz="1000" b="1">
                <a:solidFill>
                  <a:srgbClr val="0B5E61"/>
                </a:solidFill>
                <a:latin typeface="Calibri" panose="020F0502020204030204" pitchFamily="34" charset="0"/>
              </a:rPr>
              <a:t>Build it with</a:t>
            </a:r>
          </a:p>
          <a:p>
            <a:pPr>
              <a:spcAft>
                <a:spcPts val="600"/>
              </a:spcAft>
            </a:pPr>
            <a:r>
              <a:rPr lang="en-US" sz="1100">
                <a:solidFill>
                  <a:srgbClr val="1F2937"/>
                </a:solidFill>
                <a:latin typeface="Calibri" panose="020F0502020204030204" pitchFamily="34" charset="0"/>
              </a:rPr>
              <a:t>Hands-on practice, coaching, time, and removing barriers</a:t>
            </a:r>
          </a:p>
          <a:p>
            <a:r>
              <a:rPr lang="en-US" sz="1000" b="1">
                <a:solidFill>
                  <a:srgbClr val="0B5E61"/>
                </a:solidFill>
                <a:latin typeface="Calibri" panose="020F0502020204030204" pitchFamily="34" charset="0"/>
              </a:rPr>
              <a:t>If it’s missing</a:t>
            </a:r>
          </a:p>
          <a:p>
            <a:r>
              <a:rPr lang="en-US" sz="1100" i="1">
                <a:solidFill>
                  <a:srgbClr val="1F2937"/>
                </a:solidFill>
                <a:latin typeface="Calibri" panose="020F0502020204030204" pitchFamily="34" charset="0"/>
              </a:rPr>
              <a:t>Errors and slow work after training</a:t>
            </a:r>
          </a:p>
        </p:txBody>
      </p:sp>
      <p:sp>
        <p:nvSpPr>
          <p:cNvPr id="16" name="Rectangle 15">
            <a:extLst>
              <a:ext uri="{FF2B5EF4-FFF2-40B4-BE49-F238E27FC236}">
                <a16:creationId xmlns:a16="http://schemas.microsoft.com/office/drawing/2014/main" id="{F10E8D05-59DF-88B2-A9B2-7FA6A195A0E7}"/>
              </a:ext>
            </a:extLst>
          </p:cNvPr>
          <p:cNvSpPr/>
          <p:nvPr/>
        </p:nvSpPr>
        <p:spPr>
          <a:xfrm>
            <a:off x="9550400" y="1320800"/>
            <a:ext cx="2133600" cy="711200"/>
          </a:xfrm>
          <a:prstGeom prst="rect">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2200" b="1">
                <a:solidFill>
                  <a:srgbClr val="FFFFFF"/>
                </a:solidFill>
                <a:latin typeface="Calibri" panose="020F0502020204030204" pitchFamily="34" charset="0"/>
              </a:rPr>
              <a:t>R</a:t>
            </a:r>
          </a:p>
          <a:p>
            <a:pPr algn="ctr"/>
            <a:r>
              <a:rPr lang="en-US" sz="1200" b="1">
                <a:solidFill>
                  <a:srgbClr val="FFFFFF"/>
                </a:solidFill>
                <a:latin typeface="Calibri" panose="020F0502020204030204" pitchFamily="34" charset="0"/>
              </a:rPr>
              <a:t>Reinforcement</a:t>
            </a:r>
          </a:p>
        </p:txBody>
      </p:sp>
      <p:sp>
        <p:nvSpPr>
          <p:cNvPr id="17" name="Rectangle 16">
            <a:extLst>
              <a:ext uri="{FF2B5EF4-FFF2-40B4-BE49-F238E27FC236}">
                <a16:creationId xmlns:a16="http://schemas.microsoft.com/office/drawing/2014/main" id="{C2584A52-D7FA-04B6-BAC6-5445A7C88331}"/>
              </a:ext>
            </a:extLst>
          </p:cNvPr>
          <p:cNvSpPr/>
          <p:nvPr/>
        </p:nvSpPr>
        <p:spPr>
          <a:xfrm>
            <a:off x="9550400" y="2032000"/>
            <a:ext cx="2133600" cy="2133600"/>
          </a:xfrm>
          <a:prstGeom prst="rect">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AF4FBB1-9C67-0274-D7BE-597613E9AA4B}"/>
              </a:ext>
            </a:extLst>
          </p:cNvPr>
          <p:cNvSpPr txBox="1"/>
          <p:nvPr/>
        </p:nvSpPr>
        <p:spPr>
          <a:xfrm>
            <a:off x="9652000" y="2108200"/>
            <a:ext cx="1930400" cy="2032000"/>
          </a:xfrm>
          <a:prstGeom prst="rect">
            <a:avLst/>
          </a:prstGeom>
          <a:noFill/>
        </p:spPr>
        <p:txBody>
          <a:bodyPr vert="horz" wrap="square" lIns="0" tIns="0" rIns="0" bIns="0" rtlCol="0" anchor="t">
            <a:noAutofit/>
          </a:bodyPr>
          <a:lstStyle/>
          <a:p>
            <a:r>
              <a:rPr lang="en-US" sz="1000" b="1">
                <a:solidFill>
                  <a:srgbClr val="A84A2E"/>
                </a:solidFill>
                <a:latin typeface="Calibri" panose="020F0502020204030204" pitchFamily="34" charset="0"/>
              </a:rPr>
              <a:t>Goal</a:t>
            </a:r>
          </a:p>
          <a:p>
            <a:pPr>
              <a:spcAft>
                <a:spcPts val="600"/>
              </a:spcAft>
            </a:pPr>
            <a:r>
              <a:rPr lang="en-US" sz="1100">
                <a:solidFill>
                  <a:srgbClr val="1F2937"/>
                </a:solidFill>
                <a:latin typeface="Calibri" panose="020F0502020204030204" pitchFamily="34" charset="0"/>
              </a:rPr>
              <a:t>Keeps doing it</a:t>
            </a:r>
          </a:p>
          <a:p>
            <a:r>
              <a:rPr lang="en-US" sz="1000" b="1">
                <a:solidFill>
                  <a:srgbClr val="A84A2E"/>
                </a:solidFill>
                <a:latin typeface="Calibri" panose="020F0502020204030204" pitchFamily="34" charset="0"/>
              </a:rPr>
              <a:t>Build it with</a:t>
            </a:r>
          </a:p>
          <a:p>
            <a:pPr>
              <a:spcAft>
                <a:spcPts val="600"/>
              </a:spcAft>
            </a:pPr>
            <a:r>
              <a:rPr lang="en-US" sz="1100">
                <a:solidFill>
                  <a:srgbClr val="1F2937"/>
                </a:solidFill>
                <a:latin typeface="Calibri" panose="020F0502020204030204" pitchFamily="34" charset="0"/>
              </a:rPr>
              <a:t>Recognition, rewards, measurement, and corrective action</a:t>
            </a:r>
          </a:p>
          <a:p>
            <a:r>
              <a:rPr lang="en-US" sz="1000" b="1">
                <a:solidFill>
                  <a:srgbClr val="A84A2E"/>
                </a:solidFill>
                <a:latin typeface="Calibri" panose="020F0502020204030204" pitchFamily="34" charset="0"/>
              </a:rPr>
              <a:t>If it’s missing</a:t>
            </a:r>
          </a:p>
          <a:p>
            <a:r>
              <a:rPr lang="en-US" sz="1100" i="1">
                <a:solidFill>
                  <a:srgbClr val="1F2937"/>
                </a:solidFill>
                <a:latin typeface="Calibri" panose="020F0502020204030204" pitchFamily="34" charset="0"/>
              </a:rPr>
              <a:t>People slip back to the old way</a:t>
            </a:r>
          </a:p>
        </p:txBody>
      </p:sp>
      <p:sp>
        <p:nvSpPr>
          <p:cNvPr id="23" name="Rectangle: Rounded Corners 22">
            <a:extLst>
              <a:ext uri="{FF2B5EF4-FFF2-40B4-BE49-F238E27FC236}">
                <a16:creationId xmlns:a16="http://schemas.microsoft.com/office/drawing/2014/main" id="{C595FB70-E603-5FD8-D32B-FFD4D143CAC0}"/>
              </a:ext>
            </a:extLst>
          </p:cNvPr>
          <p:cNvSpPr/>
          <p:nvPr/>
        </p:nvSpPr>
        <p:spPr>
          <a:xfrm>
            <a:off x="508000" y="5486400"/>
            <a:ext cx="11176000" cy="838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FFA0493-0DAF-1460-BEED-C7BFD039857B}"/>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if trained people still resist, the barrier is Desire, not Knowledge, so more training won’t help. Build awareness and desire before training, and reinforce after go-live.</a:t>
            </a:r>
          </a:p>
        </p:txBody>
      </p:sp>
      <p:sp>
        <p:nvSpPr>
          <p:cNvPr id="25" name="Footer">
            <a:extLst>
              <a:ext uri="{FF2B5EF4-FFF2-40B4-BE49-F238E27FC236}">
                <a16:creationId xmlns:a16="http://schemas.microsoft.com/office/drawing/2014/main" id="{27E1D5AE-FB8A-69A3-2C84-4C9C55E067CE}"/>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Jeff Hiatt, ADKAR: A Model for Change in Business, Government and Our Community (Prosci, 2006); PMI, PMBOK® Guide — Seventh Edition, Section 4.2.4 (change models)</a:t>
            </a:r>
          </a:p>
        </p:txBody>
      </p:sp>
      <p:sp>
        <p:nvSpPr>
          <p:cNvPr id="26" name="SlideNum">
            <a:extLst>
              <a:ext uri="{FF2B5EF4-FFF2-40B4-BE49-F238E27FC236}">
                <a16:creationId xmlns:a16="http://schemas.microsoft.com/office/drawing/2014/main" id="{3258C450-73AB-E67E-58CD-6E9F41E24B39}"/>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82</a:t>
            </a:r>
          </a:p>
        </p:txBody>
      </p:sp>
      <p:sp>
        <p:nvSpPr>
          <p:cNvPr id="27" name="Rectangle: Rounded Corners 26">
            <a:extLst>
              <a:ext uri="{FF2B5EF4-FFF2-40B4-BE49-F238E27FC236}">
                <a16:creationId xmlns:a16="http://schemas.microsoft.com/office/drawing/2014/main" id="{DDDDE2E8-6E16-6648-FEDC-A9D16BBCA3A1}"/>
              </a:ext>
            </a:extLst>
          </p:cNvPr>
          <p:cNvSpPr/>
          <p:nvPr/>
        </p:nvSpPr>
        <p:spPr>
          <a:xfrm>
            <a:off x="508000" y="4292600"/>
            <a:ext cx="5461000" cy="1092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12245E31-C2DA-970E-A13F-CF103A87CA20}"/>
              </a:ext>
            </a:extLst>
          </p:cNvPr>
          <p:cNvSpPr txBox="1"/>
          <p:nvPr/>
        </p:nvSpPr>
        <p:spPr>
          <a:xfrm>
            <a:off x="660400" y="4445000"/>
            <a:ext cx="5156200" cy="787400"/>
          </a:xfrm>
          <a:prstGeom prst="rect">
            <a:avLst/>
          </a:prstGeom>
          <a:noFill/>
        </p:spPr>
        <p:txBody>
          <a:bodyPr vert="horz" wrap="square" lIns="0" tIns="0" rIns="0" bIns="0" rtlCol="0" anchor="t">
            <a:noAutofit/>
          </a:bodyPr>
          <a:lstStyle/>
          <a:p>
            <a:pPr>
              <a:spcAft>
                <a:spcPts val="600"/>
              </a:spcAft>
            </a:pPr>
            <a:r>
              <a:rPr lang="en-US" sz="1400" b="1">
                <a:solidFill>
                  <a:srgbClr val="A84A2E"/>
                </a:solidFill>
                <a:latin typeface="Calibri" panose="020F0502020204030204" pitchFamily="34" charset="0"/>
              </a:rPr>
              <a:t>Find the barrier point</a:t>
            </a:r>
          </a:p>
          <a:p>
            <a:r>
              <a:rPr lang="en-US" sz="1200">
                <a:solidFill>
                  <a:srgbClr val="1F2937"/>
                </a:solidFill>
                <a:latin typeface="Calibri" panose="020F0502020204030204" pitchFamily="34" charset="0"/>
              </a:rPr>
              <a:t>Score each element 1 to 5, in order. The first low score is the barrier point: fix it before moving on, because later elements depend on it.</a:t>
            </a:r>
          </a:p>
        </p:txBody>
      </p:sp>
      <p:sp>
        <p:nvSpPr>
          <p:cNvPr id="29" name="Rectangle: Rounded Corners 28">
            <a:extLst>
              <a:ext uri="{FF2B5EF4-FFF2-40B4-BE49-F238E27FC236}">
                <a16:creationId xmlns:a16="http://schemas.microsoft.com/office/drawing/2014/main" id="{BF6F08C4-FA69-8A7E-C820-4007DA181739}"/>
              </a:ext>
            </a:extLst>
          </p:cNvPr>
          <p:cNvSpPr/>
          <p:nvPr/>
        </p:nvSpPr>
        <p:spPr>
          <a:xfrm>
            <a:off x="6223000" y="4292600"/>
            <a:ext cx="5461000" cy="1092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E12BCFF9-E642-4B25-B4F8-5B4DF5CD0C7C}"/>
              </a:ext>
            </a:extLst>
          </p:cNvPr>
          <p:cNvSpPr txBox="1"/>
          <p:nvPr/>
        </p:nvSpPr>
        <p:spPr>
          <a:xfrm>
            <a:off x="6375400" y="4445000"/>
            <a:ext cx="5156200" cy="7874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Individual, not organizational</a:t>
            </a:r>
          </a:p>
          <a:p>
            <a:r>
              <a:rPr lang="en-US" sz="1200">
                <a:solidFill>
                  <a:srgbClr val="1F2937"/>
                </a:solidFill>
                <a:latin typeface="Calibri" panose="020F0502020204030204" pitchFamily="34" charset="0"/>
              </a:rPr>
              <a:t>ADKAR tracks each person’s journey through a change; pair it with an organizational model such as Kotter’s eight steps or Lewin.</a:t>
            </a:r>
          </a:p>
        </p:txBody>
      </p:sp>
      <p:sp>
        <p:nvSpPr>
          <p:cNvPr id="31"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2188722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8FFF470-3D81-C6C2-807E-42CCC2E48048}"/>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Kotter’s 8 steps to leading change</a:t>
            </a:r>
          </a:p>
        </p:txBody>
      </p:sp>
      <p:sp>
        <p:nvSpPr>
          <p:cNvPr id="3" name="Tag">
            <a:extLst>
              <a:ext uri="{FF2B5EF4-FFF2-40B4-BE49-F238E27FC236}">
                <a16:creationId xmlns:a16="http://schemas.microsoft.com/office/drawing/2014/main" id="{595B66D3-DC86-6549-B764-16153DC74844}"/>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A84A2E"/>
                </a:solidFill>
                <a:latin typeface="Calibri" panose="020F0502020204030204" pitchFamily="34" charset="0"/>
              </a:rPr>
              <a:t>Business Environment deep dive · Supports Task 7 (Support organizational change)</a:t>
            </a:r>
          </a:p>
        </p:txBody>
      </p:sp>
      <p:sp>
        <p:nvSpPr>
          <p:cNvPr id="4" name="Rectangle 3">
            <a:extLst>
              <a:ext uri="{FF2B5EF4-FFF2-40B4-BE49-F238E27FC236}">
                <a16:creationId xmlns:a16="http://schemas.microsoft.com/office/drawing/2014/main" id="{F0711948-EB72-B9B8-CE7F-99568E1DDCE6}"/>
              </a:ext>
            </a:extLst>
          </p:cNvPr>
          <p:cNvSpPr/>
          <p:nvPr/>
        </p:nvSpPr>
        <p:spPr>
          <a:xfrm>
            <a:off x="4826000" y="4749800"/>
            <a:ext cx="3302000" cy="40640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52400" tIns="25400" rIns="152400" bIns="25400" rtlCol="0" anchor="ctr"/>
          <a:lstStyle/>
          <a:p>
            <a:r>
              <a:rPr lang="en-US" sz="1300" b="1">
                <a:solidFill>
                  <a:srgbClr val="FFFFFF"/>
                </a:solidFill>
                <a:latin typeface="Calibri" panose="020F0502020204030204" pitchFamily="34" charset="0"/>
              </a:rPr>
              <a:t>1   Create urgency</a:t>
            </a:r>
          </a:p>
        </p:txBody>
      </p:sp>
      <p:sp>
        <p:nvSpPr>
          <p:cNvPr id="5" name="Rectangle 4">
            <a:extLst>
              <a:ext uri="{FF2B5EF4-FFF2-40B4-BE49-F238E27FC236}">
                <a16:creationId xmlns:a16="http://schemas.microsoft.com/office/drawing/2014/main" id="{D45C40CF-C65C-504B-F3DB-D19A0DACC08C}"/>
              </a:ext>
            </a:extLst>
          </p:cNvPr>
          <p:cNvSpPr/>
          <p:nvPr/>
        </p:nvSpPr>
        <p:spPr>
          <a:xfrm>
            <a:off x="5334000" y="4267200"/>
            <a:ext cx="3302000" cy="40640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52400" tIns="25400" rIns="152400" bIns="25400" rtlCol="0" anchor="ctr"/>
          <a:lstStyle/>
          <a:p>
            <a:r>
              <a:rPr lang="en-US" sz="1300" b="1">
                <a:solidFill>
                  <a:srgbClr val="FFFFFF"/>
                </a:solidFill>
                <a:latin typeface="Calibri" panose="020F0502020204030204" pitchFamily="34" charset="0"/>
              </a:rPr>
              <a:t>2   Form a powerful coalition</a:t>
            </a:r>
          </a:p>
        </p:txBody>
      </p:sp>
      <p:sp>
        <p:nvSpPr>
          <p:cNvPr id="6" name="Rectangle 5">
            <a:extLst>
              <a:ext uri="{FF2B5EF4-FFF2-40B4-BE49-F238E27FC236}">
                <a16:creationId xmlns:a16="http://schemas.microsoft.com/office/drawing/2014/main" id="{19549CD7-DB27-9BE9-A420-78F7F336D149}"/>
              </a:ext>
            </a:extLst>
          </p:cNvPr>
          <p:cNvSpPr/>
          <p:nvPr/>
        </p:nvSpPr>
        <p:spPr>
          <a:xfrm>
            <a:off x="5842000" y="3784600"/>
            <a:ext cx="3302000" cy="40640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52400" tIns="25400" rIns="152400" bIns="25400" rtlCol="0" anchor="ctr"/>
          <a:lstStyle/>
          <a:p>
            <a:r>
              <a:rPr lang="en-US" sz="1300" b="1">
                <a:solidFill>
                  <a:srgbClr val="FFFFFF"/>
                </a:solidFill>
                <a:latin typeface="Calibri" panose="020F0502020204030204" pitchFamily="34" charset="0"/>
              </a:rPr>
              <a:t>3   Create a vision for change</a:t>
            </a:r>
          </a:p>
        </p:txBody>
      </p:sp>
      <p:sp>
        <p:nvSpPr>
          <p:cNvPr id="7" name="Rectangle 6">
            <a:extLst>
              <a:ext uri="{FF2B5EF4-FFF2-40B4-BE49-F238E27FC236}">
                <a16:creationId xmlns:a16="http://schemas.microsoft.com/office/drawing/2014/main" id="{CBAE7BDC-C389-5A82-5570-79A70F57E3B2}"/>
              </a:ext>
            </a:extLst>
          </p:cNvPr>
          <p:cNvSpPr/>
          <p:nvPr/>
        </p:nvSpPr>
        <p:spPr>
          <a:xfrm>
            <a:off x="6350000" y="3302000"/>
            <a:ext cx="3302000" cy="406400"/>
          </a:xfrm>
          <a:prstGeom prst="rect">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52400" tIns="25400" rIns="152400" bIns="25400" rtlCol="0" anchor="ctr"/>
          <a:lstStyle/>
          <a:p>
            <a:r>
              <a:rPr lang="en-US" sz="1300" b="1">
                <a:solidFill>
                  <a:srgbClr val="FFFFFF"/>
                </a:solidFill>
                <a:latin typeface="Calibri" panose="020F0502020204030204" pitchFamily="34" charset="0"/>
              </a:rPr>
              <a:t>4   Communicate the vision</a:t>
            </a:r>
          </a:p>
        </p:txBody>
      </p:sp>
      <p:sp>
        <p:nvSpPr>
          <p:cNvPr id="8" name="Rectangle 7">
            <a:extLst>
              <a:ext uri="{FF2B5EF4-FFF2-40B4-BE49-F238E27FC236}">
                <a16:creationId xmlns:a16="http://schemas.microsoft.com/office/drawing/2014/main" id="{B3B0B292-EEAA-46C4-A7CF-F33CE0010C7D}"/>
              </a:ext>
            </a:extLst>
          </p:cNvPr>
          <p:cNvSpPr/>
          <p:nvPr/>
        </p:nvSpPr>
        <p:spPr>
          <a:xfrm>
            <a:off x="6858000" y="2819400"/>
            <a:ext cx="3302000" cy="406400"/>
          </a:xfrm>
          <a:prstGeom prst="rect">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52400" tIns="25400" rIns="152400" bIns="25400" rtlCol="0" anchor="ctr"/>
          <a:lstStyle/>
          <a:p>
            <a:r>
              <a:rPr lang="en-US" sz="1300" b="1">
                <a:solidFill>
                  <a:srgbClr val="FFFFFF"/>
                </a:solidFill>
                <a:latin typeface="Calibri" panose="020F0502020204030204" pitchFamily="34" charset="0"/>
              </a:rPr>
              <a:t>5   Empower action</a:t>
            </a:r>
          </a:p>
        </p:txBody>
      </p:sp>
      <p:sp>
        <p:nvSpPr>
          <p:cNvPr id="9" name="Rectangle 8">
            <a:extLst>
              <a:ext uri="{FF2B5EF4-FFF2-40B4-BE49-F238E27FC236}">
                <a16:creationId xmlns:a16="http://schemas.microsoft.com/office/drawing/2014/main" id="{08517496-EAB0-9187-21C0-0315AC14477D}"/>
              </a:ext>
            </a:extLst>
          </p:cNvPr>
          <p:cNvSpPr/>
          <p:nvPr/>
        </p:nvSpPr>
        <p:spPr>
          <a:xfrm>
            <a:off x="7366000" y="2336800"/>
            <a:ext cx="3302000" cy="406400"/>
          </a:xfrm>
          <a:prstGeom prst="rect">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52400" tIns="25400" rIns="152400" bIns="25400" rtlCol="0" anchor="ctr"/>
          <a:lstStyle/>
          <a:p>
            <a:r>
              <a:rPr lang="en-US" sz="1300" b="1">
                <a:solidFill>
                  <a:srgbClr val="FFFFFF"/>
                </a:solidFill>
                <a:latin typeface="Calibri" panose="020F0502020204030204" pitchFamily="34" charset="0"/>
              </a:rPr>
              <a:t>6   Create quick wins</a:t>
            </a:r>
          </a:p>
        </p:txBody>
      </p:sp>
      <p:sp>
        <p:nvSpPr>
          <p:cNvPr id="10" name="Rectangle 9">
            <a:extLst>
              <a:ext uri="{FF2B5EF4-FFF2-40B4-BE49-F238E27FC236}">
                <a16:creationId xmlns:a16="http://schemas.microsoft.com/office/drawing/2014/main" id="{4D16DDB1-8099-1767-462B-D67701AB20C5}"/>
              </a:ext>
            </a:extLst>
          </p:cNvPr>
          <p:cNvSpPr/>
          <p:nvPr/>
        </p:nvSpPr>
        <p:spPr>
          <a:xfrm>
            <a:off x="7874000" y="1854200"/>
            <a:ext cx="3302000" cy="406400"/>
          </a:xfrm>
          <a:prstGeom prst="rect">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52400" tIns="25400" rIns="152400" bIns="25400" rtlCol="0" anchor="ctr"/>
          <a:lstStyle/>
          <a:p>
            <a:r>
              <a:rPr lang="en-US" sz="1300" b="1">
                <a:solidFill>
                  <a:srgbClr val="FFFFFF"/>
                </a:solidFill>
                <a:latin typeface="Calibri" panose="020F0502020204030204" pitchFamily="34" charset="0"/>
              </a:rPr>
              <a:t>7   Build on the change</a:t>
            </a:r>
          </a:p>
        </p:txBody>
      </p:sp>
      <p:sp>
        <p:nvSpPr>
          <p:cNvPr id="11" name="Rectangle 10">
            <a:extLst>
              <a:ext uri="{FF2B5EF4-FFF2-40B4-BE49-F238E27FC236}">
                <a16:creationId xmlns:a16="http://schemas.microsoft.com/office/drawing/2014/main" id="{343A6FBA-4F9A-1CD3-0B82-73DC5AA7AAC1}"/>
              </a:ext>
            </a:extLst>
          </p:cNvPr>
          <p:cNvSpPr/>
          <p:nvPr/>
        </p:nvSpPr>
        <p:spPr>
          <a:xfrm>
            <a:off x="8382000" y="1371600"/>
            <a:ext cx="3302000" cy="406400"/>
          </a:xfrm>
          <a:prstGeom prst="rect">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52400" tIns="25400" rIns="152400" bIns="25400" rtlCol="0" anchor="ctr"/>
          <a:lstStyle/>
          <a:p>
            <a:r>
              <a:rPr lang="en-US" sz="1300" b="1">
                <a:solidFill>
                  <a:srgbClr val="FFFFFF"/>
                </a:solidFill>
                <a:latin typeface="Calibri" panose="020F0502020204030204" pitchFamily="34" charset="0"/>
              </a:rPr>
              <a:t>8   Make it stick</a:t>
            </a:r>
          </a:p>
        </p:txBody>
      </p:sp>
      <p:sp>
        <p:nvSpPr>
          <p:cNvPr id="12" name="Rectangle: Rounded Corners 11">
            <a:extLst>
              <a:ext uri="{FF2B5EF4-FFF2-40B4-BE49-F238E27FC236}">
                <a16:creationId xmlns:a16="http://schemas.microsoft.com/office/drawing/2014/main" id="{0D82D069-9DAA-8978-2A89-C0154F5A9868}"/>
              </a:ext>
            </a:extLst>
          </p:cNvPr>
          <p:cNvSpPr/>
          <p:nvPr/>
        </p:nvSpPr>
        <p:spPr>
          <a:xfrm>
            <a:off x="508000" y="1371600"/>
            <a:ext cx="4064000" cy="8890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05E43F3-0FEA-2D0D-DABB-C6260A379E89}"/>
              </a:ext>
            </a:extLst>
          </p:cNvPr>
          <p:cNvSpPr txBox="1"/>
          <p:nvPr/>
        </p:nvSpPr>
        <p:spPr>
          <a:xfrm>
            <a:off x="635000" y="1498600"/>
            <a:ext cx="3810000" cy="635000"/>
          </a:xfrm>
          <a:prstGeom prst="rect">
            <a:avLst/>
          </a:prstGeom>
          <a:noFill/>
        </p:spPr>
        <p:txBody>
          <a:bodyPr vert="horz" wrap="square" lIns="0" tIns="0" rIns="0" bIns="0" rtlCol="0" anchor="t">
            <a:noAutofit/>
          </a:bodyPr>
          <a:lstStyle/>
          <a:p>
            <a:pPr>
              <a:spcAft>
                <a:spcPts val="600"/>
              </a:spcAft>
            </a:pPr>
            <a:r>
              <a:rPr lang="en-US" sz="1300" b="1">
                <a:solidFill>
                  <a:srgbClr val="A84A2E"/>
                </a:solidFill>
                <a:latin typeface="Calibri" panose="020F0502020204030204" pitchFamily="34" charset="0"/>
              </a:rPr>
              <a:t>Implementing and sustaining</a:t>
            </a:r>
          </a:p>
          <a:p>
            <a:r>
              <a:rPr lang="en-US" sz="1100">
                <a:solidFill>
                  <a:srgbClr val="1F2937"/>
                </a:solidFill>
                <a:latin typeface="Calibri" panose="020F0502020204030204" pitchFamily="34" charset="0"/>
              </a:rPr>
              <a:t>Use early wins to drive more change, then anchor it in culture, hiring, and rewards.</a:t>
            </a:r>
          </a:p>
        </p:txBody>
      </p:sp>
      <p:sp>
        <p:nvSpPr>
          <p:cNvPr id="14" name="Rectangle: Rounded Corners 13">
            <a:extLst>
              <a:ext uri="{FF2B5EF4-FFF2-40B4-BE49-F238E27FC236}">
                <a16:creationId xmlns:a16="http://schemas.microsoft.com/office/drawing/2014/main" id="{40E6C1B5-E591-C576-11BC-10B06017F586}"/>
              </a:ext>
            </a:extLst>
          </p:cNvPr>
          <p:cNvSpPr/>
          <p:nvPr/>
        </p:nvSpPr>
        <p:spPr>
          <a:xfrm>
            <a:off x="508000" y="2336800"/>
            <a:ext cx="4064000" cy="13716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3F27B3F-C161-1BBA-58B3-C133B2A1EA05}"/>
              </a:ext>
            </a:extLst>
          </p:cNvPr>
          <p:cNvSpPr txBox="1"/>
          <p:nvPr/>
        </p:nvSpPr>
        <p:spPr>
          <a:xfrm>
            <a:off x="635000" y="2463800"/>
            <a:ext cx="3810000" cy="1117600"/>
          </a:xfrm>
          <a:prstGeom prst="rect">
            <a:avLst/>
          </a:prstGeom>
          <a:noFill/>
        </p:spPr>
        <p:txBody>
          <a:bodyPr vert="horz" wrap="square" lIns="0" tIns="0" rIns="0" bIns="0" rtlCol="0" anchor="t">
            <a:noAutofit/>
          </a:bodyPr>
          <a:lstStyle/>
          <a:p>
            <a:pPr>
              <a:spcAft>
                <a:spcPts val="600"/>
              </a:spcAft>
            </a:pPr>
            <a:r>
              <a:rPr lang="en-US" sz="1300" b="1">
                <a:solidFill>
                  <a:srgbClr val="0F7C80"/>
                </a:solidFill>
                <a:latin typeface="Calibri" panose="020F0502020204030204" pitchFamily="34" charset="0"/>
              </a:rPr>
              <a:t>Engaging and enabling the organization</a:t>
            </a:r>
          </a:p>
          <a:p>
            <a:r>
              <a:rPr lang="en-US" sz="1100">
                <a:solidFill>
                  <a:srgbClr val="1F2937"/>
                </a:solidFill>
                <a:latin typeface="Calibri" panose="020F0502020204030204" pitchFamily="34" charset="0"/>
              </a:rPr>
              <a:t>Communicate the vision often and by example, remove obstacles so people can act, and plan visible short-term wins.</a:t>
            </a:r>
          </a:p>
        </p:txBody>
      </p:sp>
      <p:sp>
        <p:nvSpPr>
          <p:cNvPr id="16" name="Rectangle: Rounded Corners 15">
            <a:extLst>
              <a:ext uri="{FF2B5EF4-FFF2-40B4-BE49-F238E27FC236}">
                <a16:creationId xmlns:a16="http://schemas.microsoft.com/office/drawing/2014/main" id="{F141163B-68A3-3BC3-B248-7C9E059635B0}"/>
              </a:ext>
            </a:extLst>
          </p:cNvPr>
          <p:cNvSpPr/>
          <p:nvPr/>
        </p:nvSpPr>
        <p:spPr>
          <a:xfrm>
            <a:off x="508000" y="3784600"/>
            <a:ext cx="4064000" cy="13716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89528C6-E0F9-B9F9-CB9E-8392FA1E9ADC}"/>
              </a:ext>
            </a:extLst>
          </p:cNvPr>
          <p:cNvSpPr txBox="1"/>
          <p:nvPr/>
        </p:nvSpPr>
        <p:spPr>
          <a:xfrm>
            <a:off x="635000" y="3911600"/>
            <a:ext cx="3810000" cy="1117600"/>
          </a:xfrm>
          <a:prstGeom prst="rect">
            <a:avLst/>
          </a:prstGeom>
          <a:noFill/>
        </p:spPr>
        <p:txBody>
          <a:bodyPr vert="horz" wrap="square" lIns="0" tIns="0" rIns="0" bIns="0" rtlCol="0" anchor="t">
            <a:noAutofit/>
          </a:bodyPr>
          <a:lstStyle/>
          <a:p>
            <a:pPr>
              <a:spcAft>
                <a:spcPts val="600"/>
              </a:spcAft>
            </a:pPr>
            <a:r>
              <a:rPr lang="en-US" sz="1300" b="1">
                <a:solidFill>
                  <a:srgbClr val="34509A"/>
                </a:solidFill>
                <a:latin typeface="Calibri" panose="020F0502020204030204" pitchFamily="34" charset="0"/>
              </a:rPr>
              <a:t>Creating the climate for change</a:t>
            </a:r>
          </a:p>
          <a:p>
            <a:r>
              <a:rPr lang="en-US" sz="1100">
                <a:solidFill>
                  <a:srgbClr val="1F2937"/>
                </a:solidFill>
                <a:latin typeface="Calibri" panose="020F0502020204030204" pitchFamily="34" charset="0"/>
              </a:rPr>
              <a:t>Show why change can’t wait, build a coalition with the influence to lead it, and set a clear, simple vision.</a:t>
            </a:r>
          </a:p>
        </p:txBody>
      </p:sp>
      <p:sp>
        <p:nvSpPr>
          <p:cNvPr id="18" name="TextBox 17">
            <a:extLst>
              <a:ext uri="{FF2B5EF4-FFF2-40B4-BE49-F238E27FC236}">
                <a16:creationId xmlns:a16="http://schemas.microsoft.com/office/drawing/2014/main" id="{CB4C436C-41C4-097A-49CB-1751F2303004}"/>
              </a:ext>
            </a:extLst>
          </p:cNvPr>
          <p:cNvSpPr txBox="1"/>
          <p:nvPr/>
        </p:nvSpPr>
        <p:spPr>
          <a:xfrm>
            <a:off x="4826000" y="5232400"/>
            <a:ext cx="6858000" cy="203200"/>
          </a:xfrm>
          <a:prstGeom prst="rect">
            <a:avLst/>
          </a:prstGeom>
          <a:noFill/>
        </p:spPr>
        <p:txBody>
          <a:bodyPr vert="horz" wrap="square" lIns="0" tIns="0" rIns="0" bIns="0" rtlCol="0" anchor="t">
            <a:noAutofit/>
          </a:bodyPr>
          <a:lstStyle/>
          <a:p>
            <a:pPr algn="r"/>
            <a:r>
              <a:rPr lang="en-US" sz="1100" i="1">
                <a:solidFill>
                  <a:srgbClr val="5B6475"/>
                </a:solidFill>
                <a:latin typeface="Calibri" panose="020F0502020204030204" pitchFamily="34" charset="0"/>
              </a:rPr>
              <a:t>Organizational change, step by step; pair with ADKAR for each person</a:t>
            </a:r>
          </a:p>
        </p:txBody>
      </p:sp>
      <p:sp>
        <p:nvSpPr>
          <p:cNvPr id="19" name="Rectangle: Rounded Corners 18">
            <a:extLst>
              <a:ext uri="{FF2B5EF4-FFF2-40B4-BE49-F238E27FC236}">
                <a16:creationId xmlns:a16="http://schemas.microsoft.com/office/drawing/2014/main" id="{6DE4EA77-CC7A-31AE-277C-04442A861EE4}"/>
              </a:ext>
            </a:extLst>
          </p:cNvPr>
          <p:cNvSpPr/>
          <p:nvPr/>
        </p:nvSpPr>
        <p:spPr>
          <a:xfrm>
            <a:off x="508000" y="5486400"/>
            <a:ext cx="11176000" cy="838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44BD0CAA-4A95-E8CF-889F-BE7904EAB826}"/>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change efforts fail when steps are skipped, most often urgency (step 1) or making it stick (step 8). The project manager supports the sponsor’s coalition and builds quick wins into the plan.</a:t>
            </a:r>
          </a:p>
        </p:txBody>
      </p:sp>
      <p:sp>
        <p:nvSpPr>
          <p:cNvPr id="21" name="Footer">
            <a:extLst>
              <a:ext uri="{FF2B5EF4-FFF2-40B4-BE49-F238E27FC236}">
                <a16:creationId xmlns:a16="http://schemas.microsoft.com/office/drawing/2014/main" id="{5631D9CB-E685-1900-ED83-C3695867A86C}"/>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John P. Kotter, Leading Change (1996) and Accelerate (2014); PMI, PMBOK® Guide — Seventh Edition, 4.2.4 (change models); adapted from PMI course material</a:t>
            </a:r>
          </a:p>
        </p:txBody>
      </p:sp>
      <p:sp>
        <p:nvSpPr>
          <p:cNvPr id="22" name="SlideNum">
            <a:extLst>
              <a:ext uri="{FF2B5EF4-FFF2-40B4-BE49-F238E27FC236}">
                <a16:creationId xmlns:a16="http://schemas.microsoft.com/office/drawing/2014/main" id="{32931967-5320-2726-04C0-17DB4AA71D3D}"/>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83</a:t>
            </a:r>
          </a:p>
        </p:txBody>
      </p:sp>
      <p:sp>
        <p:nvSpPr>
          <p:cNvPr id="23"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53822190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E4E09E4-6738-8B33-6334-CC05854B3909}"/>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From vision to projects: strategic alignment</a:t>
            </a:r>
          </a:p>
        </p:txBody>
      </p:sp>
      <p:sp>
        <p:nvSpPr>
          <p:cNvPr id="3" name="Tag">
            <a:extLst>
              <a:ext uri="{FF2B5EF4-FFF2-40B4-BE49-F238E27FC236}">
                <a16:creationId xmlns:a16="http://schemas.microsoft.com/office/drawing/2014/main" id="{EA1D6A76-23D3-7374-7B4A-B72D06EAAA3E}"/>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A84A2E"/>
                </a:solidFill>
                <a:latin typeface="Calibri" panose="020F0502020204030204" pitchFamily="34" charset="0"/>
              </a:rPr>
              <a:t>Business Environment deep dive · Supports Process Task 3 (value-based delivery) and Business Environment Task 7 (organizational change)</a:t>
            </a:r>
          </a:p>
        </p:txBody>
      </p:sp>
      <p:sp>
        <p:nvSpPr>
          <p:cNvPr id="4" name="Rectangle 3">
            <a:extLst>
              <a:ext uri="{FF2B5EF4-FFF2-40B4-BE49-F238E27FC236}">
                <a16:creationId xmlns:a16="http://schemas.microsoft.com/office/drawing/2014/main" id="{251FE872-461E-4DEA-4AE5-48BDEB783FF7}"/>
              </a:ext>
            </a:extLst>
          </p:cNvPr>
          <p:cNvSpPr/>
          <p:nvPr/>
        </p:nvSpPr>
        <p:spPr>
          <a:xfrm>
            <a:off x="2730500" y="1397000"/>
            <a:ext cx="1905000" cy="660400"/>
          </a:xfrm>
          <a:prstGeom prst="rect">
            <a:avLst/>
          </a:prstGeom>
          <a:solidFill>
            <a:srgbClr val="2A3A5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ctr"/>
          <a:lstStyle/>
          <a:p>
            <a:pPr algn="ctr"/>
            <a:r>
              <a:rPr lang="en-US" sz="1500" b="1">
                <a:solidFill>
                  <a:srgbClr val="FFFFFF"/>
                </a:solidFill>
                <a:latin typeface="Calibri" panose="020F0502020204030204" pitchFamily="34" charset="0"/>
              </a:rPr>
              <a:t>Vision</a:t>
            </a:r>
          </a:p>
        </p:txBody>
      </p:sp>
      <p:sp>
        <p:nvSpPr>
          <p:cNvPr id="5" name="Rectangle 4">
            <a:extLst>
              <a:ext uri="{FF2B5EF4-FFF2-40B4-BE49-F238E27FC236}">
                <a16:creationId xmlns:a16="http://schemas.microsoft.com/office/drawing/2014/main" id="{05D40F68-BA8F-80A6-738B-1FDC37FAA1FE}"/>
              </a:ext>
            </a:extLst>
          </p:cNvPr>
          <p:cNvSpPr/>
          <p:nvPr/>
        </p:nvSpPr>
        <p:spPr>
          <a:xfrm>
            <a:off x="2222500" y="2133600"/>
            <a:ext cx="2921000" cy="660400"/>
          </a:xfrm>
          <a:prstGeom prst="rect">
            <a:avLst/>
          </a:prstGeom>
          <a:solidFill>
            <a:srgbClr val="344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ctr"/>
          <a:lstStyle/>
          <a:p>
            <a:pPr algn="ctr"/>
            <a:r>
              <a:rPr lang="en-US" sz="1500" b="1">
                <a:solidFill>
                  <a:srgbClr val="FFFFFF"/>
                </a:solidFill>
                <a:latin typeface="Calibri" panose="020F0502020204030204" pitchFamily="34" charset="0"/>
              </a:rPr>
              <a:t>Mission</a:t>
            </a:r>
          </a:p>
        </p:txBody>
      </p:sp>
      <p:sp>
        <p:nvSpPr>
          <p:cNvPr id="6" name="Rectangle 5">
            <a:extLst>
              <a:ext uri="{FF2B5EF4-FFF2-40B4-BE49-F238E27FC236}">
                <a16:creationId xmlns:a16="http://schemas.microsoft.com/office/drawing/2014/main" id="{C98A886E-AC30-A794-76CB-D3D2B9802128}"/>
              </a:ext>
            </a:extLst>
          </p:cNvPr>
          <p:cNvSpPr/>
          <p:nvPr/>
        </p:nvSpPr>
        <p:spPr>
          <a:xfrm>
            <a:off x="1651000" y="2870200"/>
            <a:ext cx="4064000" cy="66040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ctr"/>
          <a:lstStyle/>
          <a:p>
            <a:pPr algn="ctr"/>
            <a:r>
              <a:rPr lang="en-US" sz="1500" b="1">
                <a:solidFill>
                  <a:srgbClr val="FFFFFF"/>
                </a:solidFill>
                <a:latin typeface="Calibri" panose="020F0502020204030204" pitchFamily="34" charset="0"/>
              </a:rPr>
              <a:t>Organizational strategy and objectives</a:t>
            </a:r>
          </a:p>
        </p:txBody>
      </p:sp>
      <p:sp>
        <p:nvSpPr>
          <p:cNvPr id="7" name="Rectangle 6">
            <a:extLst>
              <a:ext uri="{FF2B5EF4-FFF2-40B4-BE49-F238E27FC236}">
                <a16:creationId xmlns:a16="http://schemas.microsoft.com/office/drawing/2014/main" id="{77DF520A-02DE-7714-2BAF-D2595E1067DE}"/>
              </a:ext>
            </a:extLst>
          </p:cNvPr>
          <p:cNvSpPr/>
          <p:nvPr/>
        </p:nvSpPr>
        <p:spPr>
          <a:xfrm>
            <a:off x="1016000" y="3606800"/>
            <a:ext cx="5334000" cy="660400"/>
          </a:xfrm>
          <a:prstGeom prst="rect">
            <a:avLst/>
          </a:prstGeom>
          <a:solidFill>
            <a:srgbClr val="4F6B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ctr"/>
          <a:lstStyle/>
          <a:p>
            <a:pPr algn="ctr"/>
            <a:r>
              <a:rPr lang="en-US" sz="1300" b="1">
                <a:solidFill>
                  <a:srgbClr val="FFFFFF"/>
                </a:solidFill>
                <a:latin typeface="Calibri" panose="020F0502020204030204" pitchFamily="34" charset="0"/>
              </a:rPr>
              <a:t>Portfolio management: strategic planning of projects, programs, and operations</a:t>
            </a:r>
          </a:p>
        </p:txBody>
      </p:sp>
      <p:sp>
        <p:nvSpPr>
          <p:cNvPr id="8" name="Rectangle 7">
            <a:extLst>
              <a:ext uri="{FF2B5EF4-FFF2-40B4-BE49-F238E27FC236}">
                <a16:creationId xmlns:a16="http://schemas.microsoft.com/office/drawing/2014/main" id="{38CEAF08-4758-3BD7-893F-57994196A462}"/>
              </a:ext>
            </a:extLst>
          </p:cNvPr>
          <p:cNvSpPr/>
          <p:nvPr/>
        </p:nvSpPr>
        <p:spPr>
          <a:xfrm>
            <a:off x="508000" y="4343400"/>
            <a:ext cx="3149600" cy="838200"/>
          </a:xfrm>
          <a:prstGeom prst="rect">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ctr"/>
          <a:lstStyle/>
          <a:p>
            <a:pPr algn="ctr"/>
            <a:r>
              <a:rPr lang="en-US" sz="1300" b="1">
                <a:solidFill>
                  <a:srgbClr val="FFFFFF"/>
                </a:solidFill>
                <a:latin typeface="Calibri" panose="020F0502020204030204" pitchFamily="34" charset="0"/>
              </a:rPr>
              <a:t>Operations</a:t>
            </a:r>
          </a:p>
          <a:p>
            <a:pPr algn="ctr"/>
            <a:r>
              <a:rPr lang="en-US" sz="1300" b="1">
                <a:solidFill>
                  <a:srgbClr val="FFFFFF"/>
                </a:solidFill>
                <a:latin typeface="Calibri" panose="020F0502020204030204" pitchFamily="34" charset="0"/>
              </a:rPr>
              <a:t>recurring activities that produce value</a:t>
            </a:r>
          </a:p>
        </p:txBody>
      </p:sp>
      <p:sp>
        <p:nvSpPr>
          <p:cNvPr id="9" name="Rectangle 8">
            <a:extLst>
              <a:ext uri="{FF2B5EF4-FFF2-40B4-BE49-F238E27FC236}">
                <a16:creationId xmlns:a16="http://schemas.microsoft.com/office/drawing/2014/main" id="{33642A29-5266-B192-A53D-DD6240896D0B}"/>
              </a:ext>
            </a:extLst>
          </p:cNvPr>
          <p:cNvSpPr/>
          <p:nvPr/>
        </p:nvSpPr>
        <p:spPr>
          <a:xfrm>
            <a:off x="3708400" y="4343400"/>
            <a:ext cx="3149600" cy="838200"/>
          </a:xfrm>
          <a:prstGeom prst="rect">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ctr"/>
          <a:lstStyle/>
          <a:p>
            <a:pPr algn="ctr"/>
            <a:r>
              <a:rPr lang="en-US" sz="1300" b="1">
                <a:solidFill>
                  <a:srgbClr val="FFFFFF"/>
                </a:solidFill>
                <a:latin typeface="Calibri" panose="020F0502020204030204" pitchFamily="34" charset="0"/>
              </a:rPr>
              <a:t>Programs and projects</a:t>
            </a:r>
          </a:p>
          <a:p>
            <a:pPr algn="ctr"/>
            <a:r>
              <a:rPr lang="en-US" sz="1300" b="1">
                <a:solidFill>
                  <a:srgbClr val="FFFFFF"/>
                </a:solidFill>
                <a:latin typeface="Calibri" panose="020F0502020204030204" pitchFamily="34" charset="0"/>
              </a:rPr>
              <a:t>projectized activities that increase capability</a:t>
            </a:r>
          </a:p>
        </p:txBody>
      </p:sp>
      <p:sp>
        <p:nvSpPr>
          <p:cNvPr id="10" name="Arrow: Up 9">
            <a:extLst>
              <a:ext uri="{FF2B5EF4-FFF2-40B4-BE49-F238E27FC236}">
                <a16:creationId xmlns:a16="http://schemas.microsoft.com/office/drawing/2014/main" id="{1584D4BE-F8CA-A650-928F-6D3BACDD53C4}"/>
              </a:ext>
            </a:extLst>
          </p:cNvPr>
          <p:cNvSpPr/>
          <p:nvPr/>
        </p:nvSpPr>
        <p:spPr>
          <a:xfrm>
            <a:off x="1930400" y="5232400"/>
            <a:ext cx="304800" cy="330200"/>
          </a:xfrm>
          <a:prstGeom prst="upArrow">
            <a:avLst/>
          </a:prstGeom>
          <a:solidFill>
            <a:srgbClr val="5B64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Up 10">
            <a:extLst>
              <a:ext uri="{FF2B5EF4-FFF2-40B4-BE49-F238E27FC236}">
                <a16:creationId xmlns:a16="http://schemas.microsoft.com/office/drawing/2014/main" id="{FBF4297C-5782-40F0-4B9B-00E13E6F6DDE}"/>
              </a:ext>
            </a:extLst>
          </p:cNvPr>
          <p:cNvSpPr/>
          <p:nvPr/>
        </p:nvSpPr>
        <p:spPr>
          <a:xfrm>
            <a:off x="5130800" y="5232400"/>
            <a:ext cx="304800" cy="330200"/>
          </a:xfrm>
          <a:prstGeom prst="upArrow">
            <a:avLst/>
          </a:prstGeom>
          <a:solidFill>
            <a:srgbClr val="5B64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DD28552A-12B2-20E5-1284-562495204161}"/>
              </a:ext>
            </a:extLst>
          </p:cNvPr>
          <p:cNvSpPr/>
          <p:nvPr/>
        </p:nvSpPr>
        <p:spPr>
          <a:xfrm>
            <a:off x="508000" y="5613400"/>
            <a:ext cx="6350000" cy="584200"/>
          </a:xfrm>
          <a:prstGeom prst="roundRect">
            <a:avLst>
              <a:gd name="adj" fmla="val 8000"/>
            </a:avLst>
          </a:prstGeom>
          <a:solidFill>
            <a:srgbClr val="F3F5F8"/>
          </a:solidFill>
          <a:ln w="12700">
            <a:solidFill>
              <a:srgbClr val="D5DBE3"/>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25400" rIns="76200" bIns="25400" rtlCol="0" anchor="ctr">
            <a:noAutofit/>
          </a:bodyPr>
          <a:lstStyle/>
          <a:p>
            <a:pPr algn="ctr"/>
            <a:r>
              <a:rPr lang="en-US" sz="1500" b="1">
                <a:solidFill>
                  <a:srgbClr val="14213D"/>
                </a:solidFill>
                <a:latin typeface="Calibri" panose="020F0502020204030204" pitchFamily="34" charset="0"/>
              </a:rPr>
              <a:t>Organizational resources</a:t>
            </a:r>
          </a:p>
        </p:txBody>
      </p:sp>
      <p:sp>
        <p:nvSpPr>
          <p:cNvPr id="13" name="Rectangle: Rounded Corners 12">
            <a:extLst>
              <a:ext uri="{FF2B5EF4-FFF2-40B4-BE49-F238E27FC236}">
                <a16:creationId xmlns:a16="http://schemas.microsoft.com/office/drawing/2014/main" id="{DDB50B4A-C7E6-3FD2-CA54-820F4649677A}"/>
              </a:ext>
            </a:extLst>
          </p:cNvPr>
          <p:cNvSpPr/>
          <p:nvPr/>
        </p:nvSpPr>
        <p:spPr>
          <a:xfrm>
            <a:off x="7239000" y="1397000"/>
            <a:ext cx="4445000" cy="1905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2377E36-0F89-9E52-2569-54DCB3EBDFC6}"/>
              </a:ext>
            </a:extLst>
          </p:cNvPr>
          <p:cNvSpPr txBox="1"/>
          <p:nvPr/>
        </p:nvSpPr>
        <p:spPr>
          <a:xfrm>
            <a:off x="7442200" y="1600200"/>
            <a:ext cx="4038600" cy="1498600"/>
          </a:xfrm>
          <a:prstGeom prst="rect">
            <a:avLst/>
          </a:prstGeom>
          <a:noFill/>
        </p:spPr>
        <p:txBody>
          <a:bodyPr vert="horz" wrap="square" lIns="0" tIns="0" rIns="0" bIns="0" rtlCol="0" anchor="t">
            <a:noAutofit/>
          </a:bodyPr>
          <a:lstStyle/>
          <a:p>
            <a:pPr>
              <a:spcAft>
                <a:spcPts val="600"/>
              </a:spcAft>
            </a:pPr>
            <a:r>
              <a:rPr lang="en-US" sz="1700" b="1">
                <a:solidFill>
                  <a:srgbClr val="14213D"/>
                </a:solidFill>
                <a:latin typeface="Calibri" panose="020F0502020204030204" pitchFamily="34" charset="0"/>
              </a:rPr>
              <a:t>Why it matters</a:t>
            </a:r>
          </a:p>
          <a:p>
            <a:r>
              <a:rPr lang="en-US" sz="1400">
                <a:solidFill>
                  <a:srgbClr val="1F2937"/>
                </a:solidFill>
                <a:latin typeface="Calibri" panose="020F0502020204030204" pitchFamily="34" charset="0"/>
              </a:rPr>
              <a:t>Projects exist to carry out the strategy. Every project should trace back up the pyramid to an objective; that is how benefits and value are judged.</a:t>
            </a:r>
          </a:p>
        </p:txBody>
      </p:sp>
      <p:sp>
        <p:nvSpPr>
          <p:cNvPr id="15" name="Rectangle: Rounded Corners 14">
            <a:extLst>
              <a:ext uri="{FF2B5EF4-FFF2-40B4-BE49-F238E27FC236}">
                <a16:creationId xmlns:a16="http://schemas.microsoft.com/office/drawing/2014/main" id="{F2CE4090-FA63-B865-417F-DECC0DDF7003}"/>
              </a:ext>
            </a:extLst>
          </p:cNvPr>
          <p:cNvSpPr/>
          <p:nvPr/>
        </p:nvSpPr>
        <p:spPr>
          <a:xfrm>
            <a:off x="7239000" y="3505200"/>
            <a:ext cx="4445000" cy="21590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C2DA648-A983-30F9-F5A2-9DB7F0C94680}"/>
              </a:ext>
            </a:extLst>
          </p:cNvPr>
          <p:cNvSpPr txBox="1"/>
          <p:nvPr/>
        </p:nvSpPr>
        <p:spPr>
          <a:xfrm>
            <a:off x="7442200" y="3708400"/>
            <a:ext cx="4038600" cy="1752600"/>
          </a:xfrm>
          <a:prstGeom prst="rect">
            <a:avLst/>
          </a:prstGeom>
          <a:noFill/>
        </p:spPr>
        <p:txBody>
          <a:bodyPr vert="horz" wrap="square" lIns="0" tIns="0" rIns="0" bIns="0" rtlCol="0" anchor="t">
            <a:noAutofit/>
          </a:bodyPr>
          <a:lstStyle/>
          <a:p>
            <a:pPr>
              <a:spcAft>
                <a:spcPts val="600"/>
              </a:spcAft>
            </a:pPr>
            <a:r>
              <a:rPr lang="en-US" sz="1700" b="1">
                <a:solidFill>
                  <a:srgbClr val="A86F0E"/>
                </a:solidFill>
                <a:latin typeface="Calibri" panose="020F0502020204030204" pitchFamily="34" charset="0"/>
              </a:rPr>
              <a:t>Objectives and key results (OKRs)</a:t>
            </a:r>
          </a:p>
          <a:p>
            <a:r>
              <a:rPr lang="en-US" sz="1400">
                <a:solidFill>
                  <a:srgbClr val="1F2937"/>
                </a:solidFill>
                <a:latin typeface="Calibri" panose="020F0502020204030204" pitchFamily="34" charset="0"/>
              </a:rPr>
              <a:t>Some adaptive projects use a goal-setting framework such as OKRs, which describes the organization’s objectives and the measurable key results that show progress.</a:t>
            </a:r>
          </a:p>
        </p:txBody>
      </p:sp>
      <p:sp>
        <p:nvSpPr>
          <p:cNvPr id="17" name="Footer">
            <a:extLst>
              <a:ext uri="{FF2B5EF4-FFF2-40B4-BE49-F238E27FC236}">
                <a16:creationId xmlns:a16="http://schemas.microsoft.com/office/drawing/2014/main" id="{0478331B-836A-4C43-3EE4-1E3B7D405D12}"/>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The Standard for Portfolio Management — Fourth Edition (2017); adapted from PMI course material</a:t>
            </a:r>
          </a:p>
        </p:txBody>
      </p:sp>
      <p:sp>
        <p:nvSpPr>
          <p:cNvPr id="18" name="SlideNum">
            <a:extLst>
              <a:ext uri="{FF2B5EF4-FFF2-40B4-BE49-F238E27FC236}">
                <a16:creationId xmlns:a16="http://schemas.microsoft.com/office/drawing/2014/main" id="{48982DEA-577F-CBEE-80B5-3001AF401084}"/>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84</a:t>
            </a:r>
          </a:p>
        </p:txBody>
      </p:sp>
      <p:sp>
        <p:nvSpPr>
          <p:cNvPr id="19"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36928021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B3A8EE6-B885-2B8C-244E-232CC5C23FEE}"/>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PESTLE: scanning the external environment</a:t>
            </a:r>
          </a:p>
        </p:txBody>
      </p:sp>
      <p:sp>
        <p:nvSpPr>
          <p:cNvPr id="3" name="Tag">
            <a:extLst>
              <a:ext uri="{FF2B5EF4-FFF2-40B4-BE49-F238E27FC236}">
                <a16:creationId xmlns:a16="http://schemas.microsoft.com/office/drawing/2014/main" id="{B1B85C98-9C58-6053-5AFD-6902D2D38738}"/>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A84A2E"/>
                </a:solidFill>
                <a:latin typeface="Calibri" panose="020F0502020204030204" pitchFamily="34" charset="0"/>
              </a:rPr>
              <a:t>Business Environment deep dive · Supports Task 8 (Evaluate external business environment changes)</a:t>
            </a:r>
          </a:p>
        </p:txBody>
      </p:sp>
      <p:sp>
        <p:nvSpPr>
          <p:cNvPr id="4" name="Rectangle 3">
            <a:extLst>
              <a:ext uri="{FF2B5EF4-FFF2-40B4-BE49-F238E27FC236}">
                <a16:creationId xmlns:a16="http://schemas.microsoft.com/office/drawing/2014/main" id="{947F1783-D3DE-1745-05D5-AE8A247CA4C3}"/>
              </a:ext>
            </a:extLst>
          </p:cNvPr>
          <p:cNvSpPr/>
          <p:nvPr/>
        </p:nvSpPr>
        <p:spPr>
          <a:xfrm>
            <a:off x="508000" y="1320800"/>
            <a:ext cx="1778000" cy="787400"/>
          </a:xfrm>
          <a:prstGeom prst="rect">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2600" b="1">
                <a:solidFill>
                  <a:srgbClr val="FFFFFF"/>
                </a:solidFill>
                <a:latin typeface="Calibri" panose="020F0502020204030204" pitchFamily="34" charset="0"/>
              </a:rPr>
              <a:t>P</a:t>
            </a:r>
          </a:p>
          <a:p>
            <a:pPr algn="ctr"/>
            <a:r>
              <a:rPr lang="en-US" sz="1100" b="1">
                <a:solidFill>
                  <a:srgbClr val="FFFFFF"/>
                </a:solidFill>
                <a:latin typeface="Calibri" panose="020F0502020204030204" pitchFamily="34" charset="0"/>
              </a:rPr>
              <a:t>Political</a:t>
            </a:r>
          </a:p>
        </p:txBody>
      </p:sp>
      <p:sp>
        <p:nvSpPr>
          <p:cNvPr id="5" name="Rectangle 4">
            <a:extLst>
              <a:ext uri="{FF2B5EF4-FFF2-40B4-BE49-F238E27FC236}">
                <a16:creationId xmlns:a16="http://schemas.microsoft.com/office/drawing/2014/main" id="{D307A2DE-2B89-3144-036C-4D4D6C8FB3D0}"/>
              </a:ext>
            </a:extLst>
          </p:cNvPr>
          <p:cNvSpPr/>
          <p:nvPr/>
        </p:nvSpPr>
        <p:spPr>
          <a:xfrm>
            <a:off x="508000" y="2108200"/>
            <a:ext cx="1778000" cy="1625600"/>
          </a:xfrm>
          <a:prstGeom prst="rect">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45223B6-6A23-5B77-0E20-760F2B227E61}"/>
              </a:ext>
            </a:extLst>
          </p:cNvPr>
          <p:cNvSpPr txBox="1"/>
          <p:nvPr/>
        </p:nvSpPr>
        <p:spPr>
          <a:xfrm>
            <a:off x="609600" y="2209800"/>
            <a:ext cx="1574800" cy="1905000"/>
          </a:xfrm>
          <a:prstGeom prst="rect">
            <a:avLst/>
          </a:prstGeom>
          <a:noFill/>
        </p:spPr>
        <p:txBody>
          <a:bodyPr vert="horz" wrap="square" lIns="0" tIns="0" rIns="0" bIns="0" rtlCol="0" anchor="t">
            <a:noAutofit/>
          </a:bodyPr>
          <a:lstStyle/>
          <a:p>
            <a:pPr marL="127000" indent="-127000">
              <a:spcAft>
                <a:spcPts val="400"/>
              </a:spcAft>
              <a:buClr>
                <a:srgbClr val="14213D"/>
              </a:buClr>
              <a:buFont typeface="+mj-lt"/>
              <a:buChar char="•"/>
            </a:pPr>
            <a:r>
              <a:rPr lang="en-US" sz="1100">
                <a:solidFill>
                  <a:srgbClr val="1F2937"/>
                </a:solidFill>
                <a:latin typeface="Calibri" panose="020F0502020204030204" pitchFamily="34" charset="0"/>
              </a:rPr>
              <a:t>Government policy and stability</a:t>
            </a:r>
          </a:p>
          <a:p>
            <a:pPr marL="127000" indent="-127000">
              <a:spcAft>
                <a:spcPts val="400"/>
              </a:spcAft>
              <a:buClr>
                <a:srgbClr val="14213D"/>
              </a:buClr>
              <a:buFont typeface="+mj-lt"/>
              <a:buChar char="•"/>
            </a:pPr>
            <a:r>
              <a:rPr lang="en-US" sz="1100">
                <a:solidFill>
                  <a:srgbClr val="1F2937"/>
                </a:solidFill>
                <a:latin typeface="Calibri" panose="020F0502020204030204" pitchFamily="34" charset="0"/>
              </a:rPr>
              <a:t>Tax and trade policy</a:t>
            </a:r>
          </a:p>
          <a:p>
            <a:pPr marL="127000" indent="-127000">
              <a:spcAft>
                <a:spcPts val="400"/>
              </a:spcAft>
              <a:buClr>
                <a:srgbClr val="14213D"/>
              </a:buClr>
              <a:buFont typeface="+mj-lt"/>
              <a:buChar char="•"/>
            </a:pPr>
            <a:r>
              <a:rPr lang="en-US" sz="1100">
                <a:solidFill>
                  <a:srgbClr val="1F2937"/>
                </a:solidFill>
                <a:latin typeface="Calibri" panose="020F0502020204030204" pitchFamily="34" charset="0"/>
              </a:rPr>
              <a:t>Sanctions and tariffs</a:t>
            </a:r>
          </a:p>
        </p:txBody>
      </p:sp>
      <p:sp>
        <p:nvSpPr>
          <p:cNvPr id="7" name="Rectangle 6">
            <a:extLst>
              <a:ext uri="{FF2B5EF4-FFF2-40B4-BE49-F238E27FC236}">
                <a16:creationId xmlns:a16="http://schemas.microsoft.com/office/drawing/2014/main" id="{E359E5B8-F6D7-F8D1-6689-4292A4AB5DD8}"/>
              </a:ext>
            </a:extLst>
          </p:cNvPr>
          <p:cNvSpPr/>
          <p:nvPr/>
        </p:nvSpPr>
        <p:spPr>
          <a:xfrm>
            <a:off x="2387600" y="1320800"/>
            <a:ext cx="1778000" cy="787400"/>
          </a:xfrm>
          <a:prstGeom prst="rect">
            <a:avLst/>
          </a:prstGeom>
          <a:solidFill>
            <a:srgbClr val="2A6F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2600" b="1">
                <a:solidFill>
                  <a:srgbClr val="FFFFFF"/>
                </a:solidFill>
                <a:latin typeface="Calibri" panose="020F0502020204030204" pitchFamily="34" charset="0"/>
              </a:rPr>
              <a:t>E</a:t>
            </a:r>
          </a:p>
          <a:p>
            <a:pPr algn="ctr"/>
            <a:r>
              <a:rPr lang="en-US" sz="1100" b="1">
                <a:solidFill>
                  <a:srgbClr val="FFFFFF"/>
                </a:solidFill>
                <a:latin typeface="Calibri" panose="020F0502020204030204" pitchFamily="34" charset="0"/>
              </a:rPr>
              <a:t>Economic</a:t>
            </a:r>
          </a:p>
        </p:txBody>
      </p:sp>
      <p:sp>
        <p:nvSpPr>
          <p:cNvPr id="8" name="Rectangle 7">
            <a:extLst>
              <a:ext uri="{FF2B5EF4-FFF2-40B4-BE49-F238E27FC236}">
                <a16:creationId xmlns:a16="http://schemas.microsoft.com/office/drawing/2014/main" id="{F70CF970-27DD-0F8E-AC2B-E03C54E988BC}"/>
              </a:ext>
            </a:extLst>
          </p:cNvPr>
          <p:cNvSpPr/>
          <p:nvPr/>
        </p:nvSpPr>
        <p:spPr>
          <a:xfrm>
            <a:off x="2387600" y="2108200"/>
            <a:ext cx="1778000" cy="1625600"/>
          </a:xfrm>
          <a:prstGeom prst="rect">
            <a:avLst/>
          </a:prstGeom>
          <a:solidFill>
            <a:srgbClr val="E3EE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12509C0-1B2D-02B5-AE85-52146C8E4998}"/>
              </a:ext>
            </a:extLst>
          </p:cNvPr>
          <p:cNvSpPr txBox="1"/>
          <p:nvPr/>
        </p:nvSpPr>
        <p:spPr>
          <a:xfrm>
            <a:off x="2489200" y="2209800"/>
            <a:ext cx="1574800" cy="1905000"/>
          </a:xfrm>
          <a:prstGeom prst="rect">
            <a:avLst/>
          </a:prstGeom>
          <a:noFill/>
        </p:spPr>
        <p:txBody>
          <a:bodyPr vert="horz" wrap="square" lIns="0" tIns="0" rIns="0" bIns="0" rtlCol="0" anchor="t">
            <a:noAutofit/>
          </a:bodyPr>
          <a:lstStyle/>
          <a:p>
            <a:pPr marL="127000" indent="-127000">
              <a:spcAft>
                <a:spcPts val="400"/>
              </a:spcAft>
              <a:buClr>
                <a:srgbClr val="2A6FA8"/>
              </a:buClr>
              <a:buFont typeface="+mj-lt"/>
              <a:buChar char="•"/>
            </a:pPr>
            <a:r>
              <a:rPr lang="en-US" sz="1100">
                <a:solidFill>
                  <a:srgbClr val="1F2937"/>
                </a:solidFill>
                <a:latin typeface="Calibri" panose="020F0502020204030204" pitchFamily="34" charset="0"/>
              </a:rPr>
              <a:t>Inflation and interest rates</a:t>
            </a:r>
          </a:p>
          <a:p>
            <a:pPr marL="127000" indent="-127000">
              <a:spcAft>
                <a:spcPts val="400"/>
              </a:spcAft>
              <a:buClr>
                <a:srgbClr val="2A6FA8"/>
              </a:buClr>
              <a:buFont typeface="+mj-lt"/>
              <a:buChar char="•"/>
            </a:pPr>
            <a:r>
              <a:rPr lang="en-US" sz="1100">
                <a:solidFill>
                  <a:srgbClr val="1F2937"/>
                </a:solidFill>
                <a:latin typeface="Calibri" panose="020F0502020204030204" pitchFamily="34" charset="0"/>
              </a:rPr>
              <a:t>Exchange rates</a:t>
            </a:r>
          </a:p>
          <a:p>
            <a:pPr marL="127000" indent="-127000">
              <a:spcAft>
                <a:spcPts val="400"/>
              </a:spcAft>
              <a:buClr>
                <a:srgbClr val="2A6FA8"/>
              </a:buClr>
              <a:buFont typeface="+mj-lt"/>
              <a:buChar char="•"/>
            </a:pPr>
            <a:r>
              <a:rPr lang="en-US" sz="1100">
                <a:solidFill>
                  <a:srgbClr val="1F2937"/>
                </a:solidFill>
                <a:latin typeface="Calibri" panose="020F0502020204030204" pitchFamily="34" charset="0"/>
              </a:rPr>
              <a:t>Growth and unemployment</a:t>
            </a:r>
          </a:p>
        </p:txBody>
      </p:sp>
      <p:sp>
        <p:nvSpPr>
          <p:cNvPr id="10" name="Rectangle 9">
            <a:extLst>
              <a:ext uri="{FF2B5EF4-FFF2-40B4-BE49-F238E27FC236}">
                <a16:creationId xmlns:a16="http://schemas.microsoft.com/office/drawing/2014/main" id="{24FFB8DE-10D3-82B2-F187-148237030F57}"/>
              </a:ext>
            </a:extLst>
          </p:cNvPr>
          <p:cNvSpPr/>
          <p:nvPr/>
        </p:nvSpPr>
        <p:spPr>
          <a:xfrm>
            <a:off x="4267200" y="1320800"/>
            <a:ext cx="1778000" cy="787400"/>
          </a:xfrm>
          <a:prstGeom prst="rect">
            <a:avLst/>
          </a:prstGeom>
          <a:solidFill>
            <a:srgbClr val="D982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2600" b="1">
                <a:solidFill>
                  <a:srgbClr val="FFFFFF"/>
                </a:solidFill>
                <a:latin typeface="Calibri" panose="020F0502020204030204" pitchFamily="34" charset="0"/>
              </a:rPr>
              <a:t>S</a:t>
            </a:r>
          </a:p>
          <a:p>
            <a:pPr algn="ctr"/>
            <a:r>
              <a:rPr lang="en-US" sz="1100" b="1">
                <a:solidFill>
                  <a:srgbClr val="FFFFFF"/>
                </a:solidFill>
                <a:latin typeface="Calibri" panose="020F0502020204030204" pitchFamily="34" charset="0"/>
              </a:rPr>
              <a:t>Social</a:t>
            </a:r>
          </a:p>
        </p:txBody>
      </p:sp>
      <p:sp>
        <p:nvSpPr>
          <p:cNvPr id="11" name="Rectangle 10">
            <a:extLst>
              <a:ext uri="{FF2B5EF4-FFF2-40B4-BE49-F238E27FC236}">
                <a16:creationId xmlns:a16="http://schemas.microsoft.com/office/drawing/2014/main" id="{A0CCD63F-0E95-B954-529B-1562A01606FE}"/>
              </a:ext>
            </a:extLst>
          </p:cNvPr>
          <p:cNvSpPr/>
          <p:nvPr/>
        </p:nvSpPr>
        <p:spPr>
          <a:xfrm>
            <a:off x="4267200" y="2108200"/>
            <a:ext cx="1778000" cy="1625600"/>
          </a:xfrm>
          <a:prstGeom prst="rect">
            <a:avLst/>
          </a:prstGeom>
          <a:solidFill>
            <a:srgbClr val="FBEB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9492A2E-EA82-F9F7-84B8-275CD117D362}"/>
              </a:ext>
            </a:extLst>
          </p:cNvPr>
          <p:cNvSpPr txBox="1"/>
          <p:nvPr/>
        </p:nvSpPr>
        <p:spPr>
          <a:xfrm>
            <a:off x="4368800" y="2209800"/>
            <a:ext cx="1574800" cy="1905000"/>
          </a:xfrm>
          <a:prstGeom prst="rect">
            <a:avLst/>
          </a:prstGeom>
          <a:noFill/>
        </p:spPr>
        <p:txBody>
          <a:bodyPr vert="horz" wrap="square" lIns="0" tIns="0" rIns="0" bIns="0" rtlCol="0" anchor="t">
            <a:noAutofit/>
          </a:bodyPr>
          <a:lstStyle/>
          <a:p>
            <a:pPr marL="127000" indent="-127000">
              <a:spcAft>
                <a:spcPts val="400"/>
              </a:spcAft>
              <a:buClr>
                <a:srgbClr val="D9822B"/>
              </a:buClr>
              <a:buFont typeface="+mj-lt"/>
              <a:buChar char="•"/>
            </a:pPr>
            <a:r>
              <a:rPr lang="en-US" sz="1100">
                <a:solidFill>
                  <a:srgbClr val="1F2937"/>
                </a:solidFill>
                <a:latin typeface="Calibri" panose="020F0502020204030204" pitchFamily="34" charset="0"/>
              </a:rPr>
              <a:t>Demographics and age</a:t>
            </a:r>
          </a:p>
          <a:p>
            <a:pPr marL="127000" indent="-127000">
              <a:spcAft>
                <a:spcPts val="400"/>
              </a:spcAft>
              <a:buClr>
                <a:srgbClr val="D9822B"/>
              </a:buClr>
              <a:buFont typeface="+mj-lt"/>
              <a:buChar char="•"/>
            </a:pPr>
            <a:r>
              <a:rPr lang="en-US" sz="1100">
                <a:solidFill>
                  <a:srgbClr val="1F2937"/>
                </a:solidFill>
                <a:latin typeface="Calibri" panose="020F0502020204030204" pitchFamily="34" charset="0"/>
              </a:rPr>
              <a:t>Cultural attitudes</a:t>
            </a:r>
          </a:p>
          <a:p>
            <a:pPr marL="127000" indent="-127000">
              <a:spcAft>
                <a:spcPts val="400"/>
              </a:spcAft>
              <a:buClr>
                <a:srgbClr val="D9822B"/>
              </a:buClr>
              <a:buFont typeface="+mj-lt"/>
              <a:buChar char="•"/>
            </a:pPr>
            <a:r>
              <a:rPr lang="en-US" sz="1100">
                <a:solidFill>
                  <a:srgbClr val="1F2937"/>
                </a:solidFill>
                <a:latin typeface="Calibri" panose="020F0502020204030204" pitchFamily="34" charset="0"/>
              </a:rPr>
              <a:t>Lifestyle and health trends</a:t>
            </a:r>
          </a:p>
        </p:txBody>
      </p:sp>
      <p:sp>
        <p:nvSpPr>
          <p:cNvPr id="13" name="Rectangle 12">
            <a:extLst>
              <a:ext uri="{FF2B5EF4-FFF2-40B4-BE49-F238E27FC236}">
                <a16:creationId xmlns:a16="http://schemas.microsoft.com/office/drawing/2014/main" id="{B977E6A5-6F2F-EC24-9E66-BB2EC1529258}"/>
              </a:ext>
            </a:extLst>
          </p:cNvPr>
          <p:cNvSpPr/>
          <p:nvPr/>
        </p:nvSpPr>
        <p:spPr>
          <a:xfrm>
            <a:off x="6146800" y="1320800"/>
            <a:ext cx="1778000" cy="787400"/>
          </a:xfrm>
          <a:prstGeom prst="rect">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2600" b="1">
                <a:solidFill>
                  <a:srgbClr val="FFFFFF"/>
                </a:solidFill>
                <a:latin typeface="Calibri" panose="020F0502020204030204" pitchFamily="34" charset="0"/>
              </a:rPr>
              <a:t>T</a:t>
            </a:r>
          </a:p>
          <a:p>
            <a:pPr algn="ctr"/>
            <a:r>
              <a:rPr lang="en-US" sz="1100" b="1">
                <a:solidFill>
                  <a:srgbClr val="FFFFFF"/>
                </a:solidFill>
                <a:latin typeface="Calibri" panose="020F0502020204030204" pitchFamily="34" charset="0"/>
              </a:rPr>
              <a:t>Technological</a:t>
            </a:r>
          </a:p>
        </p:txBody>
      </p:sp>
      <p:sp>
        <p:nvSpPr>
          <p:cNvPr id="14" name="Rectangle 13">
            <a:extLst>
              <a:ext uri="{FF2B5EF4-FFF2-40B4-BE49-F238E27FC236}">
                <a16:creationId xmlns:a16="http://schemas.microsoft.com/office/drawing/2014/main" id="{BA199FB9-BC5E-381B-B150-E3354EFA883E}"/>
              </a:ext>
            </a:extLst>
          </p:cNvPr>
          <p:cNvSpPr/>
          <p:nvPr/>
        </p:nvSpPr>
        <p:spPr>
          <a:xfrm>
            <a:off x="6146800" y="2108200"/>
            <a:ext cx="1778000" cy="1625600"/>
          </a:xfrm>
          <a:prstGeom prst="rect">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8AD7655C-9C16-BC65-7651-5EEEC041F45F}"/>
              </a:ext>
            </a:extLst>
          </p:cNvPr>
          <p:cNvSpPr txBox="1"/>
          <p:nvPr/>
        </p:nvSpPr>
        <p:spPr>
          <a:xfrm>
            <a:off x="6248400" y="2209800"/>
            <a:ext cx="1574800" cy="1905000"/>
          </a:xfrm>
          <a:prstGeom prst="rect">
            <a:avLst/>
          </a:prstGeom>
          <a:noFill/>
        </p:spPr>
        <p:txBody>
          <a:bodyPr vert="horz" wrap="square" lIns="0" tIns="0" rIns="0" bIns="0" rtlCol="0" anchor="t">
            <a:noAutofit/>
          </a:bodyPr>
          <a:lstStyle/>
          <a:p>
            <a:pPr marL="127000" indent="-127000">
              <a:spcAft>
                <a:spcPts val="400"/>
              </a:spcAft>
              <a:buClr>
                <a:srgbClr val="14213D"/>
              </a:buClr>
              <a:buFont typeface="+mj-lt"/>
              <a:buChar char="•"/>
            </a:pPr>
            <a:r>
              <a:rPr lang="en-US" sz="1100">
                <a:solidFill>
                  <a:srgbClr val="1F2937"/>
                </a:solidFill>
                <a:latin typeface="Calibri" panose="020F0502020204030204" pitchFamily="34" charset="0"/>
              </a:rPr>
              <a:t>Automation and AI</a:t>
            </a:r>
          </a:p>
          <a:p>
            <a:pPr marL="127000" indent="-127000">
              <a:spcAft>
                <a:spcPts val="400"/>
              </a:spcAft>
              <a:buClr>
                <a:srgbClr val="14213D"/>
              </a:buClr>
              <a:buFont typeface="+mj-lt"/>
              <a:buChar char="•"/>
            </a:pPr>
            <a:r>
              <a:rPr lang="en-US" sz="1100">
                <a:solidFill>
                  <a:srgbClr val="1F2937"/>
                </a:solidFill>
                <a:latin typeface="Calibri" panose="020F0502020204030204" pitchFamily="34" charset="0"/>
              </a:rPr>
              <a:t>Cybersecurity</a:t>
            </a:r>
          </a:p>
          <a:p>
            <a:pPr marL="127000" indent="-127000">
              <a:spcAft>
                <a:spcPts val="400"/>
              </a:spcAft>
              <a:buClr>
                <a:srgbClr val="14213D"/>
              </a:buClr>
              <a:buFont typeface="+mj-lt"/>
              <a:buChar char="•"/>
            </a:pPr>
            <a:r>
              <a:rPr lang="en-US" sz="1100">
                <a:solidFill>
                  <a:srgbClr val="1F2937"/>
                </a:solidFill>
                <a:latin typeface="Calibri" panose="020F0502020204030204" pitchFamily="34" charset="0"/>
              </a:rPr>
              <a:t>Pace of innovation</a:t>
            </a:r>
          </a:p>
        </p:txBody>
      </p:sp>
      <p:sp>
        <p:nvSpPr>
          <p:cNvPr id="16" name="Rectangle 15">
            <a:extLst>
              <a:ext uri="{FF2B5EF4-FFF2-40B4-BE49-F238E27FC236}">
                <a16:creationId xmlns:a16="http://schemas.microsoft.com/office/drawing/2014/main" id="{9D696D3D-9AE6-0EA6-6D9B-31B9989E2FFE}"/>
              </a:ext>
            </a:extLst>
          </p:cNvPr>
          <p:cNvSpPr/>
          <p:nvPr/>
        </p:nvSpPr>
        <p:spPr>
          <a:xfrm>
            <a:off x="8026400" y="1320800"/>
            <a:ext cx="1778000" cy="787400"/>
          </a:xfrm>
          <a:prstGeom prst="rect">
            <a:avLst/>
          </a:prstGeom>
          <a:solidFill>
            <a:srgbClr val="2A6F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2600" b="1">
                <a:solidFill>
                  <a:srgbClr val="FFFFFF"/>
                </a:solidFill>
                <a:latin typeface="Calibri" panose="020F0502020204030204" pitchFamily="34" charset="0"/>
              </a:rPr>
              <a:t>L</a:t>
            </a:r>
          </a:p>
          <a:p>
            <a:pPr algn="ctr"/>
            <a:r>
              <a:rPr lang="en-US" sz="1100" b="1">
                <a:solidFill>
                  <a:srgbClr val="FFFFFF"/>
                </a:solidFill>
                <a:latin typeface="Calibri" panose="020F0502020204030204" pitchFamily="34" charset="0"/>
              </a:rPr>
              <a:t>Legal</a:t>
            </a:r>
          </a:p>
        </p:txBody>
      </p:sp>
      <p:sp>
        <p:nvSpPr>
          <p:cNvPr id="17" name="Rectangle 16">
            <a:extLst>
              <a:ext uri="{FF2B5EF4-FFF2-40B4-BE49-F238E27FC236}">
                <a16:creationId xmlns:a16="http://schemas.microsoft.com/office/drawing/2014/main" id="{033C6450-16CF-BDDB-A72F-2C7FBAB9161D}"/>
              </a:ext>
            </a:extLst>
          </p:cNvPr>
          <p:cNvSpPr/>
          <p:nvPr/>
        </p:nvSpPr>
        <p:spPr>
          <a:xfrm>
            <a:off x="8026400" y="2108200"/>
            <a:ext cx="1778000" cy="1625600"/>
          </a:xfrm>
          <a:prstGeom prst="rect">
            <a:avLst/>
          </a:prstGeom>
          <a:solidFill>
            <a:srgbClr val="E3EE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A5F39AF-FD30-D187-F143-1F5182F43663}"/>
              </a:ext>
            </a:extLst>
          </p:cNvPr>
          <p:cNvSpPr txBox="1"/>
          <p:nvPr/>
        </p:nvSpPr>
        <p:spPr>
          <a:xfrm>
            <a:off x="8128000" y="2209800"/>
            <a:ext cx="1574800" cy="1905000"/>
          </a:xfrm>
          <a:prstGeom prst="rect">
            <a:avLst/>
          </a:prstGeom>
          <a:noFill/>
        </p:spPr>
        <p:txBody>
          <a:bodyPr vert="horz" wrap="square" lIns="0" tIns="0" rIns="0" bIns="0" rtlCol="0" anchor="t">
            <a:noAutofit/>
          </a:bodyPr>
          <a:lstStyle/>
          <a:p>
            <a:pPr marL="127000" indent="-127000">
              <a:spcAft>
                <a:spcPts val="400"/>
              </a:spcAft>
              <a:buClr>
                <a:srgbClr val="2A6FA8"/>
              </a:buClr>
              <a:buFont typeface="+mj-lt"/>
              <a:buChar char="•"/>
            </a:pPr>
            <a:r>
              <a:rPr lang="en-US" sz="1100">
                <a:solidFill>
                  <a:srgbClr val="1F2937"/>
                </a:solidFill>
                <a:latin typeface="Calibri" panose="020F0502020204030204" pitchFamily="34" charset="0"/>
              </a:rPr>
              <a:t>Employment law</a:t>
            </a:r>
          </a:p>
          <a:p>
            <a:pPr marL="127000" indent="-127000">
              <a:spcAft>
                <a:spcPts val="400"/>
              </a:spcAft>
              <a:buClr>
                <a:srgbClr val="2A6FA8"/>
              </a:buClr>
              <a:buFont typeface="+mj-lt"/>
              <a:buChar char="•"/>
            </a:pPr>
            <a:r>
              <a:rPr lang="en-US" sz="1100">
                <a:solidFill>
                  <a:srgbClr val="1F2937"/>
                </a:solidFill>
                <a:latin typeface="Calibri" panose="020F0502020204030204" pitchFamily="34" charset="0"/>
              </a:rPr>
              <a:t>Health and safety</a:t>
            </a:r>
          </a:p>
          <a:p>
            <a:pPr marL="127000" indent="-127000">
              <a:spcAft>
                <a:spcPts val="400"/>
              </a:spcAft>
              <a:buClr>
                <a:srgbClr val="2A6FA8"/>
              </a:buClr>
              <a:buFont typeface="+mj-lt"/>
              <a:buChar char="•"/>
            </a:pPr>
            <a:r>
              <a:rPr lang="en-US" sz="1100">
                <a:solidFill>
                  <a:srgbClr val="1F2937"/>
                </a:solidFill>
                <a:latin typeface="Calibri" panose="020F0502020204030204" pitchFamily="34" charset="0"/>
              </a:rPr>
              <a:t>Data privacy</a:t>
            </a:r>
          </a:p>
          <a:p>
            <a:pPr marL="127000" indent="-127000">
              <a:spcAft>
                <a:spcPts val="400"/>
              </a:spcAft>
              <a:buClr>
                <a:srgbClr val="2A6FA8"/>
              </a:buClr>
              <a:buFont typeface="+mj-lt"/>
              <a:buChar char="•"/>
            </a:pPr>
            <a:r>
              <a:rPr lang="en-US" sz="1100">
                <a:solidFill>
                  <a:srgbClr val="1F2937"/>
                </a:solidFill>
                <a:latin typeface="Calibri" panose="020F0502020204030204" pitchFamily="34" charset="0"/>
              </a:rPr>
              <a:t>Consumer protection</a:t>
            </a:r>
          </a:p>
        </p:txBody>
      </p:sp>
      <p:sp>
        <p:nvSpPr>
          <p:cNvPr id="19" name="Rectangle 18">
            <a:extLst>
              <a:ext uri="{FF2B5EF4-FFF2-40B4-BE49-F238E27FC236}">
                <a16:creationId xmlns:a16="http://schemas.microsoft.com/office/drawing/2014/main" id="{D86557C9-1274-7ED4-F7DD-ABFE1ECE9E80}"/>
              </a:ext>
            </a:extLst>
          </p:cNvPr>
          <p:cNvSpPr/>
          <p:nvPr/>
        </p:nvSpPr>
        <p:spPr>
          <a:xfrm>
            <a:off x="9906000" y="1320800"/>
            <a:ext cx="1778000" cy="787400"/>
          </a:xfrm>
          <a:prstGeom prst="rect">
            <a:avLst/>
          </a:prstGeom>
          <a:solidFill>
            <a:srgbClr val="D982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2600" b="1">
                <a:solidFill>
                  <a:srgbClr val="FFFFFF"/>
                </a:solidFill>
                <a:latin typeface="Calibri" panose="020F0502020204030204" pitchFamily="34" charset="0"/>
              </a:rPr>
              <a:t>E</a:t>
            </a:r>
          </a:p>
          <a:p>
            <a:pPr algn="ctr"/>
            <a:r>
              <a:rPr lang="en-US" sz="1100" b="1">
                <a:solidFill>
                  <a:srgbClr val="FFFFFF"/>
                </a:solidFill>
                <a:latin typeface="Calibri" panose="020F0502020204030204" pitchFamily="34" charset="0"/>
              </a:rPr>
              <a:t>Environmental</a:t>
            </a:r>
          </a:p>
        </p:txBody>
      </p:sp>
      <p:sp>
        <p:nvSpPr>
          <p:cNvPr id="20" name="Rectangle 19">
            <a:extLst>
              <a:ext uri="{FF2B5EF4-FFF2-40B4-BE49-F238E27FC236}">
                <a16:creationId xmlns:a16="http://schemas.microsoft.com/office/drawing/2014/main" id="{72151ECA-6B50-3099-8DDC-E86AA4742853}"/>
              </a:ext>
            </a:extLst>
          </p:cNvPr>
          <p:cNvSpPr/>
          <p:nvPr/>
        </p:nvSpPr>
        <p:spPr>
          <a:xfrm>
            <a:off x="9906000" y="2108200"/>
            <a:ext cx="1778000" cy="1625600"/>
          </a:xfrm>
          <a:prstGeom prst="rect">
            <a:avLst/>
          </a:prstGeom>
          <a:solidFill>
            <a:srgbClr val="FBEBD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4A28AA12-0115-BD30-C3D3-A5D02A8E2BE0}"/>
              </a:ext>
            </a:extLst>
          </p:cNvPr>
          <p:cNvSpPr txBox="1"/>
          <p:nvPr/>
        </p:nvSpPr>
        <p:spPr>
          <a:xfrm>
            <a:off x="10007600" y="2209800"/>
            <a:ext cx="1574800" cy="1905000"/>
          </a:xfrm>
          <a:prstGeom prst="rect">
            <a:avLst/>
          </a:prstGeom>
          <a:noFill/>
        </p:spPr>
        <p:txBody>
          <a:bodyPr vert="horz" wrap="square" lIns="0" tIns="0" rIns="0" bIns="0" rtlCol="0" anchor="t">
            <a:noAutofit/>
          </a:bodyPr>
          <a:lstStyle/>
          <a:p>
            <a:pPr marL="127000" indent="-127000">
              <a:spcAft>
                <a:spcPts val="400"/>
              </a:spcAft>
              <a:buClr>
                <a:srgbClr val="D9822B"/>
              </a:buClr>
              <a:buFont typeface="+mj-lt"/>
              <a:buChar char="•"/>
            </a:pPr>
            <a:r>
              <a:rPr lang="en-US" sz="1100">
                <a:solidFill>
                  <a:srgbClr val="1F2937"/>
                </a:solidFill>
                <a:latin typeface="Calibri" panose="020F0502020204030204" pitchFamily="34" charset="0"/>
              </a:rPr>
              <a:t>Climate and weather</a:t>
            </a:r>
          </a:p>
          <a:p>
            <a:pPr marL="127000" indent="-127000">
              <a:spcAft>
                <a:spcPts val="400"/>
              </a:spcAft>
              <a:buClr>
                <a:srgbClr val="D9822B"/>
              </a:buClr>
              <a:buFont typeface="+mj-lt"/>
              <a:buChar char="•"/>
            </a:pPr>
            <a:r>
              <a:rPr lang="en-US" sz="1100">
                <a:solidFill>
                  <a:srgbClr val="1F2937"/>
                </a:solidFill>
                <a:latin typeface="Calibri" panose="020F0502020204030204" pitchFamily="34" charset="0"/>
              </a:rPr>
              <a:t>Environmental regulation</a:t>
            </a:r>
          </a:p>
          <a:p>
            <a:pPr marL="127000" indent="-127000">
              <a:spcAft>
                <a:spcPts val="400"/>
              </a:spcAft>
              <a:buClr>
                <a:srgbClr val="D9822B"/>
              </a:buClr>
              <a:buFont typeface="+mj-lt"/>
              <a:buChar char="•"/>
            </a:pPr>
            <a:r>
              <a:rPr lang="en-US" sz="1100">
                <a:solidFill>
                  <a:srgbClr val="1F2937"/>
                </a:solidFill>
                <a:latin typeface="Calibri" panose="020F0502020204030204" pitchFamily="34" charset="0"/>
              </a:rPr>
              <a:t>Waste and pollution</a:t>
            </a:r>
          </a:p>
          <a:p>
            <a:pPr marL="127000" indent="-127000">
              <a:spcAft>
                <a:spcPts val="400"/>
              </a:spcAft>
              <a:buClr>
                <a:srgbClr val="D9822B"/>
              </a:buClr>
              <a:buFont typeface="+mj-lt"/>
              <a:buChar char="•"/>
            </a:pPr>
            <a:r>
              <a:rPr lang="en-US" sz="1100">
                <a:solidFill>
                  <a:srgbClr val="1F2937"/>
                </a:solidFill>
                <a:latin typeface="Calibri" panose="020F0502020204030204" pitchFamily="34" charset="0"/>
              </a:rPr>
              <a:t>Energy use</a:t>
            </a:r>
          </a:p>
        </p:txBody>
      </p:sp>
      <p:sp>
        <p:nvSpPr>
          <p:cNvPr id="22" name="Rectangle: Rounded Corners 21">
            <a:extLst>
              <a:ext uri="{FF2B5EF4-FFF2-40B4-BE49-F238E27FC236}">
                <a16:creationId xmlns:a16="http://schemas.microsoft.com/office/drawing/2014/main" id="{E184E1D4-1A4C-0631-DE1E-E542CA3BE0BA}"/>
              </a:ext>
            </a:extLst>
          </p:cNvPr>
          <p:cNvSpPr/>
          <p:nvPr/>
        </p:nvSpPr>
        <p:spPr>
          <a:xfrm>
            <a:off x="508000" y="3886200"/>
            <a:ext cx="11176000" cy="1473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6894AAB-9F57-CEF1-2DD6-8DE5A1F74295}"/>
              </a:ext>
            </a:extLst>
          </p:cNvPr>
          <p:cNvSpPr txBox="1"/>
          <p:nvPr/>
        </p:nvSpPr>
        <p:spPr>
          <a:xfrm>
            <a:off x="660400" y="4038600"/>
            <a:ext cx="10871200" cy="1168400"/>
          </a:xfrm>
          <a:prstGeom prst="rect">
            <a:avLst/>
          </a:prstGeom>
          <a:noFill/>
        </p:spPr>
        <p:txBody>
          <a:bodyPr vert="horz" wrap="square" lIns="0" tIns="0" rIns="0" bIns="0" rtlCol="0" anchor="t">
            <a:noAutofit/>
          </a:bodyPr>
          <a:lstStyle/>
          <a:p>
            <a:pPr>
              <a:spcAft>
                <a:spcPts val="600"/>
              </a:spcAft>
            </a:pPr>
            <a:r>
              <a:rPr lang="en-US" sz="1400" b="1">
                <a:solidFill>
                  <a:srgbClr val="A84A2E"/>
                </a:solidFill>
                <a:latin typeface="Calibri" panose="020F0502020204030204" pitchFamily="34" charset="0"/>
              </a:rPr>
              <a:t>How a project manager uses it</a:t>
            </a:r>
          </a:p>
          <a:p>
            <a:r>
              <a:rPr lang="en-US" sz="1200">
                <a:solidFill>
                  <a:srgbClr val="1F2937"/>
                </a:solidFill>
                <a:latin typeface="Calibri" panose="020F0502020204030204" pitchFamily="34" charset="0"/>
              </a:rPr>
              <a:t>Survey external changes when building the business case, during risk identification, and at regular intervals. Assess and prioritize the impact on scope or the backlog, then feed findings into the risk register or a change request.</a:t>
            </a:r>
          </a:p>
          <a:p>
            <a:r>
              <a:rPr lang="en-US" sz="1200">
                <a:solidFill>
                  <a:srgbClr val="1F2937"/>
                </a:solidFill>
                <a:latin typeface="Calibri" panose="020F0502020204030204" pitchFamily="34" charset="0"/>
              </a:rPr>
              <a:t>PESTLE factors are external EEFs: the team can’t control them, but it must keep watching them. Revisit the scan at each release or phase gate.</a:t>
            </a:r>
          </a:p>
        </p:txBody>
      </p:sp>
      <p:sp>
        <p:nvSpPr>
          <p:cNvPr id="24" name="Rectangle: Rounded Corners 23">
            <a:extLst>
              <a:ext uri="{FF2B5EF4-FFF2-40B4-BE49-F238E27FC236}">
                <a16:creationId xmlns:a16="http://schemas.microsoft.com/office/drawing/2014/main" id="{F8305621-B402-8970-5960-0BCEC8ADD64E}"/>
              </a:ext>
            </a:extLst>
          </p:cNvPr>
          <p:cNvSpPr/>
          <p:nvPr/>
        </p:nvSpPr>
        <p:spPr>
          <a:xfrm>
            <a:off x="508000" y="5486400"/>
            <a:ext cx="11176000" cy="838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A6823666-193C-046E-14E1-6F78DA18A37C}"/>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when a regulation, technology, or market changes mid-project, assess the impact on scope or the backlog first, then reprioritize or raise a change request.</a:t>
            </a:r>
          </a:p>
        </p:txBody>
      </p:sp>
      <p:sp>
        <p:nvSpPr>
          <p:cNvPr id="26" name="Footer">
            <a:extLst>
              <a:ext uri="{FF2B5EF4-FFF2-40B4-BE49-F238E27FC236}">
                <a16:creationId xmlns:a16="http://schemas.microsoft.com/office/drawing/2014/main" id="{258F78B4-6BED-E5C5-5445-F23B88A71046}"/>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PMP® Examination Content Outline (July 2026), Business Environment Task 8; F. J. Aguilar, Scanning the Business Environment (1967); adapted from PMI course material</a:t>
            </a:r>
          </a:p>
        </p:txBody>
      </p:sp>
      <p:sp>
        <p:nvSpPr>
          <p:cNvPr id="27" name="SlideNum">
            <a:extLst>
              <a:ext uri="{FF2B5EF4-FFF2-40B4-BE49-F238E27FC236}">
                <a16:creationId xmlns:a16="http://schemas.microsoft.com/office/drawing/2014/main" id="{D5B28D00-D5BB-7231-262E-92DA0E1130B4}"/>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85</a:t>
            </a:r>
          </a:p>
        </p:txBody>
      </p:sp>
      <p:sp>
        <p:nvSpPr>
          <p:cNvPr id="28"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36618613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798016BB-55F9-8EAD-1349-21B827ECAD29}"/>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Artificial intelligence in project management</a:t>
            </a:r>
          </a:p>
        </p:txBody>
      </p:sp>
      <p:sp>
        <p:nvSpPr>
          <p:cNvPr id="3" name="Tag">
            <a:extLst>
              <a:ext uri="{FF2B5EF4-FFF2-40B4-BE49-F238E27FC236}">
                <a16:creationId xmlns:a16="http://schemas.microsoft.com/office/drawing/2014/main" id="{5B2131CC-6A19-6036-6747-68A7AAC15266}"/>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A84A2E"/>
                </a:solidFill>
                <a:latin typeface="Calibri" panose="020F0502020204030204" pitchFamily="34" charset="0"/>
              </a:rPr>
              <a:t>Business Environment deep dive · A trend PMI built into the July 2026 outline</a:t>
            </a:r>
          </a:p>
        </p:txBody>
      </p:sp>
      <p:sp>
        <p:nvSpPr>
          <p:cNvPr id="4" name="Rectangle: Rounded Corners 3">
            <a:extLst>
              <a:ext uri="{FF2B5EF4-FFF2-40B4-BE49-F238E27FC236}">
                <a16:creationId xmlns:a16="http://schemas.microsoft.com/office/drawing/2014/main" id="{5D9049FD-CABB-BC66-56C7-ACF85D21F662}"/>
              </a:ext>
            </a:extLst>
          </p:cNvPr>
          <p:cNvSpPr/>
          <p:nvPr/>
        </p:nvSpPr>
        <p:spPr>
          <a:xfrm>
            <a:off x="508000" y="1320800"/>
            <a:ext cx="3606800" cy="2921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DD2E4C2-AE43-DE20-F282-C08CE9EDE667}"/>
              </a:ext>
            </a:extLst>
          </p:cNvPr>
          <p:cNvSpPr txBox="1"/>
          <p:nvPr/>
        </p:nvSpPr>
        <p:spPr>
          <a:xfrm>
            <a:off x="685800" y="1498600"/>
            <a:ext cx="3251200" cy="2565400"/>
          </a:xfrm>
          <a:prstGeom prst="rect">
            <a:avLst/>
          </a:prstGeom>
          <a:noFill/>
        </p:spPr>
        <p:txBody>
          <a:bodyPr vert="horz" wrap="square" lIns="0" tIns="0" rIns="0" bIns="0" rtlCol="0" anchor="t">
            <a:noAutofit/>
          </a:bodyPr>
          <a:lstStyle/>
          <a:p>
            <a:pPr>
              <a:spcAft>
                <a:spcPts val="600"/>
              </a:spcAft>
            </a:pPr>
            <a:r>
              <a:rPr lang="en-US" sz="1600" b="1">
                <a:solidFill>
                  <a:srgbClr val="34509A"/>
                </a:solidFill>
                <a:latin typeface="Calibri" panose="020F0502020204030204" pitchFamily="34" charset="0"/>
              </a:rPr>
              <a:t>Where AI helps</a:t>
            </a:r>
          </a:p>
          <a:p>
            <a:pPr>
              <a:spcAft>
                <a:spcPts val="400"/>
              </a:spcAft>
            </a:pPr>
            <a:r>
              <a:rPr lang="en-US" sz="1300" b="1">
                <a:solidFill>
                  <a:srgbClr val="14213D"/>
                </a:solidFill>
                <a:latin typeface="Calibri" panose="020F0502020204030204" pitchFamily="34" charset="0"/>
              </a:rPr>
              <a:t>Automating routine work:</a:t>
            </a:r>
            <a:r>
              <a:rPr lang="en-US" sz="1300">
                <a:solidFill>
                  <a:srgbClr val="1F2937"/>
                </a:solidFill>
                <a:latin typeface="Calibri" panose="020F0502020204030204" pitchFamily="34" charset="0"/>
              </a:rPr>
              <a:t> status reports, meeting notes, schedule updates.</a:t>
            </a:r>
          </a:p>
          <a:p>
            <a:pPr>
              <a:spcAft>
                <a:spcPts val="400"/>
              </a:spcAft>
            </a:pPr>
            <a:r>
              <a:rPr lang="en-US" sz="1300" b="1">
                <a:solidFill>
                  <a:srgbClr val="14213D"/>
                </a:solidFill>
                <a:latin typeface="Calibri" panose="020F0502020204030204" pitchFamily="34" charset="0"/>
              </a:rPr>
              <a:t>Analytics:</a:t>
            </a:r>
            <a:r>
              <a:rPr lang="en-US" sz="1300">
                <a:solidFill>
                  <a:srgbClr val="1F2937"/>
                </a:solidFill>
                <a:latin typeface="Calibri" panose="020F0502020204030204" pitchFamily="34" charset="0"/>
              </a:rPr>
              <a:t> spotting risk patterns and forecasting finish dates and costs.</a:t>
            </a:r>
          </a:p>
          <a:p>
            <a:pPr>
              <a:spcAft>
                <a:spcPts val="400"/>
              </a:spcAft>
            </a:pPr>
            <a:r>
              <a:rPr lang="en-US" sz="1300" b="1">
                <a:solidFill>
                  <a:srgbClr val="14213D"/>
                </a:solidFill>
                <a:latin typeface="Calibri" panose="020F0502020204030204" pitchFamily="34" charset="0"/>
              </a:rPr>
              <a:t>Assistance:</a:t>
            </a:r>
            <a:r>
              <a:rPr lang="en-US" sz="1300">
                <a:solidFill>
                  <a:srgbClr val="1F2937"/>
                </a:solidFill>
                <a:latin typeface="Calibri" panose="020F0502020204030204" pitchFamily="34" charset="0"/>
              </a:rPr>
              <a:t> drafting plans and summarizing documents and feedback.</a:t>
            </a:r>
          </a:p>
        </p:txBody>
      </p:sp>
      <p:sp>
        <p:nvSpPr>
          <p:cNvPr id="6" name="Rectangle: Rounded Corners 5">
            <a:extLst>
              <a:ext uri="{FF2B5EF4-FFF2-40B4-BE49-F238E27FC236}">
                <a16:creationId xmlns:a16="http://schemas.microsoft.com/office/drawing/2014/main" id="{0A3A173E-A5DE-F4C6-0113-6B4226ECD0D4}"/>
              </a:ext>
            </a:extLst>
          </p:cNvPr>
          <p:cNvSpPr/>
          <p:nvPr/>
        </p:nvSpPr>
        <p:spPr>
          <a:xfrm>
            <a:off x="4292600" y="1320800"/>
            <a:ext cx="3606800" cy="29210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1764484-C176-26E5-4E4D-1AEBC46C7130}"/>
              </a:ext>
            </a:extLst>
          </p:cNvPr>
          <p:cNvSpPr txBox="1"/>
          <p:nvPr/>
        </p:nvSpPr>
        <p:spPr>
          <a:xfrm>
            <a:off x="4470400" y="1498600"/>
            <a:ext cx="3251200" cy="2565400"/>
          </a:xfrm>
          <a:prstGeom prst="rect">
            <a:avLst/>
          </a:prstGeom>
          <a:noFill/>
        </p:spPr>
        <p:txBody>
          <a:bodyPr vert="horz" wrap="square" lIns="0" tIns="0" rIns="0" bIns="0" rtlCol="0" anchor="t">
            <a:noAutofit/>
          </a:bodyPr>
          <a:lstStyle/>
          <a:p>
            <a:pPr>
              <a:spcAft>
                <a:spcPts val="600"/>
              </a:spcAft>
            </a:pPr>
            <a:r>
              <a:rPr lang="en-US" sz="1600" b="1">
                <a:solidFill>
                  <a:srgbClr val="A84A2E"/>
                </a:solidFill>
                <a:latin typeface="Calibri" panose="020F0502020204030204" pitchFamily="34" charset="0"/>
              </a:rPr>
              <a:t>Risks to manage</a:t>
            </a:r>
          </a:p>
          <a:p>
            <a:pPr marL="203200" indent="-203200">
              <a:spcAft>
                <a:spcPts val="400"/>
              </a:spcAft>
              <a:buClr>
                <a:srgbClr val="A84A2E"/>
              </a:buClr>
              <a:buFont typeface="+mj-lt"/>
              <a:buChar char="•"/>
            </a:pPr>
            <a:r>
              <a:rPr lang="en-US" sz="1300">
                <a:solidFill>
                  <a:srgbClr val="1F2937"/>
                </a:solidFill>
                <a:latin typeface="Calibri" panose="020F0502020204030204" pitchFamily="34" charset="0"/>
              </a:rPr>
              <a:t>Privacy and security of confidential project data.</a:t>
            </a:r>
          </a:p>
          <a:p>
            <a:pPr marL="203200" indent="-203200">
              <a:spcAft>
                <a:spcPts val="400"/>
              </a:spcAft>
              <a:buClr>
                <a:srgbClr val="A84A2E"/>
              </a:buClr>
              <a:buFont typeface="+mj-lt"/>
              <a:buChar char="•"/>
            </a:pPr>
            <a:r>
              <a:rPr lang="en-US" sz="1300">
                <a:solidFill>
                  <a:srgbClr val="1F2937"/>
                </a:solidFill>
                <a:latin typeface="Calibri" panose="020F0502020204030204" pitchFamily="34" charset="0"/>
              </a:rPr>
              <a:t>Bias, and inaccurate or invented output.</a:t>
            </a:r>
          </a:p>
          <a:p>
            <a:pPr marL="203200" indent="-203200">
              <a:spcAft>
                <a:spcPts val="400"/>
              </a:spcAft>
              <a:buClr>
                <a:srgbClr val="A84A2E"/>
              </a:buClr>
              <a:buFont typeface="+mj-lt"/>
              <a:buChar char="•"/>
            </a:pPr>
            <a:r>
              <a:rPr lang="en-US" sz="1300">
                <a:solidFill>
                  <a:srgbClr val="1F2937"/>
                </a:solidFill>
                <a:latin typeface="Calibri" panose="020F0502020204030204" pitchFamily="34" charset="0"/>
              </a:rPr>
              <a:t>Intellectual property and regulatory compliance.</a:t>
            </a:r>
          </a:p>
          <a:p>
            <a:pPr marL="203200" indent="-203200">
              <a:spcAft>
                <a:spcPts val="400"/>
              </a:spcAft>
              <a:buClr>
                <a:srgbClr val="A84A2E"/>
              </a:buClr>
              <a:buFont typeface="+mj-lt"/>
              <a:buChar char="•"/>
            </a:pPr>
            <a:r>
              <a:rPr lang="en-US" sz="1300">
                <a:solidFill>
                  <a:srgbClr val="1F2937"/>
                </a:solidFill>
                <a:latin typeface="Calibri" panose="020F0502020204030204" pitchFamily="34" charset="0"/>
              </a:rPr>
              <a:t>Overreliance that erodes judgment.</a:t>
            </a:r>
          </a:p>
        </p:txBody>
      </p:sp>
      <p:sp>
        <p:nvSpPr>
          <p:cNvPr id="8" name="Rectangle: Rounded Corners 7">
            <a:extLst>
              <a:ext uri="{FF2B5EF4-FFF2-40B4-BE49-F238E27FC236}">
                <a16:creationId xmlns:a16="http://schemas.microsoft.com/office/drawing/2014/main" id="{534FCE1A-CB4F-BC24-B550-FAEB06F7B1B8}"/>
              </a:ext>
            </a:extLst>
          </p:cNvPr>
          <p:cNvSpPr/>
          <p:nvPr/>
        </p:nvSpPr>
        <p:spPr>
          <a:xfrm>
            <a:off x="8077200" y="1320800"/>
            <a:ext cx="3606800" cy="29210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D08AE53-5EB4-F4DA-8D7B-F20DD1F733F2}"/>
              </a:ext>
            </a:extLst>
          </p:cNvPr>
          <p:cNvSpPr txBox="1"/>
          <p:nvPr/>
        </p:nvSpPr>
        <p:spPr>
          <a:xfrm>
            <a:off x="8255000" y="1498600"/>
            <a:ext cx="3251200" cy="2565400"/>
          </a:xfrm>
          <a:prstGeom prst="rect">
            <a:avLst/>
          </a:prstGeom>
          <a:noFill/>
        </p:spPr>
        <p:txBody>
          <a:bodyPr vert="horz" wrap="square" lIns="0" tIns="0" rIns="0" bIns="0" rtlCol="0" anchor="t">
            <a:noAutofit/>
          </a:bodyPr>
          <a:lstStyle/>
          <a:p>
            <a:pPr>
              <a:spcAft>
                <a:spcPts val="600"/>
              </a:spcAft>
            </a:pPr>
            <a:r>
              <a:rPr lang="en-US" sz="1600" b="1">
                <a:solidFill>
                  <a:srgbClr val="A86F0E"/>
                </a:solidFill>
                <a:latin typeface="Calibri" panose="020F0502020204030204" pitchFamily="34" charset="0"/>
              </a:rPr>
              <a:t>The project manager’s role</a:t>
            </a:r>
          </a:p>
          <a:p>
            <a:pPr marL="203200" indent="-203200">
              <a:spcAft>
                <a:spcPts val="400"/>
              </a:spcAft>
              <a:buClr>
                <a:srgbClr val="A86F0E"/>
              </a:buClr>
              <a:buFont typeface="+mj-lt"/>
              <a:buChar char="•"/>
            </a:pPr>
            <a:r>
              <a:rPr lang="en-US" sz="1300">
                <a:solidFill>
                  <a:srgbClr val="1F2937"/>
                </a:solidFill>
                <a:latin typeface="Calibri" panose="020F0502020204030204" pitchFamily="34" charset="0"/>
              </a:rPr>
              <a:t>Keep a human accountable for decisions.</a:t>
            </a:r>
          </a:p>
          <a:p>
            <a:pPr marL="203200" indent="-203200">
              <a:spcAft>
                <a:spcPts val="400"/>
              </a:spcAft>
              <a:buClr>
                <a:srgbClr val="A86F0E"/>
              </a:buClr>
              <a:buFont typeface="+mj-lt"/>
              <a:buChar char="•"/>
            </a:pPr>
            <a:r>
              <a:rPr lang="en-US" sz="1300">
                <a:solidFill>
                  <a:srgbClr val="1F2937"/>
                </a:solidFill>
                <a:latin typeface="Calibri" panose="020F0502020204030204" pitchFamily="34" charset="0"/>
              </a:rPr>
              <a:t>Verify AI output before using it.</a:t>
            </a:r>
          </a:p>
          <a:p>
            <a:pPr marL="203200" indent="-203200">
              <a:spcAft>
                <a:spcPts val="400"/>
              </a:spcAft>
              <a:buClr>
                <a:srgbClr val="A86F0E"/>
              </a:buClr>
              <a:buFont typeface="+mj-lt"/>
              <a:buChar char="•"/>
            </a:pPr>
            <a:r>
              <a:rPr lang="en-US" sz="1300">
                <a:solidFill>
                  <a:srgbClr val="1F2937"/>
                </a:solidFill>
                <a:latin typeface="Calibri" panose="020F0502020204030204" pitchFamily="34" charset="0"/>
              </a:rPr>
              <a:t>Follow the organization’s AI policy and governance.</a:t>
            </a:r>
          </a:p>
          <a:p>
            <a:pPr marL="203200" indent="-203200">
              <a:spcAft>
                <a:spcPts val="400"/>
              </a:spcAft>
              <a:buClr>
                <a:srgbClr val="A86F0E"/>
              </a:buClr>
              <a:buFont typeface="+mj-lt"/>
              <a:buChar char="•"/>
            </a:pPr>
            <a:r>
              <a:rPr lang="en-US" sz="1300">
                <a:solidFill>
                  <a:srgbClr val="1F2937"/>
                </a:solidFill>
                <a:latin typeface="Calibri" panose="020F0502020204030204" pitchFamily="34" charset="0"/>
              </a:rPr>
              <a:t>Be open with stakeholders about AI use.</a:t>
            </a:r>
          </a:p>
          <a:p>
            <a:pPr marL="203200" indent="-203200">
              <a:spcAft>
                <a:spcPts val="400"/>
              </a:spcAft>
              <a:buClr>
                <a:srgbClr val="A86F0E"/>
              </a:buClr>
              <a:buFont typeface="+mj-lt"/>
              <a:buChar char="•"/>
            </a:pPr>
            <a:r>
              <a:rPr lang="en-US" sz="1300">
                <a:solidFill>
                  <a:srgbClr val="1F2937"/>
                </a:solidFill>
                <a:latin typeface="Calibri" panose="020F0502020204030204" pitchFamily="34" charset="0"/>
              </a:rPr>
              <a:t>Train the team to use it well.</a:t>
            </a:r>
          </a:p>
        </p:txBody>
      </p:sp>
      <p:sp>
        <p:nvSpPr>
          <p:cNvPr id="10" name="Rectangle: Rounded Corners 9">
            <a:extLst>
              <a:ext uri="{FF2B5EF4-FFF2-40B4-BE49-F238E27FC236}">
                <a16:creationId xmlns:a16="http://schemas.microsoft.com/office/drawing/2014/main" id="{29B28D6E-3CE7-FA64-EBCD-6BA348629A6D}"/>
              </a:ext>
            </a:extLst>
          </p:cNvPr>
          <p:cNvSpPr/>
          <p:nvPr/>
        </p:nvSpPr>
        <p:spPr>
          <a:xfrm>
            <a:off x="508000" y="4368800"/>
            <a:ext cx="11176000" cy="9906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9F9201E-5616-A4DC-DD3C-BED1199BBA8A}"/>
              </a:ext>
            </a:extLst>
          </p:cNvPr>
          <p:cNvSpPr txBox="1"/>
          <p:nvPr/>
        </p:nvSpPr>
        <p:spPr>
          <a:xfrm>
            <a:off x="660400" y="4521200"/>
            <a:ext cx="10871200" cy="685800"/>
          </a:xfrm>
          <a:prstGeom prst="rect">
            <a:avLst/>
          </a:prstGeom>
          <a:noFill/>
        </p:spPr>
        <p:txBody>
          <a:bodyPr vert="horz" wrap="square" lIns="0" tIns="0" rIns="0" bIns="0" rtlCol="0" anchor="t">
            <a:noAutofit/>
          </a:bodyPr>
          <a:lstStyle/>
          <a:p>
            <a:pPr>
              <a:spcAft>
                <a:spcPts val="600"/>
              </a:spcAft>
            </a:pPr>
            <a:r>
              <a:rPr lang="en-US" sz="1400" b="1">
                <a:solidFill>
                  <a:srgbClr val="A84A2E"/>
                </a:solidFill>
                <a:latin typeface="Calibri" panose="020F0502020204030204" pitchFamily="34" charset="0"/>
              </a:rPr>
              <a:t>Governance first</a:t>
            </a:r>
          </a:p>
          <a:p>
            <a:r>
              <a:rPr lang="en-US" sz="1300">
                <a:solidFill>
                  <a:srgbClr val="1F2937"/>
                </a:solidFill>
                <a:latin typeface="Calibri" panose="020F0502020204030204" pitchFamily="34" charset="0"/>
              </a:rPr>
              <a:t>Use only approved tools, keep confidential or personal data out of unapproved AI services, and record where AI informed a decision so it can be reviewed.</a:t>
            </a:r>
          </a:p>
        </p:txBody>
      </p:sp>
      <p:sp>
        <p:nvSpPr>
          <p:cNvPr id="12" name="Rectangle: Rounded Corners 11">
            <a:extLst>
              <a:ext uri="{FF2B5EF4-FFF2-40B4-BE49-F238E27FC236}">
                <a16:creationId xmlns:a16="http://schemas.microsoft.com/office/drawing/2014/main" id="{A96CF0FD-EB21-592C-AEDC-1070785A4A90}"/>
              </a:ext>
            </a:extLst>
          </p:cNvPr>
          <p:cNvSpPr/>
          <p:nvPr/>
        </p:nvSpPr>
        <p:spPr>
          <a:xfrm>
            <a:off x="508000" y="5486400"/>
            <a:ext cx="11176000" cy="838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887887D-91AC-0B85-24EB-15092893F284}"/>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AI supports judgment; it doesn’t replace accountability. Check AI output, protect sensitive data, and stay within governance and compliance rules.</a:t>
            </a:r>
          </a:p>
        </p:txBody>
      </p:sp>
      <p:sp>
        <p:nvSpPr>
          <p:cNvPr id="14" name="Footer">
            <a:extLst>
              <a:ext uri="{FF2B5EF4-FFF2-40B4-BE49-F238E27FC236}">
                <a16:creationId xmlns:a16="http://schemas.microsoft.com/office/drawing/2014/main" id="{DDFFF3FE-BE74-F54E-6396-BD4E28E5B860}"/>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PMP® Examination Content Outline (July 2026), Introduction; NIST, AI Risk Management Framework (AI RMF 1.0, 2023)</a:t>
            </a:r>
          </a:p>
        </p:txBody>
      </p:sp>
      <p:sp>
        <p:nvSpPr>
          <p:cNvPr id="15" name="SlideNum">
            <a:extLst>
              <a:ext uri="{FF2B5EF4-FFF2-40B4-BE49-F238E27FC236}">
                <a16:creationId xmlns:a16="http://schemas.microsoft.com/office/drawing/2014/main" id="{4177C2C1-48FA-D1C3-28FB-2C192B2159D8}"/>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86</a:t>
            </a:r>
          </a:p>
        </p:txBody>
      </p:sp>
      <p:sp>
        <p:nvSpPr>
          <p:cNvPr id="16"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17841412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3808B62-28D0-0F6A-6ED4-B48978B2B653}"/>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Sustainability in projects</a:t>
            </a:r>
          </a:p>
        </p:txBody>
      </p:sp>
      <p:sp>
        <p:nvSpPr>
          <p:cNvPr id="3" name="Tag">
            <a:extLst>
              <a:ext uri="{FF2B5EF4-FFF2-40B4-BE49-F238E27FC236}">
                <a16:creationId xmlns:a16="http://schemas.microsoft.com/office/drawing/2014/main" id="{0FC43032-1299-3D27-2A08-93B1E990C5C5}"/>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A84A2E"/>
                </a:solidFill>
                <a:latin typeface="Calibri" panose="020F0502020204030204" pitchFamily="34" charset="0"/>
              </a:rPr>
              <a:t>Business Environment deep dive · Appears in Process Tasks 1 and 7 and Business Environment Tasks 2 and 5</a:t>
            </a:r>
          </a:p>
        </p:txBody>
      </p:sp>
      <p:sp>
        <p:nvSpPr>
          <p:cNvPr id="4" name="TextBox 3">
            <a:extLst>
              <a:ext uri="{FF2B5EF4-FFF2-40B4-BE49-F238E27FC236}">
                <a16:creationId xmlns:a16="http://schemas.microsoft.com/office/drawing/2014/main" id="{8D485C4E-4CDB-9688-6527-5B9BBA9F0342}"/>
              </a:ext>
            </a:extLst>
          </p:cNvPr>
          <p:cNvSpPr txBox="1"/>
          <p:nvPr/>
        </p:nvSpPr>
        <p:spPr>
          <a:xfrm>
            <a:off x="508000" y="1320800"/>
            <a:ext cx="3810000" cy="228600"/>
          </a:xfrm>
          <a:prstGeom prst="rect">
            <a:avLst/>
          </a:prstGeom>
          <a:noFill/>
        </p:spPr>
        <p:txBody>
          <a:bodyPr vert="horz" wrap="square" lIns="0" tIns="0" rIns="0" bIns="0" rtlCol="0" anchor="t">
            <a:noAutofit/>
          </a:bodyPr>
          <a:lstStyle/>
          <a:p>
            <a:r>
              <a:rPr lang="en-US" sz="1400" b="1">
                <a:solidFill>
                  <a:srgbClr val="A84A2E"/>
                </a:solidFill>
                <a:latin typeface="Calibri" panose="020F0502020204030204" pitchFamily="34" charset="0"/>
              </a:rPr>
              <a:t>Triple bottom line</a:t>
            </a:r>
          </a:p>
        </p:txBody>
      </p:sp>
      <p:sp>
        <p:nvSpPr>
          <p:cNvPr id="5" name="Rectangle: Rounded Corners 4">
            <a:extLst>
              <a:ext uri="{FF2B5EF4-FFF2-40B4-BE49-F238E27FC236}">
                <a16:creationId xmlns:a16="http://schemas.microsoft.com/office/drawing/2014/main" id="{98D76576-372D-3C63-D43F-E17AA4FF30AD}"/>
              </a:ext>
            </a:extLst>
          </p:cNvPr>
          <p:cNvSpPr/>
          <p:nvPr/>
        </p:nvSpPr>
        <p:spPr>
          <a:xfrm>
            <a:off x="508000" y="1625600"/>
            <a:ext cx="3810000" cy="762000"/>
          </a:xfrm>
          <a:prstGeom prst="roundRect">
            <a:avLst>
              <a:gd name="adj" fmla="val 8000"/>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52400" tIns="25400" rIns="152400" bIns="25400" rtlCol="0" anchor="ctr"/>
          <a:lstStyle/>
          <a:p>
            <a:r>
              <a:rPr lang="en-US" sz="1500" b="1">
                <a:solidFill>
                  <a:srgbClr val="FFFFFF"/>
                </a:solidFill>
                <a:latin typeface="Calibri" panose="020F0502020204030204" pitchFamily="34" charset="0"/>
              </a:rPr>
              <a:t>People</a:t>
            </a:r>
          </a:p>
          <a:p>
            <a:r>
              <a:rPr lang="en-US" sz="1200">
                <a:solidFill>
                  <a:srgbClr val="FFFFFF"/>
                </a:solidFill>
                <a:latin typeface="Calibri" panose="020F0502020204030204" pitchFamily="34" charset="0"/>
              </a:rPr>
              <a:t>Social impact on workers, users, and communities</a:t>
            </a:r>
          </a:p>
        </p:txBody>
      </p:sp>
      <p:sp>
        <p:nvSpPr>
          <p:cNvPr id="6" name="Rectangle: Rounded Corners 5">
            <a:extLst>
              <a:ext uri="{FF2B5EF4-FFF2-40B4-BE49-F238E27FC236}">
                <a16:creationId xmlns:a16="http://schemas.microsoft.com/office/drawing/2014/main" id="{7D1882BC-04F3-B5C8-A7F0-E2F84DD4B636}"/>
              </a:ext>
            </a:extLst>
          </p:cNvPr>
          <p:cNvSpPr/>
          <p:nvPr/>
        </p:nvSpPr>
        <p:spPr>
          <a:xfrm>
            <a:off x="508000" y="2463800"/>
            <a:ext cx="3810000" cy="762000"/>
          </a:xfrm>
          <a:prstGeom prst="roundRect">
            <a:avLst>
              <a:gd name="adj" fmla="val 8000"/>
            </a:avLst>
          </a:prstGeom>
          <a:solidFill>
            <a:srgbClr val="4E7D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52400" tIns="25400" rIns="152400" bIns="25400" rtlCol="0" anchor="ctr"/>
          <a:lstStyle/>
          <a:p>
            <a:r>
              <a:rPr lang="en-US" sz="1500" b="1">
                <a:solidFill>
                  <a:srgbClr val="FFFFFF"/>
                </a:solidFill>
                <a:latin typeface="Calibri" panose="020F0502020204030204" pitchFamily="34" charset="0"/>
              </a:rPr>
              <a:t>Planet</a:t>
            </a:r>
          </a:p>
          <a:p>
            <a:r>
              <a:rPr lang="en-US" sz="1200">
                <a:solidFill>
                  <a:srgbClr val="FFFFFF"/>
                </a:solidFill>
                <a:latin typeface="Calibri" panose="020F0502020204030204" pitchFamily="34" charset="0"/>
              </a:rPr>
              <a:t>Energy, emissions, materials, and waste</a:t>
            </a:r>
          </a:p>
        </p:txBody>
      </p:sp>
      <p:sp>
        <p:nvSpPr>
          <p:cNvPr id="7" name="Rectangle: Rounded Corners 6">
            <a:extLst>
              <a:ext uri="{FF2B5EF4-FFF2-40B4-BE49-F238E27FC236}">
                <a16:creationId xmlns:a16="http://schemas.microsoft.com/office/drawing/2014/main" id="{753FEB81-F207-324E-CB39-FDF3DB99595C}"/>
              </a:ext>
            </a:extLst>
          </p:cNvPr>
          <p:cNvSpPr/>
          <p:nvPr/>
        </p:nvSpPr>
        <p:spPr>
          <a:xfrm>
            <a:off x="508000" y="3302000"/>
            <a:ext cx="3810000" cy="762000"/>
          </a:xfrm>
          <a:prstGeom prst="roundRect">
            <a:avLst>
              <a:gd name="adj" fmla="val 8000"/>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52400" tIns="25400" rIns="152400" bIns="25400" rtlCol="0" anchor="ctr"/>
          <a:lstStyle/>
          <a:p>
            <a:r>
              <a:rPr lang="en-US" sz="1500" b="1">
                <a:solidFill>
                  <a:srgbClr val="14213D"/>
                </a:solidFill>
                <a:latin typeface="Calibri" panose="020F0502020204030204" pitchFamily="34" charset="0"/>
              </a:rPr>
              <a:t>Profit</a:t>
            </a:r>
          </a:p>
          <a:p>
            <a:r>
              <a:rPr lang="en-US" sz="1200">
                <a:solidFill>
                  <a:srgbClr val="14213D"/>
                </a:solidFill>
                <a:latin typeface="Calibri" panose="020F0502020204030204" pitchFamily="34" charset="0"/>
              </a:rPr>
              <a:t>Economic value over the product’s whole life</a:t>
            </a:r>
          </a:p>
        </p:txBody>
      </p:sp>
      <p:sp>
        <p:nvSpPr>
          <p:cNvPr id="8" name="Rectangle: Rounded Corners 7">
            <a:extLst>
              <a:ext uri="{FF2B5EF4-FFF2-40B4-BE49-F238E27FC236}">
                <a16:creationId xmlns:a16="http://schemas.microsoft.com/office/drawing/2014/main" id="{9F0AAF6E-47C0-1A3A-0221-A34DE0546FDC}"/>
              </a:ext>
            </a:extLst>
          </p:cNvPr>
          <p:cNvSpPr/>
          <p:nvPr/>
        </p:nvSpPr>
        <p:spPr>
          <a:xfrm>
            <a:off x="4572000" y="1320800"/>
            <a:ext cx="7112000" cy="28194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6447E29-6BEF-6137-2ABC-7CF2991E4D1C}"/>
              </a:ext>
            </a:extLst>
          </p:cNvPr>
          <p:cNvSpPr txBox="1"/>
          <p:nvPr/>
        </p:nvSpPr>
        <p:spPr>
          <a:xfrm>
            <a:off x="4749800" y="1498600"/>
            <a:ext cx="6756400" cy="2463800"/>
          </a:xfrm>
          <a:prstGeom prst="rect">
            <a:avLst/>
          </a:prstGeom>
          <a:noFill/>
        </p:spPr>
        <p:txBody>
          <a:bodyPr vert="horz" wrap="square" lIns="0" tIns="0" rIns="0" bIns="0" rtlCol="0" anchor="t">
            <a:noAutofit/>
          </a:bodyPr>
          <a:lstStyle/>
          <a:p>
            <a:pPr>
              <a:spcAft>
                <a:spcPts val="600"/>
              </a:spcAft>
            </a:pPr>
            <a:r>
              <a:rPr lang="en-US" sz="1500" b="1">
                <a:solidFill>
                  <a:srgbClr val="A84A2E"/>
                </a:solidFill>
                <a:latin typeface="Calibri" panose="020F0502020204030204" pitchFamily="34" charset="0"/>
              </a:rPr>
              <a:t>Where it appears in the July 2026 outline</a:t>
            </a:r>
          </a:p>
          <a:p>
            <a:pPr>
              <a:spcAft>
                <a:spcPts val="400"/>
              </a:spcAft>
            </a:pPr>
            <a:r>
              <a:rPr lang="en-US" sz="1300" b="1">
                <a:solidFill>
                  <a:srgbClr val="14213D"/>
                </a:solidFill>
                <a:latin typeface="Calibri" panose="020F0502020204030204" pitchFamily="34" charset="0"/>
              </a:rPr>
              <a:t>Process Task 1:</a:t>
            </a:r>
            <a:r>
              <a:rPr lang="en-US" sz="1300">
                <a:solidFill>
                  <a:srgbClr val="1F2937"/>
                </a:solidFill>
                <a:latin typeface="Calibri" panose="020F0502020204030204" pitchFamily="34" charset="0"/>
              </a:rPr>
              <a:t> a critical information requirement in planning.</a:t>
            </a:r>
          </a:p>
          <a:p>
            <a:pPr>
              <a:spcAft>
                <a:spcPts val="400"/>
              </a:spcAft>
            </a:pPr>
            <a:r>
              <a:rPr lang="en-US" sz="1300" b="1">
                <a:solidFill>
                  <a:srgbClr val="14213D"/>
                </a:solidFill>
                <a:latin typeface="Calibri" panose="020F0502020204030204" pitchFamily="34" charset="0"/>
              </a:rPr>
              <a:t>Process Task 7:</a:t>
            </a:r>
            <a:r>
              <a:rPr lang="en-US" sz="1300">
                <a:solidFill>
                  <a:srgbClr val="1F2937"/>
                </a:solidFill>
                <a:latin typeface="Calibri" panose="020F0502020204030204" pitchFamily="34" charset="0"/>
              </a:rPr>
              <a:t> managed alongside the cost of quality.</a:t>
            </a:r>
          </a:p>
          <a:p>
            <a:pPr>
              <a:spcAft>
                <a:spcPts val="400"/>
              </a:spcAft>
            </a:pPr>
            <a:r>
              <a:rPr lang="en-US" sz="1300" b="1">
                <a:solidFill>
                  <a:srgbClr val="14213D"/>
                </a:solidFill>
                <a:latin typeface="Calibri" panose="020F0502020204030204" pitchFamily="34" charset="0"/>
              </a:rPr>
              <a:t>Business Environment Task 2:</a:t>
            </a:r>
            <a:r>
              <a:rPr lang="en-US" sz="1300">
                <a:solidFill>
                  <a:srgbClr val="1F2937"/>
                </a:solidFill>
                <a:latin typeface="Calibri" panose="020F0502020204030204" pitchFamily="34" charset="0"/>
              </a:rPr>
              <a:t> a compliance requirement.</a:t>
            </a:r>
          </a:p>
          <a:p>
            <a:pPr>
              <a:spcAft>
                <a:spcPts val="400"/>
              </a:spcAft>
            </a:pPr>
            <a:r>
              <a:rPr lang="en-US" sz="1300" b="1">
                <a:solidFill>
                  <a:srgbClr val="14213D"/>
                </a:solidFill>
                <a:latin typeface="Calibri" panose="020F0502020204030204" pitchFamily="34" charset="0"/>
              </a:rPr>
              <a:t>Business Environment Task 5:</a:t>
            </a:r>
            <a:r>
              <a:rPr lang="en-US" sz="1300">
                <a:solidFill>
                  <a:srgbClr val="1F2937"/>
                </a:solidFill>
                <a:latin typeface="Calibri" panose="020F0502020204030204" pitchFamily="34" charset="0"/>
              </a:rPr>
              <a:t> sustainability risks in the risk plan.</a:t>
            </a:r>
          </a:p>
        </p:txBody>
      </p:sp>
      <p:sp>
        <p:nvSpPr>
          <p:cNvPr id="10" name="Rectangle: Rounded Corners 9">
            <a:extLst>
              <a:ext uri="{FF2B5EF4-FFF2-40B4-BE49-F238E27FC236}">
                <a16:creationId xmlns:a16="http://schemas.microsoft.com/office/drawing/2014/main" id="{9A3CAD7D-57BE-2787-9D2F-6354B2DD2715}"/>
              </a:ext>
            </a:extLst>
          </p:cNvPr>
          <p:cNvSpPr/>
          <p:nvPr/>
        </p:nvSpPr>
        <p:spPr>
          <a:xfrm>
            <a:off x="508000" y="4267200"/>
            <a:ext cx="11176000" cy="10922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5D8F5E2-8775-DD9A-640C-232F6DF39F6F}"/>
              </a:ext>
            </a:extLst>
          </p:cNvPr>
          <p:cNvSpPr txBox="1"/>
          <p:nvPr/>
        </p:nvSpPr>
        <p:spPr>
          <a:xfrm>
            <a:off x="660400" y="4419600"/>
            <a:ext cx="10871200" cy="787400"/>
          </a:xfrm>
          <a:prstGeom prst="rect">
            <a:avLst/>
          </a:prstGeom>
          <a:noFill/>
        </p:spPr>
        <p:txBody>
          <a:bodyPr vert="horz" wrap="square" lIns="0" tIns="0" rIns="0" bIns="0" rtlCol="0" anchor="t">
            <a:noAutofit/>
          </a:bodyPr>
          <a:lstStyle/>
          <a:p>
            <a:pPr>
              <a:spcAft>
                <a:spcPts val="600"/>
              </a:spcAft>
            </a:pPr>
            <a:r>
              <a:rPr lang="en-US" sz="1400" b="1">
                <a:solidFill>
                  <a:srgbClr val="A86F0E"/>
                </a:solidFill>
                <a:latin typeface="Calibri" panose="020F0502020204030204" pitchFamily="34" charset="0"/>
              </a:rPr>
              <a:t>Practical steps</a:t>
            </a:r>
          </a:p>
          <a:p>
            <a:r>
              <a:rPr lang="en-US" sz="1300">
                <a:solidFill>
                  <a:srgbClr val="1F2937"/>
                </a:solidFill>
                <a:latin typeface="Calibri" panose="020F0502020204030204" pitchFamily="34" charset="0"/>
              </a:rPr>
              <a:t>Write sustainability into requirements and acceptance criteria, think across the product life cycle, choose suppliers on sustainability criteria, cut waste with lean practices, and report on agreed environmental, social, and governance (ESG) measures.</a:t>
            </a:r>
          </a:p>
        </p:txBody>
      </p:sp>
      <p:sp>
        <p:nvSpPr>
          <p:cNvPr id="12" name="Rectangle: Rounded Corners 11">
            <a:extLst>
              <a:ext uri="{FF2B5EF4-FFF2-40B4-BE49-F238E27FC236}">
                <a16:creationId xmlns:a16="http://schemas.microsoft.com/office/drawing/2014/main" id="{1CCA7E7F-7FA2-6341-5C3B-F2B95475CD31}"/>
              </a:ext>
            </a:extLst>
          </p:cNvPr>
          <p:cNvSpPr/>
          <p:nvPr/>
        </p:nvSpPr>
        <p:spPr>
          <a:xfrm>
            <a:off x="508000" y="5486400"/>
            <a:ext cx="11176000" cy="8382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B88526C-4815-30DA-45C7-B1D76DF3A058}"/>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treat sustainability as requirements, risks, and compliance obligations across the product’s whole life cycle, not as an optional add-on.</a:t>
            </a:r>
          </a:p>
        </p:txBody>
      </p:sp>
      <p:sp>
        <p:nvSpPr>
          <p:cNvPr id="14" name="Footer">
            <a:extLst>
              <a:ext uri="{FF2B5EF4-FFF2-40B4-BE49-F238E27FC236}">
                <a16:creationId xmlns:a16="http://schemas.microsoft.com/office/drawing/2014/main" id="{0DCB3604-90B5-9595-8B1B-93AC87857E54}"/>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PMP® Examination Content Outline (July 2026); John Elkington, triple bottom line (1994); United Nations, Sustainable Development Goals (2015)</a:t>
            </a:r>
          </a:p>
        </p:txBody>
      </p:sp>
      <p:sp>
        <p:nvSpPr>
          <p:cNvPr id="15" name="SlideNum">
            <a:extLst>
              <a:ext uri="{FF2B5EF4-FFF2-40B4-BE49-F238E27FC236}">
                <a16:creationId xmlns:a16="http://schemas.microsoft.com/office/drawing/2014/main" id="{2E1F842D-089E-C185-4F3F-9FC39CE3606F}"/>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87</a:t>
            </a:r>
          </a:p>
        </p:txBody>
      </p:sp>
      <p:sp>
        <p:nvSpPr>
          <p:cNvPr id="16"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38847716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2ADAAF-BE37-5175-AC6B-5816A2046FAA}"/>
              </a:ext>
            </a:extLst>
          </p:cNvPr>
          <p:cNvSpPr txBox="1"/>
          <p:nvPr/>
        </p:nvSpPr>
        <p:spPr>
          <a:xfrm>
            <a:off x="508000" y="1905000"/>
            <a:ext cx="6604000" cy="381000"/>
          </a:xfrm>
          <a:prstGeom prst="rect">
            <a:avLst/>
          </a:prstGeom>
          <a:noFill/>
        </p:spPr>
        <p:txBody>
          <a:bodyPr vert="horz" wrap="square" lIns="0" tIns="0" rIns="0" bIns="0" rtlCol="0" anchor="t">
            <a:noAutofit/>
          </a:bodyPr>
          <a:lstStyle/>
          <a:p>
            <a:r>
              <a:rPr lang="en-US" sz="2200" b="1">
                <a:solidFill>
                  <a:srgbClr val="B9A3D6"/>
                </a:solidFill>
                <a:latin typeface="Calibri" panose="020F0502020204030204" pitchFamily="34" charset="0"/>
              </a:rPr>
              <a:t>Agile essentials</a:t>
            </a:r>
          </a:p>
        </p:txBody>
      </p:sp>
      <p:sp>
        <p:nvSpPr>
          <p:cNvPr id="3" name="TextBox 2">
            <a:extLst>
              <a:ext uri="{FF2B5EF4-FFF2-40B4-BE49-F238E27FC236}">
                <a16:creationId xmlns:a16="http://schemas.microsoft.com/office/drawing/2014/main" id="{5DD25524-44FE-3E6D-536C-9A5A84851CA7}"/>
              </a:ext>
            </a:extLst>
          </p:cNvPr>
          <p:cNvSpPr txBox="1"/>
          <p:nvPr/>
        </p:nvSpPr>
        <p:spPr>
          <a:xfrm>
            <a:off x="508000" y="2349500"/>
            <a:ext cx="7620000" cy="1778000"/>
          </a:xfrm>
          <a:prstGeom prst="rect">
            <a:avLst/>
          </a:prstGeom>
          <a:noFill/>
        </p:spPr>
        <p:txBody>
          <a:bodyPr vert="horz" wrap="square" lIns="0" tIns="0" rIns="0" bIns="0" rtlCol="0" anchor="t">
            <a:noAutofit/>
          </a:bodyPr>
          <a:lstStyle/>
          <a:p>
            <a:r>
              <a:rPr lang="en-US" sz="5400" b="1">
                <a:solidFill>
                  <a:srgbClr val="FFFFFF"/>
                </a:solidFill>
                <a:latin typeface="Cambria" panose="02040503050406030204" pitchFamily="18" charset="0"/>
              </a:rPr>
              <a:t>Delivering in an</a:t>
            </a:r>
          </a:p>
          <a:p>
            <a:r>
              <a:rPr lang="en-US" sz="5400" b="1">
                <a:solidFill>
                  <a:srgbClr val="FFFFFF"/>
                </a:solidFill>
                <a:latin typeface="Cambria" panose="02040503050406030204" pitchFamily="18" charset="0"/>
              </a:rPr>
              <a:t>adaptive world</a:t>
            </a:r>
          </a:p>
        </p:txBody>
      </p:sp>
      <p:sp>
        <p:nvSpPr>
          <p:cNvPr id="4" name="TextBox 3">
            <a:extLst>
              <a:ext uri="{FF2B5EF4-FFF2-40B4-BE49-F238E27FC236}">
                <a16:creationId xmlns:a16="http://schemas.microsoft.com/office/drawing/2014/main" id="{510220B3-6D9E-6A4F-2297-E5B73C2DE51F}"/>
              </a:ext>
            </a:extLst>
          </p:cNvPr>
          <p:cNvSpPr txBox="1"/>
          <p:nvPr/>
        </p:nvSpPr>
        <p:spPr>
          <a:xfrm>
            <a:off x="508000" y="4318000"/>
            <a:ext cx="7620000" cy="889000"/>
          </a:xfrm>
          <a:prstGeom prst="rect">
            <a:avLst/>
          </a:prstGeom>
          <a:noFill/>
        </p:spPr>
        <p:txBody>
          <a:bodyPr vert="horz" wrap="square" lIns="0" tIns="0" rIns="0" bIns="0" rtlCol="0" anchor="t">
            <a:noAutofit/>
          </a:bodyPr>
          <a:lstStyle/>
          <a:p>
            <a:r>
              <a:rPr lang="en-US" sz="2000">
                <a:solidFill>
                  <a:srgbClr val="C9D6EA"/>
                </a:solidFill>
                <a:latin typeface="Calibri" panose="020F0502020204030204" pitchFamily="34" charset="0"/>
              </a:rPr>
              <a:t>About 60% of the exam is agile or hybrid. These slides cover the core of PMI’s Agile Practice Guide.</a:t>
            </a:r>
          </a:p>
        </p:txBody>
      </p:sp>
      <p:sp>
        <p:nvSpPr>
          <p:cNvPr id="27" name="Footer">
            <a:extLst>
              <a:ext uri="{FF2B5EF4-FFF2-40B4-BE49-F238E27FC236}">
                <a16:creationId xmlns:a16="http://schemas.microsoft.com/office/drawing/2014/main" id="{5DCD50C3-E6BE-B129-9B4A-396CA198C555}"/>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C9D6EA"/>
                </a:solidFill>
                <a:latin typeface="Calibri" panose="020F0502020204030204" pitchFamily="34" charset="0"/>
              </a:rPr>
              <a:t>Source: PMI and Agile Alliance, Agile Practice Guide (2017)</a:t>
            </a:r>
          </a:p>
        </p:txBody>
      </p:sp>
      <p:sp>
        <p:nvSpPr>
          <p:cNvPr id="5" name="Oval 4">
            <a:extLst>
              <a:ext uri="{FF2B5EF4-FFF2-40B4-BE49-F238E27FC236}">
                <a16:creationId xmlns:a16="http://schemas.microsoft.com/office/drawing/2014/main" id="{95995CC9-B050-A489-A608-62A7D39B9D1A}"/>
              </a:ext>
            </a:extLst>
          </p:cNvPr>
          <p:cNvSpPr/>
          <p:nvPr/>
        </p:nvSpPr>
        <p:spPr>
          <a:xfrm>
            <a:off x="8890000" y="812800"/>
            <a:ext cx="330200" cy="330200"/>
          </a:xfrm>
          <a:prstGeom prst="ellipse">
            <a:avLst/>
          </a:prstGeom>
          <a:solidFill>
            <a:srgbClr val="B9A3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100" b="1">
                <a:solidFill>
                  <a:srgbClr val="14213D"/>
                </a:solidFill>
                <a:latin typeface="Calibri" panose="020F0502020204030204" pitchFamily="34" charset="0"/>
              </a:rPr>
              <a:t>1</a:t>
            </a:r>
          </a:p>
        </p:txBody>
      </p:sp>
      <p:sp>
        <p:nvSpPr>
          <p:cNvPr id="6" name="TextBox 5">
            <a:extLst>
              <a:ext uri="{FF2B5EF4-FFF2-40B4-BE49-F238E27FC236}">
                <a16:creationId xmlns:a16="http://schemas.microsoft.com/office/drawing/2014/main" id="{11A8E74B-8929-9EB1-7BFC-1F646D6D4C63}"/>
              </a:ext>
            </a:extLst>
          </p:cNvPr>
          <p:cNvSpPr txBox="1"/>
          <p:nvPr/>
        </p:nvSpPr>
        <p:spPr>
          <a:xfrm>
            <a:off x="9372600" y="812800"/>
            <a:ext cx="2438400" cy="330200"/>
          </a:xfrm>
          <a:prstGeom prst="rect">
            <a:avLst/>
          </a:prstGeom>
          <a:noFill/>
        </p:spPr>
        <p:txBody>
          <a:bodyPr vert="horz" wrap="square" lIns="0" tIns="0" rIns="0" bIns="0" rtlCol="0" anchor="ctr">
            <a:noAutofit/>
          </a:bodyPr>
          <a:lstStyle/>
          <a:p>
            <a:r>
              <a:rPr lang="en-US" sz="1500">
                <a:solidFill>
                  <a:srgbClr val="FFFFFF"/>
                </a:solidFill>
                <a:latin typeface="Calibri" panose="020F0502020204030204" pitchFamily="34" charset="0"/>
              </a:rPr>
              <a:t>Agile mindset and Manifesto</a:t>
            </a:r>
          </a:p>
        </p:txBody>
      </p:sp>
      <p:sp>
        <p:nvSpPr>
          <p:cNvPr id="7" name="Oval 6">
            <a:extLst>
              <a:ext uri="{FF2B5EF4-FFF2-40B4-BE49-F238E27FC236}">
                <a16:creationId xmlns:a16="http://schemas.microsoft.com/office/drawing/2014/main" id="{6E388978-69E1-E906-E99F-8902030257B1}"/>
              </a:ext>
            </a:extLst>
          </p:cNvPr>
          <p:cNvSpPr/>
          <p:nvPr/>
        </p:nvSpPr>
        <p:spPr>
          <a:xfrm>
            <a:off x="8890000" y="1206500"/>
            <a:ext cx="330200" cy="330200"/>
          </a:xfrm>
          <a:prstGeom prst="ellipse">
            <a:avLst/>
          </a:prstGeom>
          <a:solidFill>
            <a:srgbClr val="B9A3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100" b="1">
                <a:solidFill>
                  <a:srgbClr val="14213D"/>
                </a:solidFill>
                <a:latin typeface="Calibri" panose="020F0502020204030204" pitchFamily="34" charset="0"/>
              </a:rPr>
              <a:t>2</a:t>
            </a:r>
          </a:p>
        </p:txBody>
      </p:sp>
      <p:sp>
        <p:nvSpPr>
          <p:cNvPr id="8" name="TextBox 7">
            <a:extLst>
              <a:ext uri="{FF2B5EF4-FFF2-40B4-BE49-F238E27FC236}">
                <a16:creationId xmlns:a16="http://schemas.microsoft.com/office/drawing/2014/main" id="{FDBB3204-EF99-F5BC-6509-F0137071B5D7}"/>
              </a:ext>
            </a:extLst>
          </p:cNvPr>
          <p:cNvSpPr txBox="1"/>
          <p:nvPr/>
        </p:nvSpPr>
        <p:spPr>
          <a:xfrm>
            <a:off x="9372600" y="1206500"/>
            <a:ext cx="2438400" cy="330200"/>
          </a:xfrm>
          <a:prstGeom prst="rect">
            <a:avLst/>
          </a:prstGeom>
          <a:noFill/>
        </p:spPr>
        <p:txBody>
          <a:bodyPr vert="horz" wrap="square" lIns="0" tIns="0" rIns="0" bIns="0" rtlCol="0" anchor="ctr">
            <a:noAutofit/>
          </a:bodyPr>
          <a:lstStyle/>
          <a:p>
            <a:r>
              <a:rPr lang="en-US" sz="1500">
                <a:solidFill>
                  <a:srgbClr val="FFFFFF"/>
                </a:solidFill>
                <a:latin typeface="Calibri" panose="020F0502020204030204" pitchFamily="34" charset="0"/>
              </a:rPr>
              <a:t>Life cycles</a:t>
            </a:r>
          </a:p>
        </p:txBody>
      </p:sp>
      <p:sp>
        <p:nvSpPr>
          <p:cNvPr id="9" name="Oval 8">
            <a:extLst>
              <a:ext uri="{FF2B5EF4-FFF2-40B4-BE49-F238E27FC236}">
                <a16:creationId xmlns:a16="http://schemas.microsoft.com/office/drawing/2014/main" id="{E6F9536D-9AA1-3D4E-B34A-06D61D1BA31D}"/>
              </a:ext>
            </a:extLst>
          </p:cNvPr>
          <p:cNvSpPr/>
          <p:nvPr/>
        </p:nvSpPr>
        <p:spPr>
          <a:xfrm>
            <a:off x="8890000" y="1600200"/>
            <a:ext cx="330200" cy="330200"/>
          </a:xfrm>
          <a:prstGeom prst="ellipse">
            <a:avLst/>
          </a:prstGeom>
          <a:solidFill>
            <a:srgbClr val="B9A3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100" b="1">
                <a:solidFill>
                  <a:srgbClr val="14213D"/>
                </a:solidFill>
                <a:latin typeface="Calibri" panose="020F0502020204030204" pitchFamily="34" charset="0"/>
              </a:rPr>
              <a:t>3</a:t>
            </a:r>
          </a:p>
        </p:txBody>
      </p:sp>
      <p:sp>
        <p:nvSpPr>
          <p:cNvPr id="10" name="TextBox 9">
            <a:extLst>
              <a:ext uri="{FF2B5EF4-FFF2-40B4-BE49-F238E27FC236}">
                <a16:creationId xmlns:a16="http://schemas.microsoft.com/office/drawing/2014/main" id="{EF71F3BB-B824-D276-8FC2-10C97C01F298}"/>
              </a:ext>
            </a:extLst>
          </p:cNvPr>
          <p:cNvSpPr txBox="1"/>
          <p:nvPr/>
        </p:nvSpPr>
        <p:spPr>
          <a:xfrm>
            <a:off x="9372600" y="1600200"/>
            <a:ext cx="2438400" cy="330200"/>
          </a:xfrm>
          <a:prstGeom prst="rect">
            <a:avLst/>
          </a:prstGeom>
          <a:noFill/>
        </p:spPr>
        <p:txBody>
          <a:bodyPr vert="horz" wrap="square" lIns="0" tIns="0" rIns="0" bIns="0" rtlCol="0" anchor="ctr">
            <a:noAutofit/>
          </a:bodyPr>
          <a:lstStyle/>
          <a:p>
            <a:r>
              <a:rPr lang="en-US" sz="1500">
                <a:solidFill>
                  <a:srgbClr val="FFFFFF"/>
                </a:solidFill>
                <a:latin typeface="Calibri" panose="020F0502020204030204" pitchFamily="34" charset="0"/>
              </a:rPr>
              <a:t>Choosing an approach</a:t>
            </a:r>
          </a:p>
        </p:txBody>
      </p:sp>
      <p:sp>
        <p:nvSpPr>
          <p:cNvPr id="11" name="Oval 10">
            <a:extLst>
              <a:ext uri="{FF2B5EF4-FFF2-40B4-BE49-F238E27FC236}">
                <a16:creationId xmlns:a16="http://schemas.microsoft.com/office/drawing/2014/main" id="{8E1DDFBF-4A47-DD8E-C0AC-F2B4B2B0DE15}"/>
              </a:ext>
            </a:extLst>
          </p:cNvPr>
          <p:cNvSpPr/>
          <p:nvPr/>
        </p:nvSpPr>
        <p:spPr>
          <a:xfrm>
            <a:off x="8890000" y="1993900"/>
            <a:ext cx="330200" cy="330200"/>
          </a:xfrm>
          <a:prstGeom prst="ellipse">
            <a:avLst/>
          </a:prstGeom>
          <a:solidFill>
            <a:srgbClr val="B9A3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100" b="1">
                <a:solidFill>
                  <a:srgbClr val="14213D"/>
                </a:solidFill>
                <a:latin typeface="Calibri" panose="020F0502020204030204" pitchFamily="34" charset="0"/>
              </a:rPr>
              <a:t>4</a:t>
            </a:r>
          </a:p>
        </p:txBody>
      </p:sp>
      <p:sp>
        <p:nvSpPr>
          <p:cNvPr id="12" name="TextBox 11">
            <a:extLst>
              <a:ext uri="{FF2B5EF4-FFF2-40B4-BE49-F238E27FC236}">
                <a16:creationId xmlns:a16="http://schemas.microsoft.com/office/drawing/2014/main" id="{C6DF5B23-7D40-3561-3B33-1FF587545B78}"/>
              </a:ext>
            </a:extLst>
          </p:cNvPr>
          <p:cNvSpPr txBox="1"/>
          <p:nvPr/>
        </p:nvSpPr>
        <p:spPr>
          <a:xfrm>
            <a:off x="9372600" y="1993900"/>
            <a:ext cx="2438400" cy="330200"/>
          </a:xfrm>
          <a:prstGeom prst="rect">
            <a:avLst/>
          </a:prstGeom>
          <a:noFill/>
        </p:spPr>
        <p:txBody>
          <a:bodyPr vert="horz" wrap="square" lIns="0" tIns="0" rIns="0" bIns="0" rtlCol="0" anchor="ctr">
            <a:noAutofit/>
          </a:bodyPr>
          <a:lstStyle/>
          <a:p>
            <a:r>
              <a:rPr lang="en-US" sz="1500">
                <a:solidFill>
                  <a:srgbClr val="FFFFFF"/>
                </a:solidFill>
                <a:latin typeface="Calibri" panose="020F0502020204030204" pitchFamily="34" charset="0"/>
              </a:rPr>
              <a:t>Servant leadership and teams</a:t>
            </a:r>
          </a:p>
        </p:txBody>
      </p:sp>
      <p:sp>
        <p:nvSpPr>
          <p:cNvPr id="13" name="Oval 12">
            <a:extLst>
              <a:ext uri="{FF2B5EF4-FFF2-40B4-BE49-F238E27FC236}">
                <a16:creationId xmlns:a16="http://schemas.microsoft.com/office/drawing/2014/main" id="{0CFE2521-AB30-2FCD-2007-F5069D57684A}"/>
              </a:ext>
            </a:extLst>
          </p:cNvPr>
          <p:cNvSpPr/>
          <p:nvPr/>
        </p:nvSpPr>
        <p:spPr>
          <a:xfrm>
            <a:off x="8890000" y="2387600"/>
            <a:ext cx="330200" cy="330200"/>
          </a:xfrm>
          <a:prstGeom prst="ellipse">
            <a:avLst/>
          </a:prstGeom>
          <a:solidFill>
            <a:srgbClr val="B9A3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100" b="1">
                <a:solidFill>
                  <a:srgbClr val="14213D"/>
                </a:solidFill>
                <a:latin typeface="Calibri" panose="020F0502020204030204" pitchFamily="34" charset="0"/>
              </a:rPr>
              <a:t>5</a:t>
            </a:r>
          </a:p>
        </p:txBody>
      </p:sp>
      <p:sp>
        <p:nvSpPr>
          <p:cNvPr id="14" name="TextBox 13">
            <a:extLst>
              <a:ext uri="{FF2B5EF4-FFF2-40B4-BE49-F238E27FC236}">
                <a16:creationId xmlns:a16="http://schemas.microsoft.com/office/drawing/2014/main" id="{9A5CB10D-EBB9-F96B-25EF-51DBD1D0C604}"/>
              </a:ext>
            </a:extLst>
          </p:cNvPr>
          <p:cNvSpPr txBox="1"/>
          <p:nvPr/>
        </p:nvSpPr>
        <p:spPr>
          <a:xfrm>
            <a:off x="9372600" y="2387600"/>
            <a:ext cx="2438400" cy="330200"/>
          </a:xfrm>
          <a:prstGeom prst="rect">
            <a:avLst/>
          </a:prstGeom>
          <a:noFill/>
        </p:spPr>
        <p:txBody>
          <a:bodyPr vert="horz" wrap="square" lIns="0" tIns="0" rIns="0" bIns="0" rtlCol="0" anchor="ctr">
            <a:noAutofit/>
          </a:bodyPr>
          <a:lstStyle/>
          <a:p>
            <a:r>
              <a:rPr lang="en-US" sz="1500">
                <a:solidFill>
                  <a:srgbClr val="FFFFFF"/>
                </a:solidFill>
                <a:latin typeface="Calibri" panose="020F0502020204030204" pitchFamily="34" charset="0"/>
              </a:rPr>
              <a:t>The iteration cycle</a:t>
            </a:r>
          </a:p>
        </p:txBody>
      </p:sp>
      <p:sp>
        <p:nvSpPr>
          <p:cNvPr id="15" name="Oval 14">
            <a:extLst>
              <a:ext uri="{FF2B5EF4-FFF2-40B4-BE49-F238E27FC236}">
                <a16:creationId xmlns:a16="http://schemas.microsoft.com/office/drawing/2014/main" id="{8FA9BDF1-1C05-50C1-36E0-2816F4C4FBAC}"/>
              </a:ext>
            </a:extLst>
          </p:cNvPr>
          <p:cNvSpPr/>
          <p:nvPr/>
        </p:nvSpPr>
        <p:spPr>
          <a:xfrm>
            <a:off x="8890000" y="2781300"/>
            <a:ext cx="330200" cy="330200"/>
          </a:xfrm>
          <a:prstGeom prst="ellipse">
            <a:avLst/>
          </a:prstGeom>
          <a:solidFill>
            <a:srgbClr val="B9A3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100" b="1">
                <a:solidFill>
                  <a:srgbClr val="14213D"/>
                </a:solidFill>
                <a:latin typeface="Calibri" panose="020F0502020204030204" pitchFamily="34" charset="0"/>
              </a:rPr>
              <a:t>6</a:t>
            </a:r>
          </a:p>
        </p:txBody>
      </p:sp>
      <p:sp>
        <p:nvSpPr>
          <p:cNvPr id="16" name="TextBox 15">
            <a:extLst>
              <a:ext uri="{FF2B5EF4-FFF2-40B4-BE49-F238E27FC236}">
                <a16:creationId xmlns:a16="http://schemas.microsoft.com/office/drawing/2014/main" id="{F0A6B75E-6FE6-EE25-37F9-9620C69957DC}"/>
              </a:ext>
            </a:extLst>
          </p:cNvPr>
          <p:cNvSpPr txBox="1"/>
          <p:nvPr/>
        </p:nvSpPr>
        <p:spPr>
          <a:xfrm>
            <a:off x="9372600" y="2781300"/>
            <a:ext cx="2438400" cy="330200"/>
          </a:xfrm>
          <a:prstGeom prst="rect">
            <a:avLst/>
          </a:prstGeom>
          <a:noFill/>
        </p:spPr>
        <p:txBody>
          <a:bodyPr vert="horz" wrap="square" lIns="0" tIns="0" rIns="0" bIns="0" rtlCol="0" anchor="ctr">
            <a:noAutofit/>
          </a:bodyPr>
          <a:lstStyle/>
          <a:p>
            <a:r>
              <a:rPr lang="en-US" sz="1500">
                <a:solidFill>
                  <a:srgbClr val="FFFFFF"/>
                </a:solidFill>
                <a:latin typeface="Calibri" panose="020F0502020204030204" pitchFamily="34" charset="0"/>
              </a:rPr>
              <a:t>Release planning</a:t>
            </a:r>
          </a:p>
        </p:txBody>
      </p:sp>
      <p:sp>
        <p:nvSpPr>
          <p:cNvPr id="17" name="Oval 16">
            <a:extLst>
              <a:ext uri="{FF2B5EF4-FFF2-40B4-BE49-F238E27FC236}">
                <a16:creationId xmlns:a16="http://schemas.microsoft.com/office/drawing/2014/main" id="{929E683B-C0C5-2572-81C3-1E18576FB874}"/>
              </a:ext>
            </a:extLst>
          </p:cNvPr>
          <p:cNvSpPr/>
          <p:nvPr/>
        </p:nvSpPr>
        <p:spPr>
          <a:xfrm>
            <a:off x="8890000" y="3175000"/>
            <a:ext cx="330200" cy="330200"/>
          </a:xfrm>
          <a:prstGeom prst="ellipse">
            <a:avLst/>
          </a:prstGeom>
          <a:solidFill>
            <a:srgbClr val="B9A3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100" b="1">
                <a:solidFill>
                  <a:srgbClr val="14213D"/>
                </a:solidFill>
                <a:latin typeface="Calibri" panose="020F0502020204030204" pitchFamily="34" charset="0"/>
              </a:rPr>
              <a:t>7</a:t>
            </a:r>
          </a:p>
        </p:txBody>
      </p:sp>
      <p:sp>
        <p:nvSpPr>
          <p:cNvPr id="18" name="TextBox 17">
            <a:extLst>
              <a:ext uri="{FF2B5EF4-FFF2-40B4-BE49-F238E27FC236}">
                <a16:creationId xmlns:a16="http://schemas.microsoft.com/office/drawing/2014/main" id="{3DDA8591-5F65-DF59-34F0-8A2023A9E407}"/>
              </a:ext>
            </a:extLst>
          </p:cNvPr>
          <p:cNvSpPr txBox="1"/>
          <p:nvPr/>
        </p:nvSpPr>
        <p:spPr>
          <a:xfrm>
            <a:off x="9372600" y="3175000"/>
            <a:ext cx="2438400" cy="330200"/>
          </a:xfrm>
          <a:prstGeom prst="rect">
            <a:avLst/>
          </a:prstGeom>
          <a:noFill/>
        </p:spPr>
        <p:txBody>
          <a:bodyPr vert="horz" wrap="square" lIns="0" tIns="0" rIns="0" bIns="0" rtlCol="0" anchor="ctr">
            <a:noAutofit/>
          </a:bodyPr>
          <a:lstStyle/>
          <a:p>
            <a:r>
              <a:rPr lang="en-US" sz="1500">
                <a:solidFill>
                  <a:srgbClr val="FFFFFF"/>
                </a:solidFill>
                <a:latin typeface="Calibri" panose="020F0502020204030204" pitchFamily="34" charset="0"/>
              </a:rPr>
              <a:t>Scrum framework and values</a:t>
            </a:r>
          </a:p>
        </p:txBody>
      </p:sp>
      <p:sp>
        <p:nvSpPr>
          <p:cNvPr id="19" name="Oval 18">
            <a:extLst>
              <a:ext uri="{FF2B5EF4-FFF2-40B4-BE49-F238E27FC236}">
                <a16:creationId xmlns:a16="http://schemas.microsoft.com/office/drawing/2014/main" id="{F4D86280-548C-9189-19AF-B2C6EC26F15B}"/>
              </a:ext>
            </a:extLst>
          </p:cNvPr>
          <p:cNvSpPr/>
          <p:nvPr/>
        </p:nvSpPr>
        <p:spPr>
          <a:xfrm>
            <a:off x="8890000" y="3568700"/>
            <a:ext cx="330200" cy="330200"/>
          </a:xfrm>
          <a:prstGeom prst="ellipse">
            <a:avLst/>
          </a:prstGeom>
          <a:solidFill>
            <a:srgbClr val="B9A3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100" b="1">
                <a:solidFill>
                  <a:srgbClr val="14213D"/>
                </a:solidFill>
                <a:latin typeface="Calibri" panose="020F0502020204030204" pitchFamily="34" charset="0"/>
              </a:rPr>
              <a:t>8</a:t>
            </a:r>
          </a:p>
        </p:txBody>
      </p:sp>
      <p:sp>
        <p:nvSpPr>
          <p:cNvPr id="20" name="TextBox 19">
            <a:extLst>
              <a:ext uri="{FF2B5EF4-FFF2-40B4-BE49-F238E27FC236}">
                <a16:creationId xmlns:a16="http://schemas.microsoft.com/office/drawing/2014/main" id="{BA113234-E6A0-6B85-6F79-465B7E82C01F}"/>
              </a:ext>
            </a:extLst>
          </p:cNvPr>
          <p:cNvSpPr txBox="1"/>
          <p:nvPr/>
        </p:nvSpPr>
        <p:spPr>
          <a:xfrm>
            <a:off x="9372600" y="3568700"/>
            <a:ext cx="2438400" cy="330200"/>
          </a:xfrm>
          <a:prstGeom prst="rect">
            <a:avLst/>
          </a:prstGeom>
          <a:noFill/>
        </p:spPr>
        <p:txBody>
          <a:bodyPr vert="horz" wrap="square" lIns="0" tIns="0" rIns="0" bIns="0" rtlCol="0" anchor="ctr">
            <a:noAutofit/>
          </a:bodyPr>
          <a:lstStyle/>
          <a:p>
            <a:r>
              <a:rPr lang="en-US" sz="1500">
                <a:solidFill>
                  <a:srgbClr val="FFFFFF"/>
                </a:solidFill>
                <a:latin typeface="Calibri" panose="020F0502020204030204" pitchFamily="34" charset="0"/>
              </a:rPr>
              <a:t>Kanban and lean</a:t>
            </a:r>
          </a:p>
        </p:txBody>
      </p:sp>
      <p:sp>
        <p:nvSpPr>
          <p:cNvPr id="21" name="Oval 20">
            <a:extLst>
              <a:ext uri="{FF2B5EF4-FFF2-40B4-BE49-F238E27FC236}">
                <a16:creationId xmlns:a16="http://schemas.microsoft.com/office/drawing/2014/main" id="{3244A2A1-35A2-1FD4-8F71-BC1159895F1F}"/>
              </a:ext>
            </a:extLst>
          </p:cNvPr>
          <p:cNvSpPr/>
          <p:nvPr/>
        </p:nvSpPr>
        <p:spPr>
          <a:xfrm>
            <a:off x="8890000" y="3962400"/>
            <a:ext cx="330200" cy="330200"/>
          </a:xfrm>
          <a:prstGeom prst="ellipse">
            <a:avLst/>
          </a:prstGeom>
          <a:solidFill>
            <a:srgbClr val="B9A3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100" b="1">
                <a:solidFill>
                  <a:srgbClr val="14213D"/>
                </a:solidFill>
                <a:latin typeface="Calibri" panose="020F0502020204030204" pitchFamily="34" charset="0"/>
              </a:rPr>
              <a:t>9</a:t>
            </a:r>
          </a:p>
        </p:txBody>
      </p:sp>
      <p:sp>
        <p:nvSpPr>
          <p:cNvPr id="22" name="TextBox 21">
            <a:extLst>
              <a:ext uri="{FF2B5EF4-FFF2-40B4-BE49-F238E27FC236}">
                <a16:creationId xmlns:a16="http://schemas.microsoft.com/office/drawing/2014/main" id="{274446CD-E91B-C9DF-C1E9-974E5579CBC1}"/>
              </a:ext>
            </a:extLst>
          </p:cNvPr>
          <p:cNvSpPr txBox="1"/>
          <p:nvPr/>
        </p:nvSpPr>
        <p:spPr>
          <a:xfrm>
            <a:off x="9372600" y="3962400"/>
            <a:ext cx="2438400" cy="330200"/>
          </a:xfrm>
          <a:prstGeom prst="rect">
            <a:avLst/>
          </a:prstGeom>
          <a:noFill/>
        </p:spPr>
        <p:txBody>
          <a:bodyPr vert="horz" wrap="square" lIns="0" tIns="0" rIns="0" bIns="0" rtlCol="0" anchor="ctr">
            <a:noAutofit/>
          </a:bodyPr>
          <a:lstStyle/>
          <a:p>
            <a:r>
              <a:rPr lang="en-US" sz="1500">
                <a:solidFill>
                  <a:srgbClr val="FFFFFF"/>
                </a:solidFill>
                <a:latin typeface="Calibri" panose="020F0502020204030204" pitchFamily="34" charset="0"/>
              </a:rPr>
              <a:t>Lean: jidoka and kaizen</a:t>
            </a:r>
          </a:p>
        </p:txBody>
      </p:sp>
      <p:sp>
        <p:nvSpPr>
          <p:cNvPr id="23" name="Oval 22">
            <a:extLst>
              <a:ext uri="{FF2B5EF4-FFF2-40B4-BE49-F238E27FC236}">
                <a16:creationId xmlns:a16="http://schemas.microsoft.com/office/drawing/2014/main" id="{ED24E13B-E06F-6B32-B6F8-EBB7421009D1}"/>
              </a:ext>
            </a:extLst>
          </p:cNvPr>
          <p:cNvSpPr/>
          <p:nvPr/>
        </p:nvSpPr>
        <p:spPr>
          <a:xfrm>
            <a:off x="8890000" y="4356100"/>
            <a:ext cx="330200" cy="330200"/>
          </a:xfrm>
          <a:prstGeom prst="ellipse">
            <a:avLst/>
          </a:prstGeom>
          <a:solidFill>
            <a:srgbClr val="B9A3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100" b="1">
                <a:solidFill>
                  <a:srgbClr val="14213D"/>
                </a:solidFill>
                <a:latin typeface="Calibri" panose="020F0502020204030204" pitchFamily="34" charset="0"/>
              </a:rPr>
              <a:t>10</a:t>
            </a:r>
          </a:p>
        </p:txBody>
      </p:sp>
      <p:sp>
        <p:nvSpPr>
          <p:cNvPr id="24" name="TextBox 23">
            <a:extLst>
              <a:ext uri="{FF2B5EF4-FFF2-40B4-BE49-F238E27FC236}">
                <a16:creationId xmlns:a16="http://schemas.microsoft.com/office/drawing/2014/main" id="{108B59F6-36FF-C210-D56A-B19C7278345D}"/>
              </a:ext>
            </a:extLst>
          </p:cNvPr>
          <p:cNvSpPr txBox="1"/>
          <p:nvPr/>
        </p:nvSpPr>
        <p:spPr>
          <a:xfrm>
            <a:off x="9372600" y="4356100"/>
            <a:ext cx="2438400" cy="330200"/>
          </a:xfrm>
          <a:prstGeom prst="rect">
            <a:avLst/>
          </a:prstGeom>
          <a:noFill/>
        </p:spPr>
        <p:txBody>
          <a:bodyPr vert="horz" wrap="square" lIns="0" tIns="0" rIns="0" bIns="0" rtlCol="0" anchor="ctr">
            <a:noAutofit/>
          </a:bodyPr>
          <a:lstStyle/>
          <a:p>
            <a:r>
              <a:rPr lang="en-US" sz="1500">
                <a:solidFill>
                  <a:srgbClr val="FFFFFF"/>
                </a:solidFill>
                <a:latin typeface="Calibri" panose="020F0502020204030204" pitchFamily="34" charset="0"/>
              </a:rPr>
              <a:t>Core practices</a:t>
            </a:r>
          </a:p>
        </p:txBody>
      </p:sp>
      <p:sp>
        <p:nvSpPr>
          <p:cNvPr id="25" name="Oval 24">
            <a:extLst>
              <a:ext uri="{FF2B5EF4-FFF2-40B4-BE49-F238E27FC236}">
                <a16:creationId xmlns:a16="http://schemas.microsoft.com/office/drawing/2014/main" id="{418A055E-F380-CF9D-B033-6ECADABA5ECF}"/>
              </a:ext>
            </a:extLst>
          </p:cNvPr>
          <p:cNvSpPr/>
          <p:nvPr/>
        </p:nvSpPr>
        <p:spPr>
          <a:xfrm>
            <a:off x="8890000" y="4749800"/>
            <a:ext cx="330200" cy="330200"/>
          </a:xfrm>
          <a:prstGeom prst="ellipse">
            <a:avLst/>
          </a:prstGeom>
          <a:solidFill>
            <a:srgbClr val="B9A3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100" b="1">
                <a:solidFill>
                  <a:srgbClr val="14213D"/>
                </a:solidFill>
                <a:latin typeface="Calibri" panose="020F0502020204030204" pitchFamily="34" charset="0"/>
              </a:rPr>
              <a:t>11</a:t>
            </a:r>
          </a:p>
        </p:txBody>
      </p:sp>
      <p:sp>
        <p:nvSpPr>
          <p:cNvPr id="26" name="TextBox 25">
            <a:extLst>
              <a:ext uri="{FF2B5EF4-FFF2-40B4-BE49-F238E27FC236}">
                <a16:creationId xmlns:a16="http://schemas.microsoft.com/office/drawing/2014/main" id="{C5974CEB-8C92-041E-A984-3058F2CD5A26}"/>
              </a:ext>
            </a:extLst>
          </p:cNvPr>
          <p:cNvSpPr txBox="1"/>
          <p:nvPr/>
        </p:nvSpPr>
        <p:spPr>
          <a:xfrm>
            <a:off x="9372600" y="4749800"/>
            <a:ext cx="2438400" cy="330200"/>
          </a:xfrm>
          <a:prstGeom prst="rect">
            <a:avLst/>
          </a:prstGeom>
          <a:noFill/>
        </p:spPr>
        <p:txBody>
          <a:bodyPr vert="horz" wrap="square" lIns="0" tIns="0" rIns="0" bIns="0" rtlCol="0" anchor="ctr">
            <a:noAutofit/>
          </a:bodyPr>
          <a:lstStyle/>
          <a:p>
            <a:r>
              <a:rPr lang="en-US" sz="1500">
                <a:solidFill>
                  <a:srgbClr val="FFFFFF"/>
                </a:solidFill>
                <a:latin typeface="Calibri" panose="020F0502020204030204" pitchFamily="34" charset="0"/>
              </a:rPr>
              <a:t>Story points and Fibonacci</a:t>
            </a:r>
          </a:p>
        </p:txBody>
      </p:sp>
      <p:sp>
        <p:nvSpPr>
          <p:cNvPr id="52" name="Oval 51">
            <a:extLst>
              <a:ext uri="{FF2B5EF4-FFF2-40B4-BE49-F238E27FC236}">
                <a16:creationId xmlns:a16="http://schemas.microsoft.com/office/drawing/2014/main" id="{BA14BAED-AEEB-09D6-7640-919775CAB9E6}"/>
              </a:ext>
            </a:extLst>
          </p:cNvPr>
          <p:cNvSpPr/>
          <p:nvPr/>
        </p:nvSpPr>
        <p:spPr>
          <a:xfrm>
            <a:off x="8890000" y="5143500"/>
            <a:ext cx="330200" cy="330200"/>
          </a:xfrm>
          <a:prstGeom prst="ellipse">
            <a:avLst/>
          </a:prstGeom>
          <a:solidFill>
            <a:srgbClr val="B9A3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100" b="1">
                <a:solidFill>
                  <a:srgbClr val="14213D"/>
                </a:solidFill>
                <a:latin typeface="Calibri" panose="020F0502020204030204" pitchFamily="34" charset="0"/>
              </a:rPr>
              <a:t>12</a:t>
            </a:r>
          </a:p>
        </p:txBody>
      </p:sp>
      <p:sp>
        <p:nvSpPr>
          <p:cNvPr id="53" name="TextBox 52">
            <a:extLst>
              <a:ext uri="{FF2B5EF4-FFF2-40B4-BE49-F238E27FC236}">
                <a16:creationId xmlns:a16="http://schemas.microsoft.com/office/drawing/2014/main" id="{65D6F914-E00A-E010-850C-31B53E04BA6D}"/>
              </a:ext>
            </a:extLst>
          </p:cNvPr>
          <p:cNvSpPr txBox="1"/>
          <p:nvPr/>
        </p:nvSpPr>
        <p:spPr>
          <a:xfrm>
            <a:off x="9372600" y="5143500"/>
            <a:ext cx="2438400" cy="330200"/>
          </a:xfrm>
          <a:prstGeom prst="rect">
            <a:avLst/>
          </a:prstGeom>
          <a:noFill/>
        </p:spPr>
        <p:txBody>
          <a:bodyPr vert="horz" wrap="square" lIns="0" tIns="0" rIns="0" bIns="0" rtlCol="0" anchor="ctr">
            <a:noAutofit/>
          </a:bodyPr>
          <a:lstStyle/>
          <a:p>
            <a:r>
              <a:rPr lang="en-US" sz="1500">
                <a:solidFill>
                  <a:srgbClr val="FFFFFF"/>
                </a:solidFill>
                <a:latin typeface="Calibri" panose="020F0502020204030204" pitchFamily="34" charset="0"/>
              </a:rPr>
              <a:t>Agile metrics</a:t>
            </a:r>
          </a:p>
        </p:txBody>
      </p:sp>
      <p:sp>
        <p:nvSpPr>
          <p:cNvPr id="28" name="Oval 27">
            <a:extLst>
              <a:ext uri="{FF2B5EF4-FFF2-40B4-BE49-F238E27FC236}">
                <a16:creationId xmlns:a16="http://schemas.microsoft.com/office/drawing/2014/main" id="{5721AD76-BB92-994C-BE72-EB51DDAAB816}"/>
              </a:ext>
            </a:extLst>
          </p:cNvPr>
          <p:cNvSpPr/>
          <p:nvPr/>
        </p:nvSpPr>
        <p:spPr>
          <a:xfrm>
            <a:off x="8890000" y="5537200"/>
            <a:ext cx="330200" cy="330200"/>
          </a:xfrm>
          <a:prstGeom prst="ellipse">
            <a:avLst/>
          </a:prstGeom>
          <a:solidFill>
            <a:srgbClr val="B9A3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100" b="1">
                <a:solidFill>
                  <a:srgbClr val="14213D"/>
                </a:solidFill>
                <a:latin typeface="Calibri" panose="020F0502020204030204" pitchFamily="34" charset="0"/>
              </a:rPr>
              <a:t>13</a:t>
            </a:r>
          </a:p>
        </p:txBody>
      </p:sp>
      <p:sp>
        <p:nvSpPr>
          <p:cNvPr id="29" name="TextBox 28">
            <a:extLst>
              <a:ext uri="{FF2B5EF4-FFF2-40B4-BE49-F238E27FC236}">
                <a16:creationId xmlns:a16="http://schemas.microsoft.com/office/drawing/2014/main" id="{CB0178C0-B3AF-097D-5ADE-0B5EA299646B}"/>
              </a:ext>
            </a:extLst>
          </p:cNvPr>
          <p:cNvSpPr txBox="1"/>
          <p:nvPr/>
        </p:nvSpPr>
        <p:spPr>
          <a:xfrm>
            <a:off x="9372600" y="5537200"/>
            <a:ext cx="2438400" cy="330200"/>
          </a:xfrm>
          <a:prstGeom prst="rect">
            <a:avLst/>
          </a:prstGeom>
          <a:noFill/>
        </p:spPr>
        <p:txBody>
          <a:bodyPr vert="horz" wrap="square" lIns="0" tIns="0" rIns="0" bIns="0" rtlCol="0" anchor="ctr">
            <a:noAutofit/>
          </a:bodyPr>
          <a:lstStyle/>
          <a:p>
            <a:r>
              <a:rPr lang="en-US" sz="1500">
                <a:solidFill>
                  <a:srgbClr val="FFFFFF"/>
                </a:solidFill>
                <a:latin typeface="Calibri" panose="020F0502020204030204" pitchFamily="34" charset="0"/>
              </a:rPr>
              <a:t>Contracts and the PMO</a:t>
            </a:r>
          </a:p>
        </p:txBody>
      </p:sp>
      <p:sp>
        <p:nvSpPr>
          <p:cNvPr id="30" name="Oval 29">
            <a:extLst>
              <a:ext uri="{FF2B5EF4-FFF2-40B4-BE49-F238E27FC236}">
                <a16:creationId xmlns:a16="http://schemas.microsoft.com/office/drawing/2014/main" id="{23BCCB55-2B3E-A654-A101-50FE49222AB6}"/>
              </a:ext>
            </a:extLst>
          </p:cNvPr>
          <p:cNvSpPr/>
          <p:nvPr/>
        </p:nvSpPr>
        <p:spPr>
          <a:xfrm>
            <a:off x="8890000" y="5930900"/>
            <a:ext cx="330200" cy="330200"/>
          </a:xfrm>
          <a:prstGeom prst="ellipse">
            <a:avLst/>
          </a:prstGeom>
          <a:solidFill>
            <a:srgbClr val="B9A3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100" b="1">
                <a:solidFill>
                  <a:srgbClr val="14213D"/>
                </a:solidFill>
                <a:latin typeface="Calibri" panose="020F0502020204030204" pitchFamily="34" charset="0"/>
              </a:rPr>
              <a:t>14</a:t>
            </a:r>
          </a:p>
        </p:txBody>
      </p:sp>
      <p:sp>
        <p:nvSpPr>
          <p:cNvPr id="31" name="TextBox 30">
            <a:extLst>
              <a:ext uri="{FF2B5EF4-FFF2-40B4-BE49-F238E27FC236}">
                <a16:creationId xmlns:a16="http://schemas.microsoft.com/office/drawing/2014/main" id="{3EEA80DA-06EF-EC17-DCCD-8E03092E8944}"/>
              </a:ext>
            </a:extLst>
          </p:cNvPr>
          <p:cNvSpPr txBox="1"/>
          <p:nvPr/>
        </p:nvSpPr>
        <p:spPr>
          <a:xfrm>
            <a:off x="9372600" y="5930900"/>
            <a:ext cx="2438400" cy="330200"/>
          </a:xfrm>
          <a:prstGeom prst="rect">
            <a:avLst/>
          </a:prstGeom>
          <a:noFill/>
        </p:spPr>
        <p:txBody>
          <a:bodyPr vert="horz" wrap="square" lIns="0" tIns="0" rIns="0" bIns="0" rtlCol="0" anchor="ctr">
            <a:noAutofit/>
          </a:bodyPr>
          <a:lstStyle/>
          <a:p>
            <a:r>
              <a:rPr lang="en-US" sz="1500">
                <a:solidFill>
                  <a:srgbClr val="FFFFFF"/>
                </a:solidFill>
                <a:latin typeface="Calibri" panose="020F0502020204030204" pitchFamily="34" charset="0"/>
              </a:rPr>
              <a:t>Scaling and other frameworks</a:t>
            </a:r>
          </a:p>
        </p:txBody>
      </p:sp>
      <p:sp>
        <p:nvSpPr>
          <p:cNvPr id="54"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95553911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0426419-472F-BC2A-D010-11ED3AC8D744}"/>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Agile is a mindset</a:t>
            </a:r>
          </a:p>
        </p:txBody>
      </p:sp>
      <p:sp>
        <p:nvSpPr>
          <p:cNvPr id="3" name="Tag">
            <a:extLst>
              <a:ext uri="{FF2B5EF4-FFF2-40B4-BE49-F238E27FC236}">
                <a16:creationId xmlns:a16="http://schemas.microsoft.com/office/drawing/2014/main" id="{E375FC17-5DA0-41A3-737A-F5E68A4B2EC7}"/>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6A4C93"/>
                </a:solidFill>
                <a:latin typeface="Calibri" panose="020F0502020204030204" pitchFamily="34" charset="0"/>
              </a:rPr>
              <a:t>Agile essentials · The model behind the rest of this section</a:t>
            </a:r>
          </a:p>
        </p:txBody>
      </p:sp>
      <p:sp>
        <p:nvSpPr>
          <p:cNvPr id="4" name="TextBox 3">
            <a:extLst>
              <a:ext uri="{FF2B5EF4-FFF2-40B4-BE49-F238E27FC236}">
                <a16:creationId xmlns:a16="http://schemas.microsoft.com/office/drawing/2014/main" id="{C4270E1D-11CD-D79B-C4CE-A08B815C9459}"/>
              </a:ext>
            </a:extLst>
          </p:cNvPr>
          <p:cNvSpPr txBox="1"/>
          <p:nvPr/>
        </p:nvSpPr>
        <p:spPr>
          <a:xfrm>
            <a:off x="508000" y="1320800"/>
            <a:ext cx="5969000" cy="1270000"/>
          </a:xfrm>
          <a:prstGeom prst="rect">
            <a:avLst/>
          </a:prstGeom>
          <a:noFill/>
        </p:spPr>
        <p:txBody>
          <a:bodyPr vert="horz" wrap="square" lIns="0" tIns="0" rIns="0" bIns="0" rtlCol="0" anchor="t">
            <a:noAutofit/>
          </a:bodyPr>
          <a:lstStyle/>
          <a:p>
            <a:r>
              <a:rPr lang="en-US" sz="2200" i="1">
                <a:solidFill>
                  <a:srgbClr val="14213D"/>
                </a:solidFill>
                <a:latin typeface="Cambria" panose="02040503050406030204" pitchFamily="18" charset="0"/>
              </a:rPr>
              <a:t>‘Agile is a mindset defined by values, guided by principles, and manifested through many different practices.’</a:t>
            </a:r>
          </a:p>
        </p:txBody>
      </p:sp>
      <p:sp>
        <p:nvSpPr>
          <p:cNvPr id="5" name="TextBox 4">
            <a:extLst>
              <a:ext uri="{FF2B5EF4-FFF2-40B4-BE49-F238E27FC236}">
                <a16:creationId xmlns:a16="http://schemas.microsoft.com/office/drawing/2014/main" id="{AE3B10A8-AFC1-3E65-7443-BEBF5B4E3310}"/>
              </a:ext>
            </a:extLst>
          </p:cNvPr>
          <p:cNvSpPr txBox="1"/>
          <p:nvPr/>
        </p:nvSpPr>
        <p:spPr>
          <a:xfrm>
            <a:off x="508000" y="2616200"/>
            <a:ext cx="5969000" cy="254000"/>
          </a:xfrm>
          <a:prstGeom prst="rect">
            <a:avLst/>
          </a:prstGeom>
          <a:noFill/>
        </p:spPr>
        <p:txBody>
          <a:bodyPr vert="horz" wrap="square" lIns="0" tIns="0" rIns="0" bIns="0" rtlCol="0" anchor="t">
            <a:noAutofit/>
          </a:bodyPr>
          <a:lstStyle/>
          <a:p>
            <a:r>
              <a:rPr lang="en-US" sz="1300">
                <a:solidFill>
                  <a:srgbClr val="5B6475"/>
                </a:solidFill>
                <a:latin typeface="Calibri" panose="020F0502020204030204" pitchFamily="34" charset="0"/>
              </a:rPr>
              <a:t>— Ahmed Sidky, as cited in the Agile Practice Guide</a:t>
            </a:r>
          </a:p>
        </p:txBody>
      </p:sp>
      <p:sp>
        <p:nvSpPr>
          <p:cNvPr id="6" name="Oval 5">
            <a:extLst>
              <a:ext uri="{FF2B5EF4-FFF2-40B4-BE49-F238E27FC236}">
                <a16:creationId xmlns:a16="http://schemas.microsoft.com/office/drawing/2014/main" id="{B2508FEF-7F09-4F3E-2250-E8B08402B7E0}"/>
              </a:ext>
            </a:extLst>
          </p:cNvPr>
          <p:cNvSpPr/>
          <p:nvPr/>
        </p:nvSpPr>
        <p:spPr>
          <a:xfrm>
            <a:off x="508000" y="3149600"/>
            <a:ext cx="381000" cy="381000"/>
          </a:xfrm>
          <a:prstGeom prst="ellipse">
            <a:avLst/>
          </a:prstGeom>
          <a:solidFill>
            <a:srgbClr val="4B347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BD40D30-479D-99FB-008D-7595A3C828F4}"/>
              </a:ext>
            </a:extLst>
          </p:cNvPr>
          <p:cNvSpPr txBox="1"/>
          <p:nvPr/>
        </p:nvSpPr>
        <p:spPr>
          <a:xfrm>
            <a:off x="1041400" y="3073400"/>
            <a:ext cx="5435600" cy="635000"/>
          </a:xfrm>
          <a:prstGeom prst="rect">
            <a:avLst/>
          </a:prstGeom>
          <a:noFill/>
        </p:spPr>
        <p:txBody>
          <a:bodyPr vert="horz" wrap="square" lIns="0" tIns="0" rIns="0" bIns="0" rtlCol="0" anchor="ctr">
            <a:noAutofit/>
          </a:bodyPr>
          <a:lstStyle/>
          <a:p>
            <a:r>
              <a:rPr lang="en-US" sz="1500" b="1">
                <a:solidFill>
                  <a:srgbClr val="14213D"/>
                </a:solidFill>
                <a:latin typeface="Calibri" panose="020F0502020204030204" pitchFamily="34" charset="0"/>
              </a:rPr>
              <a:t>Mindset</a:t>
            </a:r>
          </a:p>
          <a:p>
            <a:r>
              <a:rPr lang="en-US" sz="1300">
                <a:solidFill>
                  <a:srgbClr val="1F2937"/>
                </a:solidFill>
                <a:latin typeface="Calibri" panose="020F0502020204030204" pitchFamily="34" charset="0"/>
              </a:rPr>
              <a:t>Being agile, not just doing agile: the way of thinking at the core.</a:t>
            </a:r>
          </a:p>
        </p:txBody>
      </p:sp>
      <p:sp>
        <p:nvSpPr>
          <p:cNvPr id="8" name="Oval 7">
            <a:extLst>
              <a:ext uri="{FF2B5EF4-FFF2-40B4-BE49-F238E27FC236}">
                <a16:creationId xmlns:a16="http://schemas.microsoft.com/office/drawing/2014/main" id="{09A801CE-0C96-34B4-6BC1-2C0C58AF6244}"/>
              </a:ext>
            </a:extLst>
          </p:cNvPr>
          <p:cNvSpPr/>
          <p:nvPr/>
        </p:nvSpPr>
        <p:spPr>
          <a:xfrm>
            <a:off x="508000" y="3835400"/>
            <a:ext cx="381000" cy="381000"/>
          </a:xfrm>
          <a:prstGeom prst="ellipse">
            <a:avLst/>
          </a:prstGeom>
          <a:solidFill>
            <a:srgbClr val="7E62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E34FD7B-181B-774B-3283-A10053D016C1}"/>
              </a:ext>
            </a:extLst>
          </p:cNvPr>
          <p:cNvSpPr txBox="1"/>
          <p:nvPr/>
        </p:nvSpPr>
        <p:spPr>
          <a:xfrm>
            <a:off x="1041400" y="3759200"/>
            <a:ext cx="5435600" cy="635000"/>
          </a:xfrm>
          <a:prstGeom prst="rect">
            <a:avLst/>
          </a:prstGeom>
          <a:noFill/>
        </p:spPr>
        <p:txBody>
          <a:bodyPr vert="horz" wrap="square" lIns="0" tIns="0" rIns="0" bIns="0" rtlCol="0" anchor="ctr">
            <a:noAutofit/>
          </a:bodyPr>
          <a:lstStyle/>
          <a:p>
            <a:r>
              <a:rPr lang="en-US" sz="1500" b="1">
                <a:solidFill>
                  <a:srgbClr val="14213D"/>
                </a:solidFill>
                <a:latin typeface="Calibri" panose="020F0502020204030204" pitchFamily="34" charset="0"/>
              </a:rPr>
              <a:t>Values</a:t>
            </a:r>
          </a:p>
          <a:p>
            <a:r>
              <a:rPr lang="en-US" sz="1300">
                <a:solidFill>
                  <a:srgbClr val="1F2937"/>
                </a:solidFill>
                <a:latin typeface="Calibri" panose="020F0502020204030204" pitchFamily="34" charset="0"/>
              </a:rPr>
              <a:t>The four Manifesto values (next slide).</a:t>
            </a:r>
          </a:p>
        </p:txBody>
      </p:sp>
      <p:sp>
        <p:nvSpPr>
          <p:cNvPr id="10" name="Oval 9">
            <a:extLst>
              <a:ext uri="{FF2B5EF4-FFF2-40B4-BE49-F238E27FC236}">
                <a16:creationId xmlns:a16="http://schemas.microsoft.com/office/drawing/2014/main" id="{5A4A5C09-675E-B512-0C1A-02ACFC759C63}"/>
              </a:ext>
            </a:extLst>
          </p:cNvPr>
          <p:cNvSpPr/>
          <p:nvPr/>
        </p:nvSpPr>
        <p:spPr>
          <a:xfrm>
            <a:off x="508000" y="4521200"/>
            <a:ext cx="381000" cy="381000"/>
          </a:xfrm>
          <a:prstGeom prst="ellipse">
            <a:avLst/>
          </a:prstGeom>
          <a:solidFill>
            <a:srgbClr val="A48CC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02ADDEA-83B8-2E22-9BCF-8C6ED82E6412}"/>
              </a:ext>
            </a:extLst>
          </p:cNvPr>
          <p:cNvSpPr txBox="1"/>
          <p:nvPr/>
        </p:nvSpPr>
        <p:spPr>
          <a:xfrm>
            <a:off x="1041400" y="4445000"/>
            <a:ext cx="5435600" cy="635000"/>
          </a:xfrm>
          <a:prstGeom prst="rect">
            <a:avLst/>
          </a:prstGeom>
          <a:noFill/>
        </p:spPr>
        <p:txBody>
          <a:bodyPr vert="horz" wrap="square" lIns="0" tIns="0" rIns="0" bIns="0" rtlCol="0" anchor="ctr">
            <a:noAutofit/>
          </a:bodyPr>
          <a:lstStyle/>
          <a:p>
            <a:r>
              <a:rPr lang="en-US" sz="1500" b="1">
                <a:solidFill>
                  <a:srgbClr val="14213D"/>
                </a:solidFill>
                <a:latin typeface="Calibri" panose="020F0502020204030204" pitchFamily="34" charset="0"/>
              </a:rPr>
              <a:t>Principles</a:t>
            </a:r>
          </a:p>
          <a:p>
            <a:r>
              <a:rPr lang="en-US" sz="1300">
                <a:solidFill>
                  <a:srgbClr val="1F2937"/>
                </a:solidFill>
                <a:latin typeface="Calibri" panose="020F0502020204030204" pitchFamily="34" charset="0"/>
              </a:rPr>
              <a:t>The twelve Manifesto principles.</a:t>
            </a:r>
          </a:p>
        </p:txBody>
      </p:sp>
      <p:sp>
        <p:nvSpPr>
          <p:cNvPr id="12" name="Oval 11">
            <a:extLst>
              <a:ext uri="{FF2B5EF4-FFF2-40B4-BE49-F238E27FC236}">
                <a16:creationId xmlns:a16="http://schemas.microsoft.com/office/drawing/2014/main" id="{1427D622-2418-EE4B-0A4C-5D78F027314B}"/>
              </a:ext>
            </a:extLst>
          </p:cNvPr>
          <p:cNvSpPr/>
          <p:nvPr/>
        </p:nvSpPr>
        <p:spPr>
          <a:xfrm>
            <a:off x="508000" y="5207000"/>
            <a:ext cx="381000" cy="381000"/>
          </a:xfrm>
          <a:prstGeom prst="ellipse">
            <a:avLst/>
          </a:prstGeom>
          <a:solidFill>
            <a:srgbClr val="C9BC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9BC0B2F-3AE6-D263-3ADE-F1E172C28F16}"/>
              </a:ext>
            </a:extLst>
          </p:cNvPr>
          <p:cNvSpPr txBox="1"/>
          <p:nvPr/>
        </p:nvSpPr>
        <p:spPr>
          <a:xfrm>
            <a:off x="1041400" y="5130800"/>
            <a:ext cx="5435600" cy="635000"/>
          </a:xfrm>
          <a:prstGeom prst="rect">
            <a:avLst/>
          </a:prstGeom>
          <a:noFill/>
        </p:spPr>
        <p:txBody>
          <a:bodyPr vert="horz" wrap="square" lIns="0" tIns="0" rIns="0" bIns="0" rtlCol="0" anchor="ctr">
            <a:noAutofit/>
          </a:bodyPr>
          <a:lstStyle/>
          <a:p>
            <a:r>
              <a:rPr lang="en-US" sz="1500" b="1">
                <a:solidFill>
                  <a:srgbClr val="14213D"/>
                </a:solidFill>
                <a:latin typeface="Calibri" panose="020F0502020204030204" pitchFamily="34" charset="0"/>
              </a:rPr>
              <a:t>Practices</a:t>
            </a:r>
          </a:p>
          <a:p>
            <a:r>
              <a:rPr lang="en-US" sz="1300">
                <a:solidFill>
                  <a:srgbClr val="1F2937"/>
                </a:solidFill>
                <a:latin typeface="Calibri" panose="020F0502020204030204" pitchFamily="34" charset="0"/>
              </a:rPr>
              <a:t>Scrum, Kanban, XP, and the other approaches in this section.</a:t>
            </a:r>
          </a:p>
        </p:txBody>
      </p:sp>
      <p:sp>
        <p:nvSpPr>
          <p:cNvPr id="14" name="Oval 13">
            <a:extLst>
              <a:ext uri="{FF2B5EF4-FFF2-40B4-BE49-F238E27FC236}">
                <a16:creationId xmlns:a16="http://schemas.microsoft.com/office/drawing/2014/main" id="{E15AB27E-0917-A930-BE57-911DA82398A9}"/>
              </a:ext>
            </a:extLst>
          </p:cNvPr>
          <p:cNvSpPr/>
          <p:nvPr/>
        </p:nvSpPr>
        <p:spPr>
          <a:xfrm>
            <a:off x="6705600" y="1295400"/>
            <a:ext cx="4978400" cy="4978400"/>
          </a:xfrm>
          <a:prstGeom prst="ellipse">
            <a:avLst/>
          </a:prstGeom>
          <a:solidFill>
            <a:srgbClr val="C9BC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4EDA572-B360-12A4-DB48-9A8B51F89E59}"/>
              </a:ext>
            </a:extLst>
          </p:cNvPr>
          <p:cNvSpPr/>
          <p:nvPr/>
        </p:nvSpPr>
        <p:spPr>
          <a:xfrm>
            <a:off x="7289800" y="2463800"/>
            <a:ext cx="3810000" cy="3810000"/>
          </a:xfrm>
          <a:prstGeom prst="ellipse">
            <a:avLst/>
          </a:prstGeom>
          <a:solidFill>
            <a:srgbClr val="A48CC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D002C367-5DB7-C195-A110-0E62AD632765}"/>
              </a:ext>
            </a:extLst>
          </p:cNvPr>
          <p:cNvSpPr/>
          <p:nvPr/>
        </p:nvSpPr>
        <p:spPr>
          <a:xfrm>
            <a:off x="7861300" y="3606800"/>
            <a:ext cx="2667000" cy="2667000"/>
          </a:xfrm>
          <a:prstGeom prst="ellipse">
            <a:avLst/>
          </a:prstGeom>
          <a:solidFill>
            <a:srgbClr val="7E62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E0F9C06-AA5B-9A3F-D5A0-94D3C7F42D7A}"/>
              </a:ext>
            </a:extLst>
          </p:cNvPr>
          <p:cNvSpPr/>
          <p:nvPr/>
        </p:nvSpPr>
        <p:spPr>
          <a:xfrm>
            <a:off x="8432800" y="4749800"/>
            <a:ext cx="1524000" cy="1524000"/>
          </a:xfrm>
          <a:prstGeom prst="ellipse">
            <a:avLst/>
          </a:prstGeom>
          <a:solidFill>
            <a:srgbClr val="4B347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84595AE-D890-BA25-E491-45CF26407647}"/>
              </a:ext>
            </a:extLst>
          </p:cNvPr>
          <p:cNvSpPr txBox="1"/>
          <p:nvPr/>
        </p:nvSpPr>
        <p:spPr>
          <a:xfrm>
            <a:off x="8305800" y="1498600"/>
            <a:ext cx="1778000" cy="279400"/>
          </a:xfrm>
          <a:prstGeom prst="rect">
            <a:avLst/>
          </a:prstGeom>
          <a:noFill/>
        </p:spPr>
        <p:txBody>
          <a:bodyPr vert="horz" wrap="square" lIns="0" tIns="0" rIns="0" bIns="0" rtlCol="0" anchor="t">
            <a:noAutofit/>
          </a:bodyPr>
          <a:lstStyle/>
          <a:p>
            <a:pPr algn="ctr"/>
            <a:r>
              <a:rPr lang="en-US" sz="1600" b="1">
                <a:solidFill>
                  <a:srgbClr val="14213D"/>
                </a:solidFill>
                <a:latin typeface="Calibri" panose="020F0502020204030204" pitchFamily="34" charset="0"/>
              </a:rPr>
              <a:t>Practices</a:t>
            </a:r>
          </a:p>
        </p:txBody>
      </p:sp>
      <p:sp>
        <p:nvSpPr>
          <p:cNvPr id="19" name="TextBox 18">
            <a:extLst>
              <a:ext uri="{FF2B5EF4-FFF2-40B4-BE49-F238E27FC236}">
                <a16:creationId xmlns:a16="http://schemas.microsoft.com/office/drawing/2014/main" id="{8CC2B0C7-3075-FF80-2EFA-AE15C269A37B}"/>
              </a:ext>
            </a:extLst>
          </p:cNvPr>
          <p:cNvSpPr txBox="1"/>
          <p:nvPr/>
        </p:nvSpPr>
        <p:spPr>
          <a:xfrm>
            <a:off x="8305800" y="2667000"/>
            <a:ext cx="1778000" cy="279400"/>
          </a:xfrm>
          <a:prstGeom prst="rect">
            <a:avLst/>
          </a:prstGeom>
          <a:noFill/>
        </p:spPr>
        <p:txBody>
          <a:bodyPr vert="horz" wrap="square" lIns="0" tIns="0" rIns="0" bIns="0" rtlCol="0" anchor="t">
            <a:noAutofit/>
          </a:bodyPr>
          <a:lstStyle/>
          <a:p>
            <a:pPr algn="ctr"/>
            <a:r>
              <a:rPr lang="en-US" sz="1600" b="1">
                <a:solidFill>
                  <a:srgbClr val="FFFFFF"/>
                </a:solidFill>
                <a:latin typeface="Calibri" panose="020F0502020204030204" pitchFamily="34" charset="0"/>
              </a:rPr>
              <a:t>Principles</a:t>
            </a:r>
          </a:p>
        </p:txBody>
      </p:sp>
      <p:sp>
        <p:nvSpPr>
          <p:cNvPr id="20" name="TextBox 19">
            <a:extLst>
              <a:ext uri="{FF2B5EF4-FFF2-40B4-BE49-F238E27FC236}">
                <a16:creationId xmlns:a16="http://schemas.microsoft.com/office/drawing/2014/main" id="{C9FE83CC-A5A5-2B12-A6ED-35D89294EBE4}"/>
              </a:ext>
            </a:extLst>
          </p:cNvPr>
          <p:cNvSpPr txBox="1"/>
          <p:nvPr/>
        </p:nvSpPr>
        <p:spPr>
          <a:xfrm>
            <a:off x="8305800" y="3810000"/>
            <a:ext cx="1778000" cy="279400"/>
          </a:xfrm>
          <a:prstGeom prst="rect">
            <a:avLst/>
          </a:prstGeom>
          <a:noFill/>
        </p:spPr>
        <p:txBody>
          <a:bodyPr vert="horz" wrap="square" lIns="0" tIns="0" rIns="0" bIns="0" rtlCol="0" anchor="t">
            <a:noAutofit/>
          </a:bodyPr>
          <a:lstStyle/>
          <a:p>
            <a:pPr algn="ctr"/>
            <a:r>
              <a:rPr lang="en-US" sz="1600" b="1">
                <a:solidFill>
                  <a:srgbClr val="FFFFFF"/>
                </a:solidFill>
                <a:latin typeface="Calibri" panose="020F0502020204030204" pitchFamily="34" charset="0"/>
              </a:rPr>
              <a:t>Values</a:t>
            </a:r>
          </a:p>
        </p:txBody>
      </p:sp>
      <p:sp>
        <p:nvSpPr>
          <p:cNvPr id="21" name="TextBox 20">
            <a:extLst>
              <a:ext uri="{FF2B5EF4-FFF2-40B4-BE49-F238E27FC236}">
                <a16:creationId xmlns:a16="http://schemas.microsoft.com/office/drawing/2014/main" id="{434BD712-65BA-09D7-FA04-3974BFA1999F}"/>
              </a:ext>
            </a:extLst>
          </p:cNvPr>
          <p:cNvSpPr txBox="1"/>
          <p:nvPr/>
        </p:nvSpPr>
        <p:spPr>
          <a:xfrm>
            <a:off x="8305800" y="5372100"/>
            <a:ext cx="1778000" cy="279400"/>
          </a:xfrm>
          <a:prstGeom prst="rect">
            <a:avLst/>
          </a:prstGeom>
          <a:noFill/>
        </p:spPr>
        <p:txBody>
          <a:bodyPr vert="horz" wrap="square" lIns="0" tIns="0" rIns="0" bIns="0" rtlCol="0" anchor="t">
            <a:noAutofit/>
          </a:bodyPr>
          <a:lstStyle/>
          <a:p>
            <a:pPr algn="ctr"/>
            <a:r>
              <a:rPr lang="en-US" sz="1600" b="1">
                <a:solidFill>
                  <a:srgbClr val="FFFFFF"/>
                </a:solidFill>
                <a:latin typeface="Calibri" panose="020F0502020204030204" pitchFamily="34" charset="0"/>
              </a:rPr>
              <a:t>Mindset</a:t>
            </a:r>
          </a:p>
        </p:txBody>
      </p:sp>
      <p:sp>
        <p:nvSpPr>
          <p:cNvPr id="22" name="Rectangle: Rounded Corners 21">
            <a:extLst>
              <a:ext uri="{FF2B5EF4-FFF2-40B4-BE49-F238E27FC236}">
                <a16:creationId xmlns:a16="http://schemas.microsoft.com/office/drawing/2014/main" id="{A30BE9FE-FC1F-6F0A-10D4-ECF42CB3B66A}"/>
              </a:ext>
            </a:extLst>
          </p:cNvPr>
          <p:cNvSpPr/>
          <p:nvPr/>
        </p:nvSpPr>
        <p:spPr>
          <a:xfrm>
            <a:off x="508000" y="5867400"/>
            <a:ext cx="5969000" cy="482600"/>
          </a:xfrm>
          <a:prstGeom prst="roundRect">
            <a:avLst>
              <a:gd name="adj" fmla="val 8000"/>
            </a:avLst>
          </a:prstGeom>
          <a:solidFill>
            <a:srgbClr val="E8E1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18BDC273-94FA-D23D-5BD0-B56067264F22}"/>
              </a:ext>
            </a:extLst>
          </p:cNvPr>
          <p:cNvSpPr txBox="1"/>
          <p:nvPr/>
        </p:nvSpPr>
        <p:spPr>
          <a:xfrm>
            <a:off x="685800" y="5867400"/>
            <a:ext cx="5664200" cy="482600"/>
          </a:xfrm>
          <a:prstGeom prst="rect">
            <a:avLst/>
          </a:prstGeom>
          <a:noFill/>
        </p:spPr>
        <p:txBody>
          <a:bodyPr vert="horz" wrap="square" lIns="0" tIns="0" rIns="0" bIns="0" rtlCol="0" anchor="ctr">
            <a:noAutofit/>
          </a:bodyPr>
          <a:lstStyle/>
          <a:p>
            <a:r>
              <a:rPr lang="en-US" sz="1300" i="1">
                <a:solidFill>
                  <a:srgbClr val="14213D"/>
                </a:solidFill>
                <a:latin typeface="Calibri" panose="020F0502020204030204" pitchFamily="34" charset="0"/>
              </a:rPr>
              <a:t>Exam cue: when a team adopts the practices but not the mindset, address values and mindset first.</a:t>
            </a:r>
          </a:p>
        </p:txBody>
      </p:sp>
      <p:sp>
        <p:nvSpPr>
          <p:cNvPr id="24" name="Footer">
            <a:extLst>
              <a:ext uri="{FF2B5EF4-FFF2-40B4-BE49-F238E27FC236}">
                <a16:creationId xmlns:a16="http://schemas.microsoft.com/office/drawing/2014/main" id="{C78A6EF4-2171-8774-C9D3-EF858475B587}"/>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Ahmed Sidky (agile mindset model); PMI and Agile Alliance, Agile Practice Guide (2017), Section 2</a:t>
            </a:r>
          </a:p>
        </p:txBody>
      </p:sp>
      <p:sp>
        <p:nvSpPr>
          <p:cNvPr id="25" name="SlideNum">
            <a:extLst>
              <a:ext uri="{FF2B5EF4-FFF2-40B4-BE49-F238E27FC236}">
                <a16:creationId xmlns:a16="http://schemas.microsoft.com/office/drawing/2014/main" id="{D72795A2-3AAA-D0CB-08BD-072CBED7D6E3}"/>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89</a:t>
            </a:r>
          </a:p>
        </p:txBody>
      </p:sp>
      <p:sp>
        <p:nvSpPr>
          <p:cNvPr id="26"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58236536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244CE86-147B-591D-2F9C-AA8D088F8A96}"/>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Agile Manifesto: four values</a:t>
            </a:r>
          </a:p>
        </p:txBody>
      </p:sp>
      <p:sp>
        <p:nvSpPr>
          <p:cNvPr id="3" name="Tag">
            <a:extLst>
              <a:ext uri="{FF2B5EF4-FFF2-40B4-BE49-F238E27FC236}">
                <a16:creationId xmlns:a16="http://schemas.microsoft.com/office/drawing/2014/main" id="{DC0C30DE-8D47-3D67-4112-AFE4D472443F}"/>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6A4C93"/>
                </a:solidFill>
                <a:latin typeface="Calibri" panose="020F0502020204030204" pitchFamily="34" charset="0"/>
              </a:rPr>
              <a:t>Agile essentials · The mindset behind every agile approach</a:t>
            </a:r>
          </a:p>
        </p:txBody>
      </p:sp>
      <p:sp>
        <p:nvSpPr>
          <p:cNvPr id="4" name="Rectangle: Rounded Corners 3">
            <a:extLst>
              <a:ext uri="{FF2B5EF4-FFF2-40B4-BE49-F238E27FC236}">
                <a16:creationId xmlns:a16="http://schemas.microsoft.com/office/drawing/2014/main" id="{DB53C277-EDC0-6AE9-E560-4F58EDDFB405}"/>
              </a:ext>
            </a:extLst>
          </p:cNvPr>
          <p:cNvSpPr/>
          <p:nvPr/>
        </p:nvSpPr>
        <p:spPr>
          <a:xfrm>
            <a:off x="508000" y="1422400"/>
            <a:ext cx="5080000" cy="889000"/>
          </a:xfrm>
          <a:prstGeom prst="roundRect">
            <a:avLst>
              <a:gd name="adj" fmla="val 8000"/>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28600" tIns="25400" rIns="228600" bIns="25400" rtlCol="0" anchor="ctr"/>
          <a:lstStyle/>
          <a:p>
            <a:r>
              <a:rPr lang="en-US" sz="2000" b="1">
                <a:solidFill>
                  <a:srgbClr val="FFFFFF"/>
                </a:solidFill>
                <a:latin typeface="Calibri" panose="020F0502020204030204" pitchFamily="34" charset="0"/>
              </a:rPr>
              <a:t>Individuals and interactions</a:t>
            </a:r>
          </a:p>
        </p:txBody>
      </p:sp>
      <p:sp>
        <p:nvSpPr>
          <p:cNvPr id="5" name="TextBox 4">
            <a:extLst>
              <a:ext uri="{FF2B5EF4-FFF2-40B4-BE49-F238E27FC236}">
                <a16:creationId xmlns:a16="http://schemas.microsoft.com/office/drawing/2014/main" id="{3B1371CD-6F69-58FA-2E91-7082874E7223}"/>
              </a:ext>
            </a:extLst>
          </p:cNvPr>
          <p:cNvSpPr txBox="1"/>
          <p:nvPr/>
        </p:nvSpPr>
        <p:spPr>
          <a:xfrm>
            <a:off x="5740400" y="1422400"/>
            <a:ext cx="965200" cy="889000"/>
          </a:xfrm>
          <a:prstGeom prst="rect">
            <a:avLst/>
          </a:prstGeom>
          <a:noFill/>
        </p:spPr>
        <p:txBody>
          <a:bodyPr vert="horz" wrap="square" lIns="0" tIns="0" rIns="0" bIns="0" rtlCol="0" anchor="ctr">
            <a:noAutofit/>
          </a:bodyPr>
          <a:lstStyle/>
          <a:p>
            <a:pPr algn="ctr"/>
            <a:r>
              <a:rPr lang="en-US" sz="1600" i="1">
                <a:solidFill>
                  <a:srgbClr val="5B6475"/>
                </a:solidFill>
                <a:latin typeface="Calibri" panose="020F0502020204030204" pitchFamily="34" charset="0"/>
              </a:rPr>
              <a:t>over</a:t>
            </a:r>
          </a:p>
        </p:txBody>
      </p:sp>
      <p:sp>
        <p:nvSpPr>
          <p:cNvPr id="6" name="Rectangle: Rounded Corners 5">
            <a:extLst>
              <a:ext uri="{FF2B5EF4-FFF2-40B4-BE49-F238E27FC236}">
                <a16:creationId xmlns:a16="http://schemas.microsoft.com/office/drawing/2014/main" id="{FF0004A7-7787-EBF1-0C94-693F104873E8}"/>
              </a:ext>
            </a:extLst>
          </p:cNvPr>
          <p:cNvSpPr/>
          <p:nvPr/>
        </p:nvSpPr>
        <p:spPr>
          <a:xfrm>
            <a:off x="6858000" y="1422400"/>
            <a:ext cx="4826000" cy="889000"/>
          </a:xfrm>
          <a:prstGeom prst="roundRect">
            <a:avLst>
              <a:gd name="adj" fmla="val 8000"/>
            </a:avLst>
          </a:prstGeom>
          <a:solidFill>
            <a:srgbClr val="E8EB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28600" tIns="25400" rIns="228600" bIns="25400" rtlCol="0" anchor="ctr"/>
          <a:lstStyle/>
          <a:p>
            <a:r>
              <a:rPr lang="en-US">
                <a:solidFill>
                  <a:srgbClr val="5B6475"/>
                </a:solidFill>
                <a:latin typeface="Calibri" panose="020F0502020204030204" pitchFamily="34" charset="0"/>
              </a:rPr>
              <a:t>processes and tools</a:t>
            </a:r>
          </a:p>
        </p:txBody>
      </p:sp>
      <p:sp>
        <p:nvSpPr>
          <p:cNvPr id="7" name="Rectangle: Rounded Corners 6">
            <a:extLst>
              <a:ext uri="{FF2B5EF4-FFF2-40B4-BE49-F238E27FC236}">
                <a16:creationId xmlns:a16="http://schemas.microsoft.com/office/drawing/2014/main" id="{380A41AC-EB95-9F00-91A4-B61E68DEE617}"/>
              </a:ext>
            </a:extLst>
          </p:cNvPr>
          <p:cNvSpPr/>
          <p:nvPr/>
        </p:nvSpPr>
        <p:spPr>
          <a:xfrm>
            <a:off x="508000" y="2463800"/>
            <a:ext cx="5080000" cy="889000"/>
          </a:xfrm>
          <a:prstGeom prst="roundRect">
            <a:avLst>
              <a:gd name="adj" fmla="val 8000"/>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28600" tIns="25400" rIns="228600" bIns="25400" rtlCol="0" anchor="ctr"/>
          <a:lstStyle/>
          <a:p>
            <a:r>
              <a:rPr lang="en-US" sz="2000" b="1">
                <a:solidFill>
                  <a:srgbClr val="FFFFFF"/>
                </a:solidFill>
                <a:latin typeface="Calibri" panose="020F0502020204030204" pitchFamily="34" charset="0"/>
              </a:rPr>
              <a:t>Working software</a:t>
            </a:r>
          </a:p>
        </p:txBody>
      </p:sp>
      <p:sp>
        <p:nvSpPr>
          <p:cNvPr id="8" name="TextBox 7">
            <a:extLst>
              <a:ext uri="{FF2B5EF4-FFF2-40B4-BE49-F238E27FC236}">
                <a16:creationId xmlns:a16="http://schemas.microsoft.com/office/drawing/2014/main" id="{26D5D981-E48D-6650-A429-E41444A1598A}"/>
              </a:ext>
            </a:extLst>
          </p:cNvPr>
          <p:cNvSpPr txBox="1"/>
          <p:nvPr/>
        </p:nvSpPr>
        <p:spPr>
          <a:xfrm>
            <a:off x="5740400" y="2463800"/>
            <a:ext cx="965200" cy="889000"/>
          </a:xfrm>
          <a:prstGeom prst="rect">
            <a:avLst/>
          </a:prstGeom>
          <a:noFill/>
        </p:spPr>
        <p:txBody>
          <a:bodyPr vert="horz" wrap="square" lIns="0" tIns="0" rIns="0" bIns="0" rtlCol="0" anchor="ctr">
            <a:noAutofit/>
          </a:bodyPr>
          <a:lstStyle/>
          <a:p>
            <a:pPr algn="ctr"/>
            <a:r>
              <a:rPr lang="en-US" sz="1600" i="1">
                <a:solidFill>
                  <a:srgbClr val="5B6475"/>
                </a:solidFill>
                <a:latin typeface="Calibri" panose="020F0502020204030204" pitchFamily="34" charset="0"/>
              </a:rPr>
              <a:t>over</a:t>
            </a:r>
          </a:p>
        </p:txBody>
      </p:sp>
      <p:sp>
        <p:nvSpPr>
          <p:cNvPr id="9" name="Rectangle: Rounded Corners 8">
            <a:extLst>
              <a:ext uri="{FF2B5EF4-FFF2-40B4-BE49-F238E27FC236}">
                <a16:creationId xmlns:a16="http://schemas.microsoft.com/office/drawing/2014/main" id="{B70DF64C-B031-3130-F3C4-3AA5A8B76BC4}"/>
              </a:ext>
            </a:extLst>
          </p:cNvPr>
          <p:cNvSpPr/>
          <p:nvPr/>
        </p:nvSpPr>
        <p:spPr>
          <a:xfrm>
            <a:off x="6858000" y="2463800"/>
            <a:ext cx="4826000" cy="889000"/>
          </a:xfrm>
          <a:prstGeom prst="roundRect">
            <a:avLst>
              <a:gd name="adj" fmla="val 8000"/>
            </a:avLst>
          </a:prstGeom>
          <a:solidFill>
            <a:srgbClr val="E8EB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28600" tIns="25400" rIns="228600" bIns="25400" rtlCol="0" anchor="ctr"/>
          <a:lstStyle/>
          <a:p>
            <a:r>
              <a:rPr lang="en-US">
                <a:solidFill>
                  <a:srgbClr val="5B6475"/>
                </a:solidFill>
                <a:latin typeface="Calibri" panose="020F0502020204030204" pitchFamily="34" charset="0"/>
              </a:rPr>
              <a:t>comprehensive documentation</a:t>
            </a:r>
          </a:p>
        </p:txBody>
      </p:sp>
      <p:sp>
        <p:nvSpPr>
          <p:cNvPr id="10" name="Rectangle: Rounded Corners 9">
            <a:extLst>
              <a:ext uri="{FF2B5EF4-FFF2-40B4-BE49-F238E27FC236}">
                <a16:creationId xmlns:a16="http://schemas.microsoft.com/office/drawing/2014/main" id="{565E96E1-8479-43CF-F9EB-CB652822A971}"/>
              </a:ext>
            </a:extLst>
          </p:cNvPr>
          <p:cNvSpPr/>
          <p:nvPr/>
        </p:nvSpPr>
        <p:spPr>
          <a:xfrm>
            <a:off x="508000" y="3505200"/>
            <a:ext cx="5080000" cy="889000"/>
          </a:xfrm>
          <a:prstGeom prst="roundRect">
            <a:avLst>
              <a:gd name="adj" fmla="val 8000"/>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28600" tIns="25400" rIns="228600" bIns="25400" rtlCol="0" anchor="ctr"/>
          <a:lstStyle/>
          <a:p>
            <a:r>
              <a:rPr lang="en-US" sz="2000" b="1">
                <a:solidFill>
                  <a:srgbClr val="FFFFFF"/>
                </a:solidFill>
                <a:latin typeface="Calibri" panose="020F0502020204030204" pitchFamily="34" charset="0"/>
              </a:rPr>
              <a:t>Customer collaboration</a:t>
            </a:r>
          </a:p>
        </p:txBody>
      </p:sp>
      <p:sp>
        <p:nvSpPr>
          <p:cNvPr id="11" name="TextBox 10">
            <a:extLst>
              <a:ext uri="{FF2B5EF4-FFF2-40B4-BE49-F238E27FC236}">
                <a16:creationId xmlns:a16="http://schemas.microsoft.com/office/drawing/2014/main" id="{6B36DF61-D5E9-AA62-1AC8-BE86057B4F20}"/>
              </a:ext>
            </a:extLst>
          </p:cNvPr>
          <p:cNvSpPr txBox="1"/>
          <p:nvPr/>
        </p:nvSpPr>
        <p:spPr>
          <a:xfrm>
            <a:off x="5740400" y="3505200"/>
            <a:ext cx="965200" cy="889000"/>
          </a:xfrm>
          <a:prstGeom prst="rect">
            <a:avLst/>
          </a:prstGeom>
          <a:noFill/>
        </p:spPr>
        <p:txBody>
          <a:bodyPr vert="horz" wrap="square" lIns="0" tIns="0" rIns="0" bIns="0" rtlCol="0" anchor="ctr">
            <a:noAutofit/>
          </a:bodyPr>
          <a:lstStyle/>
          <a:p>
            <a:pPr algn="ctr"/>
            <a:r>
              <a:rPr lang="en-US" sz="1600" i="1">
                <a:solidFill>
                  <a:srgbClr val="5B6475"/>
                </a:solidFill>
                <a:latin typeface="Calibri" panose="020F0502020204030204" pitchFamily="34" charset="0"/>
              </a:rPr>
              <a:t>over</a:t>
            </a:r>
          </a:p>
        </p:txBody>
      </p:sp>
      <p:sp>
        <p:nvSpPr>
          <p:cNvPr id="12" name="Rectangle: Rounded Corners 11">
            <a:extLst>
              <a:ext uri="{FF2B5EF4-FFF2-40B4-BE49-F238E27FC236}">
                <a16:creationId xmlns:a16="http://schemas.microsoft.com/office/drawing/2014/main" id="{E516BE1D-9BA7-37B6-896B-EFD00F792DEE}"/>
              </a:ext>
            </a:extLst>
          </p:cNvPr>
          <p:cNvSpPr/>
          <p:nvPr/>
        </p:nvSpPr>
        <p:spPr>
          <a:xfrm>
            <a:off x="6858000" y="3505200"/>
            <a:ext cx="4826000" cy="889000"/>
          </a:xfrm>
          <a:prstGeom prst="roundRect">
            <a:avLst>
              <a:gd name="adj" fmla="val 8000"/>
            </a:avLst>
          </a:prstGeom>
          <a:solidFill>
            <a:srgbClr val="E8EB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28600" tIns="25400" rIns="228600" bIns="25400" rtlCol="0" anchor="ctr"/>
          <a:lstStyle/>
          <a:p>
            <a:r>
              <a:rPr lang="en-US">
                <a:solidFill>
                  <a:srgbClr val="5B6475"/>
                </a:solidFill>
                <a:latin typeface="Calibri" panose="020F0502020204030204" pitchFamily="34" charset="0"/>
              </a:rPr>
              <a:t>contract negotiation</a:t>
            </a:r>
          </a:p>
        </p:txBody>
      </p:sp>
      <p:sp>
        <p:nvSpPr>
          <p:cNvPr id="13" name="Rectangle: Rounded Corners 12">
            <a:extLst>
              <a:ext uri="{FF2B5EF4-FFF2-40B4-BE49-F238E27FC236}">
                <a16:creationId xmlns:a16="http://schemas.microsoft.com/office/drawing/2014/main" id="{CB2776AB-37D8-65CB-1259-1681C0B40DE1}"/>
              </a:ext>
            </a:extLst>
          </p:cNvPr>
          <p:cNvSpPr/>
          <p:nvPr/>
        </p:nvSpPr>
        <p:spPr>
          <a:xfrm>
            <a:off x="508000" y="4546600"/>
            <a:ext cx="5080000" cy="889000"/>
          </a:xfrm>
          <a:prstGeom prst="roundRect">
            <a:avLst>
              <a:gd name="adj" fmla="val 8000"/>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28600" tIns="25400" rIns="228600" bIns="25400" rtlCol="0" anchor="ctr"/>
          <a:lstStyle/>
          <a:p>
            <a:r>
              <a:rPr lang="en-US" sz="2000" b="1">
                <a:solidFill>
                  <a:srgbClr val="FFFFFF"/>
                </a:solidFill>
                <a:latin typeface="Calibri" panose="020F0502020204030204" pitchFamily="34" charset="0"/>
              </a:rPr>
              <a:t>Responding to change</a:t>
            </a:r>
          </a:p>
        </p:txBody>
      </p:sp>
      <p:sp>
        <p:nvSpPr>
          <p:cNvPr id="14" name="TextBox 13">
            <a:extLst>
              <a:ext uri="{FF2B5EF4-FFF2-40B4-BE49-F238E27FC236}">
                <a16:creationId xmlns:a16="http://schemas.microsoft.com/office/drawing/2014/main" id="{31549362-1ED6-6144-D128-14A38A6CF06A}"/>
              </a:ext>
            </a:extLst>
          </p:cNvPr>
          <p:cNvSpPr txBox="1"/>
          <p:nvPr/>
        </p:nvSpPr>
        <p:spPr>
          <a:xfrm>
            <a:off x="5740400" y="4546600"/>
            <a:ext cx="965200" cy="889000"/>
          </a:xfrm>
          <a:prstGeom prst="rect">
            <a:avLst/>
          </a:prstGeom>
          <a:noFill/>
        </p:spPr>
        <p:txBody>
          <a:bodyPr vert="horz" wrap="square" lIns="0" tIns="0" rIns="0" bIns="0" rtlCol="0" anchor="ctr">
            <a:noAutofit/>
          </a:bodyPr>
          <a:lstStyle/>
          <a:p>
            <a:pPr algn="ctr"/>
            <a:r>
              <a:rPr lang="en-US" sz="1600" i="1">
                <a:solidFill>
                  <a:srgbClr val="5B6475"/>
                </a:solidFill>
                <a:latin typeface="Calibri" panose="020F0502020204030204" pitchFamily="34" charset="0"/>
              </a:rPr>
              <a:t>over</a:t>
            </a:r>
          </a:p>
        </p:txBody>
      </p:sp>
      <p:sp>
        <p:nvSpPr>
          <p:cNvPr id="15" name="Rectangle: Rounded Corners 14">
            <a:extLst>
              <a:ext uri="{FF2B5EF4-FFF2-40B4-BE49-F238E27FC236}">
                <a16:creationId xmlns:a16="http://schemas.microsoft.com/office/drawing/2014/main" id="{A1E6F2D0-1932-624A-EFB7-0065D9C9B755}"/>
              </a:ext>
            </a:extLst>
          </p:cNvPr>
          <p:cNvSpPr/>
          <p:nvPr/>
        </p:nvSpPr>
        <p:spPr>
          <a:xfrm>
            <a:off x="6858000" y="4546600"/>
            <a:ext cx="4826000" cy="889000"/>
          </a:xfrm>
          <a:prstGeom prst="roundRect">
            <a:avLst>
              <a:gd name="adj" fmla="val 8000"/>
            </a:avLst>
          </a:prstGeom>
          <a:solidFill>
            <a:srgbClr val="E8EB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28600" tIns="25400" rIns="228600" bIns="25400" rtlCol="0" anchor="ctr"/>
          <a:lstStyle/>
          <a:p>
            <a:r>
              <a:rPr lang="en-US">
                <a:solidFill>
                  <a:srgbClr val="5B6475"/>
                </a:solidFill>
                <a:latin typeface="Calibri" panose="020F0502020204030204" pitchFamily="34" charset="0"/>
              </a:rPr>
              <a:t>following a plan</a:t>
            </a:r>
          </a:p>
        </p:txBody>
      </p:sp>
      <p:sp>
        <p:nvSpPr>
          <p:cNvPr id="16" name="TextBox 15">
            <a:extLst>
              <a:ext uri="{FF2B5EF4-FFF2-40B4-BE49-F238E27FC236}">
                <a16:creationId xmlns:a16="http://schemas.microsoft.com/office/drawing/2014/main" id="{31617CE2-8B26-BE2D-C7AF-3F51C0C51F60}"/>
              </a:ext>
            </a:extLst>
          </p:cNvPr>
          <p:cNvSpPr txBox="1"/>
          <p:nvPr/>
        </p:nvSpPr>
        <p:spPr>
          <a:xfrm>
            <a:off x="508000" y="5689600"/>
            <a:ext cx="11176000" cy="508000"/>
          </a:xfrm>
          <a:prstGeom prst="rect">
            <a:avLst/>
          </a:prstGeom>
          <a:noFill/>
        </p:spPr>
        <p:txBody>
          <a:bodyPr vert="horz" wrap="square" lIns="0" tIns="0" rIns="0" bIns="0" rtlCol="0" anchor="ctr">
            <a:noAutofit/>
          </a:bodyPr>
          <a:lstStyle/>
          <a:p>
            <a:r>
              <a:rPr lang="en-US" sz="1600" i="1">
                <a:solidFill>
                  <a:srgbClr val="14213D"/>
                </a:solidFill>
                <a:latin typeface="Calibri" panose="020F0502020204030204" pitchFamily="34" charset="0"/>
              </a:rPr>
              <a:t>‘That is, while there is value in the items on the right, we value the items on the left more.’</a:t>
            </a:r>
          </a:p>
        </p:txBody>
      </p:sp>
      <p:sp>
        <p:nvSpPr>
          <p:cNvPr id="17" name="Footer">
            <a:extLst>
              <a:ext uri="{FF2B5EF4-FFF2-40B4-BE49-F238E27FC236}">
                <a16:creationId xmlns:a16="http://schemas.microsoft.com/office/drawing/2014/main" id="{531138F6-7A2C-E5AC-22CC-B87462D58A90}"/>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Manifesto for Agile Software Development (2001), agilemanifesto.org; PMI and Agile Alliance, Agile Practice Guide (2017), Annex A2</a:t>
            </a:r>
          </a:p>
        </p:txBody>
      </p:sp>
      <p:sp>
        <p:nvSpPr>
          <p:cNvPr id="18" name="SlideNum">
            <a:extLst>
              <a:ext uri="{FF2B5EF4-FFF2-40B4-BE49-F238E27FC236}">
                <a16:creationId xmlns:a16="http://schemas.microsoft.com/office/drawing/2014/main" id="{71A1224D-D132-AC01-A151-ABC9D92A5C4C}"/>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90</a:t>
            </a:r>
          </a:p>
        </p:txBody>
      </p:sp>
      <p:sp>
        <p:nvSpPr>
          <p:cNvPr id="19"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03707028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795CF418-2321-8A55-4C5F-D0442188034C}"/>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Agile Manifesto: twelve principles</a:t>
            </a:r>
          </a:p>
        </p:txBody>
      </p:sp>
      <p:sp>
        <p:nvSpPr>
          <p:cNvPr id="3" name="Tag">
            <a:extLst>
              <a:ext uri="{FF2B5EF4-FFF2-40B4-BE49-F238E27FC236}">
                <a16:creationId xmlns:a16="http://schemas.microsoft.com/office/drawing/2014/main" id="{BC0E0793-4B59-80CC-E55A-DBDE6570753C}"/>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6A4C93"/>
                </a:solidFill>
                <a:latin typeface="Calibri" panose="020F0502020204030204" pitchFamily="34" charset="0"/>
              </a:rPr>
              <a:t>Agile essentials · Paraphrased; see agilemanifesto.org for the full wording</a:t>
            </a:r>
          </a:p>
        </p:txBody>
      </p:sp>
      <p:sp>
        <p:nvSpPr>
          <p:cNvPr id="4" name="Oval 3">
            <a:extLst>
              <a:ext uri="{FF2B5EF4-FFF2-40B4-BE49-F238E27FC236}">
                <a16:creationId xmlns:a16="http://schemas.microsoft.com/office/drawing/2014/main" id="{801D114E-DD1D-B8A2-9A6F-90D8C7AFED7A}"/>
              </a:ext>
            </a:extLst>
          </p:cNvPr>
          <p:cNvSpPr/>
          <p:nvPr/>
        </p:nvSpPr>
        <p:spPr>
          <a:xfrm>
            <a:off x="508000" y="1549400"/>
            <a:ext cx="406400" cy="4064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300" b="1">
                <a:solidFill>
                  <a:srgbClr val="FFFFFF"/>
                </a:solidFill>
                <a:latin typeface="Calibri" panose="020F0502020204030204" pitchFamily="34" charset="0"/>
              </a:rPr>
              <a:t>1</a:t>
            </a:r>
          </a:p>
        </p:txBody>
      </p:sp>
      <p:sp>
        <p:nvSpPr>
          <p:cNvPr id="5" name="TextBox 4">
            <a:extLst>
              <a:ext uri="{FF2B5EF4-FFF2-40B4-BE49-F238E27FC236}">
                <a16:creationId xmlns:a16="http://schemas.microsoft.com/office/drawing/2014/main" id="{265E2E9B-14C2-D900-D09B-902ACAA5045C}"/>
              </a:ext>
            </a:extLst>
          </p:cNvPr>
          <p:cNvSpPr txBox="1"/>
          <p:nvPr/>
        </p:nvSpPr>
        <p:spPr>
          <a:xfrm>
            <a:off x="1066800" y="1397000"/>
            <a:ext cx="4826000" cy="711200"/>
          </a:xfrm>
          <a:prstGeom prst="rect">
            <a:avLst/>
          </a:prstGeom>
          <a:noFill/>
        </p:spPr>
        <p:txBody>
          <a:bodyPr vert="horz" wrap="square" lIns="0" tIns="0" rIns="0" bIns="0" rtlCol="0" anchor="ctr">
            <a:noAutofit/>
          </a:bodyPr>
          <a:lstStyle/>
          <a:p>
            <a:r>
              <a:rPr lang="en-US" sz="1500" b="1">
                <a:solidFill>
                  <a:srgbClr val="1F2937"/>
                </a:solidFill>
                <a:latin typeface="Calibri" panose="020F0502020204030204" pitchFamily="34" charset="0"/>
              </a:rPr>
              <a:t>Highest priority:</a:t>
            </a:r>
            <a:r>
              <a:rPr lang="en-US" sz="1500">
                <a:solidFill>
                  <a:srgbClr val="1F2937"/>
                </a:solidFill>
                <a:latin typeface="Calibri" panose="020F0502020204030204" pitchFamily="34" charset="0"/>
              </a:rPr>
              <a:t> satisfy the customer through early and continuous delivery of value</a:t>
            </a:r>
          </a:p>
        </p:txBody>
      </p:sp>
      <p:sp>
        <p:nvSpPr>
          <p:cNvPr id="6" name="Oval 5">
            <a:extLst>
              <a:ext uri="{FF2B5EF4-FFF2-40B4-BE49-F238E27FC236}">
                <a16:creationId xmlns:a16="http://schemas.microsoft.com/office/drawing/2014/main" id="{0E38DCB0-E672-CBF2-AA4B-F58B0C682363}"/>
              </a:ext>
            </a:extLst>
          </p:cNvPr>
          <p:cNvSpPr/>
          <p:nvPr/>
        </p:nvSpPr>
        <p:spPr>
          <a:xfrm>
            <a:off x="508000" y="2362200"/>
            <a:ext cx="406400" cy="4064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300" b="1">
                <a:solidFill>
                  <a:srgbClr val="FFFFFF"/>
                </a:solidFill>
                <a:latin typeface="Calibri" panose="020F0502020204030204" pitchFamily="34" charset="0"/>
              </a:rPr>
              <a:t>2</a:t>
            </a:r>
          </a:p>
        </p:txBody>
      </p:sp>
      <p:sp>
        <p:nvSpPr>
          <p:cNvPr id="7" name="TextBox 6">
            <a:extLst>
              <a:ext uri="{FF2B5EF4-FFF2-40B4-BE49-F238E27FC236}">
                <a16:creationId xmlns:a16="http://schemas.microsoft.com/office/drawing/2014/main" id="{C0AC6FB6-E244-18CE-A839-A02EDF5DF07F}"/>
              </a:ext>
            </a:extLst>
          </p:cNvPr>
          <p:cNvSpPr txBox="1"/>
          <p:nvPr/>
        </p:nvSpPr>
        <p:spPr>
          <a:xfrm>
            <a:off x="1066800" y="2209800"/>
            <a:ext cx="4826000" cy="711200"/>
          </a:xfrm>
          <a:prstGeom prst="rect">
            <a:avLst/>
          </a:prstGeom>
          <a:noFill/>
        </p:spPr>
        <p:txBody>
          <a:bodyPr vert="horz" wrap="square" lIns="0" tIns="0" rIns="0" bIns="0" rtlCol="0" anchor="ctr">
            <a:noAutofit/>
          </a:bodyPr>
          <a:lstStyle/>
          <a:p>
            <a:r>
              <a:rPr lang="en-US" sz="1500">
                <a:solidFill>
                  <a:srgbClr val="1F2937"/>
                </a:solidFill>
                <a:latin typeface="Calibri" panose="020F0502020204030204" pitchFamily="34" charset="0"/>
              </a:rPr>
              <a:t>Welcome changing requirements, even late in development</a:t>
            </a:r>
          </a:p>
        </p:txBody>
      </p:sp>
      <p:sp>
        <p:nvSpPr>
          <p:cNvPr id="8" name="Oval 7">
            <a:extLst>
              <a:ext uri="{FF2B5EF4-FFF2-40B4-BE49-F238E27FC236}">
                <a16:creationId xmlns:a16="http://schemas.microsoft.com/office/drawing/2014/main" id="{519C9CCE-45EF-018F-551D-0954F0797E9C}"/>
              </a:ext>
            </a:extLst>
          </p:cNvPr>
          <p:cNvSpPr/>
          <p:nvPr/>
        </p:nvSpPr>
        <p:spPr>
          <a:xfrm>
            <a:off x="508000" y="3175000"/>
            <a:ext cx="406400" cy="4064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300" b="1">
                <a:solidFill>
                  <a:srgbClr val="FFFFFF"/>
                </a:solidFill>
                <a:latin typeface="Calibri" panose="020F0502020204030204" pitchFamily="34" charset="0"/>
              </a:rPr>
              <a:t>3</a:t>
            </a:r>
          </a:p>
        </p:txBody>
      </p:sp>
      <p:sp>
        <p:nvSpPr>
          <p:cNvPr id="9" name="TextBox 8">
            <a:extLst>
              <a:ext uri="{FF2B5EF4-FFF2-40B4-BE49-F238E27FC236}">
                <a16:creationId xmlns:a16="http://schemas.microsoft.com/office/drawing/2014/main" id="{7FB0586F-E0FF-BC4B-FE69-6314C20D59FA}"/>
              </a:ext>
            </a:extLst>
          </p:cNvPr>
          <p:cNvSpPr txBox="1"/>
          <p:nvPr/>
        </p:nvSpPr>
        <p:spPr>
          <a:xfrm>
            <a:off x="1066800" y="3022600"/>
            <a:ext cx="4826000" cy="711200"/>
          </a:xfrm>
          <a:prstGeom prst="rect">
            <a:avLst/>
          </a:prstGeom>
          <a:noFill/>
        </p:spPr>
        <p:txBody>
          <a:bodyPr vert="horz" wrap="square" lIns="0" tIns="0" rIns="0" bIns="0" rtlCol="0" anchor="ctr">
            <a:noAutofit/>
          </a:bodyPr>
          <a:lstStyle/>
          <a:p>
            <a:r>
              <a:rPr lang="en-US" sz="1500">
                <a:solidFill>
                  <a:srgbClr val="1F2937"/>
                </a:solidFill>
                <a:latin typeface="Calibri" panose="020F0502020204030204" pitchFamily="34" charset="0"/>
              </a:rPr>
              <a:t>Deliver working results frequently: weeks rather than months</a:t>
            </a:r>
          </a:p>
        </p:txBody>
      </p:sp>
      <p:sp>
        <p:nvSpPr>
          <p:cNvPr id="10" name="Oval 9">
            <a:extLst>
              <a:ext uri="{FF2B5EF4-FFF2-40B4-BE49-F238E27FC236}">
                <a16:creationId xmlns:a16="http://schemas.microsoft.com/office/drawing/2014/main" id="{9762AF18-FD39-E190-208B-764F8FBB0A92}"/>
              </a:ext>
            </a:extLst>
          </p:cNvPr>
          <p:cNvSpPr/>
          <p:nvPr/>
        </p:nvSpPr>
        <p:spPr>
          <a:xfrm>
            <a:off x="508000" y="3987800"/>
            <a:ext cx="406400" cy="4064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300" b="1">
                <a:solidFill>
                  <a:srgbClr val="FFFFFF"/>
                </a:solidFill>
                <a:latin typeface="Calibri" panose="020F0502020204030204" pitchFamily="34" charset="0"/>
              </a:rPr>
              <a:t>4</a:t>
            </a:r>
          </a:p>
        </p:txBody>
      </p:sp>
      <p:sp>
        <p:nvSpPr>
          <p:cNvPr id="11" name="TextBox 10">
            <a:extLst>
              <a:ext uri="{FF2B5EF4-FFF2-40B4-BE49-F238E27FC236}">
                <a16:creationId xmlns:a16="http://schemas.microsoft.com/office/drawing/2014/main" id="{ED31F5E4-81E8-2A90-9A48-7D5C118EBF5B}"/>
              </a:ext>
            </a:extLst>
          </p:cNvPr>
          <p:cNvSpPr txBox="1"/>
          <p:nvPr/>
        </p:nvSpPr>
        <p:spPr>
          <a:xfrm>
            <a:off x="1066800" y="3835400"/>
            <a:ext cx="4826000" cy="711200"/>
          </a:xfrm>
          <a:prstGeom prst="rect">
            <a:avLst/>
          </a:prstGeom>
          <a:noFill/>
        </p:spPr>
        <p:txBody>
          <a:bodyPr vert="horz" wrap="square" lIns="0" tIns="0" rIns="0" bIns="0" rtlCol="0" anchor="ctr">
            <a:noAutofit/>
          </a:bodyPr>
          <a:lstStyle/>
          <a:p>
            <a:r>
              <a:rPr lang="en-US" sz="1500">
                <a:solidFill>
                  <a:srgbClr val="1F2937"/>
                </a:solidFill>
                <a:latin typeface="Calibri" panose="020F0502020204030204" pitchFamily="34" charset="0"/>
              </a:rPr>
              <a:t>Business people and developers work together daily</a:t>
            </a:r>
          </a:p>
        </p:txBody>
      </p:sp>
      <p:sp>
        <p:nvSpPr>
          <p:cNvPr id="12" name="Oval 11">
            <a:extLst>
              <a:ext uri="{FF2B5EF4-FFF2-40B4-BE49-F238E27FC236}">
                <a16:creationId xmlns:a16="http://schemas.microsoft.com/office/drawing/2014/main" id="{CB08938D-3440-130B-5E37-451CD6B88E69}"/>
              </a:ext>
            </a:extLst>
          </p:cNvPr>
          <p:cNvSpPr/>
          <p:nvPr/>
        </p:nvSpPr>
        <p:spPr>
          <a:xfrm>
            <a:off x="508000" y="4800600"/>
            <a:ext cx="406400" cy="4064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300" b="1">
                <a:solidFill>
                  <a:srgbClr val="FFFFFF"/>
                </a:solidFill>
                <a:latin typeface="Calibri" panose="020F0502020204030204" pitchFamily="34" charset="0"/>
              </a:rPr>
              <a:t>5</a:t>
            </a:r>
          </a:p>
        </p:txBody>
      </p:sp>
      <p:sp>
        <p:nvSpPr>
          <p:cNvPr id="13" name="TextBox 12">
            <a:extLst>
              <a:ext uri="{FF2B5EF4-FFF2-40B4-BE49-F238E27FC236}">
                <a16:creationId xmlns:a16="http://schemas.microsoft.com/office/drawing/2014/main" id="{4B490A42-91F9-CA8F-6E56-6921820865A5}"/>
              </a:ext>
            </a:extLst>
          </p:cNvPr>
          <p:cNvSpPr txBox="1"/>
          <p:nvPr/>
        </p:nvSpPr>
        <p:spPr>
          <a:xfrm>
            <a:off x="1066800" y="4648200"/>
            <a:ext cx="4826000" cy="711200"/>
          </a:xfrm>
          <a:prstGeom prst="rect">
            <a:avLst/>
          </a:prstGeom>
          <a:noFill/>
        </p:spPr>
        <p:txBody>
          <a:bodyPr vert="horz" wrap="square" lIns="0" tIns="0" rIns="0" bIns="0" rtlCol="0" anchor="ctr">
            <a:noAutofit/>
          </a:bodyPr>
          <a:lstStyle/>
          <a:p>
            <a:r>
              <a:rPr lang="en-US" sz="1500">
                <a:solidFill>
                  <a:srgbClr val="1F2937"/>
                </a:solidFill>
                <a:latin typeface="Calibri" panose="020F0502020204030204" pitchFamily="34" charset="0"/>
              </a:rPr>
              <a:t>Build projects around motivated individuals, and trust them</a:t>
            </a:r>
          </a:p>
        </p:txBody>
      </p:sp>
      <p:sp>
        <p:nvSpPr>
          <p:cNvPr id="14" name="Oval 13">
            <a:extLst>
              <a:ext uri="{FF2B5EF4-FFF2-40B4-BE49-F238E27FC236}">
                <a16:creationId xmlns:a16="http://schemas.microsoft.com/office/drawing/2014/main" id="{6DE7A77F-3E2F-FE4F-B161-6E8CC313DE65}"/>
              </a:ext>
            </a:extLst>
          </p:cNvPr>
          <p:cNvSpPr/>
          <p:nvPr/>
        </p:nvSpPr>
        <p:spPr>
          <a:xfrm>
            <a:off x="508000" y="5613400"/>
            <a:ext cx="406400" cy="4064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300" b="1">
                <a:solidFill>
                  <a:srgbClr val="FFFFFF"/>
                </a:solidFill>
                <a:latin typeface="Calibri" panose="020F0502020204030204" pitchFamily="34" charset="0"/>
              </a:rPr>
              <a:t>6</a:t>
            </a:r>
          </a:p>
        </p:txBody>
      </p:sp>
      <p:sp>
        <p:nvSpPr>
          <p:cNvPr id="15" name="TextBox 14">
            <a:extLst>
              <a:ext uri="{FF2B5EF4-FFF2-40B4-BE49-F238E27FC236}">
                <a16:creationId xmlns:a16="http://schemas.microsoft.com/office/drawing/2014/main" id="{0289E234-3DDE-69BD-3DC3-9E2C7B49A162}"/>
              </a:ext>
            </a:extLst>
          </p:cNvPr>
          <p:cNvSpPr txBox="1"/>
          <p:nvPr/>
        </p:nvSpPr>
        <p:spPr>
          <a:xfrm>
            <a:off x="1066800" y="5461000"/>
            <a:ext cx="4826000" cy="711200"/>
          </a:xfrm>
          <a:prstGeom prst="rect">
            <a:avLst/>
          </a:prstGeom>
          <a:noFill/>
        </p:spPr>
        <p:txBody>
          <a:bodyPr vert="horz" wrap="square" lIns="0" tIns="0" rIns="0" bIns="0" rtlCol="0" anchor="ctr">
            <a:noAutofit/>
          </a:bodyPr>
          <a:lstStyle/>
          <a:p>
            <a:r>
              <a:rPr lang="en-US" sz="1500">
                <a:solidFill>
                  <a:srgbClr val="1F2937"/>
                </a:solidFill>
                <a:latin typeface="Calibri" panose="020F0502020204030204" pitchFamily="34" charset="0"/>
              </a:rPr>
              <a:t>Face-to-face conversation is the most effective communication</a:t>
            </a:r>
          </a:p>
        </p:txBody>
      </p:sp>
      <p:sp>
        <p:nvSpPr>
          <p:cNvPr id="16" name="Oval 15">
            <a:extLst>
              <a:ext uri="{FF2B5EF4-FFF2-40B4-BE49-F238E27FC236}">
                <a16:creationId xmlns:a16="http://schemas.microsoft.com/office/drawing/2014/main" id="{51D9FE43-C4B8-4F78-6A1F-02FF28E9F09E}"/>
              </a:ext>
            </a:extLst>
          </p:cNvPr>
          <p:cNvSpPr/>
          <p:nvPr/>
        </p:nvSpPr>
        <p:spPr>
          <a:xfrm>
            <a:off x="6223000" y="1549400"/>
            <a:ext cx="406400" cy="4064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300" b="1">
                <a:solidFill>
                  <a:srgbClr val="FFFFFF"/>
                </a:solidFill>
                <a:latin typeface="Calibri" panose="020F0502020204030204" pitchFamily="34" charset="0"/>
              </a:rPr>
              <a:t>7</a:t>
            </a:r>
          </a:p>
        </p:txBody>
      </p:sp>
      <p:sp>
        <p:nvSpPr>
          <p:cNvPr id="17" name="TextBox 16">
            <a:extLst>
              <a:ext uri="{FF2B5EF4-FFF2-40B4-BE49-F238E27FC236}">
                <a16:creationId xmlns:a16="http://schemas.microsoft.com/office/drawing/2014/main" id="{72152AA4-E4A2-97EE-3BF6-EDD15DB96683}"/>
              </a:ext>
            </a:extLst>
          </p:cNvPr>
          <p:cNvSpPr txBox="1"/>
          <p:nvPr/>
        </p:nvSpPr>
        <p:spPr>
          <a:xfrm>
            <a:off x="6781800" y="1397000"/>
            <a:ext cx="4826000" cy="711200"/>
          </a:xfrm>
          <a:prstGeom prst="rect">
            <a:avLst/>
          </a:prstGeom>
          <a:noFill/>
        </p:spPr>
        <p:txBody>
          <a:bodyPr vert="horz" wrap="square" lIns="0" tIns="0" rIns="0" bIns="0" rtlCol="0" anchor="ctr">
            <a:noAutofit/>
          </a:bodyPr>
          <a:lstStyle/>
          <a:p>
            <a:r>
              <a:rPr lang="en-US" sz="1500">
                <a:solidFill>
                  <a:srgbClr val="1F2937"/>
                </a:solidFill>
                <a:latin typeface="Calibri" panose="020F0502020204030204" pitchFamily="34" charset="0"/>
              </a:rPr>
              <a:t>Working results are the primary measure of progress</a:t>
            </a:r>
          </a:p>
        </p:txBody>
      </p:sp>
      <p:sp>
        <p:nvSpPr>
          <p:cNvPr id="18" name="Oval 17">
            <a:extLst>
              <a:ext uri="{FF2B5EF4-FFF2-40B4-BE49-F238E27FC236}">
                <a16:creationId xmlns:a16="http://schemas.microsoft.com/office/drawing/2014/main" id="{32697EB3-A659-38B6-2AA5-D460C51E6F17}"/>
              </a:ext>
            </a:extLst>
          </p:cNvPr>
          <p:cNvSpPr/>
          <p:nvPr/>
        </p:nvSpPr>
        <p:spPr>
          <a:xfrm>
            <a:off x="6223000" y="2362200"/>
            <a:ext cx="406400" cy="4064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300" b="1">
                <a:solidFill>
                  <a:srgbClr val="FFFFFF"/>
                </a:solidFill>
                <a:latin typeface="Calibri" panose="020F0502020204030204" pitchFamily="34" charset="0"/>
              </a:rPr>
              <a:t>8</a:t>
            </a:r>
          </a:p>
        </p:txBody>
      </p:sp>
      <p:sp>
        <p:nvSpPr>
          <p:cNvPr id="19" name="TextBox 18">
            <a:extLst>
              <a:ext uri="{FF2B5EF4-FFF2-40B4-BE49-F238E27FC236}">
                <a16:creationId xmlns:a16="http://schemas.microsoft.com/office/drawing/2014/main" id="{0A234465-DCE4-3D2C-3C9D-0454D98CF2A1}"/>
              </a:ext>
            </a:extLst>
          </p:cNvPr>
          <p:cNvSpPr txBox="1"/>
          <p:nvPr/>
        </p:nvSpPr>
        <p:spPr>
          <a:xfrm>
            <a:off x="6781800" y="2209800"/>
            <a:ext cx="4826000" cy="711200"/>
          </a:xfrm>
          <a:prstGeom prst="rect">
            <a:avLst/>
          </a:prstGeom>
          <a:noFill/>
        </p:spPr>
        <p:txBody>
          <a:bodyPr vert="horz" wrap="square" lIns="0" tIns="0" rIns="0" bIns="0" rtlCol="0" anchor="ctr">
            <a:noAutofit/>
          </a:bodyPr>
          <a:lstStyle/>
          <a:p>
            <a:r>
              <a:rPr lang="en-US" sz="1500">
                <a:solidFill>
                  <a:srgbClr val="1F2937"/>
                </a:solidFill>
                <a:latin typeface="Calibri" panose="020F0502020204030204" pitchFamily="34" charset="0"/>
              </a:rPr>
              <a:t>Keep a sustainable pace the team can maintain indefinitely</a:t>
            </a:r>
          </a:p>
        </p:txBody>
      </p:sp>
      <p:sp>
        <p:nvSpPr>
          <p:cNvPr id="20" name="Oval 19">
            <a:extLst>
              <a:ext uri="{FF2B5EF4-FFF2-40B4-BE49-F238E27FC236}">
                <a16:creationId xmlns:a16="http://schemas.microsoft.com/office/drawing/2014/main" id="{600B994E-2144-64E9-C6E4-670BAC185974}"/>
              </a:ext>
            </a:extLst>
          </p:cNvPr>
          <p:cNvSpPr/>
          <p:nvPr/>
        </p:nvSpPr>
        <p:spPr>
          <a:xfrm>
            <a:off x="6223000" y="3175000"/>
            <a:ext cx="406400" cy="4064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300" b="1">
                <a:solidFill>
                  <a:srgbClr val="FFFFFF"/>
                </a:solidFill>
                <a:latin typeface="Calibri" panose="020F0502020204030204" pitchFamily="34" charset="0"/>
              </a:rPr>
              <a:t>9</a:t>
            </a:r>
          </a:p>
        </p:txBody>
      </p:sp>
      <p:sp>
        <p:nvSpPr>
          <p:cNvPr id="21" name="TextBox 20">
            <a:extLst>
              <a:ext uri="{FF2B5EF4-FFF2-40B4-BE49-F238E27FC236}">
                <a16:creationId xmlns:a16="http://schemas.microsoft.com/office/drawing/2014/main" id="{19D2BE23-5C03-8469-98C7-A78B37357394}"/>
              </a:ext>
            </a:extLst>
          </p:cNvPr>
          <p:cNvSpPr txBox="1"/>
          <p:nvPr/>
        </p:nvSpPr>
        <p:spPr>
          <a:xfrm>
            <a:off x="6781800" y="3022600"/>
            <a:ext cx="4826000" cy="711200"/>
          </a:xfrm>
          <a:prstGeom prst="rect">
            <a:avLst/>
          </a:prstGeom>
          <a:noFill/>
        </p:spPr>
        <p:txBody>
          <a:bodyPr vert="horz" wrap="square" lIns="0" tIns="0" rIns="0" bIns="0" rtlCol="0" anchor="ctr">
            <a:noAutofit/>
          </a:bodyPr>
          <a:lstStyle/>
          <a:p>
            <a:r>
              <a:rPr lang="en-US" sz="1500">
                <a:solidFill>
                  <a:srgbClr val="1F2937"/>
                </a:solidFill>
                <a:latin typeface="Calibri" panose="020F0502020204030204" pitchFamily="34" charset="0"/>
              </a:rPr>
              <a:t>Continuous attention to technical excellence and good design</a:t>
            </a:r>
          </a:p>
        </p:txBody>
      </p:sp>
      <p:sp>
        <p:nvSpPr>
          <p:cNvPr id="22" name="Oval 21">
            <a:extLst>
              <a:ext uri="{FF2B5EF4-FFF2-40B4-BE49-F238E27FC236}">
                <a16:creationId xmlns:a16="http://schemas.microsoft.com/office/drawing/2014/main" id="{0EA9FEEB-C0CB-9FAC-5DD8-06D032BD4FA9}"/>
              </a:ext>
            </a:extLst>
          </p:cNvPr>
          <p:cNvSpPr/>
          <p:nvPr/>
        </p:nvSpPr>
        <p:spPr>
          <a:xfrm>
            <a:off x="6223000" y="3987800"/>
            <a:ext cx="406400" cy="4064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300" b="1">
                <a:solidFill>
                  <a:srgbClr val="FFFFFF"/>
                </a:solidFill>
                <a:latin typeface="Calibri" panose="020F0502020204030204" pitchFamily="34" charset="0"/>
              </a:rPr>
              <a:t>10</a:t>
            </a:r>
          </a:p>
        </p:txBody>
      </p:sp>
      <p:sp>
        <p:nvSpPr>
          <p:cNvPr id="23" name="TextBox 22">
            <a:extLst>
              <a:ext uri="{FF2B5EF4-FFF2-40B4-BE49-F238E27FC236}">
                <a16:creationId xmlns:a16="http://schemas.microsoft.com/office/drawing/2014/main" id="{EB8372F8-A36C-D6D7-31D2-29359DAC684A}"/>
              </a:ext>
            </a:extLst>
          </p:cNvPr>
          <p:cNvSpPr txBox="1"/>
          <p:nvPr/>
        </p:nvSpPr>
        <p:spPr>
          <a:xfrm>
            <a:off x="6781800" y="3835400"/>
            <a:ext cx="4826000" cy="711200"/>
          </a:xfrm>
          <a:prstGeom prst="rect">
            <a:avLst/>
          </a:prstGeom>
          <a:noFill/>
        </p:spPr>
        <p:txBody>
          <a:bodyPr vert="horz" wrap="square" lIns="0" tIns="0" rIns="0" bIns="0" rtlCol="0" anchor="ctr">
            <a:noAutofit/>
          </a:bodyPr>
          <a:lstStyle/>
          <a:p>
            <a:r>
              <a:rPr lang="en-US" sz="1500">
                <a:solidFill>
                  <a:srgbClr val="1F2937"/>
                </a:solidFill>
                <a:latin typeface="Calibri" panose="020F0502020204030204" pitchFamily="34" charset="0"/>
              </a:rPr>
              <a:t>Simplicity: maximize the work not done by prioritizing what adds value</a:t>
            </a:r>
          </a:p>
        </p:txBody>
      </p:sp>
      <p:sp>
        <p:nvSpPr>
          <p:cNvPr id="24" name="Oval 23">
            <a:extLst>
              <a:ext uri="{FF2B5EF4-FFF2-40B4-BE49-F238E27FC236}">
                <a16:creationId xmlns:a16="http://schemas.microsoft.com/office/drawing/2014/main" id="{9B8DC06F-F4ED-AF82-41A7-5DDFE562EBB5}"/>
              </a:ext>
            </a:extLst>
          </p:cNvPr>
          <p:cNvSpPr/>
          <p:nvPr/>
        </p:nvSpPr>
        <p:spPr>
          <a:xfrm>
            <a:off x="6223000" y="4800600"/>
            <a:ext cx="406400" cy="4064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300" b="1">
                <a:solidFill>
                  <a:srgbClr val="FFFFFF"/>
                </a:solidFill>
                <a:latin typeface="Calibri" panose="020F0502020204030204" pitchFamily="34" charset="0"/>
              </a:rPr>
              <a:t>11</a:t>
            </a:r>
          </a:p>
        </p:txBody>
      </p:sp>
      <p:sp>
        <p:nvSpPr>
          <p:cNvPr id="25" name="TextBox 24">
            <a:extLst>
              <a:ext uri="{FF2B5EF4-FFF2-40B4-BE49-F238E27FC236}">
                <a16:creationId xmlns:a16="http://schemas.microsoft.com/office/drawing/2014/main" id="{60EB60CE-FDD6-5654-3CF7-DCB28EE06417}"/>
              </a:ext>
            </a:extLst>
          </p:cNvPr>
          <p:cNvSpPr txBox="1"/>
          <p:nvPr/>
        </p:nvSpPr>
        <p:spPr>
          <a:xfrm>
            <a:off x="6781800" y="4648200"/>
            <a:ext cx="4826000" cy="711200"/>
          </a:xfrm>
          <a:prstGeom prst="rect">
            <a:avLst/>
          </a:prstGeom>
          <a:noFill/>
        </p:spPr>
        <p:txBody>
          <a:bodyPr vert="horz" wrap="square" lIns="0" tIns="0" rIns="0" bIns="0" rtlCol="0" anchor="ctr">
            <a:noAutofit/>
          </a:bodyPr>
          <a:lstStyle/>
          <a:p>
            <a:r>
              <a:rPr lang="en-US" sz="1500">
                <a:solidFill>
                  <a:srgbClr val="1F2937"/>
                </a:solidFill>
                <a:latin typeface="Calibri" panose="020F0502020204030204" pitchFamily="34" charset="0"/>
              </a:rPr>
              <a:t>The best designs emerge from self-organizing teams</a:t>
            </a:r>
          </a:p>
        </p:txBody>
      </p:sp>
      <p:sp>
        <p:nvSpPr>
          <p:cNvPr id="26" name="Oval 25">
            <a:extLst>
              <a:ext uri="{FF2B5EF4-FFF2-40B4-BE49-F238E27FC236}">
                <a16:creationId xmlns:a16="http://schemas.microsoft.com/office/drawing/2014/main" id="{F050D45B-05C1-7E9A-A381-DB75C21DC071}"/>
              </a:ext>
            </a:extLst>
          </p:cNvPr>
          <p:cNvSpPr/>
          <p:nvPr/>
        </p:nvSpPr>
        <p:spPr>
          <a:xfrm>
            <a:off x="6223000" y="5613400"/>
            <a:ext cx="406400" cy="4064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300" b="1">
                <a:solidFill>
                  <a:srgbClr val="FFFFFF"/>
                </a:solidFill>
                <a:latin typeface="Calibri" panose="020F0502020204030204" pitchFamily="34" charset="0"/>
              </a:rPr>
              <a:t>12</a:t>
            </a:r>
          </a:p>
        </p:txBody>
      </p:sp>
      <p:sp>
        <p:nvSpPr>
          <p:cNvPr id="27" name="TextBox 26">
            <a:extLst>
              <a:ext uri="{FF2B5EF4-FFF2-40B4-BE49-F238E27FC236}">
                <a16:creationId xmlns:a16="http://schemas.microsoft.com/office/drawing/2014/main" id="{F2B28FEB-0179-28EC-1C11-1E807845EFC5}"/>
              </a:ext>
            </a:extLst>
          </p:cNvPr>
          <p:cNvSpPr txBox="1"/>
          <p:nvPr/>
        </p:nvSpPr>
        <p:spPr>
          <a:xfrm>
            <a:off x="6781800" y="5461000"/>
            <a:ext cx="4826000" cy="711200"/>
          </a:xfrm>
          <a:prstGeom prst="rect">
            <a:avLst/>
          </a:prstGeom>
          <a:noFill/>
        </p:spPr>
        <p:txBody>
          <a:bodyPr vert="horz" wrap="square" lIns="0" tIns="0" rIns="0" bIns="0" rtlCol="0" anchor="ctr">
            <a:noAutofit/>
          </a:bodyPr>
          <a:lstStyle/>
          <a:p>
            <a:r>
              <a:rPr lang="en-US" sz="1500">
                <a:solidFill>
                  <a:srgbClr val="1F2937"/>
                </a:solidFill>
                <a:latin typeface="Calibri" panose="020F0502020204030204" pitchFamily="34" charset="0"/>
              </a:rPr>
              <a:t>Regularly reflect on how to become more effective, then adjust</a:t>
            </a:r>
          </a:p>
        </p:txBody>
      </p:sp>
      <p:sp>
        <p:nvSpPr>
          <p:cNvPr id="28" name="Footer">
            <a:extLst>
              <a:ext uri="{FF2B5EF4-FFF2-40B4-BE49-F238E27FC236}">
                <a16:creationId xmlns:a16="http://schemas.microsoft.com/office/drawing/2014/main" id="{92370BC3-AD99-93BA-41FF-4C920572F6BA}"/>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Principles behind the Agile Manifesto (2001), agilemanifesto.org; PMI and Agile Alliance, Agile Practice Guide (2017), Annex A2</a:t>
            </a:r>
          </a:p>
        </p:txBody>
      </p:sp>
      <p:sp>
        <p:nvSpPr>
          <p:cNvPr id="29" name="SlideNum">
            <a:extLst>
              <a:ext uri="{FF2B5EF4-FFF2-40B4-BE49-F238E27FC236}">
                <a16:creationId xmlns:a16="http://schemas.microsoft.com/office/drawing/2014/main" id="{1AAE07A2-9A6A-DF3D-B234-8BC20EB47E55}"/>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91</a:t>
            </a:r>
          </a:p>
        </p:txBody>
      </p:sp>
      <p:sp>
        <p:nvSpPr>
          <p:cNvPr id="30"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28370993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93525DE8-DE50-443A-D37D-9139C16A2122}"/>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Four life cycles, plus hybrid</a:t>
            </a:r>
          </a:p>
        </p:txBody>
      </p:sp>
      <p:sp>
        <p:nvSpPr>
          <p:cNvPr id="3" name="Tag">
            <a:extLst>
              <a:ext uri="{FF2B5EF4-FFF2-40B4-BE49-F238E27FC236}">
                <a16:creationId xmlns:a16="http://schemas.microsoft.com/office/drawing/2014/main" id="{D404C3E6-3961-6CD2-2843-3CA7416C7396}"/>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6A4C93"/>
                </a:solidFill>
                <a:latin typeface="Calibri" panose="020F0502020204030204" pitchFamily="34" charset="0"/>
              </a:rPr>
              <a:t>Agile essentials · Supports Process Task 1 (Recommend a project management development approach)</a:t>
            </a:r>
          </a:p>
        </p:txBody>
      </p:sp>
      <p:graphicFrame>
        <p:nvGraphicFramePr>
          <p:cNvPr id="4" name="Table">
            <a:extLst>
              <a:ext uri="{FF2B5EF4-FFF2-40B4-BE49-F238E27FC236}">
                <a16:creationId xmlns:a16="http://schemas.microsoft.com/office/drawing/2014/main" id="{09E5C310-2651-2C70-22CC-4B677837AFA8}"/>
              </a:ext>
            </a:extLst>
          </p:cNvPr>
          <p:cNvGraphicFramePr>
            <a:graphicFrameLocks noGrp="1"/>
          </p:cNvGraphicFramePr>
          <p:nvPr>
            <p:extLst>
              <p:ext uri="{D42A27DB-BD31-4B8C-83A1-F6EECF244321}">
                <p14:modId xmlns:p14="http://schemas.microsoft.com/office/powerpoint/2010/main" val="466083510"/>
              </p:ext>
            </p:extLst>
          </p:nvPr>
        </p:nvGraphicFramePr>
        <p:xfrm>
          <a:off x="508000" y="1371600"/>
          <a:ext cx="11176000" cy="3175000"/>
        </p:xfrm>
        <a:graphic>
          <a:graphicData uri="http://schemas.openxmlformats.org/drawingml/2006/table">
            <a:tbl>
              <a:tblPr firstRow="1" bandRow="1">
                <a:tableStyleId>{2D5ABB26-0587-4C30-8999-92F81FD0307C}</a:tableStyleId>
              </a:tblPr>
              <a:tblGrid>
                <a:gridCol w="1905000">
                  <a:extLst>
                    <a:ext uri="{9D8B030D-6E8A-4147-A177-3AD203B41FA5}">
                      <a16:colId xmlns:a16="http://schemas.microsoft.com/office/drawing/2014/main" val="3887262478"/>
                    </a:ext>
                  </a:extLst>
                </a:gridCol>
                <a:gridCol w="1778000">
                  <a:extLst>
                    <a:ext uri="{9D8B030D-6E8A-4147-A177-3AD203B41FA5}">
                      <a16:colId xmlns:a16="http://schemas.microsoft.com/office/drawing/2014/main" val="1976172066"/>
                    </a:ext>
                  </a:extLst>
                </a:gridCol>
                <a:gridCol w="3175000">
                  <a:extLst>
                    <a:ext uri="{9D8B030D-6E8A-4147-A177-3AD203B41FA5}">
                      <a16:colId xmlns:a16="http://schemas.microsoft.com/office/drawing/2014/main" val="3451530148"/>
                    </a:ext>
                  </a:extLst>
                </a:gridCol>
                <a:gridCol w="2159000">
                  <a:extLst>
                    <a:ext uri="{9D8B030D-6E8A-4147-A177-3AD203B41FA5}">
                      <a16:colId xmlns:a16="http://schemas.microsoft.com/office/drawing/2014/main" val="3213358693"/>
                    </a:ext>
                  </a:extLst>
                </a:gridCol>
                <a:gridCol w="2159000">
                  <a:extLst>
                    <a:ext uri="{9D8B030D-6E8A-4147-A177-3AD203B41FA5}">
                      <a16:colId xmlns:a16="http://schemas.microsoft.com/office/drawing/2014/main" val="2198351083"/>
                    </a:ext>
                  </a:extLst>
                </a:gridCol>
              </a:tblGrid>
              <a:tr h="635000">
                <a:tc>
                  <a:txBody>
                    <a:bodyPr/>
                    <a:lstStyle/>
                    <a:p>
                      <a:r>
                        <a:rPr lang="en-US" sz="1500" b="1">
                          <a:solidFill>
                            <a:srgbClr val="FFFFFF"/>
                          </a:solidFill>
                          <a:latin typeface="Calibri" panose="020F0502020204030204" pitchFamily="34" charset="0"/>
                        </a:rPr>
                        <a:t>Life cycle</a:t>
                      </a:r>
                    </a:p>
                  </a:txBody>
                  <a:tcPr marL="127000" marR="101600" marT="63500" marB="63500" anchor="ctr">
                    <a:solidFill>
                      <a:srgbClr val="14213D"/>
                    </a:solidFill>
                  </a:tcPr>
                </a:tc>
                <a:tc>
                  <a:txBody>
                    <a:bodyPr/>
                    <a:lstStyle/>
                    <a:p>
                      <a:r>
                        <a:rPr lang="en-US" sz="1500" b="1">
                          <a:solidFill>
                            <a:srgbClr val="FFFFFF"/>
                          </a:solidFill>
                          <a:latin typeface="Calibri" panose="020F0502020204030204" pitchFamily="34" charset="0"/>
                        </a:rPr>
                        <a:t>Requirements</a:t>
                      </a:r>
                    </a:p>
                  </a:txBody>
                  <a:tcPr marL="127000" marR="101600" marT="63500" marB="63500" anchor="ctr">
                    <a:solidFill>
                      <a:srgbClr val="14213D"/>
                    </a:solidFill>
                  </a:tcPr>
                </a:tc>
                <a:tc>
                  <a:txBody>
                    <a:bodyPr/>
                    <a:lstStyle/>
                    <a:p>
                      <a:r>
                        <a:rPr lang="en-US" sz="1500" b="1">
                          <a:solidFill>
                            <a:srgbClr val="FFFFFF"/>
                          </a:solidFill>
                          <a:latin typeface="Calibri" panose="020F0502020204030204" pitchFamily="34" charset="0"/>
                        </a:rPr>
                        <a:t>Activities</a:t>
                      </a:r>
                    </a:p>
                  </a:txBody>
                  <a:tcPr marL="127000" marR="101600" marT="63500" marB="63500" anchor="ctr">
                    <a:solidFill>
                      <a:srgbClr val="14213D"/>
                    </a:solidFill>
                  </a:tcPr>
                </a:tc>
                <a:tc>
                  <a:txBody>
                    <a:bodyPr/>
                    <a:lstStyle/>
                    <a:p>
                      <a:r>
                        <a:rPr lang="en-US" sz="1500" b="1">
                          <a:solidFill>
                            <a:srgbClr val="FFFFFF"/>
                          </a:solidFill>
                          <a:latin typeface="Calibri" panose="020F0502020204030204" pitchFamily="34" charset="0"/>
                        </a:rPr>
                        <a:t>Delivery</a:t>
                      </a:r>
                    </a:p>
                  </a:txBody>
                  <a:tcPr marL="127000" marR="101600" marT="63500" marB="63500" anchor="ctr">
                    <a:solidFill>
                      <a:srgbClr val="14213D"/>
                    </a:solidFill>
                  </a:tcPr>
                </a:tc>
                <a:tc>
                  <a:txBody>
                    <a:bodyPr/>
                    <a:lstStyle/>
                    <a:p>
                      <a:r>
                        <a:rPr lang="en-US" sz="1500" b="1">
                          <a:solidFill>
                            <a:srgbClr val="FFFFFF"/>
                          </a:solidFill>
                          <a:latin typeface="Calibri" panose="020F0502020204030204" pitchFamily="34" charset="0"/>
                        </a:rPr>
                        <a:t>Goal</a:t>
                      </a:r>
                    </a:p>
                  </a:txBody>
                  <a:tcPr marL="127000" marR="101600" marT="63500" marB="63500" anchor="ctr">
                    <a:solidFill>
                      <a:srgbClr val="14213D"/>
                    </a:solidFill>
                  </a:tcPr>
                </a:tc>
                <a:extLst>
                  <a:ext uri="{0D108BD9-81ED-4DB2-BD59-A6C34878D82A}">
                    <a16:rowId xmlns:a16="http://schemas.microsoft.com/office/drawing/2014/main" val="2415151974"/>
                  </a:ext>
                </a:extLst>
              </a:tr>
              <a:tr h="635000">
                <a:tc>
                  <a:txBody>
                    <a:bodyPr/>
                    <a:lstStyle/>
                    <a:p>
                      <a:r>
                        <a:rPr lang="en-US" sz="1500" b="1">
                          <a:solidFill>
                            <a:srgbClr val="14213D"/>
                          </a:solidFill>
                          <a:latin typeface="Calibri" panose="020F0502020204030204" pitchFamily="34" charset="0"/>
                        </a:rPr>
                        <a:t>Predictive</a:t>
                      </a:r>
                    </a:p>
                  </a:txBody>
                  <a:tcPr marL="127000" marR="101600" marT="63500" marB="63500" anchor="ctr">
                    <a:solidFill>
                      <a:srgbClr val="FFFFFF"/>
                    </a:solidFill>
                  </a:tcPr>
                </a:tc>
                <a:tc>
                  <a:txBody>
                    <a:bodyPr/>
                    <a:lstStyle/>
                    <a:p>
                      <a:r>
                        <a:rPr lang="en-US" sz="1500">
                          <a:solidFill>
                            <a:srgbClr val="1F2937"/>
                          </a:solidFill>
                          <a:latin typeface="Calibri" panose="020F0502020204030204" pitchFamily="34" charset="0"/>
                        </a:rPr>
                        <a:t>Fixed</a:t>
                      </a:r>
                    </a:p>
                  </a:txBody>
                  <a:tcPr marL="127000" marR="101600" marT="63500" marB="63500" anchor="ctr">
                    <a:solidFill>
                      <a:srgbClr val="FFFFFF"/>
                    </a:solidFill>
                  </a:tcPr>
                </a:tc>
                <a:tc>
                  <a:txBody>
                    <a:bodyPr/>
                    <a:lstStyle/>
                    <a:p>
                      <a:r>
                        <a:rPr lang="en-US" sz="1500">
                          <a:solidFill>
                            <a:srgbClr val="1F2937"/>
                          </a:solidFill>
                          <a:latin typeface="Calibri" panose="020F0502020204030204" pitchFamily="34" charset="0"/>
                        </a:rPr>
                        <a:t>Performed once for the entire project</a:t>
                      </a:r>
                    </a:p>
                  </a:txBody>
                  <a:tcPr marL="127000" marR="101600" marT="63500" marB="63500" anchor="ctr">
                    <a:solidFill>
                      <a:srgbClr val="FFFFFF"/>
                    </a:solidFill>
                  </a:tcPr>
                </a:tc>
                <a:tc>
                  <a:txBody>
                    <a:bodyPr/>
                    <a:lstStyle/>
                    <a:p>
                      <a:r>
                        <a:rPr lang="en-US" sz="1500">
                          <a:solidFill>
                            <a:srgbClr val="1F2937"/>
                          </a:solidFill>
                          <a:latin typeface="Calibri" panose="020F0502020204030204" pitchFamily="34" charset="0"/>
                        </a:rPr>
                        <a:t>Single delivery</a:t>
                      </a:r>
                    </a:p>
                  </a:txBody>
                  <a:tcPr marL="127000" marR="101600" marT="63500" marB="63500" anchor="ctr">
                    <a:solidFill>
                      <a:srgbClr val="FFFFFF"/>
                    </a:solidFill>
                  </a:tcPr>
                </a:tc>
                <a:tc>
                  <a:txBody>
                    <a:bodyPr/>
                    <a:lstStyle/>
                    <a:p>
                      <a:r>
                        <a:rPr lang="en-US" sz="1500">
                          <a:solidFill>
                            <a:srgbClr val="1F2937"/>
                          </a:solidFill>
                          <a:latin typeface="Calibri" panose="020F0502020204030204" pitchFamily="34" charset="0"/>
                        </a:rPr>
                        <a:t>Manage cost</a:t>
                      </a:r>
                    </a:p>
                  </a:txBody>
                  <a:tcPr marL="127000" marR="101600" marT="63500" marB="63500" anchor="ctr">
                    <a:solidFill>
                      <a:srgbClr val="FFFFFF"/>
                    </a:solidFill>
                  </a:tcPr>
                </a:tc>
                <a:extLst>
                  <a:ext uri="{0D108BD9-81ED-4DB2-BD59-A6C34878D82A}">
                    <a16:rowId xmlns:a16="http://schemas.microsoft.com/office/drawing/2014/main" val="2701175092"/>
                  </a:ext>
                </a:extLst>
              </a:tr>
              <a:tr h="635000">
                <a:tc>
                  <a:txBody>
                    <a:bodyPr/>
                    <a:lstStyle/>
                    <a:p>
                      <a:r>
                        <a:rPr lang="en-US" sz="1500" b="1">
                          <a:solidFill>
                            <a:srgbClr val="14213D"/>
                          </a:solidFill>
                          <a:latin typeface="Calibri" panose="020F0502020204030204" pitchFamily="34" charset="0"/>
                        </a:rPr>
                        <a:t>Iterative</a:t>
                      </a:r>
                    </a:p>
                  </a:txBody>
                  <a:tcPr marL="127000" marR="101600" marT="63500" marB="63500" anchor="ctr">
                    <a:solidFill>
                      <a:srgbClr val="F3F5F8"/>
                    </a:solidFill>
                  </a:tcPr>
                </a:tc>
                <a:tc>
                  <a:txBody>
                    <a:bodyPr/>
                    <a:lstStyle/>
                    <a:p>
                      <a:r>
                        <a:rPr lang="en-US" sz="1500">
                          <a:solidFill>
                            <a:srgbClr val="1F2937"/>
                          </a:solidFill>
                          <a:latin typeface="Calibri" panose="020F0502020204030204" pitchFamily="34" charset="0"/>
                        </a:rPr>
                        <a:t>Dynamic</a:t>
                      </a:r>
                    </a:p>
                  </a:txBody>
                  <a:tcPr marL="127000" marR="101600" marT="63500" marB="63500" anchor="ctr">
                    <a:solidFill>
                      <a:srgbClr val="F3F5F8"/>
                    </a:solidFill>
                  </a:tcPr>
                </a:tc>
                <a:tc>
                  <a:txBody>
                    <a:bodyPr/>
                    <a:lstStyle/>
                    <a:p>
                      <a:r>
                        <a:rPr lang="en-US" sz="1500">
                          <a:solidFill>
                            <a:srgbClr val="1F2937"/>
                          </a:solidFill>
                          <a:latin typeface="Calibri" panose="020F0502020204030204" pitchFamily="34" charset="0"/>
                        </a:rPr>
                        <a:t>Repeated until correct</a:t>
                      </a:r>
                    </a:p>
                  </a:txBody>
                  <a:tcPr marL="127000" marR="101600" marT="63500" marB="63500" anchor="ctr">
                    <a:solidFill>
                      <a:srgbClr val="F3F5F8"/>
                    </a:solidFill>
                  </a:tcPr>
                </a:tc>
                <a:tc>
                  <a:txBody>
                    <a:bodyPr/>
                    <a:lstStyle/>
                    <a:p>
                      <a:r>
                        <a:rPr lang="en-US" sz="1500">
                          <a:solidFill>
                            <a:srgbClr val="1F2937"/>
                          </a:solidFill>
                          <a:latin typeface="Calibri" panose="020F0502020204030204" pitchFamily="34" charset="0"/>
                        </a:rPr>
                        <a:t>Single delivery</a:t>
                      </a:r>
                    </a:p>
                  </a:txBody>
                  <a:tcPr marL="127000" marR="101600" marT="63500" marB="63500" anchor="ctr">
                    <a:solidFill>
                      <a:srgbClr val="F3F5F8"/>
                    </a:solidFill>
                  </a:tcPr>
                </a:tc>
                <a:tc>
                  <a:txBody>
                    <a:bodyPr/>
                    <a:lstStyle/>
                    <a:p>
                      <a:r>
                        <a:rPr lang="en-US" sz="1500">
                          <a:solidFill>
                            <a:srgbClr val="1F2937"/>
                          </a:solidFill>
                          <a:latin typeface="Calibri" panose="020F0502020204030204" pitchFamily="34" charset="0"/>
                        </a:rPr>
                        <a:t>Correctness of solution</a:t>
                      </a:r>
                    </a:p>
                  </a:txBody>
                  <a:tcPr marL="127000" marR="101600" marT="63500" marB="63500" anchor="ctr">
                    <a:solidFill>
                      <a:srgbClr val="F3F5F8"/>
                    </a:solidFill>
                  </a:tcPr>
                </a:tc>
                <a:extLst>
                  <a:ext uri="{0D108BD9-81ED-4DB2-BD59-A6C34878D82A}">
                    <a16:rowId xmlns:a16="http://schemas.microsoft.com/office/drawing/2014/main" val="3381085872"/>
                  </a:ext>
                </a:extLst>
              </a:tr>
              <a:tr h="635000">
                <a:tc>
                  <a:txBody>
                    <a:bodyPr/>
                    <a:lstStyle/>
                    <a:p>
                      <a:r>
                        <a:rPr lang="en-US" sz="1500" b="1">
                          <a:solidFill>
                            <a:srgbClr val="14213D"/>
                          </a:solidFill>
                          <a:latin typeface="Calibri" panose="020F0502020204030204" pitchFamily="34" charset="0"/>
                        </a:rPr>
                        <a:t>Incremental</a:t>
                      </a:r>
                    </a:p>
                  </a:txBody>
                  <a:tcPr marL="127000" marR="101600" marT="63500" marB="63500" anchor="ctr">
                    <a:solidFill>
                      <a:srgbClr val="FFFFFF"/>
                    </a:solidFill>
                  </a:tcPr>
                </a:tc>
                <a:tc>
                  <a:txBody>
                    <a:bodyPr/>
                    <a:lstStyle/>
                    <a:p>
                      <a:r>
                        <a:rPr lang="en-US" sz="1500">
                          <a:solidFill>
                            <a:srgbClr val="1F2937"/>
                          </a:solidFill>
                          <a:latin typeface="Calibri" panose="020F0502020204030204" pitchFamily="34" charset="0"/>
                        </a:rPr>
                        <a:t>Dynamic</a:t>
                      </a:r>
                    </a:p>
                  </a:txBody>
                  <a:tcPr marL="127000" marR="101600" marT="63500" marB="63500" anchor="ctr">
                    <a:solidFill>
                      <a:srgbClr val="FFFFFF"/>
                    </a:solidFill>
                  </a:tcPr>
                </a:tc>
                <a:tc>
                  <a:txBody>
                    <a:bodyPr/>
                    <a:lstStyle/>
                    <a:p>
                      <a:r>
                        <a:rPr lang="en-US" sz="1500">
                          <a:solidFill>
                            <a:srgbClr val="1F2937"/>
                          </a:solidFill>
                          <a:latin typeface="Calibri" panose="020F0502020204030204" pitchFamily="34" charset="0"/>
                        </a:rPr>
                        <a:t>Performed once for a given increment</a:t>
                      </a:r>
                    </a:p>
                  </a:txBody>
                  <a:tcPr marL="127000" marR="101600" marT="63500" marB="63500" anchor="ctr">
                    <a:solidFill>
                      <a:srgbClr val="FFFFFF"/>
                    </a:solidFill>
                  </a:tcPr>
                </a:tc>
                <a:tc>
                  <a:txBody>
                    <a:bodyPr/>
                    <a:lstStyle/>
                    <a:p>
                      <a:r>
                        <a:rPr lang="en-US" sz="1500">
                          <a:solidFill>
                            <a:srgbClr val="1F2937"/>
                          </a:solidFill>
                          <a:latin typeface="Calibri" panose="020F0502020204030204" pitchFamily="34" charset="0"/>
                        </a:rPr>
                        <a:t>Frequent smaller deliveries</a:t>
                      </a:r>
                    </a:p>
                  </a:txBody>
                  <a:tcPr marL="127000" marR="101600" marT="63500" marB="63500" anchor="ctr">
                    <a:solidFill>
                      <a:srgbClr val="FFFFFF"/>
                    </a:solidFill>
                  </a:tcPr>
                </a:tc>
                <a:tc>
                  <a:txBody>
                    <a:bodyPr/>
                    <a:lstStyle/>
                    <a:p>
                      <a:r>
                        <a:rPr lang="en-US" sz="1500">
                          <a:solidFill>
                            <a:srgbClr val="1F2937"/>
                          </a:solidFill>
                          <a:latin typeface="Calibri" panose="020F0502020204030204" pitchFamily="34" charset="0"/>
                        </a:rPr>
                        <a:t>Speed</a:t>
                      </a:r>
                    </a:p>
                  </a:txBody>
                  <a:tcPr marL="127000" marR="101600" marT="63500" marB="63500" anchor="ctr">
                    <a:solidFill>
                      <a:srgbClr val="FFFFFF"/>
                    </a:solidFill>
                  </a:tcPr>
                </a:tc>
                <a:extLst>
                  <a:ext uri="{0D108BD9-81ED-4DB2-BD59-A6C34878D82A}">
                    <a16:rowId xmlns:a16="http://schemas.microsoft.com/office/drawing/2014/main" val="599198651"/>
                  </a:ext>
                </a:extLst>
              </a:tr>
              <a:tr h="635000">
                <a:tc>
                  <a:txBody>
                    <a:bodyPr/>
                    <a:lstStyle/>
                    <a:p>
                      <a:r>
                        <a:rPr lang="en-US" sz="1500" b="1">
                          <a:solidFill>
                            <a:srgbClr val="14213D"/>
                          </a:solidFill>
                          <a:latin typeface="Calibri" panose="020F0502020204030204" pitchFamily="34" charset="0"/>
                        </a:rPr>
                        <a:t>Agile</a:t>
                      </a:r>
                    </a:p>
                  </a:txBody>
                  <a:tcPr marL="127000" marR="101600" marT="63500" marB="63500" anchor="ctr">
                    <a:solidFill>
                      <a:srgbClr val="EEE8F4"/>
                    </a:solidFill>
                  </a:tcPr>
                </a:tc>
                <a:tc>
                  <a:txBody>
                    <a:bodyPr/>
                    <a:lstStyle/>
                    <a:p>
                      <a:r>
                        <a:rPr lang="en-US" sz="1500">
                          <a:solidFill>
                            <a:srgbClr val="1F2937"/>
                          </a:solidFill>
                          <a:latin typeface="Calibri" panose="020F0502020204030204" pitchFamily="34" charset="0"/>
                        </a:rPr>
                        <a:t>Dynamic</a:t>
                      </a:r>
                    </a:p>
                  </a:txBody>
                  <a:tcPr marL="127000" marR="101600" marT="63500" marB="63500" anchor="ctr">
                    <a:solidFill>
                      <a:srgbClr val="F3F5F8"/>
                    </a:solidFill>
                  </a:tcPr>
                </a:tc>
                <a:tc>
                  <a:txBody>
                    <a:bodyPr/>
                    <a:lstStyle/>
                    <a:p>
                      <a:r>
                        <a:rPr lang="en-US" sz="1500">
                          <a:solidFill>
                            <a:srgbClr val="1F2937"/>
                          </a:solidFill>
                          <a:latin typeface="Calibri" panose="020F0502020204030204" pitchFamily="34" charset="0"/>
                        </a:rPr>
                        <a:t>Repeated until correct</a:t>
                      </a:r>
                    </a:p>
                  </a:txBody>
                  <a:tcPr marL="127000" marR="101600" marT="63500" marB="63500" anchor="ctr">
                    <a:solidFill>
                      <a:srgbClr val="F3F5F8"/>
                    </a:solidFill>
                  </a:tcPr>
                </a:tc>
                <a:tc>
                  <a:txBody>
                    <a:bodyPr/>
                    <a:lstStyle/>
                    <a:p>
                      <a:r>
                        <a:rPr lang="en-US" sz="1500">
                          <a:solidFill>
                            <a:srgbClr val="1F2937"/>
                          </a:solidFill>
                          <a:latin typeface="Calibri" panose="020F0502020204030204" pitchFamily="34" charset="0"/>
                        </a:rPr>
                        <a:t>Frequent small deliveries</a:t>
                      </a:r>
                    </a:p>
                  </a:txBody>
                  <a:tcPr marL="127000" marR="101600" marT="63500" marB="63500" anchor="ctr">
                    <a:solidFill>
                      <a:srgbClr val="F3F5F8"/>
                    </a:solidFill>
                  </a:tcPr>
                </a:tc>
                <a:tc>
                  <a:txBody>
                    <a:bodyPr/>
                    <a:lstStyle/>
                    <a:p>
                      <a:r>
                        <a:rPr lang="en-US" sz="1500">
                          <a:solidFill>
                            <a:srgbClr val="1F2937"/>
                          </a:solidFill>
                          <a:latin typeface="Calibri" panose="020F0502020204030204" pitchFamily="34" charset="0"/>
                        </a:rPr>
                        <a:t>Customer value via frequent deliveries and feedback</a:t>
                      </a:r>
                    </a:p>
                  </a:txBody>
                  <a:tcPr marL="127000" marR="101600" marT="63500" marB="63500" anchor="ctr">
                    <a:solidFill>
                      <a:srgbClr val="F3F5F8"/>
                    </a:solidFill>
                  </a:tcPr>
                </a:tc>
                <a:extLst>
                  <a:ext uri="{0D108BD9-81ED-4DB2-BD59-A6C34878D82A}">
                    <a16:rowId xmlns:a16="http://schemas.microsoft.com/office/drawing/2014/main" val="1027530601"/>
                  </a:ext>
                </a:extLst>
              </a:tr>
            </a:tbl>
          </a:graphicData>
        </a:graphic>
      </p:graphicFrame>
      <p:sp>
        <p:nvSpPr>
          <p:cNvPr id="5" name="Rectangle: Rounded Corners 4">
            <a:extLst>
              <a:ext uri="{FF2B5EF4-FFF2-40B4-BE49-F238E27FC236}">
                <a16:creationId xmlns:a16="http://schemas.microsoft.com/office/drawing/2014/main" id="{D61353C5-2ACC-DAF6-A69B-05E3FB94A885}"/>
              </a:ext>
            </a:extLst>
          </p:cNvPr>
          <p:cNvSpPr/>
          <p:nvPr/>
        </p:nvSpPr>
        <p:spPr>
          <a:xfrm>
            <a:off x="508000" y="4902200"/>
            <a:ext cx="5461000" cy="13208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A9B4777-B9CC-9776-EB4A-67829A342259}"/>
              </a:ext>
            </a:extLst>
          </p:cNvPr>
          <p:cNvSpPr txBox="1"/>
          <p:nvPr/>
        </p:nvSpPr>
        <p:spPr>
          <a:xfrm>
            <a:off x="685800" y="5080000"/>
            <a:ext cx="5105400" cy="965200"/>
          </a:xfrm>
          <a:prstGeom prst="rect">
            <a:avLst/>
          </a:prstGeom>
          <a:noFill/>
        </p:spPr>
        <p:txBody>
          <a:bodyPr vert="horz" wrap="square" lIns="0" tIns="0" rIns="0" bIns="0" rtlCol="0" anchor="t">
            <a:noAutofit/>
          </a:bodyPr>
          <a:lstStyle/>
          <a:p>
            <a:pPr>
              <a:spcAft>
                <a:spcPts val="600"/>
              </a:spcAft>
            </a:pPr>
            <a:r>
              <a:rPr lang="en-US" sz="1600" b="1">
                <a:solidFill>
                  <a:srgbClr val="6A4C93"/>
                </a:solidFill>
                <a:latin typeface="Calibri" panose="020F0502020204030204" pitchFamily="34" charset="0"/>
              </a:rPr>
              <a:t>Hybrid</a:t>
            </a:r>
          </a:p>
          <a:p>
            <a:r>
              <a:rPr lang="en-US" sz="1400">
                <a:solidFill>
                  <a:srgbClr val="1F2937"/>
                </a:solidFill>
                <a:latin typeface="Calibri" panose="020F0502020204030204" pitchFamily="34" charset="0"/>
              </a:rPr>
              <a:t>Combines elements, for example agile development followed by a predictive rollout, or a predictive project with agile components.</a:t>
            </a:r>
          </a:p>
        </p:txBody>
      </p:sp>
      <p:sp>
        <p:nvSpPr>
          <p:cNvPr id="7" name="Rectangle: Rounded Corners 6">
            <a:extLst>
              <a:ext uri="{FF2B5EF4-FFF2-40B4-BE49-F238E27FC236}">
                <a16:creationId xmlns:a16="http://schemas.microsoft.com/office/drawing/2014/main" id="{B63178F5-BD53-AF2A-1C1D-ED6A56A234A8}"/>
              </a:ext>
            </a:extLst>
          </p:cNvPr>
          <p:cNvSpPr/>
          <p:nvPr/>
        </p:nvSpPr>
        <p:spPr>
          <a:xfrm>
            <a:off x="6223000" y="4902200"/>
            <a:ext cx="5461000" cy="13208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A5691ED-4DB9-492A-2EB0-61036114E9D3}"/>
              </a:ext>
            </a:extLst>
          </p:cNvPr>
          <p:cNvSpPr txBox="1"/>
          <p:nvPr/>
        </p:nvSpPr>
        <p:spPr>
          <a:xfrm>
            <a:off x="6400800" y="5080000"/>
            <a:ext cx="5105400" cy="965200"/>
          </a:xfrm>
          <a:prstGeom prst="rect">
            <a:avLst/>
          </a:prstGeom>
          <a:noFill/>
        </p:spPr>
        <p:txBody>
          <a:bodyPr vert="horz" wrap="square" lIns="0" tIns="0" rIns="0" bIns="0" rtlCol="0" anchor="t">
            <a:noAutofit/>
          </a:bodyPr>
          <a:lstStyle/>
          <a:p>
            <a:pPr>
              <a:spcAft>
                <a:spcPts val="600"/>
              </a:spcAft>
            </a:pPr>
            <a:r>
              <a:rPr lang="en-US" sz="1600" b="1">
                <a:solidFill>
                  <a:srgbClr val="14213D"/>
                </a:solidFill>
                <a:latin typeface="Calibri" panose="020F0502020204030204" pitchFamily="34" charset="0"/>
              </a:rPr>
              <a:t>Exam cue</a:t>
            </a:r>
          </a:p>
          <a:p>
            <a:r>
              <a:rPr lang="en-US" sz="1400">
                <a:solidFill>
                  <a:srgbClr val="1F2937"/>
                </a:solidFill>
                <a:latin typeface="Calibri" panose="020F0502020204030204" pitchFamily="34" charset="0"/>
              </a:rPr>
              <a:t>Iterative improves the solution through feedback; incremental delivers pieces quickly; agile does both.</a:t>
            </a:r>
          </a:p>
        </p:txBody>
      </p:sp>
      <p:sp>
        <p:nvSpPr>
          <p:cNvPr id="9" name="Footer">
            <a:extLst>
              <a:ext uri="{FF2B5EF4-FFF2-40B4-BE49-F238E27FC236}">
                <a16:creationId xmlns:a16="http://schemas.microsoft.com/office/drawing/2014/main" id="{454C8D37-B096-528B-5CEF-9FFB69ECA8F6}"/>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and Agile Alliance, Agile Practice Guide (2017), Section 3 (Life Cycle Selection)</a:t>
            </a:r>
          </a:p>
        </p:txBody>
      </p:sp>
      <p:sp>
        <p:nvSpPr>
          <p:cNvPr id="10" name="SlideNum">
            <a:extLst>
              <a:ext uri="{FF2B5EF4-FFF2-40B4-BE49-F238E27FC236}">
                <a16:creationId xmlns:a16="http://schemas.microsoft.com/office/drawing/2014/main" id="{FDDD85B1-1EF0-6AE7-B78E-912E1718C0A8}"/>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92</a:t>
            </a:r>
          </a:p>
        </p:txBody>
      </p:sp>
      <p:sp>
        <p:nvSpPr>
          <p:cNvPr id="11"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25581791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8B660E1-1EB9-0346-9464-98D55D972B38}"/>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The life cycle continuum</a:t>
            </a:r>
          </a:p>
        </p:txBody>
      </p:sp>
      <p:sp>
        <p:nvSpPr>
          <p:cNvPr id="3" name="Tag">
            <a:extLst>
              <a:ext uri="{FF2B5EF4-FFF2-40B4-BE49-F238E27FC236}">
                <a16:creationId xmlns:a16="http://schemas.microsoft.com/office/drawing/2014/main" id="{1CBE0D58-8721-8E5B-DDD0-43161F294C2E}"/>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6A4C93"/>
                </a:solidFill>
                <a:latin typeface="Calibri" panose="020F0502020204030204" pitchFamily="34" charset="0"/>
              </a:rPr>
              <a:t>Agile essentials · Supports Process Task 1 (Recommend a project management development approach)</a:t>
            </a:r>
          </a:p>
        </p:txBody>
      </p:sp>
      <p:cxnSp>
        <p:nvCxnSpPr>
          <p:cNvPr id="4" name="Straight Connector 3">
            <a:extLst>
              <a:ext uri="{FF2B5EF4-FFF2-40B4-BE49-F238E27FC236}">
                <a16:creationId xmlns:a16="http://schemas.microsoft.com/office/drawing/2014/main" id="{EB4CC0B5-E6C5-EDAF-4DF4-2AABD80AE80E}"/>
              </a:ext>
            </a:extLst>
          </p:cNvPr>
          <p:cNvCxnSpPr/>
          <p:nvPr/>
        </p:nvCxnSpPr>
        <p:spPr>
          <a:xfrm>
            <a:off x="1168400" y="5588000"/>
            <a:ext cx="4445000" cy="0"/>
          </a:xfrm>
          <a:prstGeom prst="line">
            <a:avLst/>
          </a:prstGeom>
          <a:ln w="31750">
            <a:solidFill>
              <a:srgbClr val="14213D"/>
            </a:solidFill>
            <a:tailEnd type="triangle"/>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0BC911C-5C0A-4DF0-38C7-01B878952F93}"/>
              </a:ext>
            </a:extLst>
          </p:cNvPr>
          <p:cNvCxnSpPr/>
          <p:nvPr/>
        </p:nvCxnSpPr>
        <p:spPr>
          <a:xfrm flipV="1">
            <a:off x="1168400" y="1651000"/>
            <a:ext cx="0" cy="3937000"/>
          </a:xfrm>
          <a:prstGeom prst="line">
            <a:avLst/>
          </a:prstGeom>
          <a:ln w="31750">
            <a:solidFill>
              <a:srgbClr val="14213D"/>
            </a:solidFill>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D3610FFE-0DA2-41F0-4BE6-6E166D07710B}"/>
              </a:ext>
            </a:extLst>
          </p:cNvPr>
          <p:cNvSpPr txBox="1"/>
          <p:nvPr/>
        </p:nvSpPr>
        <p:spPr>
          <a:xfrm>
            <a:off x="1168400" y="5689600"/>
            <a:ext cx="4191000" cy="228600"/>
          </a:xfrm>
          <a:prstGeom prst="rect">
            <a:avLst/>
          </a:prstGeom>
          <a:noFill/>
        </p:spPr>
        <p:txBody>
          <a:bodyPr vert="horz" wrap="square" lIns="0" tIns="0" rIns="0" bIns="0" rtlCol="0" anchor="t">
            <a:noAutofit/>
          </a:bodyPr>
          <a:lstStyle/>
          <a:p>
            <a:pPr algn="ctr"/>
            <a:r>
              <a:rPr lang="en-US" sz="1300" b="1">
                <a:solidFill>
                  <a:srgbClr val="14213D"/>
                </a:solidFill>
                <a:latin typeface="Calibri" panose="020F0502020204030204" pitchFamily="34" charset="0"/>
              </a:rPr>
              <a:t>Degree of change →</a:t>
            </a:r>
          </a:p>
        </p:txBody>
      </p:sp>
      <p:sp>
        <p:nvSpPr>
          <p:cNvPr id="7" name="TextBox 6">
            <a:extLst>
              <a:ext uri="{FF2B5EF4-FFF2-40B4-BE49-F238E27FC236}">
                <a16:creationId xmlns:a16="http://schemas.microsoft.com/office/drawing/2014/main" id="{46B99A57-D141-6672-87FF-3014BEC805FE}"/>
              </a:ext>
            </a:extLst>
          </p:cNvPr>
          <p:cNvSpPr txBox="1"/>
          <p:nvPr/>
        </p:nvSpPr>
        <p:spPr>
          <a:xfrm rot="16200000">
            <a:off x="-939800" y="3568700"/>
            <a:ext cx="3810000" cy="228600"/>
          </a:xfrm>
          <a:prstGeom prst="rect">
            <a:avLst/>
          </a:prstGeom>
          <a:noFill/>
        </p:spPr>
        <p:txBody>
          <a:bodyPr vert="horz" wrap="square" lIns="0" tIns="0" rIns="0" bIns="0" rtlCol="0" anchor="t">
            <a:noAutofit/>
          </a:bodyPr>
          <a:lstStyle/>
          <a:p>
            <a:pPr algn="ctr"/>
            <a:r>
              <a:rPr lang="en-US" sz="1300" b="1">
                <a:solidFill>
                  <a:srgbClr val="14213D"/>
                </a:solidFill>
                <a:latin typeface="Calibri" panose="020F0502020204030204" pitchFamily="34" charset="0"/>
              </a:rPr>
              <a:t>Frequency of delivery →</a:t>
            </a:r>
          </a:p>
        </p:txBody>
      </p:sp>
      <p:sp>
        <p:nvSpPr>
          <p:cNvPr id="8" name="Rectangle: Rounded Corners 7">
            <a:extLst>
              <a:ext uri="{FF2B5EF4-FFF2-40B4-BE49-F238E27FC236}">
                <a16:creationId xmlns:a16="http://schemas.microsoft.com/office/drawing/2014/main" id="{736586E4-3B0B-205E-D5F9-57E9234D4FA9}"/>
              </a:ext>
            </a:extLst>
          </p:cNvPr>
          <p:cNvSpPr/>
          <p:nvPr/>
        </p:nvSpPr>
        <p:spPr>
          <a:xfrm>
            <a:off x="1422400" y="4699000"/>
            <a:ext cx="1651000" cy="584200"/>
          </a:xfrm>
          <a:prstGeom prst="roundRect">
            <a:avLst>
              <a:gd name="adj" fmla="val 8000"/>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600" b="1">
                <a:solidFill>
                  <a:srgbClr val="FFFFFF"/>
                </a:solidFill>
                <a:latin typeface="Calibri" panose="020F0502020204030204" pitchFamily="34" charset="0"/>
              </a:rPr>
              <a:t>Predictive</a:t>
            </a:r>
          </a:p>
        </p:txBody>
      </p:sp>
      <p:sp>
        <p:nvSpPr>
          <p:cNvPr id="9" name="Rectangle: Rounded Corners 8">
            <a:extLst>
              <a:ext uri="{FF2B5EF4-FFF2-40B4-BE49-F238E27FC236}">
                <a16:creationId xmlns:a16="http://schemas.microsoft.com/office/drawing/2014/main" id="{AE86B394-4B90-30CE-1F03-F942F19CD002}"/>
              </a:ext>
            </a:extLst>
          </p:cNvPr>
          <p:cNvSpPr/>
          <p:nvPr/>
        </p:nvSpPr>
        <p:spPr>
          <a:xfrm>
            <a:off x="3454400" y="4699000"/>
            <a:ext cx="1651000" cy="584200"/>
          </a:xfrm>
          <a:prstGeom prst="roundRect">
            <a:avLst>
              <a:gd name="adj" fmla="val 8000"/>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600" b="1">
                <a:solidFill>
                  <a:srgbClr val="FFFFFF"/>
                </a:solidFill>
                <a:latin typeface="Calibri" panose="020F0502020204030204" pitchFamily="34" charset="0"/>
              </a:rPr>
              <a:t>Iterative</a:t>
            </a:r>
          </a:p>
        </p:txBody>
      </p:sp>
      <p:sp>
        <p:nvSpPr>
          <p:cNvPr id="10" name="Rectangle: Rounded Corners 9">
            <a:extLst>
              <a:ext uri="{FF2B5EF4-FFF2-40B4-BE49-F238E27FC236}">
                <a16:creationId xmlns:a16="http://schemas.microsoft.com/office/drawing/2014/main" id="{9CB5BBCB-FD9D-0E18-88F1-7F833C3CEF09}"/>
              </a:ext>
            </a:extLst>
          </p:cNvPr>
          <p:cNvSpPr/>
          <p:nvPr/>
        </p:nvSpPr>
        <p:spPr>
          <a:xfrm>
            <a:off x="1422400" y="2032000"/>
            <a:ext cx="1651000" cy="584200"/>
          </a:xfrm>
          <a:prstGeom prst="roundRect">
            <a:avLst>
              <a:gd name="adj" fmla="val 8000"/>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600" b="1">
                <a:solidFill>
                  <a:srgbClr val="FFFFFF"/>
                </a:solidFill>
                <a:latin typeface="Calibri" panose="020F0502020204030204" pitchFamily="34" charset="0"/>
              </a:rPr>
              <a:t>Incremental</a:t>
            </a:r>
          </a:p>
        </p:txBody>
      </p:sp>
      <p:sp>
        <p:nvSpPr>
          <p:cNvPr id="11" name="Rectangle: Rounded Corners 10">
            <a:extLst>
              <a:ext uri="{FF2B5EF4-FFF2-40B4-BE49-F238E27FC236}">
                <a16:creationId xmlns:a16="http://schemas.microsoft.com/office/drawing/2014/main" id="{73E50639-5AA6-4A7B-9CB6-8AC4879754B5}"/>
              </a:ext>
            </a:extLst>
          </p:cNvPr>
          <p:cNvSpPr/>
          <p:nvPr/>
        </p:nvSpPr>
        <p:spPr>
          <a:xfrm>
            <a:off x="3454400" y="2032000"/>
            <a:ext cx="1651000" cy="584200"/>
          </a:xfrm>
          <a:prstGeom prst="roundRect">
            <a:avLst>
              <a:gd name="adj" fmla="val 8000"/>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600" b="1">
                <a:solidFill>
                  <a:srgbClr val="FFFFFF"/>
                </a:solidFill>
                <a:latin typeface="Calibri" panose="020F0502020204030204" pitchFamily="34" charset="0"/>
              </a:rPr>
              <a:t>Agile</a:t>
            </a:r>
          </a:p>
        </p:txBody>
      </p:sp>
      <p:cxnSp>
        <p:nvCxnSpPr>
          <p:cNvPr id="12" name="ContinuumArrow">
            <a:extLst>
              <a:ext uri="{FF2B5EF4-FFF2-40B4-BE49-F238E27FC236}">
                <a16:creationId xmlns:a16="http://schemas.microsoft.com/office/drawing/2014/main" id="{893A5E63-9C77-83A1-5178-BE706219F90F}"/>
              </a:ext>
            </a:extLst>
          </p:cNvPr>
          <p:cNvCxnSpPr/>
          <p:nvPr/>
        </p:nvCxnSpPr>
        <p:spPr>
          <a:xfrm flipV="1">
            <a:off x="2819400" y="2844800"/>
            <a:ext cx="1346200" cy="1651000"/>
          </a:xfrm>
          <a:prstGeom prst="line">
            <a:avLst/>
          </a:prstGeom>
          <a:ln w="114300">
            <a:solidFill>
              <a:srgbClr val="B9A3D6"/>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CF536633-7DB3-729C-FEAF-014FF907F751}"/>
              </a:ext>
            </a:extLst>
          </p:cNvPr>
          <p:cNvSpPr txBox="1"/>
          <p:nvPr/>
        </p:nvSpPr>
        <p:spPr>
          <a:xfrm rot="-3060000">
            <a:off x="3009900" y="3721100"/>
            <a:ext cx="1524000" cy="254000"/>
          </a:xfrm>
          <a:prstGeom prst="rect">
            <a:avLst/>
          </a:prstGeom>
          <a:noFill/>
        </p:spPr>
        <p:txBody>
          <a:bodyPr vert="horz" wrap="square" lIns="0" tIns="0" rIns="0" bIns="0" rtlCol="0" anchor="t">
            <a:noAutofit/>
          </a:bodyPr>
          <a:lstStyle/>
          <a:p>
            <a:pPr algn="ctr"/>
            <a:r>
              <a:rPr lang="en-US" sz="1400" b="1">
                <a:solidFill>
                  <a:srgbClr val="6A4C93"/>
                </a:solidFill>
                <a:latin typeface="Calibri" panose="020F0502020204030204" pitchFamily="34" charset="0"/>
              </a:rPr>
              <a:t>Continuum</a:t>
            </a:r>
          </a:p>
        </p:txBody>
      </p:sp>
      <p:sp>
        <p:nvSpPr>
          <p:cNvPr id="14" name="TextBox 13">
            <a:extLst>
              <a:ext uri="{FF2B5EF4-FFF2-40B4-BE49-F238E27FC236}">
                <a16:creationId xmlns:a16="http://schemas.microsoft.com/office/drawing/2014/main" id="{DA549DE4-D696-2A13-A86B-5EB19DD3CCBA}"/>
              </a:ext>
            </a:extLst>
          </p:cNvPr>
          <p:cNvSpPr txBox="1"/>
          <p:nvPr/>
        </p:nvSpPr>
        <p:spPr>
          <a:xfrm>
            <a:off x="508000" y="5918200"/>
            <a:ext cx="5334000" cy="431800"/>
          </a:xfrm>
          <a:prstGeom prst="rect">
            <a:avLst/>
          </a:prstGeom>
          <a:noFill/>
        </p:spPr>
        <p:txBody>
          <a:bodyPr vert="horz" wrap="square" lIns="0" tIns="0" rIns="0" bIns="0" rtlCol="0" anchor="t">
            <a:noAutofit/>
          </a:bodyPr>
          <a:lstStyle/>
          <a:p>
            <a:r>
              <a:rPr lang="en-US" sz="1300" i="1">
                <a:solidFill>
                  <a:srgbClr val="1F2937"/>
                </a:solidFill>
                <a:latin typeface="Calibri" panose="020F0502020204030204" pitchFamily="34" charset="0"/>
              </a:rPr>
              <a:t>Predictive: low change, one delivery. Agile: high change, frequent delivery.</a:t>
            </a:r>
          </a:p>
        </p:txBody>
      </p:sp>
      <p:sp>
        <p:nvSpPr>
          <p:cNvPr id="15" name="TextBox 14">
            <a:extLst>
              <a:ext uri="{FF2B5EF4-FFF2-40B4-BE49-F238E27FC236}">
                <a16:creationId xmlns:a16="http://schemas.microsoft.com/office/drawing/2014/main" id="{FD941A41-920C-D6F1-4690-C5A534B7A038}"/>
              </a:ext>
            </a:extLst>
          </p:cNvPr>
          <p:cNvSpPr txBox="1"/>
          <p:nvPr/>
        </p:nvSpPr>
        <p:spPr>
          <a:xfrm>
            <a:off x="6223000" y="1320800"/>
            <a:ext cx="5461000" cy="279400"/>
          </a:xfrm>
          <a:prstGeom prst="rect">
            <a:avLst/>
          </a:prstGeom>
          <a:noFill/>
        </p:spPr>
        <p:txBody>
          <a:bodyPr vert="horz" wrap="square" lIns="0" tIns="0" rIns="0" bIns="0" rtlCol="0" anchor="t">
            <a:noAutofit/>
          </a:bodyPr>
          <a:lstStyle/>
          <a:p>
            <a:r>
              <a:rPr lang="en-US" sz="1600" b="1">
                <a:solidFill>
                  <a:srgbClr val="14213D"/>
                </a:solidFill>
                <a:latin typeface="Calibri" panose="020F0502020204030204" pitchFamily="34" charset="0"/>
              </a:rPr>
              <a:t>A predictive (waterfall) life cycle</a:t>
            </a:r>
          </a:p>
        </p:txBody>
      </p:sp>
      <p:sp>
        <p:nvSpPr>
          <p:cNvPr id="16" name="Rectangle 15">
            <a:extLst>
              <a:ext uri="{FF2B5EF4-FFF2-40B4-BE49-F238E27FC236}">
                <a16:creationId xmlns:a16="http://schemas.microsoft.com/office/drawing/2014/main" id="{449BC10D-AE40-0620-8006-9E093AE5A882}"/>
              </a:ext>
            </a:extLst>
          </p:cNvPr>
          <p:cNvSpPr/>
          <p:nvPr/>
        </p:nvSpPr>
        <p:spPr>
          <a:xfrm>
            <a:off x="6959600" y="2108200"/>
            <a:ext cx="3810000" cy="2717800"/>
          </a:xfrm>
          <a:prstGeom prst="rect">
            <a:avLst/>
          </a:prstGeom>
          <a:solidFill>
            <a:srgbClr val="EDE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D5C9DB5-6E92-0371-BE9B-62AA76E939CC}"/>
              </a:ext>
            </a:extLst>
          </p:cNvPr>
          <p:cNvSpPr txBox="1"/>
          <p:nvPr/>
        </p:nvSpPr>
        <p:spPr>
          <a:xfrm>
            <a:off x="7061200" y="4470400"/>
            <a:ext cx="2032000" cy="254000"/>
          </a:xfrm>
          <a:prstGeom prst="rect">
            <a:avLst/>
          </a:prstGeom>
          <a:noFill/>
        </p:spPr>
        <p:txBody>
          <a:bodyPr vert="horz" wrap="square" lIns="0" tIns="0" rIns="0" bIns="0" rtlCol="0" anchor="t">
            <a:noAutofit/>
          </a:bodyPr>
          <a:lstStyle/>
          <a:p>
            <a:r>
              <a:rPr lang="en-US" sz="1100" b="1">
                <a:solidFill>
                  <a:srgbClr val="6A4C93"/>
                </a:solidFill>
                <a:latin typeface="Calibri" panose="020F0502020204030204" pitchFamily="34" charset="0"/>
              </a:rPr>
              <a:t>DEVELOPMENT</a:t>
            </a:r>
          </a:p>
        </p:txBody>
      </p:sp>
      <p:sp>
        <p:nvSpPr>
          <p:cNvPr id="18" name="Rectangle: Rounded Corners 17">
            <a:extLst>
              <a:ext uri="{FF2B5EF4-FFF2-40B4-BE49-F238E27FC236}">
                <a16:creationId xmlns:a16="http://schemas.microsoft.com/office/drawing/2014/main" id="{887CA75F-8062-1536-3039-E930309F00C1}"/>
              </a:ext>
            </a:extLst>
          </p:cNvPr>
          <p:cNvSpPr/>
          <p:nvPr/>
        </p:nvSpPr>
        <p:spPr>
          <a:xfrm>
            <a:off x="6350000" y="1727200"/>
            <a:ext cx="1422400" cy="431800"/>
          </a:xfrm>
          <a:prstGeom prst="roundRect">
            <a:avLst>
              <a:gd name="adj" fmla="val 8000"/>
            </a:avLst>
          </a:prstGeom>
          <a:solidFill>
            <a:srgbClr val="3B2F6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300" b="1">
                <a:solidFill>
                  <a:srgbClr val="FFFFFF"/>
                </a:solidFill>
                <a:latin typeface="Calibri" panose="020F0502020204030204" pitchFamily="34" charset="0"/>
              </a:rPr>
              <a:t>Feasibility</a:t>
            </a:r>
          </a:p>
        </p:txBody>
      </p:sp>
      <p:cxnSp>
        <p:nvCxnSpPr>
          <p:cNvPr id="19" name="Connector: Elbow 18">
            <a:extLst>
              <a:ext uri="{FF2B5EF4-FFF2-40B4-BE49-F238E27FC236}">
                <a16:creationId xmlns:a16="http://schemas.microsoft.com/office/drawing/2014/main" id="{7298976F-D240-F1C6-C2CB-99F21F660FCD}"/>
              </a:ext>
            </a:extLst>
          </p:cNvPr>
          <p:cNvCxnSpPr/>
          <p:nvPr/>
        </p:nvCxnSpPr>
        <p:spPr>
          <a:xfrm>
            <a:off x="7772400" y="1943100"/>
            <a:ext cx="25400" cy="342900"/>
          </a:xfrm>
          <a:prstGeom prst="bentConnector3">
            <a:avLst/>
          </a:prstGeom>
          <a:ln w="19050">
            <a:solidFill>
              <a:srgbClr val="6A4C93"/>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Rounded Corners 19">
            <a:extLst>
              <a:ext uri="{FF2B5EF4-FFF2-40B4-BE49-F238E27FC236}">
                <a16:creationId xmlns:a16="http://schemas.microsoft.com/office/drawing/2014/main" id="{57307A16-9A84-418F-4951-E00E91C29063}"/>
              </a:ext>
            </a:extLst>
          </p:cNvPr>
          <p:cNvSpPr/>
          <p:nvPr/>
        </p:nvSpPr>
        <p:spPr>
          <a:xfrm>
            <a:off x="7086600" y="2286000"/>
            <a:ext cx="1422400" cy="431800"/>
          </a:xfrm>
          <a:prstGeom prst="roundRect">
            <a:avLst>
              <a:gd name="adj" fmla="val 8000"/>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300" b="1">
                <a:solidFill>
                  <a:srgbClr val="FFFFFF"/>
                </a:solidFill>
                <a:latin typeface="Calibri" panose="020F0502020204030204" pitchFamily="34" charset="0"/>
              </a:rPr>
              <a:t>Design</a:t>
            </a:r>
          </a:p>
        </p:txBody>
      </p:sp>
      <p:cxnSp>
        <p:nvCxnSpPr>
          <p:cNvPr id="21" name="Connector: Elbow 20">
            <a:extLst>
              <a:ext uri="{FF2B5EF4-FFF2-40B4-BE49-F238E27FC236}">
                <a16:creationId xmlns:a16="http://schemas.microsoft.com/office/drawing/2014/main" id="{8696A9A9-815F-4F8C-A8EF-8F3ED1F6C06F}"/>
              </a:ext>
            </a:extLst>
          </p:cNvPr>
          <p:cNvCxnSpPr/>
          <p:nvPr/>
        </p:nvCxnSpPr>
        <p:spPr>
          <a:xfrm>
            <a:off x="8509000" y="2501900"/>
            <a:ext cx="25400" cy="342900"/>
          </a:xfrm>
          <a:prstGeom prst="bentConnector3">
            <a:avLst/>
          </a:prstGeom>
          <a:ln w="19050">
            <a:solidFill>
              <a:srgbClr val="6A4C93"/>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6ABD07E4-8D6E-C06E-CF6B-D315788AD187}"/>
              </a:ext>
            </a:extLst>
          </p:cNvPr>
          <p:cNvSpPr/>
          <p:nvPr/>
        </p:nvSpPr>
        <p:spPr>
          <a:xfrm>
            <a:off x="7823200" y="2844800"/>
            <a:ext cx="1422400" cy="431800"/>
          </a:xfrm>
          <a:prstGeom prst="roundRect">
            <a:avLst>
              <a:gd name="adj" fmla="val 8000"/>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300" b="1">
                <a:solidFill>
                  <a:srgbClr val="FFFFFF"/>
                </a:solidFill>
                <a:latin typeface="Calibri" panose="020F0502020204030204" pitchFamily="34" charset="0"/>
              </a:rPr>
              <a:t>Build</a:t>
            </a:r>
          </a:p>
        </p:txBody>
      </p:sp>
      <p:cxnSp>
        <p:nvCxnSpPr>
          <p:cNvPr id="23" name="Connector: Elbow 22">
            <a:extLst>
              <a:ext uri="{FF2B5EF4-FFF2-40B4-BE49-F238E27FC236}">
                <a16:creationId xmlns:a16="http://schemas.microsoft.com/office/drawing/2014/main" id="{F302871C-BF04-D1ED-B43A-05D86F32435E}"/>
              </a:ext>
            </a:extLst>
          </p:cNvPr>
          <p:cNvCxnSpPr/>
          <p:nvPr/>
        </p:nvCxnSpPr>
        <p:spPr>
          <a:xfrm>
            <a:off x="9245600" y="3060700"/>
            <a:ext cx="25400" cy="342900"/>
          </a:xfrm>
          <a:prstGeom prst="bentConnector3">
            <a:avLst/>
          </a:prstGeom>
          <a:ln w="19050">
            <a:solidFill>
              <a:srgbClr val="6A4C93"/>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4922EEA4-216E-31F6-0137-BCC0BC55A2BF}"/>
              </a:ext>
            </a:extLst>
          </p:cNvPr>
          <p:cNvSpPr/>
          <p:nvPr/>
        </p:nvSpPr>
        <p:spPr>
          <a:xfrm>
            <a:off x="8559800" y="3403600"/>
            <a:ext cx="1422400" cy="431800"/>
          </a:xfrm>
          <a:prstGeom prst="roundRect">
            <a:avLst>
              <a:gd name="adj" fmla="val 8000"/>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300" b="1">
                <a:solidFill>
                  <a:srgbClr val="FFFFFF"/>
                </a:solidFill>
                <a:latin typeface="Calibri" panose="020F0502020204030204" pitchFamily="34" charset="0"/>
              </a:rPr>
              <a:t>Test</a:t>
            </a:r>
          </a:p>
        </p:txBody>
      </p:sp>
      <p:cxnSp>
        <p:nvCxnSpPr>
          <p:cNvPr id="25" name="Connector: Elbow 24">
            <a:extLst>
              <a:ext uri="{FF2B5EF4-FFF2-40B4-BE49-F238E27FC236}">
                <a16:creationId xmlns:a16="http://schemas.microsoft.com/office/drawing/2014/main" id="{415BDF81-BCB0-612D-01F9-8840A62BF286}"/>
              </a:ext>
            </a:extLst>
          </p:cNvPr>
          <p:cNvCxnSpPr/>
          <p:nvPr/>
        </p:nvCxnSpPr>
        <p:spPr>
          <a:xfrm>
            <a:off x="9982200" y="3619500"/>
            <a:ext cx="25400" cy="342900"/>
          </a:xfrm>
          <a:prstGeom prst="bentConnector3">
            <a:avLst/>
          </a:prstGeom>
          <a:ln w="19050">
            <a:solidFill>
              <a:srgbClr val="6A4C93"/>
            </a:solidFill>
            <a:tailEnd type="triangle"/>
          </a:ln>
        </p:spPr>
        <p:style>
          <a:lnRef idx="2">
            <a:schemeClr val="accent1"/>
          </a:lnRef>
          <a:fillRef idx="0">
            <a:schemeClr val="accent1"/>
          </a:fillRef>
          <a:effectRef idx="1">
            <a:schemeClr val="accent1"/>
          </a:effectRef>
          <a:fontRef idx="minor">
            <a:schemeClr val="tx1"/>
          </a:fontRef>
        </p:style>
      </p:cxnSp>
      <p:sp>
        <p:nvSpPr>
          <p:cNvPr id="26" name="Rectangle: Rounded Corners 25">
            <a:extLst>
              <a:ext uri="{FF2B5EF4-FFF2-40B4-BE49-F238E27FC236}">
                <a16:creationId xmlns:a16="http://schemas.microsoft.com/office/drawing/2014/main" id="{7D2B887E-68D5-5C55-7000-B19ED3E740BA}"/>
              </a:ext>
            </a:extLst>
          </p:cNvPr>
          <p:cNvSpPr/>
          <p:nvPr/>
        </p:nvSpPr>
        <p:spPr>
          <a:xfrm>
            <a:off x="9296400" y="3962400"/>
            <a:ext cx="1422400" cy="431800"/>
          </a:xfrm>
          <a:prstGeom prst="roundRect">
            <a:avLst>
              <a:gd name="adj" fmla="val 8000"/>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300" b="1">
                <a:solidFill>
                  <a:srgbClr val="FFFFFF"/>
                </a:solidFill>
                <a:latin typeface="Calibri" panose="020F0502020204030204" pitchFamily="34" charset="0"/>
              </a:rPr>
              <a:t>Deploy</a:t>
            </a:r>
          </a:p>
        </p:txBody>
      </p:sp>
      <p:cxnSp>
        <p:nvCxnSpPr>
          <p:cNvPr id="27" name="Connector: Elbow 26">
            <a:extLst>
              <a:ext uri="{FF2B5EF4-FFF2-40B4-BE49-F238E27FC236}">
                <a16:creationId xmlns:a16="http://schemas.microsoft.com/office/drawing/2014/main" id="{32040171-797E-39C2-3BAD-E021C3E93E68}"/>
              </a:ext>
            </a:extLst>
          </p:cNvPr>
          <p:cNvCxnSpPr/>
          <p:nvPr/>
        </p:nvCxnSpPr>
        <p:spPr>
          <a:xfrm>
            <a:off x="10718800" y="4178300"/>
            <a:ext cx="25400" cy="342900"/>
          </a:xfrm>
          <a:prstGeom prst="bentConnector3">
            <a:avLst/>
          </a:prstGeom>
          <a:ln w="19050">
            <a:solidFill>
              <a:srgbClr val="6A4C9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Rounded Corners 27">
            <a:extLst>
              <a:ext uri="{FF2B5EF4-FFF2-40B4-BE49-F238E27FC236}">
                <a16:creationId xmlns:a16="http://schemas.microsoft.com/office/drawing/2014/main" id="{77D1D65D-E224-9AA8-EFC2-F07AE7075E53}"/>
              </a:ext>
            </a:extLst>
          </p:cNvPr>
          <p:cNvSpPr/>
          <p:nvPr/>
        </p:nvSpPr>
        <p:spPr>
          <a:xfrm>
            <a:off x="10033000" y="4521200"/>
            <a:ext cx="1422400" cy="431800"/>
          </a:xfrm>
          <a:prstGeom prst="roundRect">
            <a:avLst>
              <a:gd name="adj" fmla="val 8000"/>
            </a:avLst>
          </a:prstGeom>
          <a:solidFill>
            <a:srgbClr val="3B2F6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300" b="1">
                <a:solidFill>
                  <a:srgbClr val="FFFFFF"/>
                </a:solidFill>
                <a:latin typeface="Calibri" panose="020F0502020204030204" pitchFamily="34" charset="0"/>
              </a:rPr>
              <a:t>Close</a:t>
            </a:r>
          </a:p>
        </p:txBody>
      </p:sp>
      <p:sp>
        <p:nvSpPr>
          <p:cNvPr id="29" name="TextBox 28">
            <a:extLst>
              <a:ext uri="{FF2B5EF4-FFF2-40B4-BE49-F238E27FC236}">
                <a16:creationId xmlns:a16="http://schemas.microsoft.com/office/drawing/2014/main" id="{D689313C-0B29-6B93-F5DC-80A2470BCD14}"/>
              </a:ext>
            </a:extLst>
          </p:cNvPr>
          <p:cNvSpPr txBox="1"/>
          <p:nvPr/>
        </p:nvSpPr>
        <p:spPr>
          <a:xfrm>
            <a:off x="6223000" y="5003800"/>
            <a:ext cx="5461000" cy="1219200"/>
          </a:xfrm>
          <a:prstGeom prst="rect">
            <a:avLst/>
          </a:prstGeom>
          <a:noFill/>
        </p:spPr>
        <p:txBody>
          <a:bodyPr vert="horz" wrap="square" lIns="0" tIns="0" rIns="0" bIns="0" rtlCol="0" anchor="t">
            <a:noAutofit/>
          </a:bodyPr>
          <a:lstStyle/>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Fixed requirements</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High degree of control</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Governance at the end of each phase (phase gates)</a:t>
            </a:r>
          </a:p>
        </p:txBody>
      </p:sp>
      <p:sp>
        <p:nvSpPr>
          <p:cNvPr id="30" name="Footer">
            <a:extLst>
              <a:ext uri="{FF2B5EF4-FFF2-40B4-BE49-F238E27FC236}">
                <a16:creationId xmlns:a16="http://schemas.microsoft.com/office/drawing/2014/main" id="{D243ED24-9EAC-9E4E-6F0A-90DAB4036729}"/>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and Agile Alliance, Agile Practice Guide (2017), Section 3 (Life Cycle Selection)</a:t>
            </a:r>
          </a:p>
        </p:txBody>
      </p:sp>
      <p:sp>
        <p:nvSpPr>
          <p:cNvPr id="31" name="SlideNum">
            <a:extLst>
              <a:ext uri="{FF2B5EF4-FFF2-40B4-BE49-F238E27FC236}">
                <a16:creationId xmlns:a16="http://schemas.microsoft.com/office/drawing/2014/main" id="{FD86D20C-1926-B4C9-8E0B-EBA6FAC926D5}"/>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93</a:t>
            </a:r>
          </a:p>
        </p:txBody>
      </p:sp>
      <p:sp>
        <p:nvSpPr>
          <p:cNvPr id="32"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71168396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37956B5-D58F-D775-07BA-5685A9590CAF}"/>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Choosing an approach: uncertainty and suitability</a:t>
            </a:r>
          </a:p>
        </p:txBody>
      </p:sp>
      <p:sp>
        <p:nvSpPr>
          <p:cNvPr id="3" name="Tag">
            <a:extLst>
              <a:ext uri="{FF2B5EF4-FFF2-40B4-BE49-F238E27FC236}">
                <a16:creationId xmlns:a16="http://schemas.microsoft.com/office/drawing/2014/main" id="{41880C4E-1F72-2358-0BFC-0A88B2D0C78B}"/>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6A4C93"/>
                </a:solidFill>
                <a:latin typeface="Calibri" panose="020F0502020204030204" pitchFamily="34" charset="0"/>
              </a:rPr>
              <a:t>Agile essentials · Supports Process Task 1 (Assess project needs, complexity, and magnitude)</a:t>
            </a:r>
          </a:p>
        </p:txBody>
      </p:sp>
      <p:sp>
        <p:nvSpPr>
          <p:cNvPr id="4" name="Rectangle 3">
            <a:extLst>
              <a:ext uri="{FF2B5EF4-FFF2-40B4-BE49-F238E27FC236}">
                <a16:creationId xmlns:a16="http://schemas.microsoft.com/office/drawing/2014/main" id="{49DD1BCC-1ED3-9F52-3657-A182865EC624}"/>
              </a:ext>
            </a:extLst>
          </p:cNvPr>
          <p:cNvSpPr/>
          <p:nvPr/>
        </p:nvSpPr>
        <p:spPr>
          <a:xfrm>
            <a:off x="1168400" y="1701800"/>
            <a:ext cx="4191000" cy="4191000"/>
          </a:xfrm>
          <a:prstGeom prst="rect">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F0C9D6A-C1FE-4755-DCEF-1B1D368B907B}"/>
              </a:ext>
            </a:extLst>
          </p:cNvPr>
          <p:cNvSpPr txBox="1"/>
          <p:nvPr/>
        </p:nvSpPr>
        <p:spPr>
          <a:xfrm>
            <a:off x="3937000" y="1803400"/>
            <a:ext cx="1320800" cy="254000"/>
          </a:xfrm>
          <a:prstGeom prst="rect">
            <a:avLst/>
          </a:prstGeom>
          <a:noFill/>
        </p:spPr>
        <p:txBody>
          <a:bodyPr vert="horz" wrap="square" lIns="0" tIns="0" rIns="0" bIns="0" rtlCol="0" anchor="t">
            <a:noAutofit/>
          </a:bodyPr>
          <a:lstStyle/>
          <a:p>
            <a:pPr algn="r"/>
            <a:r>
              <a:rPr lang="en-US" sz="1400" b="1">
                <a:solidFill>
                  <a:srgbClr val="A84A2E"/>
                </a:solidFill>
                <a:latin typeface="Calibri" panose="020F0502020204030204" pitchFamily="34" charset="0"/>
              </a:rPr>
              <a:t>Chaotic</a:t>
            </a:r>
          </a:p>
        </p:txBody>
      </p:sp>
      <p:sp>
        <p:nvSpPr>
          <p:cNvPr id="6" name="Rectangle 5">
            <a:extLst>
              <a:ext uri="{FF2B5EF4-FFF2-40B4-BE49-F238E27FC236}">
                <a16:creationId xmlns:a16="http://schemas.microsoft.com/office/drawing/2014/main" id="{0B67E170-D9AA-B292-2014-ACE3FD391A74}"/>
              </a:ext>
            </a:extLst>
          </p:cNvPr>
          <p:cNvSpPr/>
          <p:nvPr/>
        </p:nvSpPr>
        <p:spPr>
          <a:xfrm>
            <a:off x="1168400" y="2743200"/>
            <a:ext cx="3149600" cy="3149600"/>
          </a:xfrm>
          <a:prstGeom prst="rect">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451092C-23E8-8139-B5A7-2BB2FD83BA30}"/>
              </a:ext>
            </a:extLst>
          </p:cNvPr>
          <p:cNvSpPr txBox="1"/>
          <p:nvPr/>
        </p:nvSpPr>
        <p:spPr>
          <a:xfrm>
            <a:off x="2895600" y="2844800"/>
            <a:ext cx="1320800" cy="254000"/>
          </a:xfrm>
          <a:prstGeom prst="rect">
            <a:avLst/>
          </a:prstGeom>
          <a:noFill/>
        </p:spPr>
        <p:txBody>
          <a:bodyPr vert="horz" wrap="square" lIns="0" tIns="0" rIns="0" bIns="0" rtlCol="0" anchor="t">
            <a:noAutofit/>
          </a:bodyPr>
          <a:lstStyle/>
          <a:p>
            <a:pPr algn="r"/>
            <a:r>
              <a:rPr lang="en-US" sz="1400" b="1">
                <a:solidFill>
                  <a:srgbClr val="A86F0E"/>
                </a:solidFill>
                <a:latin typeface="Calibri" panose="020F0502020204030204" pitchFamily="34" charset="0"/>
              </a:rPr>
              <a:t>Complex</a:t>
            </a:r>
          </a:p>
        </p:txBody>
      </p:sp>
      <p:sp>
        <p:nvSpPr>
          <p:cNvPr id="8" name="Rectangle 7">
            <a:extLst>
              <a:ext uri="{FF2B5EF4-FFF2-40B4-BE49-F238E27FC236}">
                <a16:creationId xmlns:a16="http://schemas.microsoft.com/office/drawing/2014/main" id="{347C1BB2-97E4-E2A1-5D15-1706892CC4DE}"/>
              </a:ext>
            </a:extLst>
          </p:cNvPr>
          <p:cNvSpPr/>
          <p:nvPr/>
        </p:nvSpPr>
        <p:spPr>
          <a:xfrm>
            <a:off x="1168400" y="3797300"/>
            <a:ext cx="2095500" cy="2095500"/>
          </a:xfrm>
          <a:prstGeom prst="rect">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66A9ABB-EFF9-7F42-1723-84E467A40AA7}"/>
              </a:ext>
            </a:extLst>
          </p:cNvPr>
          <p:cNvSpPr txBox="1"/>
          <p:nvPr/>
        </p:nvSpPr>
        <p:spPr>
          <a:xfrm>
            <a:off x="1841500" y="3898900"/>
            <a:ext cx="1320800" cy="254000"/>
          </a:xfrm>
          <a:prstGeom prst="rect">
            <a:avLst/>
          </a:prstGeom>
          <a:noFill/>
        </p:spPr>
        <p:txBody>
          <a:bodyPr vert="horz" wrap="square" lIns="0" tIns="0" rIns="0" bIns="0" rtlCol="0" anchor="t">
            <a:noAutofit/>
          </a:bodyPr>
          <a:lstStyle/>
          <a:p>
            <a:pPr algn="r"/>
            <a:r>
              <a:rPr lang="en-US" sz="1400" b="1">
                <a:solidFill>
                  <a:srgbClr val="34509A"/>
                </a:solidFill>
                <a:latin typeface="Calibri" panose="020F0502020204030204" pitchFamily="34" charset="0"/>
              </a:rPr>
              <a:t>Complicated</a:t>
            </a:r>
          </a:p>
        </p:txBody>
      </p:sp>
      <p:sp>
        <p:nvSpPr>
          <p:cNvPr id="10" name="Rectangle 9">
            <a:extLst>
              <a:ext uri="{FF2B5EF4-FFF2-40B4-BE49-F238E27FC236}">
                <a16:creationId xmlns:a16="http://schemas.microsoft.com/office/drawing/2014/main" id="{47B1E972-D8A0-E5BC-6F8B-609BA15D3413}"/>
              </a:ext>
            </a:extLst>
          </p:cNvPr>
          <p:cNvSpPr/>
          <p:nvPr/>
        </p:nvSpPr>
        <p:spPr>
          <a:xfrm>
            <a:off x="1168400" y="4851400"/>
            <a:ext cx="1041400" cy="1041400"/>
          </a:xfrm>
          <a:prstGeom prst="rect">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7A30083-48A2-E0BA-81D9-E224ADF2A45E}"/>
              </a:ext>
            </a:extLst>
          </p:cNvPr>
          <p:cNvSpPr txBox="1"/>
          <p:nvPr/>
        </p:nvSpPr>
        <p:spPr>
          <a:xfrm>
            <a:off x="787400" y="4953000"/>
            <a:ext cx="1320800" cy="254000"/>
          </a:xfrm>
          <a:prstGeom prst="rect">
            <a:avLst/>
          </a:prstGeom>
          <a:noFill/>
        </p:spPr>
        <p:txBody>
          <a:bodyPr vert="horz" wrap="square" lIns="0" tIns="0" rIns="0" bIns="0" rtlCol="0" anchor="t">
            <a:noAutofit/>
          </a:bodyPr>
          <a:lstStyle/>
          <a:p>
            <a:pPr algn="r"/>
            <a:r>
              <a:rPr lang="en-US" sz="1400" b="1">
                <a:solidFill>
                  <a:srgbClr val="0F7C80"/>
                </a:solidFill>
                <a:latin typeface="Calibri" panose="020F0502020204030204" pitchFamily="34" charset="0"/>
              </a:rPr>
              <a:t>Simple</a:t>
            </a:r>
          </a:p>
        </p:txBody>
      </p:sp>
      <p:cxnSp>
        <p:nvCxnSpPr>
          <p:cNvPr id="12" name="Straight Connector 11">
            <a:extLst>
              <a:ext uri="{FF2B5EF4-FFF2-40B4-BE49-F238E27FC236}">
                <a16:creationId xmlns:a16="http://schemas.microsoft.com/office/drawing/2014/main" id="{F22F5DEE-A352-57A8-FF41-B407B7762542}"/>
              </a:ext>
            </a:extLst>
          </p:cNvPr>
          <p:cNvCxnSpPr/>
          <p:nvPr/>
        </p:nvCxnSpPr>
        <p:spPr>
          <a:xfrm>
            <a:off x="1168400" y="5892800"/>
            <a:ext cx="4826000" cy="0"/>
          </a:xfrm>
          <a:prstGeom prst="line">
            <a:avLst/>
          </a:prstGeom>
          <a:ln w="25400">
            <a:solidFill>
              <a:srgbClr val="14213D"/>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B1C5B66-DA83-BECC-B4E1-A696033E347B}"/>
              </a:ext>
            </a:extLst>
          </p:cNvPr>
          <p:cNvCxnSpPr/>
          <p:nvPr/>
        </p:nvCxnSpPr>
        <p:spPr>
          <a:xfrm flipV="1">
            <a:off x="1168400" y="1549400"/>
            <a:ext cx="0" cy="4343400"/>
          </a:xfrm>
          <a:prstGeom prst="line">
            <a:avLst/>
          </a:prstGeom>
          <a:ln w="25400">
            <a:solidFill>
              <a:srgbClr val="14213D"/>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2A5442A0-B8C9-FC23-A683-9DF35AC46A04}"/>
              </a:ext>
            </a:extLst>
          </p:cNvPr>
          <p:cNvSpPr txBox="1"/>
          <p:nvPr/>
        </p:nvSpPr>
        <p:spPr>
          <a:xfrm>
            <a:off x="1168400" y="5969000"/>
            <a:ext cx="4318000" cy="228600"/>
          </a:xfrm>
          <a:prstGeom prst="rect">
            <a:avLst/>
          </a:prstGeom>
          <a:noFill/>
        </p:spPr>
        <p:txBody>
          <a:bodyPr vert="horz" wrap="square" lIns="0" tIns="0" rIns="0" bIns="0" rtlCol="0" anchor="t">
            <a:noAutofit/>
          </a:bodyPr>
          <a:lstStyle/>
          <a:p>
            <a:pPr algn="ctr"/>
            <a:r>
              <a:rPr lang="en-US" sz="1300" b="1">
                <a:solidFill>
                  <a:srgbClr val="14213D"/>
                </a:solidFill>
                <a:latin typeface="Calibri" panose="020F0502020204030204" pitchFamily="34" charset="0"/>
              </a:rPr>
              <a:t>Technical uncertainty: HOW to build it</a:t>
            </a:r>
          </a:p>
        </p:txBody>
      </p:sp>
      <p:sp>
        <p:nvSpPr>
          <p:cNvPr id="15" name="TextBox 14">
            <a:extLst>
              <a:ext uri="{FF2B5EF4-FFF2-40B4-BE49-F238E27FC236}">
                <a16:creationId xmlns:a16="http://schemas.microsoft.com/office/drawing/2014/main" id="{00B692E9-8AED-CA92-6EC8-B919C5E766D9}"/>
              </a:ext>
            </a:extLst>
          </p:cNvPr>
          <p:cNvSpPr txBox="1"/>
          <p:nvPr/>
        </p:nvSpPr>
        <p:spPr>
          <a:xfrm rot="16200000">
            <a:off x="-1295400" y="3683000"/>
            <a:ext cx="4572000" cy="228600"/>
          </a:xfrm>
          <a:prstGeom prst="rect">
            <a:avLst/>
          </a:prstGeom>
          <a:noFill/>
        </p:spPr>
        <p:txBody>
          <a:bodyPr vert="horz" wrap="square" lIns="0" tIns="0" rIns="0" bIns="0" rtlCol="0" anchor="t">
            <a:noAutofit/>
          </a:bodyPr>
          <a:lstStyle/>
          <a:p>
            <a:pPr algn="ctr"/>
            <a:r>
              <a:rPr lang="en-US" sz="1300" b="1">
                <a:solidFill>
                  <a:srgbClr val="14213D"/>
                </a:solidFill>
                <a:latin typeface="Calibri" panose="020F0502020204030204" pitchFamily="34" charset="0"/>
              </a:rPr>
              <a:t>Requirements uncertainty: WHAT to build</a:t>
            </a:r>
          </a:p>
        </p:txBody>
      </p:sp>
      <p:sp>
        <p:nvSpPr>
          <p:cNvPr id="16" name="TextBox 15">
            <a:extLst>
              <a:ext uri="{FF2B5EF4-FFF2-40B4-BE49-F238E27FC236}">
                <a16:creationId xmlns:a16="http://schemas.microsoft.com/office/drawing/2014/main" id="{A571C9CF-B4A7-CBB1-D68B-8555ECFE20CB}"/>
              </a:ext>
            </a:extLst>
          </p:cNvPr>
          <p:cNvSpPr txBox="1"/>
          <p:nvPr/>
        </p:nvSpPr>
        <p:spPr>
          <a:xfrm>
            <a:off x="6350000" y="5638800"/>
            <a:ext cx="5334000" cy="711200"/>
          </a:xfrm>
          <a:prstGeom prst="rect">
            <a:avLst/>
          </a:prstGeom>
          <a:noFill/>
        </p:spPr>
        <p:txBody>
          <a:bodyPr vert="horz" wrap="square" lIns="0" tIns="0" rIns="0" bIns="0" rtlCol="0" anchor="t">
            <a:noAutofit/>
          </a:bodyPr>
          <a:lstStyle/>
          <a:p>
            <a:r>
              <a:rPr lang="en-US" sz="1300" i="1">
                <a:solidFill>
                  <a:srgbClr val="14213D"/>
                </a:solidFill>
                <a:latin typeface="Calibri" panose="020F0502020204030204" pitchFamily="34" charset="0"/>
              </a:rPr>
              <a:t>Linear (predictive) approaches work well in the simple zone; adaptive approaches work well in the complicated and complex zones; chaos is fundamentally risky.</a:t>
            </a:r>
          </a:p>
        </p:txBody>
      </p:sp>
      <p:sp>
        <p:nvSpPr>
          <p:cNvPr id="17" name="TextBox 16">
            <a:extLst>
              <a:ext uri="{FF2B5EF4-FFF2-40B4-BE49-F238E27FC236}">
                <a16:creationId xmlns:a16="http://schemas.microsoft.com/office/drawing/2014/main" id="{E557DF17-9BE2-9F1C-65A8-F48A0AC5DAC6}"/>
              </a:ext>
            </a:extLst>
          </p:cNvPr>
          <p:cNvSpPr txBox="1"/>
          <p:nvPr/>
        </p:nvSpPr>
        <p:spPr>
          <a:xfrm>
            <a:off x="6350000" y="1320800"/>
            <a:ext cx="5334000" cy="279400"/>
          </a:xfrm>
          <a:prstGeom prst="rect">
            <a:avLst/>
          </a:prstGeom>
          <a:noFill/>
        </p:spPr>
        <p:txBody>
          <a:bodyPr vert="horz" wrap="square" lIns="0" tIns="0" rIns="0" bIns="0" rtlCol="0" anchor="t">
            <a:noAutofit/>
          </a:bodyPr>
          <a:lstStyle/>
          <a:p>
            <a:r>
              <a:rPr lang="en-US" sz="1700" b="1">
                <a:solidFill>
                  <a:srgbClr val="14213D"/>
                </a:solidFill>
                <a:latin typeface="Calibri" panose="020F0502020204030204" pitchFamily="34" charset="0"/>
              </a:rPr>
              <a:t>Agile suitability filter</a:t>
            </a:r>
          </a:p>
        </p:txBody>
      </p:sp>
      <p:sp>
        <p:nvSpPr>
          <p:cNvPr id="18" name="Rectangle: Rounded Corners 17">
            <a:extLst>
              <a:ext uri="{FF2B5EF4-FFF2-40B4-BE49-F238E27FC236}">
                <a16:creationId xmlns:a16="http://schemas.microsoft.com/office/drawing/2014/main" id="{E7AE49EA-94A3-48D2-ECAA-8E796178273A}"/>
              </a:ext>
            </a:extLst>
          </p:cNvPr>
          <p:cNvSpPr/>
          <p:nvPr/>
        </p:nvSpPr>
        <p:spPr>
          <a:xfrm>
            <a:off x="6350000" y="1676400"/>
            <a:ext cx="5334000" cy="12192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513CD5C-6CC1-220C-DA55-F1673DFB30E7}"/>
              </a:ext>
            </a:extLst>
          </p:cNvPr>
          <p:cNvSpPr txBox="1"/>
          <p:nvPr/>
        </p:nvSpPr>
        <p:spPr>
          <a:xfrm>
            <a:off x="6527800" y="1854200"/>
            <a:ext cx="4978400" cy="863600"/>
          </a:xfrm>
          <a:prstGeom prst="rect">
            <a:avLst/>
          </a:prstGeom>
          <a:noFill/>
        </p:spPr>
        <p:txBody>
          <a:bodyPr vert="horz" wrap="square" lIns="0" tIns="0" rIns="0" bIns="0" rtlCol="0" anchor="t">
            <a:noAutofit/>
          </a:bodyPr>
          <a:lstStyle/>
          <a:p>
            <a:pPr>
              <a:spcAft>
                <a:spcPts val="600"/>
              </a:spcAft>
            </a:pPr>
            <a:r>
              <a:rPr lang="en-US" sz="1600" b="1">
                <a:solidFill>
                  <a:srgbClr val="6A4C93"/>
                </a:solidFill>
                <a:latin typeface="Calibri" panose="020F0502020204030204" pitchFamily="34" charset="0"/>
              </a:rPr>
              <a:t>Culture</a:t>
            </a:r>
          </a:p>
          <a:p>
            <a:r>
              <a:rPr lang="en-US" sz="1400">
                <a:solidFill>
                  <a:srgbClr val="1F2937"/>
                </a:solidFill>
                <a:latin typeface="Calibri" panose="020F0502020204030204" pitchFamily="34" charset="0"/>
              </a:rPr>
              <a:t>Buy-in to the approach, trust in the team, and decision-making power for the team.</a:t>
            </a:r>
          </a:p>
        </p:txBody>
      </p:sp>
      <p:sp>
        <p:nvSpPr>
          <p:cNvPr id="20" name="Rectangle: Rounded Corners 19">
            <a:extLst>
              <a:ext uri="{FF2B5EF4-FFF2-40B4-BE49-F238E27FC236}">
                <a16:creationId xmlns:a16="http://schemas.microsoft.com/office/drawing/2014/main" id="{D84C82A8-9F0B-6E6D-1636-B132453F2D3E}"/>
              </a:ext>
            </a:extLst>
          </p:cNvPr>
          <p:cNvSpPr/>
          <p:nvPr/>
        </p:nvSpPr>
        <p:spPr>
          <a:xfrm>
            <a:off x="6350000" y="3022600"/>
            <a:ext cx="5334000" cy="12192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3958F298-D01E-7D45-3580-AB6C0B0AC1CA}"/>
              </a:ext>
            </a:extLst>
          </p:cNvPr>
          <p:cNvSpPr txBox="1"/>
          <p:nvPr/>
        </p:nvSpPr>
        <p:spPr>
          <a:xfrm>
            <a:off x="6527800" y="3200400"/>
            <a:ext cx="4978400" cy="863600"/>
          </a:xfrm>
          <a:prstGeom prst="rect">
            <a:avLst/>
          </a:prstGeom>
          <a:noFill/>
        </p:spPr>
        <p:txBody>
          <a:bodyPr vert="horz" wrap="square" lIns="0" tIns="0" rIns="0" bIns="0" rtlCol="0" anchor="t">
            <a:noAutofit/>
          </a:bodyPr>
          <a:lstStyle/>
          <a:p>
            <a:pPr>
              <a:spcAft>
                <a:spcPts val="600"/>
              </a:spcAft>
            </a:pPr>
            <a:r>
              <a:rPr lang="en-US" sz="1600" b="1">
                <a:solidFill>
                  <a:srgbClr val="6A4C93"/>
                </a:solidFill>
                <a:latin typeface="Calibri" panose="020F0502020204030204" pitchFamily="34" charset="0"/>
              </a:rPr>
              <a:t>Team</a:t>
            </a:r>
          </a:p>
          <a:p>
            <a:r>
              <a:rPr lang="en-US" sz="1400">
                <a:solidFill>
                  <a:srgbClr val="1F2937"/>
                </a:solidFill>
                <a:latin typeface="Calibri" panose="020F0502020204030204" pitchFamily="34" charset="0"/>
              </a:rPr>
              <a:t>Team size, experience, and access to the customer or business.</a:t>
            </a:r>
          </a:p>
        </p:txBody>
      </p:sp>
      <p:sp>
        <p:nvSpPr>
          <p:cNvPr id="22" name="Rectangle: Rounded Corners 21">
            <a:extLst>
              <a:ext uri="{FF2B5EF4-FFF2-40B4-BE49-F238E27FC236}">
                <a16:creationId xmlns:a16="http://schemas.microsoft.com/office/drawing/2014/main" id="{02DE6097-69B8-8077-6F06-53E2B9C0F822}"/>
              </a:ext>
            </a:extLst>
          </p:cNvPr>
          <p:cNvSpPr/>
          <p:nvPr/>
        </p:nvSpPr>
        <p:spPr>
          <a:xfrm>
            <a:off x="6350000" y="4368800"/>
            <a:ext cx="5334000" cy="12192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71D61A4-7283-9F8A-5C0D-ABAB01098E5E}"/>
              </a:ext>
            </a:extLst>
          </p:cNvPr>
          <p:cNvSpPr txBox="1"/>
          <p:nvPr/>
        </p:nvSpPr>
        <p:spPr>
          <a:xfrm>
            <a:off x="6527800" y="4546600"/>
            <a:ext cx="4978400" cy="863600"/>
          </a:xfrm>
          <a:prstGeom prst="rect">
            <a:avLst/>
          </a:prstGeom>
          <a:noFill/>
        </p:spPr>
        <p:txBody>
          <a:bodyPr vert="horz" wrap="square" lIns="0" tIns="0" rIns="0" bIns="0" rtlCol="0" anchor="t">
            <a:noAutofit/>
          </a:bodyPr>
          <a:lstStyle/>
          <a:p>
            <a:pPr>
              <a:spcAft>
                <a:spcPts val="600"/>
              </a:spcAft>
            </a:pPr>
            <a:r>
              <a:rPr lang="en-US" sz="1600" b="1">
                <a:solidFill>
                  <a:srgbClr val="6A4C93"/>
                </a:solidFill>
                <a:latin typeface="Calibri" panose="020F0502020204030204" pitchFamily="34" charset="0"/>
              </a:rPr>
              <a:t>Project</a:t>
            </a:r>
          </a:p>
          <a:p>
            <a:r>
              <a:rPr lang="en-US" sz="1400">
                <a:solidFill>
                  <a:srgbClr val="1F2937"/>
                </a:solidFill>
                <a:latin typeface="Calibri" panose="020F0502020204030204" pitchFamily="34" charset="0"/>
              </a:rPr>
              <a:t>Likelihood of change, product criticality, and whether incremental delivery is possible.</a:t>
            </a:r>
          </a:p>
        </p:txBody>
      </p:sp>
      <p:sp>
        <p:nvSpPr>
          <p:cNvPr id="24" name="Footer">
            <a:extLst>
              <a:ext uri="{FF2B5EF4-FFF2-40B4-BE49-F238E27FC236}">
                <a16:creationId xmlns:a16="http://schemas.microsoft.com/office/drawing/2014/main" id="{38EDD0AF-DA18-4C24-06D9-F3E53BAF79F5}"/>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and Agile Alliance, Agile Practice Guide (2017), Sections 2–3 and Appendix X3; Ralph D. Stacey, Stacey complexity matrix</a:t>
            </a:r>
          </a:p>
        </p:txBody>
      </p:sp>
      <p:sp>
        <p:nvSpPr>
          <p:cNvPr id="25" name="SlideNum">
            <a:extLst>
              <a:ext uri="{FF2B5EF4-FFF2-40B4-BE49-F238E27FC236}">
                <a16:creationId xmlns:a16="http://schemas.microsoft.com/office/drawing/2014/main" id="{B1325882-D225-9E26-0DBA-E79F82C8B6B1}"/>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94</a:t>
            </a:r>
          </a:p>
        </p:txBody>
      </p:sp>
      <p:sp>
        <p:nvSpPr>
          <p:cNvPr id="26"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63260813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7F6D6E6-DC5E-92AC-C8BC-C15859A915F3}"/>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Suitability filter: a diagnostic radar</a:t>
            </a:r>
          </a:p>
        </p:txBody>
      </p:sp>
      <p:sp>
        <p:nvSpPr>
          <p:cNvPr id="3" name="Tag">
            <a:extLst>
              <a:ext uri="{FF2B5EF4-FFF2-40B4-BE49-F238E27FC236}">
                <a16:creationId xmlns:a16="http://schemas.microsoft.com/office/drawing/2014/main" id="{F0044DCF-ED83-DC47-22C6-632D03052B01}"/>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6A4C93"/>
                </a:solidFill>
                <a:latin typeface="Calibri" panose="020F0502020204030204" pitchFamily="34" charset="0"/>
              </a:rPr>
              <a:t>Agile essentials · Supports Process Task 1 (Assess project needs, complexity, and magnitude)</a:t>
            </a:r>
          </a:p>
        </p:txBody>
      </p:sp>
      <p:graphicFrame>
        <p:nvGraphicFramePr>
          <p:cNvPr id="4" name="SuitabilityRadar">
            <a:extLst>
              <a:ext uri="{FF2B5EF4-FFF2-40B4-BE49-F238E27FC236}">
                <a16:creationId xmlns:a16="http://schemas.microsoft.com/office/drawing/2014/main" id="{55E29C4A-2799-61F7-4961-2DD93425E941}"/>
              </a:ext>
            </a:extLst>
          </p:cNvPr>
          <p:cNvGraphicFramePr/>
          <p:nvPr>
            <p:extLst>
              <p:ext uri="{D42A27DB-BD31-4B8C-83A1-F6EECF244321}">
                <p14:modId xmlns:p14="http://schemas.microsoft.com/office/powerpoint/2010/main" val="728395280"/>
              </p:ext>
            </p:extLst>
          </p:nvPr>
        </p:nvGraphicFramePr>
        <p:xfrm>
          <a:off x="508000" y="1320800"/>
          <a:ext cx="6350000" cy="497840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Rounded Corners 4">
            <a:extLst>
              <a:ext uri="{FF2B5EF4-FFF2-40B4-BE49-F238E27FC236}">
                <a16:creationId xmlns:a16="http://schemas.microsoft.com/office/drawing/2014/main" id="{25E701CA-6B8C-9457-6254-F8830D13D725}"/>
              </a:ext>
            </a:extLst>
          </p:cNvPr>
          <p:cNvSpPr/>
          <p:nvPr/>
        </p:nvSpPr>
        <p:spPr>
          <a:xfrm>
            <a:off x="7239000" y="1320800"/>
            <a:ext cx="4445000" cy="9144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9595F64-3F80-6726-D336-4698E5D161DB}"/>
              </a:ext>
            </a:extLst>
          </p:cNvPr>
          <p:cNvSpPr txBox="1"/>
          <p:nvPr/>
        </p:nvSpPr>
        <p:spPr>
          <a:xfrm>
            <a:off x="7366000" y="1447800"/>
            <a:ext cx="4191000" cy="660400"/>
          </a:xfrm>
          <a:prstGeom prst="rect">
            <a:avLst/>
          </a:prstGeom>
          <a:noFill/>
        </p:spPr>
        <p:txBody>
          <a:bodyPr vert="horz" wrap="square" lIns="0" tIns="0" rIns="0" bIns="0" rtlCol="0" anchor="t">
            <a:noAutofit/>
          </a:bodyPr>
          <a:lstStyle/>
          <a:p>
            <a:pPr>
              <a:spcAft>
                <a:spcPts val="600"/>
              </a:spcAft>
            </a:pPr>
            <a:r>
              <a:rPr lang="en-US" sz="1500" b="1">
                <a:solidFill>
                  <a:srgbClr val="A84A2E"/>
                </a:solidFill>
                <a:latin typeface="Calibri" panose="020F0502020204030204" pitchFamily="34" charset="0"/>
              </a:rPr>
              <a:t>Culture</a:t>
            </a:r>
          </a:p>
          <a:p>
            <a:r>
              <a:rPr lang="en-US" sz="1300">
                <a:solidFill>
                  <a:srgbClr val="1F2937"/>
                </a:solidFill>
                <a:latin typeface="Calibri" panose="020F0502020204030204" pitchFamily="34" charset="0"/>
              </a:rPr>
              <a:t>Buy-in, trust, decision making</a:t>
            </a:r>
          </a:p>
        </p:txBody>
      </p:sp>
      <p:sp>
        <p:nvSpPr>
          <p:cNvPr id="7" name="Rectangle: Rounded Corners 6">
            <a:extLst>
              <a:ext uri="{FF2B5EF4-FFF2-40B4-BE49-F238E27FC236}">
                <a16:creationId xmlns:a16="http://schemas.microsoft.com/office/drawing/2014/main" id="{30209BA5-59B5-64BB-58F9-92E051BBF9C1}"/>
              </a:ext>
            </a:extLst>
          </p:cNvPr>
          <p:cNvSpPr/>
          <p:nvPr/>
        </p:nvSpPr>
        <p:spPr>
          <a:xfrm>
            <a:off x="7239000" y="2362200"/>
            <a:ext cx="4445000" cy="9144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7A70F27-9280-A8BE-2EB0-9DE904B7C684}"/>
              </a:ext>
            </a:extLst>
          </p:cNvPr>
          <p:cNvSpPr txBox="1"/>
          <p:nvPr/>
        </p:nvSpPr>
        <p:spPr>
          <a:xfrm>
            <a:off x="7366000" y="2489200"/>
            <a:ext cx="4191000" cy="660400"/>
          </a:xfrm>
          <a:prstGeom prst="rect">
            <a:avLst/>
          </a:prstGeom>
          <a:noFill/>
        </p:spPr>
        <p:txBody>
          <a:bodyPr vert="horz" wrap="square" lIns="0" tIns="0" rIns="0" bIns="0" rtlCol="0" anchor="t">
            <a:noAutofit/>
          </a:bodyPr>
          <a:lstStyle/>
          <a:p>
            <a:pPr>
              <a:spcAft>
                <a:spcPts val="600"/>
              </a:spcAft>
            </a:pPr>
            <a:r>
              <a:rPr lang="en-US" sz="1500" b="1">
                <a:solidFill>
                  <a:srgbClr val="6A4C93"/>
                </a:solidFill>
                <a:latin typeface="Calibri" panose="020F0502020204030204" pitchFamily="34" charset="0"/>
              </a:rPr>
              <a:t>Team</a:t>
            </a:r>
          </a:p>
          <a:p>
            <a:r>
              <a:rPr lang="en-US" sz="1300">
                <a:solidFill>
                  <a:srgbClr val="1F2937"/>
                </a:solidFill>
                <a:latin typeface="Calibri" panose="020F0502020204030204" pitchFamily="34" charset="0"/>
              </a:rPr>
              <a:t>Team size, experience, access to the customer</a:t>
            </a:r>
          </a:p>
        </p:txBody>
      </p:sp>
      <p:sp>
        <p:nvSpPr>
          <p:cNvPr id="9" name="Rectangle: Rounded Corners 8">
            <a:extLst>
              <a:ext uri="{FF2B5EF4-FFF2-40B4-BE49-F238E27FC236}">
                <a16:creationId xmlns:a16="http://schemas.microsoft.com/office/drawing/2014/main" id="{4194CD8E-A1CD-AE72-7C39-05F24A46A390}"/>
              </a:ext>
            </a:extLst>
          </p:cNvPr>
          <p:cNvSpPr/>
          <p:nvPr/>
        </p:nvSpPr>
        <p:spPr>
          <a:xfrm>
            <a:off x="7239000" y="3403600"/>
            <a:ext cx="4445000" cy="914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48201AB-E4FC-094D-65B0-ED9C0710BBA8}"/>
              </a:ext>
            </a:extLst>
          </p:cNvPr>
          <p:cNvSpPr txBox="1"/>
          <p:nvPr/>
        </p:nvSpPr>
        <p:spPr>
          <a:xfrm>
            <a:off x="7366000" y="3530600"/>
            <a:ext cx="4191000" cy="6604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Project</a:t>
            </a:r>
          </a:p>
          <a:p>
            <a:r>
              <a:rPr lang="en-US" sz="1300">
                <a:solidFill>
                  <a:srgbClr val="1F2937"/>
                </a:solidFill>
                <a:latin typeface="Calibri" panose="020F0502020204030204" pitchFamily="34" charset="0"/>
              </a:rPr>
              <a:t>Likelihood of change, criticality, incremental delivery</a:t>
            </a:r>
          </a:p>
        </p:txBody>
      </p:sp>
      <p:sp>
        <p:nvSpPr>
          <p:cNvPr id="11" name="Rectangle: Rounded Corners 10">
            <a:extLst>
              <a:ext uri="{FF2B5EF4-FFF2-40B4-BE49-F238E27FC236}">
                <a16:creationId xmlns:a16="http://schemas.microsoft.com/office/drawing/2014/main" id="{DA39989C-4631-91E1-2257-F809DBC2AFDB}"/>
              </a:ext>
            </a:extLst>
          </p:cNvPr>
          <p:cNvSpPr/>
          <p:nvPr/>
        </p:nvSpPr>
        <p:spPr>
          <a:xfrm>
            <a:off x="7239000" y="4495800"/>
            <a:ext cx="4445000" cy="17272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25AEBC9-93A5-51E3-1985-3BF83DF4A7AE}"/>
              </a:ext>
            </a:extLst>
          </p:cNvPr>
          <p:cNvSpPr txBox="1"/>
          <p:nvPr/>
        </p:nvSpPr>
        <p:spPr>
          <a:xfrm>
            <a:off x="7391400" y="4648200"/>
            <a:ext cx="4140200" cy="1422400"/>
          </a:xfrm>
          <a:prstGeom prst="rect">
            <a:avLst/>
          </a:prstGeom>
          <a:noFill/>
        </p:spPr>
        <p:txBody>
          <a:bodyPr vert="horz" wrap="square" lIns="0" tIns="0" rIns="0" bIns="0" rtlCol="0" anchor="t">
            <a:noAutofit/>
          </a:bodyPr>
          <a:lstStyle/>
          <a:p>
            <a:pPr>
              <a:spcAft>
                <a:spcPts val="600"/>
              </a:spcAft>
            </a:pPr>
            <a:r>
              <a:rPr lang="en-US" sz="1500" b="1">
                <a:solidFill>
                  <a:srgbClr val="14213D"/>
                </a:solidFill>
                <a:latin typeface="Calibri" panose="020F0502020204030204" pitchFamily="34" charset="0"/>
              </a:rPr>
              <a:t>Reading the radar</a:t>
            </a:r>
          </a:p>
          <a:p>
            <a:r>
              <a:rPr lang="en-US" sz="1300">
                <a:solidFill>
                  <a:srgbClr val="1F2937"/>
                </a:solidFill>
                <a:latin typeface="Calibri" panose="020F0502020204030204" pitchFamily="34" charset="0"/>
              </a:rPr>
              <a:t>Score each factor 0–10 from a team survey and plot it. Scores near the center favor agile, a middle band suggests hybrid, and scores at the outer edge favor predictive.</a:t>
            </a:r>
          </a:p>
        </p:txBody>
      </p:sp>
      <p:sp>
        <p:nvSpPr>
          <p:cNvPr id="13" name="Footer">
            <a:extLst>
              <a:ext uri="{FF2B5EF4-FFF2-40B4-BE49-F238E27FC236}">
                <a16:creationId xmlns:a16="http://schemas.microsoft.com/office/drawing/2014/main" id="{C86F775A-4052-B946-BD89-1CE29CA82A5A}"/>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and Agile Alliance, Agile Practice Guide (2017), Appendix X3 (Agile Suitability Filter Tools)</a:t>
            </a:r>
          </a:p>
        </p:txBody>
      </p:sp>
      <p:sp>
        <p:nvSpPr>
          <p:cNvPr id="14" name="SlideNum">
            <a:extLst>
              <a:ext uri="{FF2B5EF4-FFF2-40B4-BE49-F238E27FC236}">
                <a16:creationId xmlns:a16="http://schemas.microsoft.com/office/drawing/2014/main" id="{66A2E20A-26A7-A3E8-7A94-37E299BC1960}"/>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95</a:t>
            </a:r>
          </a:p>
        </p:txBody>
      </p:sp>
      <p:sp>
        <p:nvSpPr>
          <p:cNvPr id="15"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30991386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B2D9CD8-BD08-2A37-6C60-0C4420217160}"/>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Servant leadership and agile teams</a:t>
            </a:r>
          </a:p>
        </p:txBody>
      </p:sp>
      <p:sp>
        <p:nvSpPr>
          <p:cNvPr id="3" name="Tag">
            <a:extLst>
              <a:ext uri="{FF2B5EF4-FFF2-40B4-BE49-F238E27FC236}">
                <a16:creationId xmlns:a16="http://schemas.microsoft.com/office/drawing/2014/main" id="{7B29DC5C-4BB3-56B7-94BE-F92FEB8D0780}"/>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6A4C93"/>
                </a:solidFill>
                <a:latin typeface="Calibri" panose="020F0502020204030204" pitchFamily="34" charset="0"/>
              </a:rPr>
              <a:t>Agile essentials · Supports People Task 3 (Lead the project team: empower the team; represent its voice)</a:t>
            </a:r>
          </a:p>
        </p:txBody>
      </p:sp>
      <p:sp>
        <p:nvSpPr>
          <p:cNvPr id="4" name="Rectangle: Rounded Corners 3">
            <a:extLst>
              <a:ext uri="{FF2B5EF4-FFF2-40B4-BE49-F238E27FC236}">
                <a16:creationId xmlns:a16="http://schemas.microsoft.com/office/drawing/2014/main" id="{854AF60C-C75C-5032-B8FF-C17B80766A28}"/>
              </a:ext>
            </a:extLst>
          </p:cNvPr>
          <p:cNvSpPr/>
          <p:nvPr/>
        </p:nvSpPr>
        <p:spPr>
          <a:xfrm>
            <a:off x="508000" y="1371600"/>
            <a:ext cx="4191000" cy="4851400"/>
          </a:xfrm>
          <a:prstGeom prst="roundRect">
            <a:avLst>
              <a:gd name="adj" fmla="val 8000"/>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0B5BC1C-E628-0093-B87B-C3F79B8A39DA}"/>
              </a:ext>
            </a:extLst>
          </p:cNvPr>
          <p:cNvSpPr txBox="1"/>
          <p:nvPr/>
        </p:nvSpPr>
        <p:spPr>
          <a:xfrm>
            <a:off x="736600" y="1574800"/>
            <a:ext cx="3733800" cy="4470400"/>
          </a:xfrm>
          <a:prstGeom prst="rect">
            <a:avLst/>
          </a:prstGeom>
          <a:noFill/>
        </p:spPr>
        <p:txBody>
          <a:bodyPr vert="horz" wrap="square" lIns="0" tIns="0" rIns="0" bIns="0" rtlCol="0" anchor="t">
            <a:noAutofit/>
          </a:bodyPr>
          <a:lstStyle/>
          <a:p>
            <a:pPr>
              <a:spcAft>
                <a:spcPts val="600"/>
              </a:spcAft>
            </a:pPr>
            <a:r>
              <a:rPr lang="en-US" sz="1900" b="1">
                <a:solidFill>
                  <a:srgbClr val="FFFFFF"/>
                </a:solidFill>
                <a:latin typeface="Calibri" panose="020F0502020204030204" pitchFamily="34" charset="0"/>
              </a:rPr>
              <a:t>Servant leadership</a:t>
            </a:r>
          </a:p>
          <a:p>
            <a:pPr>
              <a:spcAft>
                <a:spcPts val="800"/>
              </a:spcAft>
            </a:pPr>
            <a:r>
              <a:rPr lang="en-US" sz="1500">
                <a:solidFill>
                  <a:srgbClr val="E8E1F2"/>
                </a:solidFill>
                <a:latin typeface="Calibri" panose="020F0502020204030204" pitchFamily="34" charset="0"/>
              </a:rPr>
              <a:t>The leader serves the team so it can deliver. The servant leader:</a:t>
            </a:r>
          </a:p>
          <a:p>
            <a:pPr marL="203200" indent="-203200">
              <a:spcAft>
                <a:spcPts val="400"/>
              </a:spcAft>
              <a:buClr>
                <a:srgbClr val="B9A3D6"/>
              </a:buClr>
              <a:buFont typeface="+mj-lt"/>
              <a:buChar char="•"/>
            </a:pPr>
            <a:r>
              <a:rPr lang="en-US" sz="1500">
                <a:solidFill>
                  <a:srgbClr val="E8E1F2"/>
                </a:solidFill>
                <a:latin typeface="Calibri" panose="020F0502020204030204" pitchFamily="34" charset="0"/>
              </a:rPr>
              <a:t>Facilitates instead of directing</a:t>
            </a:r>
          </a:p>
          <a:p>
            <a:pPr marL="203200" indent="-203200">
              <a:spcAft>
                <a:spcPts val="400"/>
              </a:spcAft>
              <a:buClr>
                <a:srgbClr val="B9A3D6"/>
              </a:buClr>
              <a:buFont typeface="+mj-lt"/>
              <a:buChar char="•"/>
            </a:pPr>
            <a:r>
              <a:rPr lang="en-US" sz="1500">
                <a:solidFill>
                  <a:srgbClr val="E8E1F2"/>
                </a:solidFill>
                <a:latin typeface="Calibri" panose="020F0502020204030204" pitchFamily="34" charset="0"/>
              </a:rPr>
              <a:t>Removes organizational impediments</a:t>
            </a:r>
          </a:p>
          <a:p>
            <a:pPr marL="203200" indent="-203200">
              <a:spcAft>
                <a:spcPts val="400"/>
              </a:spcAft>
              <a:buClr>
                <a:srgbClr val="B9A3D6"/>
              </a:buClr>
              <a:buFont typeface="+mj-lt"/>
              <a:buChar char="•"/>
            </a:pPr>
            <a:r>
              <a:rPr lang="en-US" sz="1500">
                <a:solidFill>
                  <a:srgbClr val="E8E1F2"/>
                </a:solidFill>
                <a:latin typeface="Calibri" panose="020F0502020204030204" pitchFamily="34" charset="0"/>
              </a:rPr>
              <a:t>Paves the way for others to contribute</a:t>
            </a:r>
          </a:p>
          <a:p>
            <a:pPr marL="203200" indent="-203200">
              <a:spcAft>
                <a:spcPts val="400"/>
              </a:spcAft>
              <a:buClr>
                <a:srgbClr val="B9A3D6"/>
              </a:buClr>
              <a:buFont typeface="+mj-lt"/>
              <a:buChar char="•"/>
            </a:pPr>
            <a:r>
              <a:rPr lang="en-US" sz="1500">
                <a:solidFill>
                  <a:srgbClr val="E8E1F2"/>
                </a:solidFill>
                <a:latin typeface="Calibri" panose="020F0502020204030204" pitchFamily="34" charset="0"/>
              </a:rPr>
              <a:t>Educates stakeholders about agile</a:t>
            </a:r>
          </a:p>
          <a:p>
            <a:pPr marL="203200" indent="-203200">
              <a:spcAft>
                <a:spcPts val="400"/>
              </a:spcAft>
              <a:buClr>
                <a:srgbClr val="B9A3D6"/>
              </a:buClr>
              <a:buFont typeface="+mj-lt"/>
              <a:buChar char="•"/>
            </a:pPr>
            <a:r>
              <a:rPr lang="en-US" sz="1500">
                <a:solidFill>
                  <a:srgbClr val="E8E1F2"/>
                </a:solidFill>
                <a:latin typeface="Calibri" panose="020F0502020204030204" pitchFamily="34" charset="0"/>
              </a:rPr>
              <a:t>Grows the team’s capability</a:t>
            </a:r>
          </a:p>
          <a:p>
            <a:pPr>
              <a:spcBef>
                <a:spcPts val="1400"/>
              </a:spcBef>
              <a:spcAft>
                <a:spcPts val="400"/>
              </a:spcAft>
              <a:buClr>
                <a:srgbClr val="B9A3D6"/>
              </a:buClr>
            </a:pPr>
            <a:r>
              <a:rPr lang="en-US" sz="1500" i="1">
                <a:solidFill>
                  <a:srgbClr val="FFFFFF"/>
                </a:solidFill>
                <a:latin typeface="Calibri" panose="020F0502020204030204" pitchFamily="34" charset="0"/>
              </a:rPr>
              <a:t>Exam cue: when the team is blocked, the servant leader removes the impediment rather than assigning the work.</a:t>
            </a:r>
          </a:p>
        </p:txBody>
      </p:sp>
      <p:sp>
        <p:nvSpPr>
          <p:cNvPr id="6" name="Rectangle: Rounded Corners 5">
            <a:extLst>
              <a:ext uri="{FF2B5EF4-FFF2-40B4-BE49-F238E27FC236}">
                <a16:creationId xmlns:a16="http://schemas.microsoft.com/office/drawing/2014/main" id="{1A6BB96F-C3DC-F361-363A-D746784A96BC}"/>
              </a:ext>
            </a:extLst>
          </p:cNvPr>
          <p:cNvSpPr/>
          <p:nvPr/>
        </p:nvSpPr>
        <p:spPr>
          <a:xfrm>
            <a:off x="4953000" y="1371600"/>
            <a:ext cx="6731000" cy="1117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9D1FCD2-B348-6C74-9380-597B3384D41F}"/>
              </a:ext>
            </a:extLst>
          </p:cNvPr>
          <p:cNvSpPr txBox="1"/>
          <p:nvPr/>
        </p:nvSpPr>
        <p:spPr>
          <a:xfrm>
            <a:off x="5105400" y="1524000"/>
            <a:ext cx="6426200" cy="812800"/>
          </a:xfrm>
          <a:prstGeom prst="rect">
            <a:avLst/>
          </a:prstGeom>
          <a:noFill/>
        </p:spPr>
        <p:txBody>
          <a:bodyPr vert="horz" wrap="square" lIns="0" tIns="0" rIns="0" bIns="0" rtlCol="0" anchor="t">
            <a:noAutofit/>
          </a:bodyPr>
          <a:lstStyle/>
          <a:p>
            <a:pPr>
              <a:spcAft>
                <a:spcPts val="600"/>
              </a:spcAft>
            </a:pPr>
            <a:r>
              <a:rPr lang="en-US" sz="1600" b="1">
                <a:solidFill>
                  <a:srgbClr val="14213D"/>
                </a:solidFill>
                <a:latin typeface="Calibri" panose="020F0502020204030204" pitchFamily="34" charset="0"/>
              </a:rPr>
              <a:t>Cross-functional team members</a:t>
            </a:r>
          </a:p>
          <a:p>
            <a:r>
              <a:rPr lang="en-US" sz="1400">
                <a:solidFill>
                  <a:srgbClr val="1F2937"/>
                </a:solidFill>
                <a:latin typeface="Calibri" panose="020F0502020204030204" pitchFamily="34" charset="0"/>
              </a:rPr>
              <a:t>Everyone needed to produce a working result, dedicated to the team.</a:t>
            </a:r>
          </a:p>
        </p:txBody>
      </p:sp>
      <p:sp>
        <p:nvSpPr>
          <p:cNvPr id="8" name="Rectangle: Rounded Corners 7">
            <a:extLst>
              <a:ext uri="{FF2B5EF4-FFF2-40B4-BE49-F238E27FC236}">
                <a16:creationId xmlns:a16="http://schemas.microsoft.com/office/drawing/2014/main" id="{B6BB010B-BE1B-D55D-3CAB-B59E2FD7E9F7}"/>
              </a:ext>
            </a:extLst>
          </p:cNvPr>
          <p:cNvSpPr/>
          <p:nvPr/>
        </p:nvSpPr>
        <p:spPr>
          <a:xfrm>
            <a:off x="4953000" y="2616200"/>
            <a:ext cx="6731000" cy="1117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CD1CA9D-87B0-AC61-C05D-06DECB2BA330}"/>
              </a:ext>
            </a:extLst>
          </p:cNvPr>
          <p:cNvSpPr txBox="1"/>
          <p:nvPr/>
        </p:nvSpPr>
        <p:spPr>
          <a:xfrm>
            <a:off x="5105400" y="2768600"/>
            <a:ext cx="6426200" cy="812800"/>
          </a:xfrm>
          <a:prstGeom prst="rect">
            <a:avLst/>
          </a:prstGeom>
          <a:noFill/>
        </p:spPr>
        <p:txBody>
          <a:bodyPr vert="horz" wrap="square" lIns="0" tIns="0" rIns="0" bIns="0" rtlCol="0" anchor="t">
            <a:noAutofit/>
          </a:bodyPr>
          <a:lstStyle/>
          <a:p>
            <a:pPr>
              <a:spcAft>
                <a:spcPts val="600"/>
              </a:spcAft>
            </a:pPr>
            <a:r>
              <a:rPr lang="en-US" sz="1600" b="1">
                <a:solidFill>
                  <a:srgbClr val="14213D"/>
                </a:solidFill>
                <a:latin typeface="Calibri" panose="020F0502020204030204" pitchFamily="34" charset="0"/>
              </a:rPr>
              <a:t>Product owner</a:t>
            </a:r>
          </a:p>
          <a:p>
            <a:r>
              <a:rPr lang="en-US" sz="1400">
                <a:solidFill>
                  <a:srgbClr val="1F2937"/>
                </a:solidFill>
                <a:latin typeface="Calibri" panose="020F0502020204030204" pitchFamily="34" charset="0"/>
              </a:rPr>
              <a:t>Owns the backlog and orders it by value; works with the team daily.</a:t>
            </a:r>
          </a:p>
        </p:txBody>
      </p:sp>
      <p:sp>
        <p:nvSpPr>
          <p:cNvPr id="10" name="Rectangle: Rounded Corners 9">
            <a:extLst>
              <a:ext uri="{FF2B5EF4-FFF2-40B4-BE49-F238E27FC236}">
                <a16:creationId xmlns:a16="http://schemas.microsoft.com/office/drawing/2014/main" id="{48568228-9A57-9056-CC46-8CED4BF11F0A}"/>
              </a:ext>
            </a:extLst>
          </p:cNvPr>
          <p:cNvSpPr/>
          <p:nvPr/>
        </p:nvSpPr>
        <p:spPr>
          <a:xfrm>
            <a:off x="4953000" y="3860800"/>
            <a:ext cx="6731000" cy="1117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693A64F-1236-72EF-150B-022DFA83B44A}"/>
              </a:ext>
            </a:extLst>
          </p:cNvPr>
          <p:cNvSpPr txBox="1"/>
          <p:nvPr/>
        </p:nvSpPr>
        <p:spPr>
          <a:xfrm>
            <a:off x="5105400" y="4013200"/>
            <a:ext cx="6426200" cy="812800"/>
          </a:xfrm>
          <a:prstGeom prst="rect">
            <a:avLst/>
          </a:prstGeom>
          <a:noFill/>
        </p:spPr>
        <p:txBody>
          <a:bodyPr vert="horz" wrap="square" lIns="0" tIns="0" rIns="0" bIns="0" rtlCol="0" anchor="t">
            <a:noAutofit/>
          </a:bodyPr>
          <a:lstStyle/>
          <a:p>
            <a:pPr>
              <a:spcAft>
                <a:spcPts val="600"/>
              </a:spcAft>
            </a:pPr>
            <a:r>
              <a:rPr lang="en-US" sz="1600" b="1">
                <a:solidFill>
                  <a:srgbClr val="14213D"/>
                </a:solidFill>
                <a:latin typeface="Calibri" panose="020F0502020204030204" pitchFamily="34" charset="0"/>
              </a:rPr>
              <a:t>Team facilitator</a:t>
            </a:r>
          </a:p>
          <a:p>
            <a:r>
              <a:rPr lang="en-US" sz="1400">
                <a:solidFill>
                  <a:srgbClr val="1F2937"/>
                </a:solidFill>
                <a:latin typeface="Calibri" panose="020F0502020204030204" pitchFamily="34" charset="0"/>
              </a:rPr>
              <a:t>The servant leader; also called scrum master, project team lead, or coach.</a:t>
            </a:r>
          </a:p>
        </p:txBody>
      </p:sp>
      <p:sp>
        <p:nvSpPr>
          <p:cNvPr id="12" name="Rectangle: Rounded Corners 11">
            <a:extLst>
              <a:ext uri="{FF2B5EF4-FFF2-40B4-BE49-F238E27FC236}">
                <a16:creationId xmlns:a16="http://schemas.microsoft.com/office/drawing/2014/main" id="{0511A585-466C-DBA0-9FB0-3043B0FC83E3}"/>
              </a:ext>
            </a:extLst>
          </p:cNvPr>
          <p:cNvSpPr/>
          <p:nvPr/>
        </p:nvSpPr>
        <p:spPr>
          <a:xfrm>
            <a:off x="4953000" y="5105400"/>
            <a:ext cx="6731000" cy="11176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5DB4EEE-ABCE-D68C-BCCB-161E7F1E8322}"/>
              </a:ext>
            </a:extLst>
          </p:cNvPr>
          <p:cNvSpPr txBox="1"/>
          <p:nvPr/>
        </p:nvSpPr>
        <p:spPr>
          <a:xfrm>
            <a:off x="5105400" y="5257800"/>
            <a:ext cx="6426200" cy="812800"/>
          </a:xfrm>
          <a:prstGeom prst="rect">
            <a:avLst/>
          </a:prstGeom>
          <a:noFill/>
        </p:spPr>
        <p:txBody>
          <a:bodyPr vert="horz" wrap="square" lIns="0" tIns="0" rIns="0" bIns="0" rtlCol="0" anchor="t">
            <a:noAutofit/>
          </a:bodyPr>
          <a:lstStyle/>
          <a:p>
            <a:pPr>
              <a:spcAft>
                <a:spcPts val="600"/>
              </a:spcAft>
            </a:pPr>
            <a:r>
              <a:rPr lang="en-US" sz="1600" b="1">
                <a:solidFill>
                  <a:srgbClr val="6A4C93"/>
                </a:solidFill>
                <a:latin typeface="Calibri" panose="020F0502020204030204" pitchFamily="34" charset="0"/>
              </a:rPr>
              <a:t>Generalizing specialists (‘T-shaped’)</a:t>
            </a:r>
          </a:p>
          <a:p>
            <a:r>
              <a:rPr lang="en-US" sz="1400">
                <a:solidFill>
                  <a:srgbClr val="1F2937"/>
                </a:solidFill>
                <a:latin typeface="Calibri" panose="020F0502020204030204" pitchFamily="34" charset="0"/>
              </a:rPr>
              <a:t>Deep expertise in one area plus broad skills across others, which reduces bottlenecks.</a:t>
            </a:r>
          </a:p>
        </p:txBody>
      </p:sp>
      <p:sp>
        <p:nvSpPr>
          <p:cNvPr id="14" name="Footer">
            <a:extLst>
              <a:ext uri="{FF2B5EF4-FFF2-40B4-BE49-F238E27FC236}">
                <a16:creationId xmlns:a16="http://schemas.microsoft.com/office/drawing/2014/main" id="{4F1B5295-1346-B568-216C-24FA52BB8297}"/>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and Agile Alliance, Agile Practice Guide (2017), Section 4 (Implementing Agile: Creating an Agile Environment)</a:t>
            </a:r>
          </a:p>
        </p:txBody>
      </p:sp>
      <p:sp>
        <p:nvSpPr>
          <p:cNvPr id="15" name="SlideNum">
            <a:extLst>
              <a:ext uri="{FF2B5EF4-FFF2-40B4-BE49-F238E27FC236}">
                <a16:creationId xmlns:a16="http://schemas.microsoft.com/office/drawing/2014/main" id="{E57E5C18-26C0-2636-88D2-2993BB58C353}"/>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96</a:t>
            </a:r>
          </a:p>
        </p:txBody>
      </p:sp>
      <p:sp>
        <p:nvSpPr>
          <p:cNvPr id="16"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77276250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8F35258-42CA-8A22-1D7B-3F684594B18B}"/>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Adaptive development: from vision to product</a:t>
            </a:r>
          </a:p>
        </p:txBody>
      </p:sp>
      <p:sp>
        <p:nvSpPr>
          <p:cNvPr id="3" name="Tag">
            <a:extLst>
              <a:ext uri="{FF2B5EF4-FFF2-40B4-BE49-F238E27FC236}">
                <a16:creationId xmlns:a16="http://schemas.microsoft.com/office/drawing/2014/main" id="{3F15BADF-1EA7-BAB9-93FC-815D67D8B71B}"/>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6A4C93"/>
                </a:solidFill>
                <a:latin typeface="Calibri" panose="020F0502020204030204" pitchFamily="34" charset="0"/>
              </a:rPr>
              <a:t>Agile essentials · Supports Process Task 3 (Assess opportunities to deliver value incrementally)</a:t>
            </a:r>
          </a:p>
        </p:txBody>
      </p:sp>
      <p:sp>
        <p:nvSpPr>
          <p:cNvPr id="4" name="TextBox 3">
            <a:extLst>
              <a:ext uri="{FF2B5EF4-FFF2-40B4-BE49-F238E27FC236}">
                <a16:creationId xmlns:a16="http://schemas.microsoft.com/office/drawing/2014/main" id="{916CA91F-C627-6841-F010-A5EB046D96AC}"/>
              </a:ext>
            </a:extLst>
          </p:cNvPr>
          <p:cNvSpPr txBox="1"/>
          <p:nvPr/>
        </p:nvSpPr>
        <p:spPr>
          <a:xfrm>
            <a:off x="508000" y="1422400"/>
            <a:ext cx="1524000" cy="254000"/>
          </a:xfrm>
          <a:prstGeom prst="rect">
            <a:avLst/>
          </a:prstGeom>
          <a:noFill/>
        </p:spPr>
        <p:txBody>
          <a:bodyPr vert="horz" wrap="square" lIns="0" tIns="0" rIns="0" bIns="0" rtlCol="0" anchor="t">
            <a:noAutofit/>
          </a:bodyPr>
          <a:lstStyle/>
          <a:p>
            <a:r>
              <a:rPr lang="en-US" sz="1300" b="1">
                <a:solidFill>
                  <a:srgbClr val="14213D"/>
                </a:solidFill>
                <a:latin typeface="Calibri" panose="020F0502020204030204" pitchFamily="34" charset="0"/>
              </a:rPr>
              <a:t>Initial vision</a:t>
            </a:r>
          </a:p>
        </p:txBody>
      </p:sp>
      <p:cxnSp>
        <p:nvCxnSpPr>
          <p:cNvPr id="5" name="Straight Connector 4">
            <a:extLst>
              <a:ext uri="{FF2B5EF4-FFF2-40B4-BE49-F238E27FC236}">
                <a16:creationId xmlns:a16="http://schemas.microsoft.com/office/drawing/2014/main" id="{2F27CD31-0851-8830-6211-8FE96DBCCD6F}"/>
              </a:ext>
            </a:extLst>
          </p:cNvPr>
          <p:cNvCxnSpPr/>
          <p:nvPr/>
        </p:nvCxnSpPr>
        <p:spPr>
          <a:xfrm>
            <a:off x="1143000" y="1701800"/>
            <a:ext cx="254000" cy="1295400"/>
          </a:xfrm>
          <a:prstGeom prst="line">
            <a:avLst/>
          </a:prstGeom>
          <a:ln w="25400">
            <a:solidFill>
              <a:srgbClr val="6A4C93"/>
            </a:solidFill>
            <a:tailEnd type="triangle"/>
          </a:ln>
        </p:spPr>
        <p:style>
          <a:lnRef idx="2">
            <a:schemeClr val="accent1"/>
          </a:lnRef>
          <a:fillRef idx="0">
            <a:schemeClr val="accent1"/>
          </a:fillRef>
          <a:effectRef idx="1">
            <a:schemeClr val="accent1"/>
          </a:effectRef>
          <a:fontRef idx="minor">
            <a:schemeClr val="tx1"/>
          </a:fontRef>
        </p:style>
      </p:cxnSp>
      <p:sp>
        <p:nvSpPr>
          <p:cNvPr id="6" name="Rectangle: Rounded Corners 5">
            <a:extLst>
              <a:ext uri="{FF2B5EF4-FFF2-40B4-BE49-F238E27FC236}">
                <a16:creationId xmlns:a16="http://schemas.microsoft.com/office/drawing/2014/main" id="{708B2EC8-545F-0054-90D4-4F97B206D577}"/>
              </a:ext>
            </a:extLst>
          </p:cNvPr>
          <p:cNvSpPr/>
          <p:nvPr/>
        </p:nvSpPr>
        <p:spPr>
          <a:xfrm>
            <a:off x="508000" y="3048000"/>
            <a:ext cx="1778000" cy="660400"/>
          </a:xfrm>
          <a:prstGeom prst="roundRect">
            <a:avLst>
              <a:gd name="adj" fmla="val 8000"/>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400" b="1">
                <a:solidFill>
                  <a:srgbClr val="FFFFFF"/>
                </a:solidFill>
                <a:latin typeface="Calibri" panose="020F0502020204030204" pitchFamily="34" charset="0"/>
              </a:rPr>
              <a:t>Product backlog</a:t>
            </a:r>
          </a:p>
        </p:txBody>
      </p:sp>
      <p:sp>
        <p:nvSpPr>
          <p:cNvPr id="7" name="Rectangle: Rounded Corners 6">
            <a:extLst>
              <a:ext uri="{FF2B5EF4-FFF2-40B4-BE49-F238E27FC236}">
                <a16:creationId xmlns:a16="http://schemas.microsoft.com/office/drawing/2014/main" id="{37A20FC1-0E56-A20D-FCF3-9301EA2FCF2C}"/>
              </a:ext>
            </a:extLst>
          </p:cNvPr>
          <p:cNvSpPr/>
          <p:nvPr/>
        </p:nvSpPr>
        <p:spPr>
          <a:xfrm>
            <a:off x="2819400" y="1854200"/>
            <a:ext cx="4826000" cy="24892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B08CC2B-7FF4-6C2A-03FC-1013512740BD}"/>
              </a:ext>
            </a:extLst>
          </p:cNvPr>
          <p:cNvSpPr txBox="1"/>
          <p:nvPr/>
        </p:nvSpPr>
        <p:spPr>
          <a:xfrm>
            <a:off x="2997200" y="1930400"/>
            <a:ext cx="3810000" cy="228600"/>
          </a:xfrm>
          <a:prstGeom prst="rect">
            <a:avLst/>
          </a:prstGeom>
          <a:noFill/>
        </p:spPr>
        <p:txBody>
          <a:bodyPr vert="horz" wrap="square" lIns="0" tIns="0" rIns="0" bIns="0" rtlCol="0" anchor="t">
            <a:noAutofit/>
          </a:bodyPr>
          <a:lstStyle/>
          <a:p>
            <a:r>
              <a:rPr lang="en-US" sz="1100" b="1">
                <a:solidFill>
                  <a:srgbClr val="6A4C93"/>
                </a:solidFill>
                <a:latin typeface="Calibri" panose="020F0502020204030204" pitchFamily="34" charset="0"/>
              </a:rPr>
              <a:t>ITERATION OR SPRINT</a:t>
            </a:r>
          </a:p>
        </p:txBody>
      </p:sp>
      <p:sp>
        <p:nvSpPr>
          <p:cNvPr id="9" name="Rectangle: Rounded Corners 8">
            <a:extLst>
              <a:ext uri="{FF2B5EF4-FFF2-40B4-BE49-F238E27FC236}">
                <a16:creationId xmlns:a16="http://schemas.microsoft.com/office/drawing/2014/main" id="{10EE0C11-88B6-49B9-03E4-B812D3C941F6}"/>
              </a:ext>
            </a:extLst>
          </p:cNvPr>
          <p:cNvSpPr/>
          <p:nvPr/>
        </p:nvSpPr>
        <p:spPr>
          <a:xfrm>
            <a:off x="2997200" y="3048000"/>
            <a:ext cx="1676400" cy="660400"/>
          </a:xfrm>
          <a:prstGeom prst="roundRect">
            <a:avLst>
              <a:gd name="adj" fmla="val 8000"/>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a:solidFill>
                  <a:srgbClr val="FFFFFF"/>
                </a:solidFill>
                <a:latin typeface="Calibri" panose="020F0502020204030204" pitchFamily="34" charset="0"/>
              </a:rPr>
              <a:t>User stories</a:t>
            </a:r>
          </a:p>
          <a:p>
            <a:pPr algn="ctr"/>
            <a:r>
              <a:rPr lang="en-US" sz="1300" b="1">
                <a:solidFill>
                  <a:srgbClr val="FFFFFF"/>
                </a:solidFill>
                <a:latin typeface="Calibri" panose="020F0502020204030204" pitchFamily="34" charset="0"/>
              </a:rPr>
              <a:t>(MVP)</a:t>
            </a:r>
          </a:p>
        </p:txBody>
      </p:sp>
      <p:sp>
        <p:nvSpPr>
          <p:cNvPr id="10" name="Rectangle: Rounded Corners 9">
            <a:extLst>
              <a:ext uri="{FF2B5EF4-FFF2-40B4-BE49-F238E27FC236}">
                <a16:creationId xmlns:a16="http://schemas.microsoft.com/office/drawing/2014/main" id="{BAD1DDA0-9090-E180-001C-370B351F5460}"/>
              </a:ext>
            </a:extLst>
          </p:cNvPr>
          <p:cNvSpPr/>
          <p:nvPr/>
        </p:nvSpPr>
        <p:spPr>
          <a:xfrm>
            <a:off x="4470400" y="2235200"/>
            <a:ext cx="1524000" cy="558800"/>
          </a:xfrm>
          <a:prstGeom prst="roundRect">
            <a:avLst>
              <a:gd name="adj" fmla="val 8000"/>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a:solidFill>
                  <a:srgbClr val="FFFFFF"/>
                </a:solidFill>
                <a:latin typeface="Calibri" panose="020F0502020204030204" pitchFamily="34" charset="0"/>
              </a:rPr>
              <a:t>Team works</a:t>
            </a:r>
          </a:p>
        </p:txBody>
      </p:sp>
      <p:sp>
        <p:nvSpPr>
          <p:cNvPr id="11" name="Rectangle: Rounded Corners 10">
            <a:extLst>
              <a:ext uri="{FF2B5EF4-FFF2-40B4-BE49-F238E27FC236}">
                <a16:creationId xmlns:a16="http://schemas.microsoft.com/office/drawing/2014/main" id="{057C9C77-446E-A9E0-275A-AE044C9B2C72}"/>
              </a:ext>
            </a:extLst>
          </p:cNvPr>
          <p:cNvSpPr/>
          <p:nvPr/>
        </p:nvSpPr>
        <p:spPr>
          <a:xfrm>
            <a:off x="5791200" y="3048000"/>
            <a:ext cx="1676400" cy="660400"/>
          </a:xfrm>
          <a:prstGeom prst="roundRect">
            <a:avLst>
              <a:gd name="adj" fmla="val 8000"/>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a:solidFill>
                  <a:srgbClr val="FFFFFF"/>
                </a:solidFill>
                <a:latin typeface="Calibri" panose="020F0502020204030204" pitchFamily="34" charset="0"/>
              </a:rPr>
              <a:t>Deliver to customer</a:t>
            </a:r>
          </a:p>
        </p:txBody>
      </p:sp>
      <p:cxnSp>
        <p:nvCxnSpPr>
          <p:cNvPr id="12" name="Straight Connector 11">
            <a:extLst>
              <a:ext uri="{FF2B5EF4-FFF2-40B4-BE49-F238E27FC236}">
                <a16:creationId xmlns:a16="http://schemas.microsoft.com/office/drawing/2014/main" id="{AFEF7C5D-837F-F36B-423F-4F8C9AB5B05E}"/>
              </a:ext>
            </a:extLst>
          </p:cNvPr>
          <p:cNvCxnSpPr/>
          <p:nvPr/>
        </p:nvCxnSpPr>
        <p:spPr>
          <a:xfrm>
            <a:off x="2286000" y="3378200"/>
            <a:ext cx="711200" cy="0"/>
          </a:xfrm>
          <a:prstGeom prst="line">
            <a:avLst/>
          </a:prstGeom>
          <a:ln w="25400">
            <a:solidFill>
              <a:srgbClr val="6A4C93"/>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457423A0-DA26-1D8C-B96F-883685344A25}"/>
              </a:ext>
            </a:extLst>
          </p:cNvPr>
          <p:cNvCxnSpPr/>
          <p:nvPr/>
        </p:nvCxnSpPr>
        <p:spPr>
          <a:xfrm flipV="1">
            <a:off x="3835400" y="2514600"/>
            <a:ext cx="0" cy="533400"/>
          </a:xfrm>
          <a:prstGeom prst="line">
            <a:avLst/>
          </a:prstGeom>
          <a:ln w="25400">
            <a:solidFill>
              <a:srgbClr val="6A4C93"/>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7DBBD5C-FAED-981A-E0E1-F1F1F3EDB815}"/>
              </a:ext>
            </a:extLst>
          </p:cNvPr>
          <p:cNvCxnSpPr/>
          <p:nvPr/>
        </p:nvCxnSpPr>
        <p:spPr>
          <a:xfrm>
            <a:off x="3835400" y="2514600"/>
            <a:ext cx="635000" cy="0"/>
          </a:xfrm>
          <a:prstGeom prst="line">
            <a:avLst/>
          </a:prstGeom>
          <a:ln w="25400">
            <a:solidFill>
              <a:srgbClr val="6A4C93"/>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99093C20-1541-523D-12F2-FBA1C0243556}"/>
              </a:ext>
            </a:extLst>
          </p:cNvPr>
          <p:cNvCxnSpPr/>
          <p:nvPr/>
        </p:nvCxnSpPr>
        <p:spPr>
          <a:xfrm>
            <a:off x="5994400" y="2514600"/>
            <a:ext cx="635000" cy="0"/>
          </a:xfrm>
          <a:prstGeom prst="line">
            <a:avLst/>
          </a:prstGeom>
          <a:ln w="25400">
            <a:solidFill>
              <a:srgbClr val="6A4C93"/>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5AA2F80D-74BF-46A4-72BF-0DC44C7B5978}"/>
              </a:ext>
            </a:extLst>
          </p:cNvPr>
          <p:cNvCxnSpPr/>
          <p:nvPr/>
        </p:nvCxnSpPr>
        <p:spPr>
          <a:xfrm>
            <a:off x="6629400" y="2514600"/>
            <a:ext cx="0" cy="533400"/>
          </a:xfrm>
          <a:prstGeom prst="line">
            <a:avLst/>
          </a:prstGeom>
          <a:ln w="25400">
            <a:solidFill>
              <a:srgbClr val="6A4C93"/>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94B1F601-7AA4-DD6D-3A67-453F4F91E81B}"/>
              </a:ext>
            </a:extLst>
          </p:cNvPr>
          <p:cNvCxnSpPr/>
          <p:nvPr/>
        </p:nvCxnSpPr>
        <p:spPr>
          <a:xfrm flipH="1">
            <a:off x="4673600" y="3556000"/>
            <a:ext cx="1117600" cy="0"/>
          </a:xfrm>
          <a:prstGeom prst="line">
            <a:avLst/>
          </a:prstGeom>
          <a:ln w="25400">
            <a:solidFill>
              <a:srgbClr val="6A4C93"/>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AA3F9E43-4042-3B1B-4673-4ED99814098B}"/>
              </a:ext>
            </a:extLst>
          </p:cNvPr>
          <p:cNvSpPr txBox="1"/>
          <p:nvPr/>
        </p:nvSpPr>
        <p:spPr>
          <a:xfrm>
            <a:off x="4673600" y="3759200"/>
            <a:ext cx="1117600" cy="431800"/>
          </a:xfrm>
          <a:prstGeom prst="rect">
            <a:avLst/>
          </a:prstGeom>
          <a:noFill/>
        </p:spPr>
        <p:txBody>
          <a:bodyPr vert="horz" wrap="square" lIns="0" tIns="0" rIns="0" bIns="0" rtlCol="0" anchor="t">
            <a:noAutofit/>
          </a:bodyPr>
          <a:lstStyle/>
          <a:p>
            <a:pPr algn="ctr"/>
            <a:r>
              <a:rPr lang="en-US" sz="1100" b="1">
                <a:solidFill>
                  <a:srgbClr val="6A4C93"/>
                </a:solidFill>
                <a:latin typeface="Calibri" panose="020F0502020204030204" pitchFamily="34" charset="0"/>
              </a:rPr>
              <a:t>Incorporate feedback</a:t>
            </a:r>
          </a:p>
        </p:txBody>
      </p:sp>
      <p:cxnSp>
        <p:nvCxnSpPr>
          <p:cNvPr id="19" name="Straight Connector 18">
            <a:extLst>
              <a:ext uri="{FF2B5EF4-FFF2-40B4-BE49-F238E27FC236}">
                <a16:creationId xmlns:a16="http://schemas.microsoft.com/office/drawing/2014/main" id="{10DBC9F2-9F4A-C2DA-F2DE-00E43CB80EEB}"/>
              </a:ext>
            </a:extLst>
          </p:cNvPr>
          <p:cNvCxnSpPr/>
          <p:nvPr/>
        </p:nvCxnSpPr>
        <p:spPr>
          <a:xfrm>
            <a:off x="7467600" y="3378200"/>
            <a:ext cx="787400" cy="0"/>
          </a:xfrm>
          <a:prstGeom prst="line">
            <a:avLst/>
          </a:prstGeom>
          <a:ln w="25400">
            <a:solidFill>
              <a:srgbClr val="6A4C93"/>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Rounded Corners 19">
            <a:extLst>
              <a:ext uri="{FF2B5EF4-FFF2-40B4-BE49-F238E27FC236}">
                <a16:creationId xmlns:a16="http://schemas.microsoft.com/office/drawing/2014/main" id="{4AC78C14-318D-8B9E-8AB2-853EA485C4F2}"/>
              </a:ext>
            </a:extLst>
          </p:cNvPr>
          <p:cNvSpPr/>
          <p:nvPr/>
        </p:nvSpPr>
        <p:spPr>
          <a:xfrm>
            <a:off x="8255000" y="3048000"/>
            <a:ext cx="1651000" cy="660400"/>
          </a:xfrm>
          <a:prstGeom prst="roundRect">
            <a:avLst>
              <a:gd name="adj" fmla="val 8000"/>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400" b="1">
                <a:solidFill>
                  <a:srgbClr val="FFFFFF"/>
                </a:solidFill>
                <a:latin typeface="Calibri" panose="020F0502020204030204" pitchFamily="34" charset="0"/>
              </a:rPr>
              <a:t>Deliver product</a:t>
            </a:r>
          </a:p>
        </p:txBody>
      </p:sp>
      <p:sp>
        <p:nvSpPr>
          <p:cNvPr id="21" name="TextBox 20">
            <a:extLst>
              <a:ext uri="{FF2B5EF4-FFF2-40B4-BE49-F238E27FC236}">
                <a16:creationId xmlns:a16="http://schemas.microsoft.com/office/drawing/2014/main" id="{E93C5FAC-679B-AB5D-373D-9E2DF634B3DB}"/>
              </a:ext>
            </a:extLst>
          </p:cNvPr>
          <p:cNvSpPr txBox="1"/>
          <p:nvPr/>
        </p:nvSpPr>
        <p:spPr>
          <a:xfrm>
            <a:off x="7366000" y="2667000"/>
            <a:ext cx="1778000" cy="330200"/>
          </a:xfrm>
          <a:prstGeom prst="rect">
            <a:avLst/>
          </a:prstGeom>
          <a:noFill/>
        </p:spPr>
        <p:txBody>
          <a:bodyPr vert="horz" wrap="square" lIns="0" tIns="0" rIns="0" bIns="0" rtlCol="0" anchor="t">
            <a:noAutofit/>
          </a:bodyPr>
          <a:lstStyle/>
          <a:p>
            <a:pPr algn="ctr"/>
            <a:r>
              <a:rPr lang="en-US" sz="1100" b="1">
                <a:solidFill>
                  <a:srgbClr val="0F7C80"/>
                </a:solidFill>
                <a:latin typeface="Calibri" panose="020F0502020204030204" pitchFamily="34" charset="0"/>
              </a:rPr>
              <a:t>Definition of done met</a:t>
            </a:r>
          </a:p>
        </p:txBody>
      </p:sp>
      <p:cxnSp>
        <p:nvCxnSpPr>
          <p:cNvPr id="22" name="Straight Connector 21">
            <a:extLst>
              <a:ext uri="{FF2B5EF4-FFF2-40B4-BE49-F238E27FC236}">
                <a16:creationId xmlns:a16="http://schemas.microsoft.com/office/drawing/2014/main" id="{F1183D09-5FE4-2684-72AB-0C65C10AD1D5}"/>
              </a:ext>
            </a:extLst>
          </p:cNvPr>
          <p:cNvCxnSpPr/>
          <p:nvPr/>
        </p:nvCxnSpPr>
        <p:spPr>
          <a:xfrm>
            <a:off x="6350000" y="3708400"/>
            <a:ext cx="0" cy="990600"/>
          </a:xfrm>
          <a:prstGeom prst="line">
            <a:avLst/>
          </a:prstGeom>
          <a:ln w="25400">
            <a:solidFill>
              <a:srgbClr val="A84A2E"/>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6BDD5D3D-C16D-F608-03D3-881620A76A8D}"/>
              </a:ext>
            </a:extLst>
          </p:cNvPr>
          <p:cNvCxnSpPr/>
          <p:nvPr/>
        </p:nvCxnSpPr>
        <p:spPr>
          <a:xfrm flipH="1">
            <a:off x="1397000" y="4699000"/>
            <a:ext cx="4953000" cy="0"/>
          </a:xfrm>
          <a:prstGeom prst="line">
            <a:avLst/>
          </a:prstGeom>
          <a:ln w="25400">
            <a:solidFill>
              <a:srgbClr val="A84A2E"/>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1C24C7B6-882D-4BF3-BE94-6AD8748D686C}"/>
              </a:ext>
            </a:extLst>
          </p:cNvPr>
          <p:cNvCxnSpPr/>
          <p:nvPr/>
        </p:nvCxnSpPr>
        <p:spPr>
          <a:xfrm flipV="1">
            <a:off x="1397000" y="3708400"/>
            <a:ext cx="0" cy="990600"/>
          </a:xfrm>
          <a:prstGeom prst="line">
            <a:avLst/>
          </a:prstGeom>
          <a:ln w="25400">
            <a:solidFill>
              <a:srgbClr val="A84A2E"/>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7F975F9D-F002-98AD-8BBB-8BDFB52EC0F3}"/>
              </a:ext>
            </a:extLst>
          </p:cNvPr>
          <p:cNvSpPr txBox="1"/>
          <p:nvPr/>
        </p:nvSpPr>
        <p:spPr>
          <a:xfrm>
            <a:off x="1905000" y="4749800"/>
            <a:ext cx="3810000" cy="228600"/>
          </a:xfrm>
          <a:prstGeom prst="rect">
            <a:avLst/>
          </a:prstGeom>
          <a:noFill/>
        </p:spPr>
        <p:txBody>
          <a:bodyPr vert="horz" wrap="square" lIns="0" tIns="0" rIns="0" bIns="0" rtlCol="0" anchor="t">
            <a:noAutofit/>
          </a:bodyPr>
          <a:lstStyle/>
          <a:p>
            <a:r>
              <a:rPr lang="en-US" sz="1200" b="1">
                <a:solidFill>
                  <a:srgbClr val="A84A2E"/>
                </a:solidFill>
                <a:latin typeface="Calibri" panose="020F0502020204030204" pitchFamily="34" charset="0"/>
              </a:rPr>
              <a:t>Pivot: change direction based on feedback</a:t>
            </a:r>
          </a:p>
        </p:txBody>
      </p:sp>
      <p:cxnSp>
        <p:nvCxnSpPr>
          <p:cNvPr id="26" name="Straight Connector 25">
            <a:extLst>
              <a:ext uri="{FF2B5EF4-FFF2-40B4-BE49-F238E27FC236}">
                <a16:creationId xmlns:a16="http://schemas.microsoft.com/office/drawing/2014/main" id="{E0E24A63-9005-5AF9-8DD9-94FF5E976675}"/>
              </a:ext>
            </a:extLst>
          </p:cNvPr>
          <p:cNvCxnSpPr/>
          <p:nvPr/>
        </p:nvCxnSpPr>
        <p:spPr>
          <a:xfrm>
            <a:off x="7061200" y="3708400"/>
            <a:ext cx="0" cy="1320800"/>
          </a:xfrm>
          <a:prstGeom prst="line">
            <a:avLst/>
          </a:prstGeom>
          <a:ln w="25400">
            <a:solidFill>
              <a:srgbClr val="C76A2C"/>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39B0C686-FBDA-B34F-23AA-224B925FAC34}"/>
              </a:ext>
            </a:extLst>
          </p:cNvPr>
          <p:cNvCxnSpPr/>
          <p:nvPr/>
        </p:nvCxnSpPr>
        <p:spPr>
          <a:xfrm>
            <a:off x="7061200" y="5029200"/>
            <a:ext cx="787400" cy="0"/>
          </a:xfrm>
          <a:prstGeom prst="line">
            <a:avLst/>
          </a:prstGeom>
          <a:ln w="25400">
            <a:solidFill>
              <a:srgbClr val="C76A2C"/>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Rounded Corners 27">
            <a:extLst>
              <a:ext uri="{FF2B5EF4-FFF2-40B4-BE49-F238E27FC236}">
                <a16:creationId xmlns:a16="http://schemas.microsoft.com/office/drawing/2014/main" id="{2E0C2530-367D-E611-A75A-060E724A7B78}"/>
              </a:ext>
            </a:extLst>
          </p:cNvPr>
          <p:cNvSpPr/>
          <p:nvPr/>
        </p:nvSpPr>
        <p:spPr>
          <a:xfrm>
            <a:off x="7848600" y="4775200"/>
            <a:ext cx="1270000" cy="508000"/>
          </a:xfrm>
          <a:prstGeom prst="roundRect">
            <a:avLst>
              <a:gd name="adj" fmla="val 8000"/>
            </a:avLst>
          </a:prstGeom>
          <a:solidFill>
            <a:srgbClr val="C76A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400" b="1">
                <a:solidFill>
                  <a:srgbClr val="FFFFFF"/>
                </a:solidFill>
                <a:latin typeface="Calibri" panose="020F0502020204030204" pitchFamily="34" charset="0"/>
              </a:rPr>
              <a:t>Drop</a:t>
            </a:r>
          </a:p>
        </p:txBody>
      </p:sp>
      <p:sp>
        <p:nvSpPr>
          <p:cNvPr id="29" name="TextBox 28">
            <a:extLst>
              <a:ext uri="{FF2B5EF4-FFF2-40B4-BE49-F238E27FC236}">
                <a16:creationId xmlns:a16="http://schemas.microsoft.com/office/drawing/2014/main" id="{54DB277C-24F8-C235-336E-329851C018C3}"/>
              </a:ext>
            </a:extLst>
          </p:cNvPr>
          <p:cNvSpPr txBox="1"/>
          <p:nvPr/>
        </p:nvSpPr>
        <p:spPr>
          <a:xfrm>
            <a:off x="9220200" y="4876800"/>
            <a:ext cx="1524000" cy="279400"/>
          </a:xfrm>
          <a:prstGeom prst="rect">
            <a:avLst/>
          </a:prstGeom>
          <a:noFill/>
        </p:spPr>
        <p:txBody>
          <a:bodyPr vert="horz" wrap="square" lIns="0" tIns="0" rIns="0" bIns="0" rtlCol="0" anchor="t">
            <a:noAutofit/>
          </a:bodyPr>
          <a:lstStyle/>
          <a:p>
            <a:r>
              <a:rPr lang="en-US" sz="1200" b="1">
                <a:solidFill>
                  <a:srgbClr val="C76A2C"/>
                </a:solidFill>
                <a:latin typeface="Calibri" panose="020F0502020204030204" pitchFamily="34" charset="0"/>
              </a:rPr>
              <a:t>Substandard idea</a:t>
            </a:r>
          </a:p>
        </p:txBody>
      </p:sp>
      <p:sp>
        <p:nvSpPr>
          <p:cNvPr id="30" name="Rectangle: Rounded Corners 29">
            <a:extLst>
              <a:ext uri="{FF2B5EF4-FFF2-40B4-BE49-F238E27FC236}">
                <a16:creationId xmlns:a16="http://schemas.microsoft.com/office/drawing/2014/main" id="{73F6C49B-913B-4924-4652-1321740073D8}"/>
              </a:ext>
            </a:extLst>
          </p:cNvPr>
          <p:cNvSpPr/>
          <p:nvPr/>
        </p:nvSpPr>
        <p:spPr>
          <a:xfrm>
            <a:off x="10160000" y="1320800"/>
            <a:ext cx="1524000" cy="3302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F0F9C333-53ED-3C1F-04BE-0E3A34698163}"/>
              </a:ext>
            </a:extLst>
          </p:cNvPr>
          <p:cNvSpPr txBox="1"/>
          <p:nvPr/>
        </p:nvSpPr>
        <p:spPr>
          <a:xfrm>
            <a:off x="10261600" y="1422400"/>
            <a:ext cx="1320800" cy="3098800"/>
          </a:xfrm>
          <a:prstGeom prst="rect">
            <a:avLst/>
          </a:prstGeom>
          <a:noFill/>
        </p:spPr>
        <p:txBody>
          <a:bodyPr vert="horz" wrap="square" lIns="0" tIns="0" rIns="0" bIns="0" rtlCol="0" anchor="t">
            <a:noAutofit/>
          </a:bodyPr>
          <a:lstStyle/>
          <a:p>
            <a:pPr>
              <a:spcAft>
                <a:spcPts val="600"/>
              </a:spcAft>
            </a:pPr>
            <a:r>
              <a:rPr lang="en-US" sz="1600" b="1">
                <a:solidFill>
                  <a:srgbClr val="14213D"/>
                </a:solidFill>
                <a:latin typeface="Calibri" panose="020F0502020204030204" pitchFamily="34" charset="0"/>
              </a:rPr>
              <a:t>Key terms</a:t>
            </a:r>
          </a:p>
          <a:p>
            <a:pPr>
              <a:spcAft>
                <a:spcPts val="600"/>
              </a:spcAft>
            </a:pPr>
            <a:r>
              <a:rPr lang="en-US" sz="1300">
                <a:solidFill>
                  <a:srgbClr val="1F2937"/>
                </a:solidFill>
                <a:latin typeface="Calibri" panose="020F0502020204030204" pitchFamily="34" charset="0"/>
              </a:rPr>
              <a:t>MVP: smallest release that tests an idea with customers.</a:t>
            </a:r>
          </a:p>
          <a:p>
            <a:pPr>
              <a:spcAft>
                <a:spcPts val="600"/>
              </a:spcAft>
            </a:pPr>
            <a:r>
              <a:rPr lang="en-US" sz="1300">
                <a:solidFill>
                  <a:srgbClr val="1F2937"/>
                </a:solidFill>
                <a:latin typeface="Calibri" panose="020F0502020204030204" pitchFamily="34" charset="0"/>
              </a:rPr>
              <a:t>Pivot: change course.</a:t>
            </a:r>
          </a:p>
          <a:p>
            <a:pPr>
              <a:spcAft>
                <a:spcPts val="600"/>
              </a:spcAft>
            </a:pPr>
            <a:r>
              <a:rPr lang="en-US" sz="1300">
                <a:solidFill>
                  <a:srgbClr val="1F2937"/>
                </a:solidFill>
                <a:latin typeface="Calibri" panose="020F0502020204030204" pitchFamily="34" charset="0"/>
              </a:rPr>
              <a:t>Drop: abandon a weak idea.</a:t>
            </a:r>
          </a:p>
        </p:txBody>
      </p:sp>
      <p:sp>
        <p:nvSpPr>
          <p:cNvPr id="32" name="Rectangle: Rounded Corners 31">
            <a:extLst>
              <a:ext uri="{FF2B5EF4-FFF2-40B4-BE49-F238E27FC236}">
                <a16:creationId xmlns:a16="http://schemas.microsoft.com/office/drawing/2014/main" id="{295436D6-DAC2-4589-0AC1-D65B995086E2}"/>
              </a:ext>
            </a:extLst>
          </p:cNvPr>
          <p:cNvSpPr/>
          <p:nvPr/>
        </p:nvSpPr>
        <p:spPr>
          <a:xfrm>
            <a:off x="508000" y="5486400"/>
            <a:ext cx="11176000" cy="838200"/>
          </a:xfrm>
          <a:prstGeom prst="roundRect">
            <a:avLst>
              <a:gd name="adj" fmla="val 8000"/>
            </a:avLst>
          </a:prstGeom>
          <a:solidFill>
            <a:srgbClr val="E8E1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55100D2F-0BEB-AEB9-308E-3AAB5BF3EC97}"/>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adaptive teams deliver small increments, learn from customer feedback, and then refine, pivot, or drop an idea. A feature ships only when it meets the definition of done.</a:t>
            </a:r>
          </a:p>
        </p:txBody>
      </p:sp>
      <p:sp>
        <p:nvSpPr>
          <p:cNvPr id="34" name="Footer">
            <a:extLst>
              <a:ext uri="{FF2B5EF4-FFF2-40B4-BE49-F238E27FC236}">
                <a16:creationId xmlns:a16="http://schemas.microsoft.com/office/drawing/2014/main" id="{78C2C53B-EC11-D0DF-30DE-F0FC654946E7}"/>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and Agile Alliance, Agile Practice Guide (2017), Section 5; Eric Ries, The Lean Startup (2011)</a:t>
            </a:r>
          </a:p>
        </p:txBody>
      </p:sp>
      <p:sp>
        <p:nvSpPr>
          <p:cNvPr id="35" name="SlideNum">
            <a:extLst>
              <a:ext uri="{FF2B5EF4-FFF2-40B4-BE49-F238E27FC236}">
                <a16:creationId xmlns:a16="http://schemas.microsoft.com/office/drawing/2014/main" id="{5F97CBBD-8076-BE84-C7EE-250B37DDF0E0}"/>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97</a:t>
            </a:r>
          </a:p>
        </p:txBody>
      </p:sp>
      <p:sp>
        <p:nvSpPr>
          <p:cNvPr id="36"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46518820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6C73C2B-E9F3-FD62-6EC5-9A28E81C9BF2}"/>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Inside an iteration: plan, build, review, reflect</a:t>
            </a:r>
          </a:p>
        </p:txBody>
      </p:sp>
      <p:sp>
        <p:nvSpPr>
          <p:cNvPr id="3" name="Tag">
            <a:extLst>
              <a:ext uri="{FF2B5EF4-FFF2-40B4-BE49-F238E27FC236}">
                <a16:creationId xmlns:a16="http://schemas.microsoft.com/office/drawing/2014/main" id="{B511A120-83BA-436A-EB6E-460047A30DB6}"/>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6A4C93"/>
                </a:solidFill>
                <a:latin typeface="Calibri" panose="020F0502020204030204" pitchFamily="34" charset="0"/>
              </a:rPr>
              <a:t>Agile essentials · Supports Process Tasks 2 and 8 (scope and schedule)</a:t>
            </a:r>
          </a:p>
        </p:txBody>
      </p:sp>
      <p:sp>
        <p:nvSpPr>
          <p:cNvPr id="4" name="Arrow: Pentagon 3">
            <a:extLst>
              <a:ext uri="{FF2B5EF4-FFF2-40B4-BE49-F238E27FC236}">
                <a16:creationId xmlns:a16="http://schemas.microsoft.com/office/drawing/2014/main" id="{DE2A4C64-D946-366A-53B7-2604A18C7E67}"/>
              </a:ext>
            </a:extLst>
          </p:cNvPr>
          <p:cNvSpPr/>
          <p:nvPr/>
        </p:nvSpPr>
        <p:spPr>
          <a:xfrm>
            <a:off x="508000" y="1320800"/>
            <a:ext cx="2387600" cy="660400"/>
          </a:xfrm>
          <a:prstGeom prst="homePlate">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28600" tIns="25400" rIns="228600" bIns="25400" rtlCol="0" anchor="ctr"/>
          <a:lstStyle/>
          <a:p>
            <a:pPr algn="ctr"/>
            <a:r>
              <a:rPr lang="en-US" sz="1300" b="1">
                <a:solidFill>
                  <a:srgbClr val="FFFFFF"/>
                </a:solidFill>
                <a:latin typeface="Calibri" panose="020F0502020204030204" pitchFamily="34" charset="0"/>
              </a:rPr>
              <a:t>Release roadmap</a:t>
            </a:r>
          </a:p>
        </p:txBody>
      </p:sp>
      <p:sp>
        <p:nvSpPr>
          <p:cNvPr id="5" name="TextBox 4">
            <a:extLst>
              <a:ext uri="{FF2B5EF4-FFF2-40B4-BE49-F238E27FC236}">
                <a16:creationId xmlns:a16="http://schemas.microsoft.com/office/drawing/2014/main" id="{185CA6FC-028A-94A1-4498-08BB2D0D13CC}"/>
              </a:ext>
            </a:extLst>
          </p:cNvPr>
          <p:cNvSpPr txBox="1"/>
          <p:nvPr/>
        </p:nvSpPr>
        <p:spPr>
          <a:xfrm>
            <a:off x="635000" y="2082800"/>
            <a:ext cx="2032000" cy="584200"/>
          </a:xfrm>
          <a:prstGeom prst="rect">
            <a:avLst/>
          </a:prstGeom>
          <a:noFill/>
        </p:spPr>
        <p:txBody>
          <a:bodyPr vert="horz" wrap="square" lIns="0" tIns="0" rIns="0" bIns="0" rtlCol="0" anchor="t">
            <a:noAutofit/>
          </a:bodyPr>
          <a:lstStyle/>
          <a:p>
            <a:r>
              <a:rPr lang="en-US" sz="1300">
                <a:solidFill>
                  <a:srgbClr val="1F2937"/>
                </a:solidFill>
                <a:latin typeface="Calibri" panose="020F0502020204030204" pitchFamily="34" charset="0"/>
              </a:rPr>
              <a:t>Plans which increments ship when.</a:t>
            </a:r>
          </a:p>
        </p:txBody>
      </p:sp>
      <p:sp>
        <p:nvSpPr>
          <p:cNvPr id="6" name="Arrow: Chevron 5">
            <a:extLst>
              <a:ext uri="{FF2B5EF4-FFF2-40B4-BE49-F238E27FC236}">
                <a16:creationId xmlns:a16="http://schemas.microsoft.com/office/drawing/2014/main" id="{A6370787-8368-47C6-7FD9-AF928CF58D24}"/>
              </a:ext>
            </a:extLst>
          </p:cNvPr>
          <p:cNvSpPr/>
          <p:nvPr/>
        </p:nvSpPr>
        <p:spPr>
          <a:xfrm>
            <a:off x="2743200" y="1320800"/>
            <a:ext cx="2387600" cy="660400"/>
          </a:xfrm>
          <a:prstGeom prst="chevron">
            <a:avLst/>
          </a:prstGeom>
          <a:solidFill>
            <a:srgbClr val="3B2F6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28600" tIns="25400" rIns="228600" bIns="25400" rtlCol="0" anchor="ctr"/>
          <a:lstStyle/>
          <a:p>
            <a:pPr algn="ctr"/>
            <a:r>
              <a:rPr lang="en-US" sz="1300" b="1">
                <a:solidFill>
                  <a:srgbClr val="FFFFFF"/>
                </a:solidFill>
                <a:latin typeface="Calibri" panose="020F0502020204030204" pitchFamily="34" charset="0"/>
              </a:rPr>
              <a:t>Product backlog</a:t>
            </a:r>
          </a:p>
        </p:txBody>
      </p:sp>
      <p:sp>
        <p:nvSpPr>
          <p:cNvPr id="7" name="TextBox 6">
            <a:extLst>
              <a:ext uri="{FF2B5EF4-FFF2-40B4-BE49-F238E27FC236}">
                <a16:creationId xmlns:a16="http://schemas.microsoft.com/office/drawing/2014/main" id="{85B39494-BEBB-DE4F-12A2-5F856FF5C840}"/>
              </a:ext>
            </a:extLst>
          </p:cNvPr>
          <p:cNvSpPr txBox="1"/>
          <p:nvPr/>
        </p:nvSpPr>
        <p:spPr>
          <a:xfrm>
            <a:off x="2870200" y="2082800"/>
            <a:ext cx="2032000" cy="584200"/>
          </a:xfrm>
          <a:prstGeom prst="rect">
            <a:avLst/>
          </a:prstGeom>
          <a:noFill/>
        </p:spPr>
        <p:txBody>
          <a:bodyPr vert="horz" wrap="square" lIns="0" tIns="0" rIns="0" bIns="0" rtlCol="0" anchor="t">
            <a:noAutofit/>
          </a:bodyPr>
          <a:lstStyle/>
          <a:p>
            <a:r>
              <a:rPr lang="en-US" sz="1300">
                <a:solidFill>
                  <a:srgbClr val="1F2937"/>
                </a:solidFill>
                <a:latin typeface="Calibri" panose="020F0502020204030204" pitchFamily="34" charset="0"/>
              </a:rPr>
              <a:t>Ordered list of everything the product might need.</a:t>
            </a:r>
          </a:p>
        </p:txBody>
      </p:sp>
      <p:sp>
        <p:nvSpPr>
          <p:cNvPr id="8" name="Arrow: Chevron 7">
            <a:extLst>
              <a:ext uri="{FF2B5EF4-FFF2-40B4-BE49-F238E27FC236}">
                <a16:creationId xmlns:a16="http://schemas.microsoft.com/office/drawing/2014/main" id="{81C890F9-85F5-3608-FDFA-0D9F84429965}"/>
              </a:ext>
            </a:extLst>
          </p:cNvPr>
          <p:cNvSpPr/>
          <p:nvPr/>
        </p:nvSpPr>
        <p:spPr>
          <a:xfrm>
            <a:off x="4978400" y="1320800"/>
            <a:ext cx="2387600" cy="660400"/>
          </a:xfrm>
          <a:prstGeom prst="chevron">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28600" tIns="25400" rIns="228600" bIns="25400" rtlCol="0" anchor="ctr"/>
          <a:lstStyle/>
          <a:p>
            <a:pPr algn="ctr"/>
            <a:r>
              <a:rPr lang="en-US" sz="1300" b="1">
                <a:solidFill>
                  <a:srgbClr val="FFFFFF"/>
                </a:solidFill>
                <a:latin typeface="Calibri" panose="020F0502020204030204" pitchFamily="34" charset="0"/>
              </a:rPr>
              <a:t>Iteration planning</a:t>
            </a:r>
          </a:p>
        </p:txBody>
      </p:sp>
      <p:sp>
        <p:nvSpPr>
          <p:cNvPr id="9" name="TextBox 8">
            <a:extLst>
              <a:ext uri="{FF2B5EF4-FFF2-40B4-BE49-F238E27FC236}">
                <a16:creationId xmlns:a16="http://schemas.microsoft.com/office/drawing/2014/main" id="{65A1297C-769D-2569-6852-171C1C8F07A3}"/>
              </a:ext>
            </a:extLst>
          </p:cNvPr>
          <p:cNvSpPr txBox="1"/>
          <p:nvPr/>
        </p:nvSpPr>
        <p:spPr>
          <a:xfrm>
            <a:off x="5105400" y="2082800"/>
            <a:ext cx="2032000" cy="584200"/>
          </a:xfrm>
          <a:prstGeom prst="rect">
            <a:avLst/>
          </a:prstGeom>
          <a:noFill/>
        </p:spPr>
        <p:txBody>
          <a:bodyPr vert="horz" wrap="square" lIns="0" tIns="0" rIns="0" bIns="0" rtlCol="0" anchor="t">
            <a:noAutofit/>
          </a:bodyPr>
          <a:lstStyle/>
          <a:p>
            <a:r>
              <a:rPr lang="en-US" sz="1300">
                <a:solidFill>
                  <a:srgbClr val="1F2937"/>
                </a:solidFill>
                <a:latin typeface="Calibri" panose="020F0502020204030204" pitchFamily="34" charset="0"/>
              </a:rPr>
              <a:t>The team picks items into the iteration backlog.</a:t>
            </a:r>
          </a:p>
        </p:txBody>
      </p:sp>
      <p:sp>
        <p:nvSpPr>
          <p:cNvPr id="10" name="Arrow: Chevron 9">
            <a:extLst>
              <a:ext uri="{FF2B5EF4-FFF2-40B4-BE49-F238E27FC236}">
                <a16:creationId xmlns:a16="http://schemas.microsoft.com/office/drawing/2014/main" id="{5544CF14-5007-A36C-7BFC-40AFBB6A78A2}"/>
              </a:ext>
            </a:extLst>
          </p:cNvPr>
          <p:cNvSpPr/>
          <p:nvPr/>
        </p:nvSpPr>
        <p:spPr>
          <a:xfrm>
            <a:off x="7213600" y="1320800"/>
            <a:ext cx="2387600" cy="660400"/>
          </a:xfrm>
          <a:prstGeom prst="chevron">
            <a:avLst/>
          </a:prstGeom>
          <a:solidFill>
            <a:srgbClr val="8E6BB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28600" tIns="25400" rIns="228600" bIns="25400" rtlCol="0" anchor="ctr"/>
          <a:lstStyle/>
          <a:p>
            <a:pPr algn="ctr"/>
            <a:r>
              <a:rPr lang="en-US" sz="1300" b="1">
                <a:solidFill>
                  <a:srgbClr val="FFFFFF"/>
                </a:solidFill>
                <a:latin typeface="Calibri" panose="020F0502020204030204" pitchFamily="34" charset="0"/>
              </a:rPr>
              <a:t>Iteration</a:t>
            </a:r>
          </a:p>
        </p:txBody>
      </p:sp>
      <p:sp>
        <p:nvSpPr>
          <p:cNvPr id="11" name="TextBox 10">
            <a:extLst>
              <a:ext uri="{FF2B5EF4-FFF2-40B4-BE49-F238E27FC236}">
                <a16:creationId xmlns:a16="http://schemas.microsoft.com/office/drawing/2014/main" id="{F1C80954-288D-D9BE-DD6D-F4BB869C2E10}"/>
              </a:ext>
            </a:extLst>
          </p:cNvPr>
          <p:cNvSpPr txBox="1"/>
          <p:nvPr/>
        </p:nvSpPr>
        <p:spPr>
          <a:xfrm>
            <a:off x="7340600" y="2082800"/>
            <a:ext cx="2032000" cy="584200"/>
          </a:xfrm>
          <a:prstGeom prst="rect">
            <a:avLst/>
          </a:prstGeom>
          <a:noFill/>
        </p:spPr>
        <p:txBody>
          <a:bodyPr vert="horz" wrap="square" lIns="0" tIns="0" rIns="0" bIns="0" rtlCol="0" anchor="t">
            <a:noAutofit/>
          </a:bodyPr>
          <a:lstStyle/>
          <a:p>
            <a:r>
              <a:rPr lang="en-US" sz="1300">
                <a:solidFill>
                  <a:srgbClr val="1F2937"/>
                </a:solidFill>
                <a:latin typeface="Calibri" panose="020F0502020204030204" pitchFamily="34" charset="0"/>
              </a:rPr>
              <a:t>Daily coordination meeting; the team builds and tests.</a:t>
            </a:r>
          </a:p>
        </p:txBody>
      </p:sp>
      <p:sp>
        <p:nvSpPr>
          <p:cNvPr id="12" name="Arrow: Chevron 11">
            <a:extLst>
              <a:ext uri="{FF2B5EF4-FFF2-40B4-BE49-F238E27FC236}">
                <a16:creationId xmlns:a16="http://schemas.microsoft.com/office/drawing/2014/main" id="{3B674AF6-65FC-487A-8E3C-4E4D02DB466D}"/>
              </a:ext>
            </a:extLst>
          </p:cNvPr>
          <p:cNvSpPr/>
          <p:nvPr/>
        </p:nvSpPr>
        <p:spPr>
          <a:xfrm>
            <a:off x="9448800" y="1320800"/>
            <a:ext cx="2387600" cy="660400"/>
          </a:xfrm>
          <a:prstGeom prst="chevron">
            <a:avLst/>
          </a:prstGeom>
          <a:solidFill>
            <a:srgbClr val="B9A3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28600" tIns="25400" rIns="228600" bIns="25400" rtlCol="0" anchor="ctr"/>
          <a:lstStyle/>
          <a:p>
            <a:pPr algn="ctr"/>
            <a:r>
              <a:rPr lang="en-US" sz="1300" b="1">
                <a:solidFill>
                  <a:srgbClr val="14213D"/>
                </a:solidFill>
                <a:latin typeface="Calibri" panose="020F0502020204030204" pitchFamily="34" charset="0"/>
              </a:rPr>
              <a:t>Review and reflect</a:t>
            </a:r>
          </a:p>
        </p:txBody>
      </p:sp>
      <p:sp>
        <p:nvSpPr>
          <p:cNvPr id="13" name="TextBox 12">
            <a:extLst>
              <a:ext uri="{FF2B5EF4-FFF2-40B4-BE49-F238E27FC236}">
                <a16:creationId xmlns:a16="http://schemas.microsoft.com/office/drawing/2014/main" id="{438E8D81-B7F8-DBD5-6B2B-D809EDE3DE59}"/>
              </a:ext>
            </a:extLst>
          </p:cNvPr>
          <p:cNvSpPr txBox="1"/>
          <p:nvPr/>
        </p:nvSpPr>
        <p:spPr>
          <a:xfrm>
            <a:off x="9575800" y="2082800"/>
            <a:ext cx="2032000" cy="584200"/>
          </a:xfrm>
          <a:prstGeom prst="rect">
            <a:avLst/>
          </a:prstGeom>
          <a:noFill/>
        </p:spPr>
        <p:txBody>
          <a:bodyPr vert="horz" wrap="square" lIns="0" tIns="0" rIns="0" bIns="0" rtlCol="0" anchor="t">
            <a:noAutofit/>
          </a:bodyPr>
          <a:lstStyle/>
          <a:p>
            <a:r>
              <a:rPr lang="en-US" sz="1300">
                <a:solidFill>
                  <a:srgbClr val="1F2937"/>
                </a:solidFill>
                <a:latin typeface="Calibri" panose="020F0502020204030204" pitchFamily="34" charset="0"/>
              </a:rPr>
              <a:t>Demo, iteration review, and retrospective.</a:t>
            </a:r>
          </a:p>
        </p:txBody>
      </p:sp>
      <p:graphicFrame>
        <p:nvGraphicFramePr>
          <p:cNvPr id="14" name="Table">
            <a:extLst>
              <a:ext uri="{FF2B5EF4-FFF2-40B4-BE49-F238E27FC236}">
                <a16:creationId xmlns:a16="http://schemas.microsoft.com/office/drawing/2014/main" id="{D40503A2-5CC1-DA6F-81D8-ADD53C543871}"/>
              </a:ext>
            </a:extLst>
          </p:cNvPr>
          <p:cNvGraphicFramePr>
            <a:graphicFrameLocks noGrp="1"/>
          </p:cNvGraphicFramePr>
          <p:nvPr>
            <p:extLst>
              <p:ext uri="{D42A27DB-BD31-4B8C-83A1-F6EECF244321}">
                <p14:modId xmlns:p14="http://schemas.microsoft.com/office/powerpoint/2010/main" val="2541801347"/>
              </p:ext>
            </p:extLst>
          </p:nvPr>
        </p:nvGraphicFramePr>
        <p:xfrm>
          <a:off x="508000" y="2819400"/>
          <a:ext cx="7112000" cy="3200400"/>
        </p:xfrm>
        <a:graphic>
          <a:graphicData uri="http://schemas.openxmlformats.org/drawingml/2006/table">
            <a:tbl>
              <a:tblPr firstRow="1" bandRow="1">
                <a:tableStyleId>{2D5ABB26-0587-4C30-8999-92F81FD0307C}</a:tableStyleId>
              </a:tblPr>
              <a:tblGrid>
                <a:gridCol w="3810000">
                  <a:extLst>
                    <a:ext uri="{9D8B030D-6E8A-4147-A177-3AD203B41FA5}">
                      <a16:colId xmlns:a16="http://schemas.microsoft.com/office/drawing/2014/main" val="1383994524"/>
                    </a:ext>
                  </a:extLst>
                </a:gridCol>
                <a:gridCol w="3302000">
                  <a:extLst>
                    <a:ext uri="{9D8B030D-6E8A-4147-A177-3AD203B41FA5}">
                      <a16:colId xmlns:a16="http://schemas.microsoft.com/office/drawing/2014/main" val="4161003176"/>
                    </a:ext>
                  </a:extLst>
                </a:gridCol>
              </a:tblGrid>
              <a:tr h="457200">
                <a:tc>
                  <a:txBody>
                    <a:bodyPr/>
                    <a:lstStyle/>
                    <a:p>
                      <a:r>
                        <a:rPr lang="en-US" sz="1400" b="1">
                          <a:solidFill>
                            <a:srgbClr val="FFFFFF"/>
                          </a:solidFill>
                          <a:latin typeface="Calibri" panose="020F0502020204030204" pitchFamily="34" charset="0"/>
                        </a:rPr>
                        <a:t>General agile term</a:t>
                      </a:r>
                    </a:p>
                  </a:txBody>
                  <a:tcPr marL="127000" marR="101600" marT="63500" marB="63500" anchor="ctr">
                    <a:solidFill>
                      <a:srgbClr val="14213D"/>
                    </a:solidFill>
                  </a:tcPr>
                </a:tc>
                <a:tc>
                  <a:txBody>
                    <a:bodyPr/>
                    <a:lstStyle/>
                    <a:p>
                      <a:r>
                        <a:rPr lang="en-US" sz="1400" b="1">
                          <a:solidFill>
                            <a:srgbClr val="FFFFFF"/>
                          </a:solidFill>
                          <a:latin typeface="Calibri" panose="020F0502020204030204" pitchFamily="34" charset="0"/>
                        </a:rPr>
                        <a:t>Scrum term</a:t>
                      </a:r>
                    </a:p>
                  </a:txBody>
                  <a:tcPr marL="127000" marR="101600" marT="63500" marB="63500" anchor="ctr">
                    <a:solidFill>
                      <a:srgbClr val="14213D"/>
                    </a:solidFill>
                  </a:tcPr>
                </a:tc>
                <a:extLst>
                  <a:ext uri="{0D108BD9-81ED-4DB2-BD59-A6C34878D82A}">
                    <a16:rowId xmlns:a16="http://schemas.microsoft.com/office/drawing/2014/main" val="4000668599"/>
                  </a:ext>
                </a:extLst>
              </a:tr>
              <a:tr h="457200">
                <a:tc>
                  <a:txBody>
                    <a:bodyPr/>
                    <a:lstStyle/>
                    <a:p>
                      <a:r>
                        <a:rPr lang="en-US" sz="1400" b="1">
                          <a:solidFill>
                            <a:srgbClr val="14213D"/>
                          </a:solidFill>
                          <a:latin typeface="Calibri" panose="020F0502020204030204" pitchFamily="34" charset="0"/>
                        </a:rPr>
                        <a:t>Release roadmap</a:t>
                      </a:r>
                    </a:p>
                  </a:txBody>
                  <a:tcPr marL="127000" marR="101600" marT="63500" marB="63500" anchor="ctr">
                    <a:solidFill>
                      <a:srgbClr val="FFFFFF"/>
                    </a:solidFill>
                  </a:tcPr>
                </a:tc>
                <a:tc>
                  <a:txBody>
                    <a:bodyPr/>
                    <a:lstStyle/>
                    <a:p>
                      <a:r>
                        <a:rPr lang="en-US" sz="1400">
                          <a:solidFill>
                            <a:srgbClr val="1F2937"/>
                          </a:solidFill>
                          <a:latin typeface="Calibri" panose="020F0502020204030204" pitchFamily="34" charset="0"/>
                        </a:rPr>
                        <a:t>Product goal and roadmap</a:t>
                      </a:r>
                    </a:p>
                  </a:txBody>
                  <a:tcPr marL="127000" marR="101600" marT="63500" marB="63500" anchor="ctr">
                    <a:solidFill>
                      <a:srgbClr val="FFFFFF"/>
                    </a:solidFill>
                  </a:tcPr>
                </a:tc>
                <a:extLst>
                  <a:ext uri="{0D108BD9-81ED-4DB2-BD59-A6C34878D82A}">
                    <a16:rowId xmlns:a16="http://schemas.microsoft.com/office/drawing/2014/main" val="3295307053"/>
                  </a:ext>
                </a:extLst>
              </a:tr>
              <a:tr h="457200">
                <a:tc>
                  <a:txBody>
                    <a:bodyPr/>
                    <a:lstStyle/>
                    <a:p>
                      <a:r>
                        <a:rPr lang="en-US" sz="1400" b="1">
                          <a:solidFill>
                            <a:srgbClr val="14213D"/>
                          </a:solidFill>
                          <a:latin typeface="Calibri" panose="020F0502020204030204" pitchFamily="34" charset="0"/>
                        </a:rPr>
                        <a:t>Iteration planning</a:t>
                      </a:r>
                    </a:p>
                  </a:txBody>
                  <a:tcPr marL="127000" marR="101600" marT="63500" marB="63500" anchor="ctr">
                    <a:solidFill>
                      <a:srgbClr val="F3F5F8"/>
                    </a:solidFill>
                  </a:tcPr>
                </a:tc>
                <a:tc>
                  <a:txBody>
                    <a:bodyPr/>
                    <a:lstStyle/>
                    <a:p>
                      <a:r>
                        <a:rPr lang="en-US" sz="1400">
                          <a:solidFill>
                            <a:srgbClr val="1F2937"/>
                          </a:solidFill>
                          <a:latin typeface="Calibri" panose="020F0502020204030204" pitchFamily="34" charset="0"/>
                        </a:rPr>
                        <a:t>Sprint planning</a:t>
                      </a:r>
                    </a:p>
                  </a:txBody>
                  <a:tcPr marL="127000" marR="101600" marT="63500" marB="63500" anchor="ctr">
                    <a:solidFill>
                      <a:srgbClr val="F3F5F8"/>
                    </a:solidFill>
                  </a:tcPr>
                </a:tc>
                <a:extLst>
                  <a:ext uri="{0D108BD9-81ED-4DB2-BD59-A6C34878D82A}">
                    <a16:rowId xmlns:a16="http://schemas.microsoft.com/office/drawing/2014/main" val="2391127898"/>
                  </a:ext>
                </a:extLst>
              </a:tr>
              <a:tr h="457200">
                <a:tc>
                  <a:txBody>
                    <a:bodyPr/>
                    <a:lstStyle/>
                    <a:p>
                      <a:r>
                        <a:rPr lang="en-US" sz="1400" b="1">
                          <a:solidFill>
                            <a:srgbClr val="14213D"/>
                          </a:solidFill>
                          <a:latin typeface="Calibri" panose="020F0502020204030204" pitchFamily="34" charset="0"/>
                        </a:rPr>
                        <a:t>Iteration backlog</a:t>
                      </a:r>
                    </a:p>
                  </a:txBody>
                  <a:tcPr marL="127000" marR="101600" marT="63500" marB="63500" anchor="ctr">
                    <a:solidFill>
                      <a:srgbClr val="FFFFFF"/>
                    </a:solidFill>
                  </a:tcPr>
                </a:tc>
                <a:tc>
                  <a:txBody>
                    <a:bodyPr/>
                    <a:lstStyle/>
                    <a:p>
                      <a:r>
                        <a:rPr lang="en-US" sz="1400">
                          <a:solidFill>
                            <a:srgbClr val="1F2937"/>
                          </a:solidFill>
                          <a:latin typeface="Calibri" panose="020F0502020204030204" pitchFamily="34" charset="0"/>
                        </a:rPr>
                        <a:t>Sprint backlog</a:t>
                      </a:r>
                    </a:p>
                  </a:txBody>
                  <a:tcPr marL="127000" marR="101600" marT="63500" marB="63500" anchor="ctr">
                    <a:solidFill>
                      <a:srgbClr val="FFFFFF"/>
                    </a:solidFill>
                  </a:tcPr>
                </a:tc>
                <a:extLst>
                  <a:ext uri="{0D108BD9-81ED-4DB2-BD59-A6C34878D82A}">
                    <a16:rowId xmlns:a16="http://schemas.microsoft.com/office/drawing/2014/main" val="242208187"/>
                  </a:ext>
                </a:extLst>
              </a:tr>
              <a:tr h="457200">
                <a:tc>
                  <a:txBody>
                    <a:bodyPr/>
                    <a:lstStyle/>
                    <a:p>
                      <a:r>
                        <a:rPr lang="en-US" sz="1400" b="1">
                          <a:solidFill>
                            <a:srgbClr val="14213D"/>
                          </a:solidFill>
                          <a:latin typeface="Calibri" panose="020F0502020204030204" pitchFamily="34" charset="0"/>
                        </a:rPr>
                        <a:t>Coordination meeting (daily standup)</a:t>
                      </a:r>
                    </a:p>
                  </a:txBody>
                  <a:tcPr marL="127000" marR="101600" marT="63500" marB="63500" anchor="ctr">
                    <a:solidFill>
                      <a:srgbClr val="F3F5F8"/>
                    </a:solidFill>
                  </a:tcPr>
                </a:tc>
                <a:tc>
                  <a:txBody>
                    <a:bodyPr/>
                    <a:lstStyle/>
                    <a:p>
                      <a:r>
                        <a:rPr lang="en-US" sz="1400">
                          <a:solidFill>
                            <a:srgbClr val="1F2937"/>
                          </a:solidFill>
                          <a:latin typeface="Calibri" panose="020F0502020204030204" pitchFamily="34" charset="0"/>
                        </a:rPr>
                        <a:t>Daily Scrum</a:t>
                      </a:r>
                    </a:p>
                  </a:txBody>
                  <a:tcPr marL="127000" marR="101600" marT="63500" marB="63500" anchor="ctr">
                    <a:solidFill>
                      <a:srgbClr val="F3F5F8"/>
                    </a:solidFill>
                  </a:tcPr>
                </a:tc>
                <a:extLst>
                  <a:ext uri="{0D108BD9-81ED-4DB2-BD59-A6C34878D82A}">
                    <a16:rowId xmlns:a16="http://schemas.microsoft.com/office/drawing/2014/main" val="3314496071"/>
                  </a:ext>
                </a:extLst>
              </a:tr>
              <a:tr h="457200">
                <a:tc>
                  <a:txBody>
                    <a:bodyPr/>
                    <a:lstStyle/>
                    <a:p>
                      <a:r>
                        <a:rPr lang="en-US" sz="1400" b="1">
                          <a:solidFill>
                            <a:srgbClr val="14213D"/>
                          </a:solidFill>
                          <a:latin typeface="Calibri" panose="020F0502020204030204" pitchFamily="34" charset="0"/>
                        </a:rPr>
                        <a:t>Demo / iteration review</a:t>
                      </a:r>
                    </a:p>
                  </a:txBody>
                  <a:tcPr marL="127000" marR="101600" marT="63500" marB="63500" anchor="ctr">
                    <a:solidFill>
                      <a:srgbClr val="FFFFFF"/>
                    </a:solidFill>
                  </a:tcPr>
                </a:tc>
                <a:tc>
                  <a:txBody>
                    <a:bodyPr/>
                    <a:lstStyle/>
                    <a:p>
                      <a:r>
                        <a:rPr lang="en-US" sz="1400">
                          <a:solidFill>
                            <a:srgbClr val="1F2937"/>
                          </a:solidFill>
                          <a:latin typeface="Calibri" panose="020F0502020204030204" pitchFamily="34" charset="0"/>
                        </a:rPr>
                        <a:t>Sprint review</a:t>
                      </a:r>
                    </a:p>
                  </a:txBody>
                  <a:tcPr marL="127000" marR="101600" marT="63500" marB="63500" anchor="ctr">
                    <a:solidFill>
                      <a:srgbClr val="FFFFFF"/>
                    </a:solidFill>
                  </a:tcPr>
                </a:tc>
                <a:extLst>
                  <a:ext uri="{0D108BD9-81ED-4DB2-BD59-A6C34878D82A}">
                    <a16:rowId xmlns:a16="http://schemas.microsoft.com/office/drawing/2014/main" val="4028665516"/>
                  </a:ext>
                </a:extLst>
              </a:tr>
              <a:tr h="457200">
                <a:tc>
                  <a:txBody>
                    <a:bodyPr/>
                    <a:lstStyle/>
                    <a:p>
                      <a:r>
                        <a:rPr lang="en-US" sz="1400" b="1">
                          <a:solidFill>
                            <a:srgbClr val="14213D"/>
                          </a:solidFill>
                          <a:latin typeface="Calibri" panose="020F0502020204030204" pitchFamily="34" charset="0"/>
                        </a:rPr>
                        <a:t>Retrospective</a:t>
                      </a:r>
                    </a:p>
                  </a:txBody>
                  <a:tcPr marL="127000" marR="101600" marT="63500" marB="63500" anchor="ctr">
                    <a:solidFill>
                      <a:srgbClr val="F3F5F8"/>
                    </a:solidFill>
                  </a:tcPr>
                </a:tc>
                <a:tc>
                  <a:txBody>
                    <a:bodyPr/>
                    <a:lstStyle/>
                    <a:p>
                      <a:r>
                        <a:rPr lang="en-US" sz="1400">
                          <a:solidFill>
                            <a:srgbClr val="1F2937"/>
                          </a:solidFill>
                          <a:latin typeface="Calibri" panose="020F0502020204030204" pitchFamily="34" charset="0"/>
                        </a:rPr>
                        <a:t>Sprint retrospective</a:t>
                      </a:r>
                    </a:p>
                  </a:txBody>
                  <a:tcPr marL="127000" marR="101600" marT="63500" marB="63500" anchor="ctr">
                    <a:solidFill>
                      <a:srgbClr val="F3F5F8"/>
                    </a:solidFill>
                  </a:tcPr>
                </a:tc>
                <a:extLst>
                  <a:ext uri="{0D108BD9-81ED-4DB2-BD59-A6C34878D82A}">
                    <a16:rowId xmlns:a16="http://schemas.microsoft.com/office/drawing/2014/main" val="1733467521"/>
                  </a:ext>
                </a:extLst>
              </a:tr>
            </a:tbl>
          </a:graphicData>
        </a:graphic>
      </p:graphicFrame>
      <p:sp>
        <p:nvSpPr>
          <p:cNvPr id="15" name="Rectangle: Rounded Corners 14">
            <a:extLst>
              <a:ext uri="{FF2B5EF4-FFF2-40B4-BE49-F238E27FC236}">
                <a16:creationId xmlns:a16="http://schemas.microsoft.com/office/drawing/2014/main" id="{BB2428C8-E980-81B2-3DE3-8C31EED5BE2B}"/>
              </a:ext>
            </a:extLst>
          </p:cNvPr>
          <p:cNvSpPr/>
          <p:nvPr/>
        </p:nvSpPr>
        <p:spPr>
          <a:xfrm>
            <a:off x="7874000" y="2819400"/>
            <a:ext cx="3810000" cy="32004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B94C7D08-D022-8261-DCE9-D722A1881456}"/>
              </a:ext>
            </a:extLst>
          </p:cNvPr>
          <p:cNvSpPr txBox="1"/>
          <p:nvPr/>
        </p:nvSpPr>
        <p:spPr>
          <a:xfrm>
            <a:off x="8051800" y="2997200"/>
            <a:ext cx="3454400" cy="2844800"/>
          </a:xfrm>
          <a:prstGeom prst="rect">
            <a:avLst/>
          </a:prstGeom>
          <a:noFill/>
        </p:spPr>
        <p:txBody>
          <a:bodyPr vert="horz" wrap="square" lIns="0" tIns="0" rIns="0" bIns="0" rtlCol="0" anchor="t">
            <a:noAutofit/>
          </a:bodyPr>
          <a:lstStyle/>
          <a:p>
            <a:pPr>
              <a:spcAft>
                <a:spcPts val="600"/>
              </a:spcAft>
            </a:pPr>
            <a:r>
              <a:rPr lang="en-US" sz="1500" b="1">
                <a:solidFill>
                  <a:srgbClr val="6A4C93"/>
                </a:solidFill>
                <a:latin typeface="Calibri" panose="020F0502020204030204" pitchFamily="34" charset="0"/>
              </a:rPr>
              <a:t>Feeding the backlog</a:t>
            </a:r>
          </a:p>
          <a:p>
            <a:r>
              <a:rPr lang="en-US" sz="1300">
                <a:solidFill>
                  <a:srgbClr val="1F2937"/>
                </a:solidFill>
                <a:latin typeface="Calibri" panose="020F0502020204030204" pitchFamily="34" charset="0"/>
              </a:rPr>
              <a:t>A business backlog is refined by criteria, prioritized, sized, and sequenced. Value is released in minimum business increments (MBIs): the smallest piece that delivers real value to the business.</a:t>
            </a:r>
          </a:p>
          <a:p>
            <a:pPr>
              <a:spcBef>
                <a:spcPts val="1200"/>
              </a:spcBef>
            </a:pPr>
            <a:r>
              <a:rPr lang="en-US" sz="1300" i="1">
                <a:solidFill>
                  <a:srgbClr val="14213D"/>
                </a:solidFill>
                <a:latin typeface="Calibri" panose="020F0502020204030204" pitchFamily="34" charset="0"/>
              </a:rPr>
              <a:t>Exam cue: a question that says ‘iteration’ and one that says ‘sprint’ usually test the same idea.</a:t>
            </a:r>
          </a:p>
        </p:txBody>
      </p:sp>
      <p:sp>
        <p:nvSpPr>
          <p:cNvPr id="17" name="Footer">
            <a:extLst>
              <a:ext uri="{FF2B5EF4-FFF2-40B4-BE49-F238E27FC236}">
                <a16:creationId xmlns:a16="http://schemas.microsoft.com/office/drawing/2014/main" id="{FCE2EEA9-23D0-BA9C-9B95-7D6769D55A88}"/>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and Agile Alliance, Agile Practice Guide (2017), Section 5; PMI, Disciplined Agile toolkit</a:t>
            </a:r>
          </a:p>
        </p:txBody>
      </p:sp>
      <p:sp>
        <p:nvSpPr>
          <p:cNvPr id="18" name="SlideNum">
            <a:extLst>
              <a:ext uri="{FF2B5EF4-FFF2-40B4-BE49-F238E27FC236}">
                <a16:creationId xmlns:a16="http://schemas.microsoft.com/office/drawing/2014/main" id="{82BAE42A-8561-1C8F-9474-9A19B7F4C0BD}"/>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98</a:t>
            </a:r>
          </a:p>
        </p:txBody>
      </p:sp>
      <p:sp>
        <p:nvSpPr>
          <p:cNvPr id="19"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27507877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D1594F0-0CFE-B76C-032A-7C290CD5D052}"/>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Adaptive release planning: story mapping</a:t>
            </a:r>
          </a:p>
        </p:txBody>
      </p:sp>
      <p:sp>
        <p:nvSpPr>
          <p:cNvPr id="3" name="Tag">
            <a:extLst>
              <a:ext uri="{FF2B5EF4-FFF2-40B4-BE49-F238E27FC236}">
                <a16:creationId xmlns:a16="http://schemas.microsoft.com/office/drawing/2014/main" id="{04AC18B1-18D9-F2BA-3CB9-230F28C2C8D2}"/>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6A4C93"/>
                </a:solidFill>
                <a:latin typeface="Calibri" panose="020F0502020204030204" pitchFamily="34" charset="0"/>
              </a:rPr>
              <a:t>Agile essentials · Supports Process Task 2 (Develop and manage project scope) and Task 1 (integrated planning)</a:t>
            </a:r>
          </a:p>
        </p:txBody>
      </p:sp>
      <p:sp>
        <p:nvSpPr>
          <p:cNvPr id="4" name="Rectangle: Rounded Corners 3">
            <a:extLst>
              <a:ext uri="{FF2B5EF4-FFF2-40B4-BE49-F238E27FC236}">
                <a16:creationId xmlns:a16="http://schemas.microsoft.com/office/drawing/2014/main" id="{42781718-68F4-CE55-E48A-B50C452E6EEA}"/>
              </a:ext>
            </a:extLst>
          </p:cNvPr>
          <p:cNvSpPr/>
          <p:nvPr/>
        </p:nvSpPr>
        <p:spPr>
          <a:xfrm>
            <a:off x="508000" y="1320800"/>
            <a:ext cx="3810000" cy="26670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9CFE802-F215-EC48-9777-6009C91811AB}"/>
              </a:ext>
            </a:extLst>
          </p:cNvPr>
          <p:cNvSpPr txBox="1"/>
          <p:nvPr/>
        </p:nvSpPr>
        <p:spPr>
          <a:xfrm>
            <a:off x="660400" y="1473200"/>
            <a:ext cx="3505200" cy="2362200"/>
          </a:xfrm>
          <a:prstGeom prst="rect">
            <a:avLst/>
          </a:prstGeom>
          <a:noFill/>
        </p:spPr>
        <p:txBody>
          <a:bodyPr vert="horz" wrap="square" lIns="0" tIns="0" rIns="0" bIns="0" rtlCol="0" anchor="t">
            <a:noAutofit/>
          </a:bodyPr>
          <a:lstStyle/>
          <a:p>
            <a:pPr>
              <a:spcAft>
                <a:spcPts val="600"/>
              </a:spcAft>
            </a:pPr>
            <a:r>
              <a:rPr lang="en-US" sz="1500" b="1">
                <a:solidFill>
                  <a:srgbClr val="6A4C93"/>
                </a:solidFill>
                <a:latin typeface="Calibri" panose="020F0502020204030204" pitchFamily="34" charset="0"/>
              </a:rPr>
              <a:t>What a story map does</a:t>
            </a:r>
          </a:p>
          <a:p>
            <a:pPr>
              <a:spcAft>
                <a:spcPts val="500"/>
              </a:spcAft>
            </a:pPr>
            <a:r>
              <a:rPr lang="en-US" sz="1300">
                <a:solidFill>
                  <a:srgbClr val="1F2937"/>
                </a:solidFill>
                <a:latin typeface="Calibri" panose="020F0502020204030204" pitchFamily="34" charset="0"/>
              </a:rPr>
              <a:t>Groups stories by sequence (left to right) and priority (top to bottom).</a:t>
            </a:r>
          </a:p>
          <a:p>
            <a:pPr>
              <a:spcAft>
                <a:spcPts val="500"/>
              </a:spcAft>
            </a:pPr>
            <a:r>
              <a:rPr lang="en-US" sz="1300">
                <a:solidFill>
                  <a:srgbClr val="1F2937"/>
                </a:solidFill>
                <a:latin typeface="Calibri" panose="020F0502020204030204" pitchFamily="34" charset="0"/>
              </a:rPr>
              <a:t>Sequences features and functions for the release.</a:t>
            </a:r>
          </a:p>
          <a:p>
            <a:pPr>
              <a:spcAft>
                <a:spcPts val="500"/>
              </a:spcAft>
            </a:pPr>
            <a:r>
              <a:rPr lang="en-US" sz="1300">
                <a:solidFill>
                  <a:srgbClr val="1F2937"/>
                </a:solidFill>
                <a:latin typeface="Calibri" panose="020F0502020204030204" pitchFamily="34" charset="0"/>
              </a:rPr>
              <a:t>Prioritizes the release backlog and links each story to a feature.</a:t>
            </a:r>
          </a:p>
        </p:txBody>
      </p:sp>
      <p:sp>
        <p:nvSpPr>
          <p:cNvPr id="6" name="Rectangle: Rounded Corners 5">
            <a:extLst>
              <a:ext uri="{FF2B5EF4-FFF2-40B4-BE49-F238E27FC236}">
                <a16:creationId xmlns:a16="http://schemas.microsoft.com/office/drawing/2014/main" id="{D4402424-C1DB-DB3D-A912-623A9D08E6F7}"/>
              </a:ext>
            </a:extLst>
          </p:cNvPr>
          <p:cNvSpPr/>
          <p:nvPr/>
        </p:nvSpPr>
        <p:spPr>
          <a:xfrm>
            <a:off x="508000" y="4114800"/>
            <a:ext cx="3810000" cy="12446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27A645B-AFF7-F4F9-AB45-9FCBA7D89681}"/>
              </a:ext>
            </a:extLst>
          </p:cNvPr>
          <p:cNvSpPr txBox="1"/>
          <p:nvPr/>
        </p:nvSpPr>
        <p:spPr>
          <a:xfrm>
            <a:off x="660400" y="4267200"/>
            <a:ext cx="3505200" cy="939800"/>
          </a:xfrm>
          <a:prstGeom prst="rect">
            <a:avLst/>
          </a:prstGeom>
          <a:noFill/>
        </p:spPr>
        <p:txBody>
          <a:bodyPr vert="horz" wrap="square" lIns="0" tIns="0" rIns="0" bIns="0" rtlCol="0" anchor="t">
            <a:noAutofit/>
          </a:bodyPr>
          <a:lstStyle/>
          <a:p>
            <a:pPr>
              <a:spcAft>
                <a:spcPts val="600"/>
              </a:spcAft>
            </a:pPr>
            <a:r>
              <a:rPr lang="en-US" sz="1500" b="1">
                <a:solidFill>
                  <a:srgbClr val="A86F0E"/>
                </a:solidFill>
                <a:latin typeface="Calibri" panose="020F0502020204030204" pitchFamily="34" charset="0"/>
              </a:rPr>
              <a:t>Slicing releases</a:t>
            </a:r>
          </a:p>
          <a:p>
            <a:r>
              <a:rPr lang="en-US" sz="1300">
                <a:solidFill>
                  <a:srgbClr val="1F2937"/>
                </a:solidFill>
                <a:latin typeface="Calibri" panose="020F0502020204030204" pitchFamily="34" charset="0"/>
              </a:rPr>
              <a:t>Each horizontal slice is an iteration or release. The top slice is the minimum viable product (MVP).</a:t>
            </a:r>
          </a:p>
        </p:txBody>
      </p:sp>
      <p:sp>
        <p:nvSpPr>
          <p:cNvPr id="8" name="TextBox 7">
            <a:extLst>
              <a:ext uri="{FF2B5EF4-FFF2-40B4-BE49-F238E27FC236}">
                <a16:creationId xmlns:a16="http://schemas.microsoft.com/office/drawing/2014/main" id="{7C3CCAD4-A83B-6BED-B8E4-C6B0FCD212B5}"/>
              </a:ext>
            </a:extLst>
          </p:cNvPr>
          <p:cNvSpPr txBox="1"/>
          <p:nvPr/>
        </p:nvSpPr>
        <p:spPr>
          <a:xfrm>
            <a:off x="4826000" y="1295400"/>
            <a:ext cx="5334000" cy="228600"/>
          </a:xfrm>
          <a:prstGeom prst="rect">
            <a:avLst/>
          </a:prstGeom>
          <a:noFill/>
        </p:spPr>
        <p:txBody>
          <a:bodyPr vert="horz" wrap="square" lIns="0" tIns="0" rIns="0" bIns="0" rtlCol="0" anchor="t">
            <a:noAutofit/>
          </a:bodyPr>
          <a:lstStyle/>
          <a:p>
            <a:r>
              <a:rPr lang="en-US" sz="1300" b="1">
                <a:solidFill>
                  <a:srgbClr val="14213D"/>
                </a:solidFill>
                <a:latin typeface="Calibri" panose="020F0502020204030204" pitchFamily="34" charset="0"/>
              </a:rPr>
              <a:t>Sequence of features in a release</a:t>
            </a:r>
          </a:p>
        </p:txBody>
      </p:sp>
      <p:sp>
        <p:nvSpPr>
          <p:cNvPr id="9" name="Rectangle: Rounded Corners 8">
            <a:extLst>
              <a:ext uri="{FF2B5EF4-FFF2-40B4-BE49-F238E27FC236}">
                <a16:creationId xmlns:a16="http://schemas.microsoft.com/office/drawing/2014/main" id="{5F3E03D2-7C91-251E-BF0F-FCD996910B66}"/>
              </a:ext>
            </a:extLst>
          </p:cNvPr>
          <p:cNvSpPr/>
          <p:nvPr/>
        </p:nvSpPr>
        <p:spPr>
          <a:xfrm>
            <a:off x="4826000" y="1600200"/>
            <a:ext cx="660400" cy="330200"/>
          </a:xfrm>
          <a:prstGeom prst="roundRect">
            <a:avLst>
              <a:gd name="adj" fmla="val 8000"/>
            </a:avLst>
          </a:prstGeom>
          <a:solidFill>
            <a:srgbClr val="9CC8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D29B4267-1701-81BA-9637-29676C389D0B}"/>
              </a:ext>
            </a:extLst>
          </p:cNvPr>
          <p:cNvSpPr/>
          <p:nvPr/>
        </p:nvSpPr>
        <p:spPr>
          <a:xfrm>
            <a:off x="6350000" y="1600200"/>
            <a:ext cx="660400" cy="330200"/>
          </a:xfrm>
          <a:prstGeom prst="roundRect">
            <a:avLst>
              <a:gd name="adj" fmla="val 8000"/>
            </a:avLst>
          </a:prstGeom>
          <a:solidFill>
            <a:srgbClr val="9CC8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CE9907D3-F77F-A241-70D7-639207B9DB4C}"/>
              </a:ext>
            </a:extLst>
          </p:cNvPr>
          <p:cNvSpPr/>
          <p:nvPr/>
        </p:nvSpPr>
        <p:spPr>
          <a:xfrm>
            <a:off x="8636000" y="1600200"/>
            <a:ext cx="660400" cy="330200"/>
          </a:xfrm>
          <a:prstGeom prst="roundRect">
            <a:avLst>
              <a:gd name="adj" fmla="val 8000"/>
            </a:avLst>
          </a:prstGeom>
          <a:solidFill>
            <a:srgbClr val="9CC8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6F27F490-947E-D0AA-946C-7447E849FAA9}"/>
              </a:ext>
            </a:extLst>
          </p:cNvPr>
          <p:cNvCxnSpPr/>
          <p:nvPr/>
        </p:nvCxnSpPr>
        <p:spPr>
          <a:xfrm>
            <a:off x="4724400" y="2247900"/>
            <a:ext cx="5588000" cy="0"/>
          </a:xfrm>
          <a:prstGeom prst="line">
            <a:avLst/>
          </a:prstGeom>
          <a:ln w="31750">
            <a:solidFill>
              <a:srgbClr val="14213D"/>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04A86827-41EF-472C-924F-0836055A4FD3}"/>
              </a:ext>
            </a:extLst>
          </p:cNvPr>
          <p:cNvSpPr/>
          <p:nvPr/>
        </p:nvSpPr>
        <p:spPr>
          <a:xfrm>
            <a:off x="4826000" y="2057400"/>
            <a:ext cx="660400" cy="381000"/>
          </a:xfrm>
          <a:prstGeom prst="roundRect">
            <a:avLst>
              <a:gd name="adj" fmla="val 8000"/>
            </a:avLst>
          </a:prstGeom>
          <a:solidFill>
            <a:srgbClr val="2F80D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8388CC2E-1B67-BF0D-31B2-BC57C7362034}"/>
              </a:ext>
            </a:extLst>
          </p:cNvPr>
          <p:cNvSpPr/>
          <p:nvPr/>
        </p:nvSpPr>
        <p:spPr>
          <a:xfrm>
            <a:off x="5588000" y="2057400"/>
            <a:ext cx="660400" cy="381000"/>
          </a:xfrm>
          <a:prstGeom prst="roundRect">
            <a:avLst>
              <a:gd name="adj" fmla="val 8000"/>
            </a:avLst>
          </a:prstGeom>
          <a:solidFill>
            <a:srgbClr val="2F80D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2C6D471A-0B32-E2C1-0AC0-AF1F4A2557A4}"/>
              </a:ext>
            </a:extLst>
          </p:cNvPr>
          <p:cNvSpPr/>
          <p:nvPr/>
        </p:nvSpPr>
        <p:spPr>
          <a:xfrm>
            <a:off x="6350000" y="2057400"/>
            <a:ext cx="660400" cy="381000"/>
          </a:xfrm>
          <a:prstGeom prst="roundRect">
            <a:avLst>
              <a:gd name="adj" fmla="val 8000"/>
            </a:avLst>
          </a:prstGeom>
          <a:solidFill>
            <a:srgbClr val="2F80D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73E24315-D4F0-4BE2-B8CE-8FF45D001B53}"/>
              </a:ext>
            </a:extLst>
          </p:cNvPr>
          <p:cNvSpPr/>
          <p:nvPr/>
        </p:nvSpPr>
        <p:spPr>
          <a:xfrm>
            <a:off x="7112000" y="2057400"/>
            <a:ext cx="660400" cy="381000"/>
          </a:xfrm>
          <a:prstGeom prst="roundRect">
            <a:avLst>
              <a:gd name="adj" fmla="val 8000"/>
            </a:avLst>
          </a:prstGeom>
          <a:solidFill>
            <a:srgbClr val="2F80D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B319480A-DC9F-1831-DA87-7331625D5813}"/>
              </a:ext>
            </a:extLst>
          </p:cNvPr>
          <p:cNvSpPr/>
          <p:nvPr/>
        </p:nvSpPr>
        <p:spPr>
          <a:xfrm>
            <a:off x="7874000" y="2057400"/>
            <a:ext cx="660400" cy="381000"/>
          </a:xfrm>
          <a:prstGeom prst="roundRect">
            <a:avLst>
              <a:gd name="adj" fmla="val 8000"/>
            </a:avLst>
          </a:prstGeom>
          <a:solidFill>
            <a:srgbClr val="2F80D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E25585E7-7614-7668-03AE-C530B52D5DA4}"/>
              </a:ext>
            </a:extLst>
          </p:cNvPr>
          <p:cNvSpPr/>
          <p:nvPr/>
        </p:nvSpPr>
        <p:spPr>
          <a:xfrm>
            <a:off x="8636000" y="2057400"/>
            <a:ext cx="660400" cy="381000"/>
          </a:xfrm>
          <a:prstGeom prst="roundRect">
            <a:avLst>
              <a:gd name="adj" fmla="val 8000"/>
            </a:avLst>
          </a:prstGeom>
          <a:solidFill>
            <a:srgbClr val="2F80D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908A44F2-D3C4-91BE-C463-44CEDF8D92D8}"/>
              </a:ext>
            </a:extLst>
          </p:cNvPr>
          <p:cNvSpPr/>
          <p:nvPr/>
        </p:nvSpPr>
        <p:spPr>
          <a:xfrm>
            <a:off x="9398000" y="2057400"/>
            <a:ext cx="660400" cy="381000"/>
          </a:xfrm>
          <a:prstGeom prst="roundRect">
            <a:avLst>
              <a:gd name="adj" fmla="val 8000"/>
            </a:avLst>
          </a:prstGeom>
          <a:solidFill>
            <a:srgbClr val="2F80D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543547F-EE77-0F28-FD3E-9F572AF9B104}"/>
              </a:ext>
            </a:extLst>
          </p:cNvPr>
          <p:cNvSpPr/>
          <p:nvPr/>
        </p:nvSpPr>
        <p:spPr>
          <a:xfrm>
            <a:off x="4826000" y="2616200"/>
            <a:ext cx="660400" cy="304800"/>
          </a:xfrm>
          <a:prstGeom prst="rect">
            <a:avLst/>
          </a:prstGeom>
          <a:solidFill>
            <a:srgbClr val="F7D0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F90ED9B-A748-184E-3010-7D697A1A7E83}"/>
              </a:ext>
            </a:extLst>
          </p:cNvPr>
          <p:cNvSpPr/>
          <p:nvPr/>
        </p:nvSpPr>
        <p:spPr>
          <a:xfrm>
            <a:off x="6350000" y="2616200"/>
            <a:ext cx="660400" cy="304800"/>
          </a:xfrm>
          <a:prstGeom prst="rect">
            <a:avLst/>
          </a:prstGeom>
          <a:solidFill>
            <a:srgbClr val="F7D0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3084FA6-E7E1-6F31-FBFA-47C923D7C23F}"/>
              </a:ext>
            </a:extLst>
          </p:cNvPr>
          <p:cNvSpPr/>
          <p:nvPr/>
        </p:nvSpPr>
        <p:spPr>
          <a:xfrm>
            <a:off x="7874000" y="2616200"/>
            <a:ext cx="660400" cy="304800"/>
          </a:xfrm>
          <a:prstGeom prst="rect">
            <a:avLst/>
          </a:prstGeom>
          <a:solidFill>
            <a:srgbClr val="F7D0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178BBD9-6C7D-FAD6-EB70-0E338BB5EACB}"/>
              </a:ext>
            </a:extLst>
          </p:cNvPr>
          <p:cNvSpPr/>
          <p:nvPr/>
        </p:nvSpPr>
        <p:spPr>
          <a:xfrm>
            <a:off x="9398000" y="2616200"/>
            <a:ext cx="660400" cy="304800"/>
          </a:xfrm>
          <a:prstGeom prst="rect">
            <a:avLst/>
          </a:prstGeom>
          <a:solidFill>
            <a:srgbClr val="F7D0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300BD38-3DE7-3D6F-45DD-1F337CB5F2A1}"/>
              </a:ext>
            </a:extLst>
          </p:cNvPr>
          <p:cNvSpPr/>
          <p:nvPr/>
        </p:nvSpPr>
        <p:spPr>
          <a:xfrm>
            <a:off x="5588000" y="2997200"/>
            <a:ext cx="660400" cy="304800"/>
          </a:xfrm>
          <a:prstGeom prst="rect">
            <a:avLst/>
          </a:prstGeom>
          <a:solidFill>
            <a:srgbClr val="F7D0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E7A2EAC-3B17-69D3-E6C4-FC78BEBC0AF8}"/>
              </a:ext>
            </a:extLst>
          </p:cNvPr>
          <p:cNvSpPr/>
          <p:nvPr/>
        </p:nvSpPr>
        <p:spPr>
          <a:xfrm>
            <a:off x="6350000" y="2997200"/>
            <a:ext cx="660400" cy="304800"/>
          </a:xfrm>
          <a:prstGeom prst="rect">
            <a:avLst/>
          </a:prstGeom>
          <a:solidFill>
            <a:srgbClr val="F7D0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8E17511-D64D-B9A8-D8D1-0AE3FD5F508C}"/>
              </a:ext>
            </a:extLst>
          </p:cNvPr>
          <p:cNvSpPr/>
          <p:nvPr/>
        </p:nvSpPr>
        <p:spPr>
          <a:xfrm>
            <a:off x="4826000" y="3581400"/>
            <a:ext cx="660400" cy="304800"/>
          </a:xfrm>
          <a:prstGeom prst="rect">
            <a:avLst/>
          </a:prstGeom>
          <a:solidFill>
            <a:srgbClr val="F7D0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AAAB8D5-91A3-881F-C54C-9DF57998F760}"/>
              </a:ext>
            </a:extLst>
          </p:cNvPr>
          <p:cNvSpPr/>
          <p:nvPr/>
        </p:nvSpPr>
        <p:spPr>
          <a:xfrm>
            <a:off x="6350000" y="3581400"/>
            <a:ext cx="660400" cy="304800"/>
          </a:xfrm>
          <a:prstGeom prst="rect">
            <a:avLst/>
          </a:prstGeom>
          <a:solidFill>
            <a:srgbClr val="F7D0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9CAC70A-9A67-197C-7EF4-2802E36177FC}"/>
              </a:ext>
            </a:extLst>
          </p:cNvPr>
          <p:cNvSpPr/>
          <p:nvPr/>
        </p:nvSpPr>
        <p:spPr>
          <a:xfrm>
            <a:off x="7112000" y="3581400"/>
            <a:ext cx="660400" cy="304800"/>
          </a:xfrm>
          <a:prstGeom prst="rect">
            <a:avLst/>
          </a:prstGeom>
          <a:solidFill>
            <a:srgbClr val="F7D0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18BF428-BDCD-71C7-E71C-F364C203B550}"/>
              </a:ext>
            </a:extLst>
          </p:cNvPr>
          <p:cNvSpPr/>
          <p:nvPr/>
        </p:nvSpPr>
        <p:spPr>
          <a:xfrm>
            <a:off x="8636000" y="3581400"/>
            <a:ext cx="660400" cy="304800"/>
          </a:xfrm>
          <a:prstGeom prst="rect">
            <a:avLst/>
          </a:prstGeom>
          <a:solidFill>
            <a:srgbClr val="F7D0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1290EC4-5886-D9DE-0AD2-E142346B4905}"/>
              </a:ext>
            </a:extLst>
          </p:cNvPr>
          <p:cNvSpPr/>
          <p:nvPr/>
        </p:nvSpPr>
        <p:spPr>
          <a:xfrm>
            <a:off x="6350000" y="3962400"/>
            <a:ext cx="660400" cy="304800"/>
          </a:xfrm>
          <a:prstGeom prst="rect">
            <a:avLst/>
          </a:prstGeom>
          <a:solidFill>
            <a:srgbClr val="F7D0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0CB82513-C68E-0D3C-AC75-A8923695A548}"/>
              </a:ext>
            </a:extLst>
          </p:cNvPr>
          <p:cNvSpPr/>
          <p:nvPr/>
        </p:nvSpPr>
        <p:spPr>
          <a:xfrm>
            <a:off x="7112000" y="3962400"/>
            <a:ext cx="660400" cy="304800"/>
          </a:xfrm>
          <a:prstGeom prst="rect">
            <a:avLst/>
          </a:prstGeom>
          <a:solidFill>
            <a:srgbClr val="F7D0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3145C57B-D456-A9A2-A470-A44568E5AB4E}"/>
              </a:ext>
            </a:extLst>
          </p:cNvPr>
          <p:cNvSpPr/>
          <p:nvPr/>
        </p:nvSpPr>
        <p:spPr>
          <a:xfrm>
            <a:off x="8636000" y="3962400"/>
            <a:ext cx="660400" cy="304800"/>
          </a:xfrm>
          <a:prstGeom prst="rect">
            <a:avLst/>
          </a:prstGeom>
          <a:solidFill>
            <a:srgbClr val="F7D0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A799503-6488-ACA2-1116-0A8AB915C522}"/>
              </a:ext>
            </a:extLst>
          </p:cNvPr>
          <p:cNvSpPr/>
          <p:nvPr/>
        </p:nvSpPr>
        <p:spPr>
          <a:xfrm>
            <a:off x="7112000" y="4546600"/>
            <a:ext cx="660400" cy="304800"/>
          </a:xfrm>
          <a:prstGeom prst="rect">
            <a:avLst/>
          </a:prstGeom>
          <a:solidFill>
            <a:srgbClr val="F7D0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33DEAA8-BF3A-5A4A-1761-030430938E5F}"/>
              </a:ext>
            </a:extLst>
          </p:cNvPr>
          <p:cNvSpPr/>
          <p:nvPr/>
        </p:nvSpPr>
        <p:spPr>
          <a:xfrm>
            <a:off x="6350000" y="4927600"/>
            <a:ext cx="660400" cy="304800"/>
          </a:xfrm>
          <a:prstGeom prst="rect">
            <a:avLst/>
          </a:prstGeom>
          <a:solidFill>
            <a:srgbClr val="F7D0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EB661BD-8CD0-7810-6208-F2A58375B9F4}"/>
              </a:ext>
            </a:extLst>
          </p:cNvPr>
          <p:cNvSpPr/>
          <p:nvPr/>
        </p:nvSpPr>
        <p:spPr>
          <a:xfrm>
            <a:off x="8636000" y="4927600"/>
            <a:ext cx="660400" cy="304800"/>
          </a:xfrm>
          <a:prstGeom prst="rect">
            <a:avLst/>
          </a:prstGeom>
          <a:solidFill>
            <a:srgbClr val="F7D0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F12D4043-60AC-05BB-84A5-B51B0BC54E00}"/>
              </a:ext>
            </a:extLst>
          </p:cNvPr>
          <p:cNvCxnSpPr/>
          <p:nvPr/>
        </p:nvCxnSpPr>
        <p:spPr>
          <a:xfrm>
            <a:off x="4749800" y="3429000"/>
            <a:ext cx="5486400" cy="0"/>
          </a:xfrm>
          <a:prstGeom prst="line">
            <a:avLst/>
          </a:prstGeom>
          <a:ln w="12700">
            <a:solidFill>
              <a:srgbClr val="5B6475"/>
            </a:solidFill>
            <a:prstDash val="dash"/>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EDFF2D87-EB01-B183-53C5-A77E55A687C4}"/>
              </a:ext>
            </a:extLst>
          </p:cNvPr>
          <p:cNvCxnSpPr/>
          <p:nvPr/>
        </p:nvCxnSpPr>
        <p:spPr>
          <a:xfrm>
            <a:off x="4749800" y="4394200"/>
            <a:ext cx="5486400" cy="0"/>
          </a:xfrm>
          <a:prstGeom prst="line">
            <a:avLst/>
          </a:prstGeom>
          <a:ln w="12700">
            <a:solidFill>
              <a:srgbClr val="5B6475"/>
            </a:solidFill>
            <a:prstDash val="dash"/>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AB2243BE-53C7-83B0-B8C5-27349E8B7A11}"/>
              </a:ext>
            </a:extLst>
          </p:cNvPr>
          <p:cNvCxnSpPr/>
          <p:nvPr/>
        </p:nvCxnSpPr>
        <p:spPr>
          <a:xfrm>
            <a:off x="4622800" y="2590800"/>
            <a:ext cx="0" cy="2641600"/>
          </a:xfrm>
          <a:prstGeom prst="line">
            <a:avLst/>
          </a:prstGeom>
          <a:ln w="25400">
            <a:solidFill>
              <a:srgbClr val="6A4C93"/>
            </a:solidFill>
            <a:tailEnd type="triangle"/>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E3E4FE0D-9ED5-EB6E-233E-41EE12956DEF}"/>
              </a:ext>
            </a:extLst>
          </p:cNvPr>
          <p:cNvSpPr txBox="1"/>
          <p:nvPr/>
        </p:nvSpPr>
        <p:spPr>
          <a:xfrm>
            <a:off x="10312400" y="1600200"/>
            <a:ext cx="1371600" cy="355600"/>
          </a:xfrm>
          <a:prstGeom prst="rect">
            <a:avLst/>
          </a:prstGeom>
          <a:noFill/>
        </p:spPr>
        <p:txBody>
          <a:bodyPr vert="horz" wrap="square" lIns="0" tIns="0" rIns="0" bIns="0" rtlCol="0" anchor="t">
            <a:noAutofit/>
          </a:bodyPr>
          <a:lstStyle/>
          <a:p>
            <a:r>
              <a:rPr lang="en-US" sz="1100" b="1">
                <a:solidFill>
                  <a:srgbClr val="14213D"/>
                </a:solidFill>
                <a:latin typeface="Calibri" panose="020F0502020204030204" pitchFamily="34" charset="0"/>
              </a:rPr>
              <a:t>Backbone: business activities</a:t>
            </a:r>
          </a:p>
        </p:txBody>
      </p:sp>
      <p:sp>
        <p:nvSpPr>
          <p:cNvPr id="40" name="TextBox 39">
            <a:extLst>
              <a:ext uri="{FF2B5EF4-FFF2-40B4-BE49-F238E27FC236}">
                <a16:creationId xmlns:a16="http://schemas.microsoft.com/office/drawing/2014/main" id="{6BF6D8BB-3E91-4A30-D3C5-6E98FC447BF8}"/>
              </a:ext>
            </a:extLst>
          </p:cNvPr>
          <p:cNvSpPr txBox="1"/>
          <p:nvPr/>
        </p:nvSpPr>
        <p:spPr>
          <a:xfrm>
            <a:off x="10312400" y="2057400"/>
            <a:ext cx="1371600" cy="355600"/>
          </a:xfrm>
          <a:prstGeom prst="rect">
            <a:avLst/>
          </a:prstGeom>
          <a:noFill/>
        </p:spPr>
        <p:txBody>
          <a:bodyPr vert="horz" wrap="square" lIns="0" tIns="0" rIns="0" bIns="0" rtlCol="0" anchor="t">
            <a:noAutofit/>
          </a:bodyPr>
          <a:lstStyle/>
          <a:p>
            <a:r>
              <a:rPr lang="en-US" sz="1100" b="1">
                <a:solidFill>
                  <a:srgbClr val="14213D"/>
                </a:solidFill>
                <a:latin typeface="Calibri" panose="020F0502020204030204" pitchFamily="34" charset="0"/>
              </a:rPr>
              <a:t>Narrative line: user steps</a:t>
            </a:r>
          </a:p>
        </p:txBody>
      </p:sp>
      <p:sp>
        <p:nvSpPr>
          <p:cNvPr id="41" name="TextBox 40">
            <a:extLst>
              <a:ext uri="{FF2B5EF4-FFF2-40B4-BE49-F238E27FC236}">
                <a16:creationId xmlns:a16="http://schemas.microsoft.com/office/drawing/2014/main" id="{2DB383B7-6AE5-4B3D-8F0C-884EA07C70B5}"/>
              </a:ext>
            </a:extLst>
          </p:cNvPr>
          <p:cNvSpPr txBox="1"/>
          <p:nvPr/>
        </p:nvSpPr>
        <p:spPr>
          <a:xfrm>
            <a:off x="10312400" y="2895600"/>
            <a:ext cx="1371600" cy="228600"/>
          </a:xfrm>
          <a:prstGeom prst="rect">
            <a:avLst/>
          </a:prstGeom>
          <a:noFill/>
        </p:spPr>
        <p:txBody>
          <a:bodyPr vert="horz" wrap="square" lIns="0" tIns="0" rIns="0" bIns="0" rtlCol="0" anchor="t">
            <a:noAutofit/>
          </a:bodyPr>
          <a:lstStyle/>
          <a:p>
            <a:r>
              <a:rPr lang="en-US" sz="1100" b="1">
                <a:solidFill>
                  <a:srgbClr val="A86F0E"/>
                </a:solidFill>
                <a:latin typeface="Calibri" panose="020F0502020204030204" pitchFamily="34" charset="0"/>
              </a:rPr>
              <a:t>Release 1 (MVP)</a:t>
            </a:r>
          </a:p>
        </p:txBody>
      </p:sp>
      <p:sp>
        <p:nvSpPr>
          <p:cNvPr id="42" name="TextBox 41">
            <a:extLst>
              <a:ext uri="{FF2B5EF4-FFF2-40B4-BE49-F238E27FC236}">
                <a16:creationId xmlns:a16="http://schemas.microsoft.com/office/drawing/2014/main" id="{DCDFA196-5864-BB10-3196-FF38C5A52758}"/>
              </a:ext>
            </a:extLst>
          </p:cNvPr>
          <p:cNvSpPr txBox="1"/>
          <p:nvPr/>
        </p:nvSpPr>
        <p:spPr>
          <a:xfrm>
            <a:off x="10312400" y="3860800"/>
            <a:ext cx="1371600" cy="228600"/>
          </a:xfrm>
          <a:prstGeom prst="rect">
            <a:avLst/>
          </a:prstGeom>
          <a:noFill/>
        </p:spPr>
        <p:txBody>
          <a:bodyPr vert="horz" wrap="square" lIns="0" tIns="0" rIns="0" bIns="0" rtlCol="0" anchor="t">
            <a:noAutofit/>
          </a:bodyPr>
          <a:lstStyle/>
          <a:p>
            <a:r>
              <a:rPr lang="en-US" sz="1100" b="1">
                <a:solidFill>
                  <a:srgbClr val="5B6475"/>
                </a:solidFill>
                <a:latin typeface="Calibri" panose="020F0502020204030204" pitchFamily="34" charset="0"/>
              </a:rPr>
              <a:t>Release 2</a:t>
            </a:r>
          </a:p>
        </p:txBody>
      </p:sp>
      <p:sp>
        <p:nvSpPr>
          <p:cNvPr id="43" name="TextBox 42">
            <a:extLst>
              <a:ext uri="{FF2B5EF4-FFF2-40B4-BE49-F238E27FC236}">
                <a16:creationId xmlns:a16="http://schemas.microsoft.com/office/drawing/2014/main" id="{95384260-81D2-0C3A-B95E-2E751CE16DFC}"/>
              </a:ext>
            </a:extLst>
          </p:cNvPr>
          <p:cNvSpPr txBox="1"/>
          <p:nvPr/>
        </p:nvSpPr>
        <p:spPr>
          <a:xfrm>
            <a:off x="10312400" y="4826000"/>
            <a:ext cx="1371600" cy="228600"/>
          </a:xfrm>
          <a:prstGeom prst="rect">
            <a:avLst/>
          </a:prstGeom>
          <a:noFill/>
        </p:spPr>
        <p:txBody>
          <a:bodyPr vert="horz" wrap="square" lIns="0" tIns="0" rIns="0" bIns="0" rtlCol="0" anchor="t">
            <a:noAutofit/>
          </a:bodyPr>
          <a:lstStyle/>
          <a:p>
            <a:r>
              <a:rPr lang="en-US" sz="1100" b="1">
                <a:solidFill>
                  <a:srgbClr val="5B6475"/>
                </a:solidFill>
                <a:latin typeface="Calibri" panose="020F0502020204030204" pitchFamily="34" charset="0"/>
              </a:rPr>
              <a:t>Later</a:t>
            </a:r>
          </a:p>
        </p:txBody>
      </p:sp>
      <p:sp>
        <p:nvSpPr>
          <p:cNvPr id="44" name="TextBox 43">
            <a:extLst>
              <a:ext uri="{FF2B5EF4-FFF2-40B4-BE49-F238E27FC236}">
                <a16:creationId xmlns:a16="http://schemas.microsoft.com/office/drawing/2014/main" id="{CE2BF4D2-AA33-900D-A2D7-BF9EDCB0DA25}"/>
              </a:ext>
            </a:extLst>
          </p:cNvPr>
          <p:cNvSpPr txBox="1"/>
          <p:nvPr/>
        </p:nvSpPr>
        <p:spPr>
          <a:xfrm>
            <a:off x="4445000" y="5232400"/>
            <a:ext cx="762000" cy="203200"/>
          </a:xfrm>
          <a:prstGeom prst="rect">
            <a:avLst/>
          </a:prstGeom>
          <a:noFill/>
        </p:spPr>
        <p:txBody>
          <a:bodyPr vert="horz" wrap="square" lIns="0" tIns="0" rIns="0" bIns="0" rtlCol="0" anchor="t">
            <a:noAutofit/>
          </a:bodyPr>
          <a:lstStyle/>
          <a:p>
            <a:r>
              <a:rPr lang="en-US" sz="1000" b="1">
                <a:solidFill>
                  <a:srgbClr val="6A4C93"/>
                </a:solidFill>
                <a:latin typeface="Calibri" panose="020F0502020204030204" pitchFamily="34" charset="0"/>
              </a:rPr>
              <a:t>Priority</a:t>
            </a:r>
          </a:p>
        </p:txBody>
      </p:sp>
      <p:sp>
        <p:nvSpPr>
          <p:cNvPr id="45" name="Rectangle: Rounded Corners 44">
            <a:extLst>
              <a:ext uri="{FF2B5EF4-FFF2-40B4-BE49-F238E27FC236}">
                <a16:creationId xmlns:a16="http://schemas.microsoft.com/office/drawing/2014/main" id="{37727DD9-C59C-E756-A1ED-99E160A303FF}"/>
              </a:ext>
            </a:extLst>
          </p:cNvPr>
          <p:cNvSpPr/>
          <p:nvPr/>
        </p:nvSpPr>
        <p:spPr>
          <a:xfrm>
            <a:off x="508000" y="5486400"/>
            <a:ext cx="11176000" cy="8382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A70050D3-B102-51A6-AD87-9032D0B9226A}"/>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a story map shows the whole user journey, so the team can release a thin end-to-end slice first (the MVP) instead of finishing one feature at a time.</a:t>
            </a:r>
          </a:p>
        </p:txBody>
      </p:sp>
      <p:sp>
        <p:nvSpPr>
          <p:cNvPr id="47" name="Footer">
            <a:extLst>
              <a:ext uri="{FF2B5EF4-FFF2-40B4-BE49-F238E27FC236}">
                <a16:creationId xmlns:a16="http://schemas.microsoft.com/office/drawing/2014/main" id="{C5197E1A-CB09-AFDB-1138-96B9AA30B158}"/>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Jeff Patton, User Story Mapping (2014); PMI and Agile Alliance, Agile Practice Guide (2017); adapted from PMI course material</a:t>
            </a:r>
          </a:p>
        </p:txBody>
      </p:sp>
      <p:sp>
        <p:nvSpPr>
          <p:cNvPr id="48" name="SlideNum">
            <a:extLst>
              <a:ext uri="{FF2B5EF4-FFF2-40B4-BE49-F238E27FC236}">
                <a16:creationId xmlns:a16="http://schemas.microsoft.com/office/drawing/2014/main" id="{257ADA5D-6D14-FAF6-E496-25FD48701324}"/>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99</a:t>
            </a:r>
          </a:p>
        </p:txBody>
      </p:sp>
      <p:sp>
        <p:nvSpPr>
          <p:cNvPr id="49"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2781738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A670782-617D-33EA-9A5D-3D29975DCE1A}"/>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Scrum at a glance</a:t>
            </a:r>
          </a:p>
        </p:txBody>
      </p:sp>
      <p:sp>
        <p:nvSpPr>
          <p:cNvPr id="3" name="Tag">
            <a:extLst>
              <a:ext uri="{FF2B5EF4-FFF2-40B4-BE49-F238E27FC236}">
                <a16:creationId xmlns:a16="http://schemas.microsoft.com/office/drawing/2014/main" id="{279EDF86-E894-6D39-D3FA-57399E61F945}"/>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6A4C93"/>
                </a:solidFill>
                <a:latin typeface="Calibri" panose="020F0502020204030204" pitchFamily="34" charset="0"/>
              </a:rPr>
              <a:t>Agile essentials · The most widely used agile framework</a:t>
            </a:r>
          </a:p>
        </p:txBody>
      </p:sp>
      <p:sp>
        <p:nvSpPr>
          <p:cNvPr id="4" name="Arrow: Pentagon 3">
            <a:extLst>
              <a:ext uri="{FF2B5EF4-FFF2-40B4-BE49-F238E27FC236}">
                <a16:creationId xmlns:a16="http://schemas.microsoft.com/office/drawing/2014/main" id="{367F69B3-2BDF-92ED-0C39-AAA4FD33A759}"/>
              </a:ext>
            </a:extLst>
          </p:cNvPr>
          <p:cNvSpPr/>
          <p:nvPr/>
        </p:nvSpPr>
        <p:spPr>
          <a:xfrm>
            <a:off x="508000" y="1371600"/>
            <a:ext cx="2387600" cy="762000"/>
          </a:xfrm>
          <a:prstGeom prst="homePlate">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25400" rIns="254000" bIns="25400" rtlCol="0" anchor="ctr"/>
          <a:lstStyle/>
          <a:p>
            <a:pPr algn="ctr"/>
            <a:r>
              <a:rPr lang="en-US" sz="1400" b="1">
                <a:solidFill>
                  <a:srgbClr val="FFFFFF"/>
                </a:solidFill>
                <a:latin typeface="Calibri" panose="020F0502020204030204" pitchFamily="34" charset="0"/>
              </a:rPr>
              <a:t>Product backlog</a:t>
            </a:r>
          </a:p>
        </p:txBody>
      </p:sp>
      <p:sp>
        <p:nvSpPr>
          <p:cNvPr id="5" name="Arrow: Chevron 4">
            <a:extLst>
              <a:ext uri="{FF2B5EF4-FFF2-40B4-BE49-F238E27FC236}">
                <a16:creationId xmlns:a16="http://schemas.microsoft.com/office/drawing/2014/main" id="{DACFA6CC-C4BE-91C1-3C03-A57072EE59F6}"/>
              </a:ext>
            </a:extLst>
          </p:cNvPr>
          <p:cNvSpPr/>
          <p:nvPr/>
        </p:nvSpPr>
        <p:spPr>
          <a:xfrm>
            <a:off x="2743200" y="1371600"/>
            <a:ext cx="2387600" cy="762000"/>
          </a:xfrm>
          <a:prstGeom prst="chevron">
            <a:avLst/>
          </a:prstGeom>
          <a:solidFill>
            <a:srgbClr val="3B2F6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25400" rIns="254000" bIns="25400" rtlCol="0" anchor="ctr"/>
          <a:lstStyle/>
          <a:p>
            <a:pPr algn="ctr"/>
            <a:r>
              <a:rPr lang="en-US" sz="1400" b="1">
                <a:solidFill>
                  <a:srgbClr val="FFFFFF"/>
                </a:solidFill>
                <a:latin typeface="Calibri" panose="020F0502020204030204" pitchFamily="34" charset="0"/>
              </a:rPr>
              <a:t>Sprint planning</a:t>
            </a:r>
          </a:p>
        </p:txBody>
      </p:sp>
      <p:sp>
        <p:nvSpPr>
          <p:cNvPr id="6" name="Arrow: Chevron 5">
            <a:extLst>
              <a:ext uri="{FF2B5EF4-FFF2-40B4-BE49-F238E27FC236}">
                <a16:creationId xmlns:a16="http://schemas.microsoft.com/office/drawing/2014/main" id="{3ACD7F25-85CC-9648-FE02-477819A4F549}"/>
              </a:ext>
            </a:extLst>
          </p:cNvPr>
          <p:cNvSpPr/>
          <p:nvPr/>
        </p:nvSpPr>
        <p:spPr>
          <a:xfrm>
            <a:off x="4978400" y="1371600"/>
            <a:ext cx="2387600" cy="762000"/>
          </a:xfrm>
          <a:prstGeom prst="chevron">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25400" rIns="254000" bIns="25400" rtlCol="0" anchor="ctr"/>
          <a:lstStyle/>
          <a:p>
            <a:pPr algn="ctr"/>
            <a:r>
              <a:rPr lang="en-US" sz="1400" b="1">
                <a:solidFill>
                  <a:srgbClr val="FFFFFF"/>
                </a:solidFill>
                <a:latin typeface="Calibri" panose="020F0502020204030204" pitchFamily="34" charset="0"/>
              </a:rPr>
              <a:t>Sprint with Daily Scrum</a:t>
            </a:r>
          </a:p>
        </p:txBody>
      </p:sp>
      <p:sp>
        <p:nvSpPr>
          <p:cNvPr id="7" name="Arrow: Chevron 6">
            <a:extLst>
              <a:ext uri="{FF2B5EF4-FFF2-40B4-BE49-F238E27FC236}">
                <a16:creationId xmlns:a16="http://schemas.microsoft.com/office/drawing/2014/main" id="{BA436B35-7177-1DB8-DB49-32BA256B00E9}"/>
              </a:ext>
            </a:extLst>
          </p:cNvPr>
          <p:cNvSpPr/>
          <p:nvPr/>
        </p:nvSpPr>
        <p:spPr>
          <a:xfrm>
            <a:off x="7213600" y="1371600"/>
            <a:ext cx="2387600" cy="762000"/>
          </a:xfrm>
          <a:prstGeom prst="chevron">
            <a:avLst/>
          </a:prstGeom>
          <a:solidFill>
            <a:srgbClr val="8E6BB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25400" rIns="254000" bIns="25400" rtlCol="0" anchor="ctr"/>
          <a:lstStyle/>
          <a:p>
            <a:pPr algn="ctr"/>
            <a:r>
              <a:rPr lang="en-US" sz="1400" b="1">
                <a:solidFill>
                  <a:srgbClr val="FFFFFF"/>
                </a:solidFill>
                <a:latin typeface="Calibri" panose="020F0502020204030204" pitchFamily="34" charset="0"/>
              </a:rPr>
              <a:t>Sprint review</a:t>
            </a:r>
          </a:p>
        </p:txBody>
      </p:sp>
      <p:sp>
        <p:nvSpPr>
          <p:cNvPr id="8" name="Arrow: Chevron 7">
            <a:extLst>
              <a:ext uri="{FF2B5EF4-FFF2-40B4-BE49-F238E27FC236}">
                <a16:creationId xmlns:a16="http://schemas.microsoft.com/office/drawing/2014/main" id="{6906AF31-8B0F-EE31-6A57-D01D646EF46B}"/>
              </a:ext>
            </a:extLst>
          </p:cNvPr>
          <p:cNvSpPr/>
          <p:nvPr/>
        </p:nvSpPr>
        <p:spPr>
          <a:xfrm>
            <a:off x="9448800" y="1371600"/>
            <a:ext cx="2387600" cy="762000"/>
          </a:xfrm>
          <a:prstGeom prst="chevron">
            <a:avLst/>
          </a:prstGeom>
          <a:solidFill>
            <a:srgbClr val="B9A3D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25400" rIns="254000" bIns="25400" rtlCol="0" anchor="ctr"/>
          <a:lstStyle/>
          <a:p>
            <a:pPr algn="ctr"/>
            <a:r>
              <a:rPr lang="en-US" sz="1400" b="1">
                <a:solidFill>
                  <a:srgbClr val="14213D"/>
                </a:solidFill>
                <a:latin typeface="Calibri" panose="020F0502020204030204" pitchFamily="34" charset="0"/>
              </a:rPr>
              <a:t>Sprint retrospective</a:t>
            </a:r>
          </a:p>
        </p:txBody>
      </p:sp>
      <p:sp>
        <p:nvSpPr>
          <p:cNvPr id="9" name="TextBox 8">
            <a:extLst>
              <a:ext uri="{FF2B5EF4-FFF2-40B4-BE49-F238E27FC236}">
                <a16:creationId xmlns:a16="http://schemas.microsoft.com/office/drawing/2014/main" id="{7DA0F787-BE52-5A33-24B2-391E6D236055}"/>
              </a:ext>
            </a:extLst>
          </p:cNvPr>
          <p:cNvSpPr txBox="1"/>
          <p:nvPr/>
        </p:nvSpPr>
        <p:spPr>
          <a:xfrm>
            <a:off x="508000" y="2235200"/>
            <a:ext cx="11176000" cy="279400"/>
          </a:xfrm>
          <a:prstGeom prst="rect">
            <a:avLst/>
          </a:prstGeom>
          <a:noFill/>
        </p:spPr>
        <p:txBody>
          <a:bodyPr vert="horz" wrap="square" lIns="0" tIns="0" rIns="0" bIns="0" rtlCol="0" anchor="t">
            <a:noAutofit/>
          </a:bodyPr>
          <a:lstStyle/>
          <a:p>
            <a:r>
              <a:rPr lang="en-US" sz="1500" i="1">
                <a:solidFill>
                  <a:srgbClr val="14213D"/>
                </a:solidFill>
                <a:latin typeface="Calibri" panose="020F0502020204030204" pitchFamily="34" charset="0"/>
              </a:rPr>
              <a:t>Each sprint is a fixed timebox of one month or less that produces a usable increment.</a:t>
            </a:r>
          </a:p>
        </p:txBody>
      </p:sp>
      <p:sp>
        <p:nvSpPr>
          <p:cNvPr id="10" name="Rectangle: Rounded Corners 9">
            <a:extLst>
              <a:ext uri="{FF2B5EF4-FFF2-40B4-BE49-F238E27FC236}">
                <a16:creationId xmlns:a16="http://schemas.microsoft.com/office/drawing/2014/main" id="{B93ACE4C-00D2-ADFA-C5C8-0151D49904F6}"/>
              </a:ext>
            </a:extLst>
          </p:cNvPr>
          <p:cNvSpPr/>
          <p:nvPr/>
        </p:nvSpPr>
        <p:spPr>
          <a:xfrm>
            <a:off x="508000" y="2667000"/>
            <a:ext cx="3556000" cy="25400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CDAFD6B-733C-DDB3-7CCE-59DC9AC04147}"/>
              </a:ext>
            </a:extLst>
          </p:cNvPr>
          <p:cNvSpPr txBox="1"/>
          <p:nvPr/>
        </p:nvSpPr>
        <p:spPr>
          <a:xfrm>
            <a:off x="685800" y="2819400"/>
            <a:ext cx="3200400" cy="2311400"/>
          </a:xfrm>
          <a:prstGeom prst="rect">
            <a:avLst/>
          </a:prstGeom>
          <a:noFill/>
        </p:spPr>
        <p:txBody>
          <a:bodyPr vert="horz" wrap="square" lIns="0" tIns="0" rIns="0" bIns="0" rtlCol="0" anchor="t">
            <a:noAutofit/>
          </a:bodyPr>
          <a:lstStyle/>
          <a:p>
            <a:pPr>
              <a:spcAft>
                <a:spcPts val="600"/>
              </a:spcAft>
            </a:pPr>
            <a:r>
              <a:rPr lang="en-US" sz="1700" b="1">
                <a:solidFill>
                  <a:srgbClr val="6A4C93"/>
                </a:solidFill>
                <a:latin typeface="Calibri" panose="020F0502020204030204" pitchFamily="34" charset="0"/>
              </a:rPr>
              <a:t>Roles (accountabilities)</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Product Owner: maximizes value; orders the backlog</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Scrum Master: servant leader; coaches and removes impediments</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Developers: create the increment each sprint</a:t>
            </a:r>
          </a:p>
        </p:txBody>
      </p:sp>
      <p:sp>
        <p:nvSpPr>
          <p:cNvPr id="12" name="Rectangle: Rounded Corners 11">
            <a:extLst>
              <a:ext uri="{FF2B5EF4-FFF2-40B4-BE49-F238E27FC236}">
                <a16:creationId xmlns:a16="http://schemas.microsoft.com/office/drawing/2014/main" id="{FC700074-1203-D697-4411-56CDEFCB9F2A}"/>
              </a:ext>
            </a:extLst>
          </p:cNvPr>
          <p:cNvSpPr/>
          <p:nvPr/>
        </p:nvSpPr>
        <p:spPr>
          <a:xfrm>
            <a:off x="4318000" y="2667000"/>
            <a:ext cx="3556000" cy="25400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288A9F0-E0AF-C6D4-CB1B-2E695A5089EC}"/>
              </a:ext>
            </a:extLst>
          </p:cNvPr>
          <p:cNvSpPr txBox="1"/>
          <p:nvPr/>
        </p:nvSpPr>
        <p:spPr>
          <a:xfrm>
            <a:off x="4495800" y="2819400"/>
            <a:ext cx="3200400" cy="2311400"/>
          </a:xfrm>
          <a:prstGeom prst="rect">
            <a:avLst/>
          </a:prstGeom>
          <a:noFill/>
        </p:spPr>
        <p:txBody>
          <a:bodyPr vert="horz" wrap="square" lIns="0" tIns="0" rIns="0" bIns="0" rtlCol="0" anchor="t">
            <a:noAutofit/>
          </a:bodyPr>
          <a:lstStyle/>
          <a:p>
            <a:pPr>
              <a:spcAft>
                <a:spcPts val="600"/>
              </a:spcAft>
            </a:pPr>
            <a:r>
              <a:rPr lang="en-US" sz="1700" b="1">
                <a:solidFill>
                  <a:srgbClr val="6A4C93"/>
                </a:solidFill>
                <a:latin typeface="Calibri" panose="020F0502020204030204" pitchFamily="34" charset="0"/>
              </a:rPr>
              <a:t>Five timeboxed events</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Sprint: the container for all other events; one month or less</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Sprint planning: up to 8 hours</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Daily Scrum: 15 minutes</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Sprint review: up to 4 hours</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Sprint retrospective: up to 3 hours</a:t>
            </a:r>
          </a:p>
        </p:txBody>
      </p:sp>
      <p:sp>
        <p:nvSpPr>
          <p:cNvPr id="14" name="Rectangle: Rounded Corners 13">
            <a:extLst>
              <a:ext uri="{FF2B5EF4-FFF2-40B4-BE49-F238E27FC236}">
                <a16:creationId xmlns:a16="http://schemas.microsoft.com/office/drawing/2014/main" id="{EF4E742F-55D0-6F1F-46C9-0C013A0BF3AA}"/>
              </a:ext>
            </a:extLst>
          </p:cNvPr>
          <p:cNvSpPr/>
          <p:nvPr/>
        </p:nvSpPr>
        <p:spPr>
          <a:xfrm>
            <a:off x="8128000" y="2667000"/>
            <a:ext cx="3556000" cy="25400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EFFC971-EF95-BD6B-9D02-C59905F86A28}"/>
              </a:ext>
            </a:extLst>
          </p:cNvPr>
          <p:cNvSpPr txBox="1"/>
          <p:nvPr/>
        </p:nvSpPr>
        <p:spPr>
          <a:xfrm>
            <a:off x="8305800" y="2819400"/>
            <a:ext cx="3200400" cy="2311400"/>
          </a:xfrm>
          <a:prstGeom prst="rect">
            <a:avLst/>
          </a:prstGeom>
          <a:noFill/>
        </p:spPr>
        <p:txBody>
          <a:bodyPr vert="horz" wrap="square" lIns="0" tIns="0" rIns="0" bIns="0" rtlCol="0" anchor="t">
            <a:noAutofit/>
          </a:bodyPr>
          <a:lstStyle/>
          <a:p>
            <a:pPr>
              <a:spcAft>
                <a:spcPts val="600"/>
              </a:spcAft>
            </a:pPr>
            <a:r>
              <a:rPr lang="en-US" sz="1700" b="1">
                <a:solidFill>
                  <a:srgbClr val="6A4C93"/>
                </a:solidFill>
                <a:latin typeface="Calibri" panose="020F0502020204030204" pitchFamily="34" charset="0"/>
              </a:rPr>
              <a:t>Artifacts and commitments</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Product backlog → product goal</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Sprint backlog → sprint goal</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Increment → definition of done</a:t>
            </a:r>
          </a:p>
        </p:txBody>
      </p:sp>
      <p:sp>
        <p:nvSpPr>
          <p:cNvPr id="16" name="Rectangle: Rounded Corners 15">
            <a:extLst>
              <a:ext uri="{FF2B5EF4-FFF2-40B4-BE49-F238E27FC236}">
                <a16:creationId xmlns:a16="http://schemas.microsoft.com/office/drawing/2014/main" id="{0AC7E01C-D803-CE1C-618B-47FC942F9A84}"/>
              </a:ext>
            </a:extLst>
          </p:cNvPr>
          <p:cNvSpPr/>
          <p:nvPr/>
        </p:nvSpPr>
        <p:spPr>
          <a:xfrm>
            <a:off x="508000" y="5384800"/>
            <a:ext cx="11176000" cy="838200"/>
          </a:xfrm>
          <a:prstGeom prst="roundRect">
            <a:avLst>
              <a:gd name="adj" fmla="val 8000"/>
            </a:avLst>
          </a:prstGeom>
          <a:solidFill>
            <a:srgbClr val="E8E1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91681D2-2249-CC55-1C95-96636811EFC9}"/>
              </a:ext>
            </a:extLst>
          </p:cNvPr>
          <p:cNvSpPr txBox="1"/>
          <p:nvPr/>
        </p:nvSpPr>
        <p:spPr>
          <a:xfrm>
            <a:off x="736600" y="5384800"/>
            <a:ext cx="10718800" cy="838200"/>
          </a:xfrm>
          <a:prstGeom prst="rect">
            <a:avLst/>
          </a:prstGeom>
          <a:noFill/>
        </p:spPr>
        <p:txBody>
          <a:bodyPr vert="horz" wrap="square" lIns="0" tIns="0" rIns="0" bIns="0" rtlCol="0" anchor="ctr">
            <a:noAutofit/>
          </a:bodyPr>
          <a:lstStyle/>
          <a:p>
            <a:r>
              <a:rPr lang="en-US" sz="1500" i="1">
                <a:solidFill>
                  <a:srgbClr val="14213D"/>
                </a:solidFill>
                <a:latin typeface="Calibri" panose="020F0502020204030204" pitchFamily="34" charset="0"/>
              </a:rPr>
              <a:t>Exam cue: the product owner decides what matters most (backlog order); developers decide how much fits in a sprint and how to build it; the scrum master protects the process.</a:t>
            </a:r>
          </a:p>
        </p:txBody>
      </p:sp>
      <p:sp>
        <p:nvSpPr>
          <p:cNvPr id="18" name="Footer">
            <a:extLst>
              <a:ext uri="{FF2B5EF4-FFF2-40B4-BE49-F238E27FC236}">
                <a16:creationId xmlns:a16="http://schemas.microsoft.com/office/drawing/2014/main" id="{FB4A20BF-AD62-FBA9-520E-19AE68B0E74E}"/>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Ken Schwaber and Jeff Sutherland, The Scrum Guide (2020); PMI and Agile Alliance, Agile Practice Guide (2017), Annex A3</a:t>
            </a:r>
          </a:p>
        </p:txBody>
      </p:sp>
      <p:sp>
        <p:nvSpPr>
          <p:cNvPr id="19" name="SlideNum">
            <a:extLst>
              <a:ext uri="{FF2B5EF4-FFF2-40B4-BE49-F238E27FC236}">
                <a16:creationId xmlns:a16="http://schemas.microsoft.com/office/drawing/2014/main" id="{97A2D955-C5D2-98E4-3985-09FA944626FB}"/>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100</a:t>
            </a:r>
          </a:p>
        </p:txBody>
      </p:sp>
      <p:sp>
        <p:nvSpPr>
          <p:cNvPr id="20"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30821145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F025A59F-6830-508A-5A25-746764FC0D31}"/>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Scrum pillars and values</a:t>
            </a:r>
          </a:p>
        </p:txBody>
      </p:sp>
      <p:sp>
        <p:nvSpPr>
          <p:cNvPr id="3" name="Tag">
            <a:extLst>
              <a:ext uri="{FF2B5EF4-FFF2-40B4-BE49-F238E27FC236}">
                <a16:creationId xmlns:a16="http://schemas.microsoft.com/office/drawing/2014/main" id="{C18BD16F-5681-3E9E-B6B1-BAE160B220EC}"/>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6A4C93"/>
                </a:solidFill>
                <a:latin typeface="Calibri" panose="020F0502020204030204" pitchFamily="34" charset="0"/>
              </a:rPr>
              <a:t>Agile essentials · The empirical foundation of Scrum and the values that make it work · Lean link: jidoka and kaizen</a:t>
            </a:r>
          </a:p>
        </p:txBody>
      </p:sp>
      <p:sp>
        <p:nvSpPr>
          <p:cNvPr id="4" name="Rectangle 3">
            <a:extLst>
              <a:ext uri="{FF2B5EF4-FFF2-40B4-BE49-F238E27FC236}">
                <a16:creationId xmlns:a16="http://schemas.microsoft.com/office/drawing/2014/main" id="{80709680-555B-8B8A-BA05-3598CCC4A80E}"/>
              </a:ext>
            </a:extLst>
          </p:cNvPr>
          <p:cNvSpPr/>
          <p:nvPr/>
        </p:nvSpPr>
        <p:spPr>
          <a:xfrm>
            <a:off x="508000" y="1320800"/>
            <a:ext cx="5588000" cy="635000"/>
          </a:xfrm>
          <a:prstGeom prst="rect">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25400" rIns="127000" bIns="25400" rtlCol="0" anchor="ctr"/>
          <a:lstStyle/>
          <a:p>
            <a:pPr algn="ctr"/>
            <a:r>
              <a:rPr lang="en-US" sz="1700" b="1">
                <a:solidFill>
                  <a:srgbClr val="FFFFFF"/>
                </a:solidFill>
                <a:latin typeface="Calibri" panose="020F0502020204030204" pitchFamily="34" charset="0"/>
              </a:rPr>
              <a:t>Empiricism</a:t>
            </a:r>
          </a:p>
          <a:p>
            <a:pPr algn="ctr"/>
            <a:r>
              <a:rPr lang="en-US" sz="1200" b="1">
                <a:solidFill>
                  <a:srgbClr val="FFFFFF"/>
                </a:solidFill>
                <a:latin typeface="Calibri" panose="020F0502020204030204" pitchFamily="34" charset="0"/>
              </a:rPr>
              <a:t>knowledge comes from experience and decisions from what is observed</a:t>
            </a:r>
          </a:p>
        </p:txBody>
      </p:sp>
      <p:sp>
        <p:nvSpPr>
          <p:cNvPr id="5" name="Rectangle 4">
            <a:extLst>
              <a:ext uri="{FF2B5EF4-FFF2-40B4-BE49-F238E27FC236}">
                <a16:creationId xmlns:a16="http://schemas.microsoft.com/office/drawing/2014/main" id="{9FC94B04-1A02-9E32-2D57-512BB038C3C5}"/>
              </a:ext>
            </a:extLst>
          </p:cNvPr>
          <p:cNvSpPr/>
          <p:nvPr/>
        </p:nvSpPr>
        <p:spPr>
          <a:xfrm>
            <a:off x="508000" y="2057400"/>
            <a:ext cx="1778000" cy="3048000"/>
          </a:xfrm>
          <a:prstGeom prst="rect">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566B9F5-0899-6882-AC5E-F31414F4B5BD}"/>
              </a:ext>
            </a:extLst>
          </p:cNvPr>
          <p:cNvSpPr txBox="1"/>
          <p:nvPr/>
        </p:nvSpPr>
        <p:spPr>
          <a:xfrm>
            <a:off x="660400" y="2235200"/>
            <a:ext cx="1473200" cy="2794000"/>
          </a:xfrm>
          <a:prstGeom prst="rect">
            <a:avLst/>
          </a:prstGeom>
          <a:noFill/>
        </p:spPr>
        <p:txBody>
          <a:bodyPr vert="horz" wrap="square" lIns="0" tIns="0" rIns="0" bIns="0" rtlCol="0" anchor="t">
            <a:noAutofit/>
          </a:bodyPr>
          <a:lstStyle/>
          <a:p>
            <a:pPr>
              <a:spcAft>
                <a:spcPts val="800"/>
              </a:spcAft>
            </a:pPr>
            <a:r>
              <a:rPr lang="en-US" sz="1700" b="1">
                <a:solidFill>
                  <a:srgbClr val="6A4C93"/>
                </a:solidFill>
                <a:latin typeface="Calibri" panose="020F0502020204030204" pitchFamily="34" charset="0"/>
              </a:rPr>
              <a:t>Transparency</a:t>
            </a:r>
          </a:p>
          <a:p>
            <a:r>
              <a:rPr lang="en-US" sz="1400">
                <a:solidFill>
                  <a:srgbClr val="1F2937"/>
                </a:solidFill>
                <a:latin typeface="Calibri" panose="020F0502020204030204" pitchFamily="34" charset="0"/>
              </a:rPr>
              <a:t>The process and the work are visible to those doing it and those receiving it.</a:t>
            </a:r>
          </a:p>
        </p:txBody>
      </p:sp>
      <p:sp>
        <p:nvSpPr>
          <p:cNvPr id="7" name="Rectangle 6">
            <a:extLst>
              <a:ext uri="{FF2B5EF4-FFF2-40B4-BE49-F238E27FC236}">
                <a16:creationId xmlns:a16="http://schemas.microsoft.com/office/drawing/2014/main" id="{5601D53B-C732-71DD-389A-C8C0B455DE79}"/>
              </a:ext>
            </a:extLst>
          </p:cNvPr>
          <p:cNvSpPr/>
          <p:nvPr/>
        </p:nvSpPr>
        <p:spPr>
          <a:xfrm>
            <a:off x="2413000" y="2057400"/>
            <a:ext cx="1778000" cy="3048000"/>
          </a:xfrm>
          <a:prstGeom prst="rect">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1278D3A-719A-87B6-70A5-6DED3BDAF81C}"/>
              </a:ext>
            </a:extLst>
          </p:cNvPr>
          <p:cNvSpPr txBox="1"/>
          <p:nvPr/>
        </p:nvSpPr>
        <p:spPr>
          <a:xfrm>
            <a:off x="2565400" y="2235200"/>
            <a:ext cx="1473200" cy="2794000"/>
          </a:xfrm>
          <a:prstGeom prst="rect">
            <a:avLst/>
          </a:prstGeom>
          <a:noFill/>
        </p:spPr>
        <p:txBody>
          <a:bodyPr vert="horz" wrap="square" lIns="0" tIns="0" rIns="0" bIns="0" rtlCol="0" anchor="t">
            <a:noAutofit/>
          </a:bodyPr>
          <a:lstStyle/>
          <a:p>
            <a:pPr>
              <a:spcAft>
                <a:spcPts val="800"/>
              </a:spcAft>
            </a:pPr>
            <a:r>
              <a:rPr lang="en-US" sz="1700" b="1">
                <a:solidFill>
                  <a:srgbClr val="6A4C93"/>
                </a:solidFill>
                <a:latin typeface="Calibri" panose="020F0502020204030204" pitchFamily="34" charset="0"/>
              </a:rPr>
              <a:t>Inspection</a:t>
            </a:r>
          </a:p>
          <a:p>
            <a:r>
              <a:rPr lang="en-US" sz="1400">
                <a:solidFill>
                  <a:srgbClr val="1F2937"/>
                </a:solidFill>
                <a:latin typeface="Calibri" panose="020F0502020204030204" pitchFamily="34" charset="0"/>
              </a:rPr>
              <a:t>Artifacts and progress toward goals are inspected frequently to detect problems.</a:t>
            </a:r>
          </a:p>
        </p:txBody>
      </p:sp>
      <p:sp>
        <p:nvSpPr>
          <p:cNvPr id="9" name="Rectangle 8">
            <a:extLst>
              <a:ext uri="{FF2B5EF4-FFF2-40B4-BE49-F238E27FC236}">
                <a16:creationId xmlns:a16="http://schemas.microsoft.com/office/drawing/2014/main" id="{530A5A6C-3E67-C4C0-EBBF-1EEFF0EC64B5}"/>
              </a:ext>
            </a:extLst>
          </p:cNvPr>
          <p:cNvSpPr/>
          <p:nvPr/>
        </p:nvSpPr>
        <p:spPr>
          <a:xfrm>
            <a:off x="4318000" y="2057400"/>
            <a:ext cx="1778000" cy="3048000"/>
          </a:xfrm>
          <a:prstGeom prst="rect">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0C0E70A-9B80-8720-70AE-B94D6C8A6F66}"/>
              </a:ext>
            </a:extLst>
          </p:cNvPr>
          <p:cNvSpPr txBox="1"/>
          <p:nvPr/>
        </p:nvSpPr>
        <p:spPr>
          <a:xfrm>
            <a:off x="4470400" y="2235200"/>
            <a:ext cx="1473200" cy="2794000"/>
          </a:xfrm>
          <a:prstGeom prst="rect">
            <a:avLst/>
          </a:prstGeom>
          <a:noFill/>
        </p:spPr>
        <p:txBody>
          <a:bodyPr vert="horz" wrap="square" lIns="0" tIns="0" rIns="0" bIns="0" rtlCol="0" anchor="t">
            <a:noAutofit/>
          </a:bodyPr>
          <a:lstStyle/>
          <a:p>
            <a:pPr>
              <a:spcAft>
                <a:spcPts val="800"/>
              </a:spcAft>
            </a:pPr>
            <a:r>
              <a:rPr lang="en-US" sz="1700" b="1">
                <a:solidFill>
                  <a:srgbClr val="6A4C93"/>
                </a:solidFill>
                <a:latin typeface="Calibri" panose="020F0502020204030204" pitchFamily="34" charset="0"/>
              </a:rPr>
              <a:t>Adaptation</a:t>
            </a:r>
          </a:p>
          <a:p>
            <a:r>
              <a:rPr lang="en-US" sz="1400">
                <a:solidFill>
                  <a:srgbClr val="1F2937"/>
                </a:solidFill>
                <a:latin typeface="Calibri" panose="020F0502020204030204" pitchFamily="34" charset="0"/>
              </a:rPr>
              <a:t>When something drifts outside acceptable limits, adjust as soon as possible.</a:t>
            </a:r>
          </a:p>
        </p:txBody>
      </p:sp>
      <p:sp>
        <p:nvSpPr>
          <p:cNvPr id="11" name="Rectangle 10">
            <a:extLst>
              <a:ext uri="{FF2B5EF4-FFF2-40B4-BE49-F238E27FC236}">
                <a16:creationId xmlns:a16="http://schemas.microsoft.com/office/drawing/2014/main" id="{1BA6030F-BE41-8FC0-9EC4-A295D6B44B7A}"/>
              </a:ext>
            </a:extLst>
          </p:cNvPr>
          <p:cNvSpPr/>
          <p:nvPr/>
        </p:nvSpPr>
        <p:spPr>
          <a:xfrm>
            <a:off x="508000" y="5207000"/>
            <a:ext cx="5588000" cy="508000"/>
          </a:xfrm>
          <a:prstGeom prst="rect">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400" b="1">
                <a:solidFill>
                  <a:srgbClr val="FFFFFF"/>
                </a:solidFill>
                <a:latin typeface="Calibri" panose="020F0502020204030204" pitchFamily="34" charset="0"/>
              </a:rPr>
              <a:t>Every Scrum event is a chance to inspect and adapt</a:t>
            </a:r>
          </a:p>
        </p:txBody>
      </p:sp>
      <p:sp>
        <p:nvSpPr>
          <p:cNvPr id="12" name="TextBox 11">
            <a:extLst>
              <a:ext uri="{FF2B5EF4-FFF2-40B4-BE49-F238E27FC236}">
                <a16:creationId xmlns:a16="http://schemas.microsoft.com/office/drawing/2014/main" id="{154B4C04-0DC3-F705-2D64-67ECD0CE02DC}"/>
              </a:ext>
            </a:extLst>
          </p:cNvPr>
          <p:cNvSpPr txBox="1"/>
          <p:nvPr/>
        </p:nvSpPr>
        <p:spPr>
          <a:xfrm>
            <a:off x="6477000" y="1320800"/>
            <a:ext cx="5207000" cy="304800"/>
          </a:xfrm>
          <a:prstGeom prst="rect">
            <a:avLst/>
          </a:prstGeom>
          <a:noFill/>
        </p:spPr>
        <p:txBody>
          <a:bodyPr vert="horz" wrap="square" lIns="0" tIns="0" rIns="0" bIns="0" rtlCol="0" anchor="t">
            <a:noAutofit/>
          </a:bodyPr>
          <a:lstStyle/>
          <a:p>
            <a:r>
              <a:rPr lang="en-US" sz="1700" b="1">
                <a:solidFill>
                  <a:srgbClr val="14213D"/>
                </a:solidFill>
                <a:latin typeface="Calibri" panose="020F0502020204030204" pitchFamily="34" charset="0"/>
              </a:rPr>
              <a:t>Five Scrum values</a:t>
            </a:r>
          </a:p>
        </p:txBody>
      </p:sp>
      <p:sp>
        <p:nvSpPr>
          <p:cNvPr id="13" name="Oval 12">
            <a:extLst>
              <a:ext uri="{FF2B5EF4-FFF2-40B4-BE49-F238E27FC236}">
                <a16:creationId xmlns:a16="http://schemas.microsoft.com/office/drawing/2014/main" id="{871F64A1-E02A-B600-756E-C7C027D4B5B9}"/>
              </a:ext>
            </a:extLst>
          </p:cNvPr>
          <p:cNvSpPr/>
          <p:nvPr/>
        </p:nvSpPr>
        <p:spPr>
          <a:xfrm>
            <a:off x="6477000" y="1828800"/>
            <a:ext cx="431800" cy="4318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300" b="1">
                <a:solidFill>
                  <a:srgbClr val="FFFFFF"/>
                </a:solidFill>
                <a:latin typeface="Calibri" panose="020F0502020204030204" pitchFamily="34" charset="0"/>
              </a:rPr>
              <a:t>1</a:t>
            </a:r>
          </a:p>
        </p:txBody>
      </p:sp>
      <p:sp>
        <p:nvSpPr>
          <p:cNvPr id="14" name="TextBox 13">
            <a:extLst>
              <a:ext uri="{FF2B5EF4-FFF2-40B4-BE49-F238E27FC236}">
                <a16:creationId xmlns:a16="http://schemas.microsoft.com/office/drawing/2014/main" id="{DD8326B2-0457-829C-F45B-8490A0DD1AED}"/>
              </a:ext>
            </a:extLst>
          </p:cNvPr>
          <p:cNvSpPr txBox="1"/>
          <p:nvPr/>
        </p:nvSpPr>
        <p:spPr>
          <a:xfrm>
            <a:off x="7061200" y="1727200"/>
            <a:ext cx="4622800" cy="711200"/>
          </a:xfrm>
          <a:prstGeom prst="rect">
            <a:avLst/>
          </a:prstGeom>
          <a:noFill/>
        </p:spPr>
        <p:txBody>
          <a:bodyPr vert="horz" wrap="square" lIns="0" tIns="0" rIns="0" bIns="0" rtlCol="0" anchor="ctr">
            <a:noAutofit/>
          </a:bodyPr>
          <a:lstStyle/>
          <a:p>
            <a:r>
              <a:rPr lang="en-US" sz="1600" b="1">
                <a:solidFill>
                  <a:srgbClr val="14213D"/>
                </a:solidFill>
                <a:latin typeface="Calibri" panose="020F0502020204030204" pitchFamily="34" charset="0"/>
              </a:rPr>
              <a:t>Commitment</a:t>
            </a:r>
          </a:p>
          <a:p>
            <a:r>
              <a:rPr lang="en-US" sz="1400">
                <a:solidFill>
                  <a:srgbClr val="1F2937"/>
                </a:solidFill>
                <a:latin typeface="Calibri" panose="020F0502020204030204" pitchFamily="34" charset="0"/>
              </a:rPr>
              <a:t>to achieving the team’s goals and supporting each other</a:t>
            </a:r>
          </a:p>
        </p:txBody>
      </p:sp>
      <p:sp>
        <p:nvSpPr>
          <p:cNvPr id="15" name="Oval 14">
            <a:extLst>
              <a:ext uri="{FF2B5EF4-FFF2-40B4-BE49-F238E27FC236}">
                <a16:creationId xmlns:a16="http://schemas.microsoft.com/office/drawing/2014/main" id="{16CEF0F7-461D-D24A-27D4-4A895C30F926}"/>
              </a:ext>
            </a:extLst>
          </p:cNvPr>
          <p:cNvSpPr/>
          <p:nvPr/>
        </p:nvSpPr>
        <p:spPr>
          <a:xfrm>
            <a:off x="6477000" y="2628900"/>
            <a:ext cx="431800" cy="4318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300" b="1">
                <a:solidFill>
                  <a:srgbClr val="FFFFFF"/>
                </a:solidFill>
                <a:latin typeface="Calibri" panose="020F0502020204030204" pitchFamily="34" charset="0"/>
              </a:rPr>
              <a:t>2</a:t>
            </a:r>
          </a:p>
        </p:txBody>
      </p:sp>
      <p:sp>
        <p:nvSpPr>
          <p:cNvPr id="16" name="TextBox 15">
            <a:extLst>
              <a:ext uri="{FF2B5EF4-FFF2-40B4-BE49-F238E27FC236}">
                <a16:creationId xmlns:a16="http://schemas.microsoft.com/office/drawing/2014/main" id="{35692C1C-BBE7-59EA-49EF-3EB90E0F1413}"/>
              </a:ext>
            </a:extLst>
          </p:cNvPr>
          <p:cNvSpPr txBox="1"/>
          <p:nvPr/>
        </p:nvSpPr>
        <p:spPr>
          <a:xfrm>
            <a:off x="7061200" y="2527300"/>
            <a:ext cx="4622800" cy="711200"/>
          </a:xfrm>
          <a:prstGeom prst="rect">
            <a:avLst/>
          </a:prstGeom>
          <a:noFill/>
        </p:spPr>
        <p:txBody>
          <a:bodyPr vert="horz" wrap="square" lIns="0" tIns="0" rIns="0" bIns="0" rtlCol="0" anchor="ctr">
            <a:noAutofit/>
          </a:bodyPr>
          <a:lstStyle/>
          <a:p>
            <a:r>
              <a:rPr lang="en-US" sz="1600" b="1">
                <a:solidFill>
                  <a:srgbClr val="14213D"/>
                </a:solidFill>
                <a:latin typeface="Calibri" panose="020F0502020204030204" pitchFamily="34" charset="0"/>
              </a:rPr>
              <a:t>Focus</a:t>
            </a:r>
          </a:p>
          <a:p>
            <a:r>
              <a:rPr lang="en-US" sz="1400">
                <a:solidFill>
                  <a:srgbClr val="1F2937"/>
                </a:solidFill>
                <a:latin typeface="Calibri" panose="020F0502020204030204" pitchFamily="34" charset="0"/>
              </a:rPr>
              <a:t>on the work of the sprint, to make the best progress toward goals</a:t>
            </a:r>
          </a:p>
        </p:txBody>
      </p:sp>
      <p:sp>
        <p:nvSpPr>
          <p:cNvPr id="17" name="Oval 16">
            <a:extLst>
              <a:ext uri="{FF2B5EF4-FFF2-40B4-BE49-F238E27FC236}">
                <a16:creationId xmlns:a16="http://schemas.microsoft.com/office/drawing/2014/main" id="{9DAE2365-81C8-1FDB-EABF-C7E78FE904C2}"/>
              </a:ext>
            </a:extLst>
          </p:cNvPr>
          <p:cNvSpPr/>
          <p:nvPr/>
        </p:nvSpPr>
        <p:spPr>
          <a:xfrm>
            <a:off x="6477000" y="3429000"/>
            <a:ext cx="431800" cy="4318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300" b="1">
                <a:solidFill>
                  <a:srgbClr val="FFFFFF"/>
                </a:solidFill>
                <a:latin typeface="Calibri" panose="020F0502020204030204" pitchFamily="34" charset="0"/>
              </a:rPr>
              <a:t>3</a:t>
            </a:r>
          </a:p>
        </p:txBody>
      </p:sp>
      <p:sp>
        <p:nvSpPr>
          <p:cNvPr id="18" name="TextBox 17">
            <a:extLst>
              <a:ext uri="{FF2B5EF4-FFF2-40B4-BE49-F238E27FC236}">
                <a16:creationId xmlns:a16="http://schemas.microsoft.com/office/drawing/2014/main" id="{F614E722-10A9-2645-6897-39646BDC5477}"/>
              </a:ext>
            </a:extLst>
          </p:cNvPr>
          <p:cNvSpPr txBox="1"/>
          <p:nvPr/>
        </p:nvSpPr>
        <p:spPr>
          <a:xfrm>
            <a:off x="7061200" y="3327400"/>
            <a:ext cx="4622800" cy="711200"/>
          </a:xfrm>
          <a:prstGeom prst="rect">
            <a:avLst/>
          </a:prstGeom>
          <a:noFill/>
        </p:spPr>
        <p:txBody>
          <a:bodyPr vert="horz" wrap="square" lIns="0" tIns="0" rIns="0" bIns="0" rtlCol="0" anchor="ctr">
            <a:noAutofit/>
          </a:bodyPr>
          <a:lstStyle/>
          <a:p>
            <a:r>
              <a:rPr lang="en-US" sz="1600" b="1">
                <a:solidFill>
                  <a:srgbClr val="14213D"/>
                </a:solidFill>
                <a:latin typeface="Calibri" panose="020F0502020204030204" pitchFamily="34" charset="0"/>
              </a:rPr>
              <a:t>Openness</a:t>
            </a:r>
          </a:p>
          <a:p>
            <a:r>
              <a:rPr lang="en-US" sz="1400">
                <a:solidFill>
                  <a:srgbClr val="1F2937"/>
                </a:solidFill>
                <a:latin typeface="Calibri" panose="020F0502020204030204" pitchFamily="34" charset="0"/>
              </a:rPr>
              <a:t>about the work and the challenges it brings</a:t>
            </a:r>
          </a:p>
        </p:txBody>
      </p:sp>
      <p:sp>
        <p:nvSpPr>
          <p:cNvPr id="19" name="Oval 18">
            <a:extLst>
              <a:ext uri="{FF2B5EF4-FFF2-40B4-BE49-F238E27FC236}">
                <a16:creationId xmlns:a16="http://schemas.microsoft.com/office/drawing/2014/main" id="{1766AF85-02EF-4AE7-673B-5B9CD84CC888}"/>
              </a:ext>
            </a:extLst>
          </p:cNvPr>
          <p:cNvSpPr/>
          <p:nvPr/>
        </p:nvSpPr>
        <p:spPr>
          <a:xfrm>
            <a:off x="6477000" y="4229100"/>
            <a:ext cx="431800" cy="4318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300" b="1">
                <a:solidFill>
                  <a:srgbClr val="FFFFFF"/>
                </a:solidFill>
                <a:latin typeface="Calibri" panose="020F0502020204030204" pitchFamily="34" charset="0"/>
              </a:rPr>
              <a:t>4</a:t>
            </a:r>
          </a:p>
        </p:txBody>
      </p:sp>
      <p:sp>
        <p:nvSpPr>
          <p:cNvPr id="20" name="TextBox 19">
            <a:extLst>
              <a:ext uri="{FF2B5EF4-FFF2-40B4-BE49-F238E27FC236}">
                <a16:creationId xmlns:a16="http://schemas.microsoft.com/office/drawing/2014/main" id="{7A30E37E-E647-A1CA-058B-99C700C84C7D}"/>
              </a:ext>
            </a:extLst>
          </p:cNvPr>
          <p:cNvSpPr txBox="1"/>
          <p:nvPr/>
        </p:nvSpPr>
        <p:spPr>
          <a:xfrm>
            <a:off x="7061200" y="4127500"/>
            <a:ext cx="4622800" cy="711200"/>
          </a:xfrm>
          <a:prstGeom prst="rect">
            <a:avLst/>
          </a:prstGeom>
          <a:noFill/>
        </p:spPr>
        <p:txBody>
          <a:bodyPr vert="horz" wrap="square" lIns="0" tIns="0" rIns="0" bIns="0" rtlCol="0" anchor="ctr">
            <a:noAutofit/>
          </a:bodyPr>
          <a:lstStyle/>
          <a:p>
            <a:r>
              <a:rPr lang="en-US" sz="1600" b="1">
                <a:solidFill>
                  <a:srgbClr val="14213D"/>
                </a:solidFill>
                <a:latin typeface="Calibri" panose="020F0502020204030204" pitchFamily="34" charset="0"/>
              </a:rPr>
              <a:t>Respect</a:t>
            </a:r>
          </a:p>
          <a:p>
            <a:r>
              <a:rPr lang="en-US" sz="1400">
                <a:solidFill>
                  <a:srgbClr val="1F2937"/>
                </a:solidFill>
                <a:latin typeface="Calibri" panose="020F0502020204030204" pitchFamily="34" charset="0"/>
              </a:rPr>
              <a:t>for each other as capable, independent people</a:t>
            </a:r>
          </a:p>
        </p:txBody>
      </p:sp>
      <p:sp>
        <p:nvSpPr>
          <p:cNvPr id="21" name="Oval 20">
            <a:extLst>
              <a:ext uri="{FF2B5EF4-FFF2-40B4-BE49-F238E27FC236}">
                <a16:creationId xmlns:a16="http://schemas.microsoft.com/office/drawing/2014/main" id="{660C203C-3B6D-C9A2-0052-5CBFD4813173}"/>
              </a:ext>
            </a:extLst>
          </p:cNvPr>
          <p:cNvSpPr/>
          <p:nvPr/>
        </p:nvSpPr>
        <p:spPr>
          <a:xfrm>
            <a:off x="6477000" y="5029200"/>
            <a:ext cx="431800" cy="4318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300" b="1">
                <a:solidFill>
                  <a:srgbClr val="FFFFFF"/>
                </a:solidFill>
                <a:latin typeface="Calibri" panose="020F0502020204030204" pitchFamily="34" charset="0"/>
              </a:rPr>
              <a:t>5</a:t>
            </a:r>
          </a:p>
        </p:txBody>
      </p:sp>
      <p:sp>
        <p:nvSpPr>
          <p:cNvPr id="22" name="TextBox 21">
            <a:extLst>
              <a:ext uri="{FF2B5EF4-FFF2-40B4-BE49-F238E27FC236}">
                <a16:creationId xmlns:a16="http://schemas.microsoft.com/office/drawing/2014/main" id="{99795A33-F7FC-8B85-66D8-B33A9F5E062A}"/>
              </a:ext>
            </a:extLst>
          </p:cNvPr>
          <p:cNvSpPr txBox="1"/>
          <p:nvPr/>
        </p:nvSpPr>
        <p:spPr>
          <a:xfrm>
            <a:off x="7061200" y="4927600"/>
            <a:ext cx="4622800" cy="711200"/>
          </a:xfrm>
          <a:prstGeom prst="rect">
            <a:avLst/>
          </a:prstGeom>
          <a:noFill/>
        </p:spPr>
        <p:txBody>
          <a:bodyPr vert="horz" wrap="square" lIns="0" tIns="0" rIns="0" bIns="0" rtlCol="0" anchor="ctr">
            <a:noAutofit/>
          </a:bodyPr>
          <a:lstStyle/>
          <a:p>
            <a:r>
              <a:rPr lang="en-US" sz="1600" b="1">
                <a:solidFill>
                  <a:srgbClr val="14213D"/>
                </a:solidFill>
                <a:latin typeface="Calibri" panose="020F0502020204030204" pitchFamily="34" charset="0"/>
              </a:rPr>
              <a:t>Courage</a:t>
            </a:r>
          </a:p>
          <a:p>
            <a:r>
              <a:rPr lang="en-US" sz="1400">
                <a:solidFill>
                  <a:srgbClr val="1F2937"/>
                </a:solidFill>
                <a:latin typeface="Calibri" panose="020F0502020204030204" pitchFamily="34" charset="0"/>
              </a:rPr>
              <a:t>to do the right thing and work on tough problems</a:t>
            </a:r>
          </a:p>
        </p:txBody>
      </p:sp>
      <p:sp>
        <p:nvSpPr>
          <p:cNvPr id="23" name="Rectangle: Rounded Corners 22">
            <a:extLst>
              <a:ext uri="{FF2B5EF4-FFF2-40B4-BE49-F238E27FC236}">
                <a16:creationId xmlns:a16="http://schemas.microsoft.com/office/drawing/2014/main" id="{994577F2-E625-3E11-2EAE-5ED478E7972F}"/>
              </a:ext>
            </a:extLst>
          </p:cNvPr>
          <p:cNvSpPr/>
          <p:nvPr/>
        </p:nvSpPr>
        <p:spPr>
          <a:xfrm>
            <a:off x="508000" y="5816600"/>
            <a:ext cx="11176000" cy="533400"/>
          </a:xfrm>
          <a:prstGeom prst="roundRect">
            <a:avLst>
              <a:gd name="adj" fmla="val 8000"/>
            </a:avLst>
          </a:prstGeom>
          <a:solidFill>
            <a:srgbClr val="E8E1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1E09AC4B-E543-A966-EF8D-2C6CB58BA864}"/>
              </a:ext>
            </a:extLst>
          </p:cNvPr>
          <p:cNvSpPr txBox="1"/>
          <p:nvPr/>
        </p:nvSpPr>
        <p:spPr>
          <a:xfrm>
            <a:off x="711200" y="5816600"/>
            <a:ext cx="10769600" cy="533400"/>
          </a:xfrm>
          <a:prstGeom prst="rect">
            <a:avLst/>
          </a:prstGeom>
          <a:noFill/>
        </p:spPr>
        <p:txBody>
          <a:bodyPr vert="horz" wrap="square" lIns="0" tIns="0" rIns="0" bIns="0" rtlCol="0" anchor="ctr">
            <a:noAutofit/>
          </a:bodyPr>
          <a:lstStyle/>
          <a:p>
            <a:r>
              <a:rPr lang="en-US" sz="1300" i="1">
                <a:solidFill>
                  <a:srgbClr val="14213D"/>
                </a:solidFill>
                <a:latin typeface="Calibri" panose="020F0502020204030204" pitchFamily="34" charset="0"/>
              </a:rPr>
              <a:t>Exam cue: when a team hides problems or avoids hard conversations, coach the values (openness, courage) so transparency, and therefore inspection and adaptation, can work.</a:t>
            </a:r>
          </a:p>
        </p:txBody>
      </p:sp>
      <p:sp>
        <p:nvSpPr>
          <p:cNvPr id="25" name="Footer">
            <a:extLst>
              <a:ext uri="{FF2B5EF4-FFF2-40B4-BE49-F238E27FC236}">
                <a16:creationId xmlns:a16="http://schemas.microsoft.com/office/drawing/2014/main" id="{8AC75BC3-30CC-6ACD-6079-1D303CD06086}"/>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Ken Schwaber and Jeff Sutherland, The Scrum Guide (2020); PMI and Agile Alliance, Agile Practice Guide (2017), Annex A3</a:t>
            </a:r>
          </a:p>
        </p:txBody>
      </p:sp>
      <p:sp>
        <p:nvSpPr>
          <p:cNvPr id="26" name="SlideNum">
            <a:extLst>
              <a:ext uri="{FF2B5EF4-FFF2-40B4-BE49-F238E27FC236}">
                <a16:creationId xmlns:a16="http://schemas.microsoft.com/office/drawing/2014/main" id="{7890190B-2680-BEAC-D09C-37C602145D4C}"/>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101</a:t>
            </a:r>
          </a:p>
        </p:txBody>
      </p:sp>
      <p:sp>
        <p:nvSpPr>
          <p:cNvPr id="27"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83526943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5968C8B-8B70-800B-E97E-95C17A3E4D65}"/>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Scrum artifacts and their commitments</a:t>
            </a:r>
          </a:p>
        </p:txBody>
      </p:sp>
      <p:sp>
        <p:nvSpPr>
          <p:cNvPr id="3" name="Tag">
            <a:extLst>
              <a:ext uri="{FF2B5EF4-FFF2-40B4-BE49-F238E27FC236}">
                <a16:creationId xmlns:a16="http://schemas.microsoft.com/office/drawing/2014/main" id="{C1CADC95-4793-8E4B-6352-DEAAF3699CAC}"/>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6A4C93"/>
                </a:solidFill>
                <a:latin typeface="Calibri" panose="020F0502020204030204" pitchFamily="34" charset="0"/>
              </a:rPr>
              <a:t>Agile essentials · Supports Process Task 2 (scope) and Task 9 (Evaluate project status: artifacts)</a:t>
            </a:r>
          </a:p>
        </p:txBody>
      </p:sp>
      <p:graphicFrame>
        <p:nvGraphicFramePr>
          <p:cNvPr id="4" name="Table">
            <a:extLst>
              <a:ext uri="{FF2B5EF4-FFF2-40B4-BE49-F238E27FC236}">
                <a16:creationId xmlns:a16="http://schemas.microsoft.com/office/drawing/2014/main" id="{FFE58D03-EF49-9D7F-CE78-9299BC80A6DC}"/>
              </a:ext>
            </a:extLst>
          </p:cNvPr>
          <p:cNvGraphicFramePr>
            <a:graphicFrameLocks noGrp="1"/>
          </p:cNvGraphicFramePr>
          <p:nvPr>
            <p:extLst>
              <p:ext uri="{D42A27DB-BD31-4B8C-83A1-F6EECF244321}">
                <p14:modId xmlns:p14="http://schemas.microsoft.com/office/powerpoint/2010/main" val="997671366"/>
              </p:ext>
            </p:extLst>
          </p:nvPr>
        </p:nvGraphicFramePr>
        <p:xfrm>
          <a:off x="508000" y="1320800"/>
          <a:ext cx="11176000" cy="3149600"/>
        </p:xfrm>
        <a:graphic>
          <a:graphicData uri="http://schemas.openxmlformats.org/drawingml/2006/table">
            <a:tbl>
              <a:tblPr firstRow="1" bandRow="1">
                <a:tableStyleId>{2D5ABB26-0587-4C30-8999-92F81FD0307C}</a:tableStyleId>
              </a:tblPr>
              <a:tblGrid>
                <a:gridCol w="1651000">
                  <a:extLst>
                    <a:ext uri="{9D8B030D-6E8A-4147-A177-3AD203B41FA5}">
                      <a16:colId xmlns:a16="http://schemas.microsoft.com/office/drawing/2014/main" val="1461268670"/>
                    </a:ext>
                  </a:extLst>
                </a:gridCol>
                <a:gridCol w="3810000">
                  <a:extLst>
                    <a:ext uri="{9D8B030D-6E8A-4147-A177-3AD203B41FA5}">
                      <a16:colId xmlns:a16="http://schemas.microsoft.com/office/drawing/2014/main" val="922059430"/>
                    </a:ext>
                  </a:extLst>
                </a:gridCol>
                <a:gridCol w="1397000">
                  <a:extLst>
                    <a:ext uri="{9D8B030D-6E8A-4147-A177-3AD203B41FA5}">
                      <a16:colId xmlns:a16="http://schemas.microsoft.com/office/drawing/2014/main" val="3738242428"/>
                    </a:ext>
                  </a:extLst>
                </a:gridCol>
                <a:gridCol w="1651000">
                  <a:extLst>
                    <a:ext uri="{9D8B030D-6E8A-4147-A177-3AD203B41FA5}">
                      <a16:colId xmlns:a16="http://schemas.microsoft.com/office/drawing/2014/main" val="2520704315"/>
                    </a:ext>
                  </a:extLst>
                </a:gridCol>
                <a:gridCol w="2667000">
                  <a:extLst>
                    <a:ext uri="{9D8B030D-6E8A-4147-A177-3AD203B41FA5}">
                      <a16:colId xmlns:a16="http://schemas.microsoft.com/office/drawing/2014/main" val="90108916"/>
                    </a:ext>
                  </a:extLst>
                </a:gridCol>
              </a:tblGrid>
              <a:tr h="787400">
                <a:tc>
                  <a:txBody>
                    <a:bodyPr/>
                    <a:lstStyle/>
                    <a:p>
                      <a:r>
                        <a:rPr lang="en-US" sz="1300" b="1">
                          <a:solidFill>
                            <a:srgbClr val="FFFFFF"/>
                          </a:solidFill>
                          <a:latin typeface="Calibri" panose="020F0502020204030204" pitchFamily="34" charset="0"/>
                        </a:rPr>
                        <a:t>Artifact</a:t>
                      </a:r>
                    </a:p>
                  </a:txBody>
                  <a:tcPr marL="127000" marR="101600" marT="63500" marB="63500" anchor="ctr">
                    <a:solidFill>
                      <a:srgbClr val="14213D"/>
                    </a:solidFill>
                  </a:tcPr>
                </a:tc>
                <a:tc>
                  <a:txBody>
                    <a:bodyPr/>
                    <a:lstStyle/>
                    <a:p>
                      <a:r>
                        <a:rPr lang="en-US" sz="1300" b="1">
                          <a:solidFill>
                            <a:srgbClr val="FFFFFF"/>
                          </a:solidFill>
                          <a:latin typeface="Calibri" panose="020F0502020204030204" pitchFamily="34" charset="0"/>
                        </a:rPr>
                        <a:t>What it is</a:t>
                      </a:r>
                    </a:p>
                  </a:txBody>
                  <a:tcPr marL="127000" marR="101600" marT="63500" marB="63500" anchor="ctr">
                    <a:solidFill>
                      <a:srgbClr val="14213D"/>
                    </a:solidFill>
                  </a:tcPr>
                </a:tc>
                <a:tc>
                  <a:txBody>
                    <a:bodyPr/>
                    <a:lstStyle/>
                    <a:p>
                      <a:r>
                        <a:rPr lang="en-US" sz="1300" b="1">
                          <a:solidFill>
                            <a:srgbClr val="FFFFFF"/>
                          </a:solidFill>
                          <a:latin typeface="Calibri" panose="020F0502020204030204" pitchFamily="34" charset="0"/>
                        </a:rPr>
                        <a:t>Owner</a:t>
                      </a:r>
                    </a:p>
                  </a:txBody>
                  <a:tcPr marL="127000" marR="101600" marT="63500" marB="63500" anchor="ctr">
                    <a:solidFill>
                      <a:srgbClr val="14213D"/>
                    </a:solidFill>
                  </a:tcPr>
                </a:tc>
                <a:tc>
                  <a:txBody>
                    <a:bodyPr/>
                    <a:lstStyle/>
                    <a:p>
                      <a:r>
                        <a:rPr lang="en-US" sz="1300" b="1">
                          <a:solidFill>
                            <a:srgbClr val="FFFFFF"/>
                          </a:solidFill>
                          <a:latin typeface="Calibri" panose="020F0502020204030204" pitchFamily="34" charset="0"/>
                        </a:rPr>
                        <a:t>Commitment</a:t>
                      </a:r>
                    </a:p>
                  </a:txBody>
                  <a:tcPr marL="127000" marR="101600" marT="63500" marB="63500" anchor="ctr">
                    <a:solidFill>
                      <a:srgbClr val="14213D"/>
                    </a:solidFill>
                  </a:tcPr>
                </a:tc>
                <a:tc>
                  <a:txBody>
                    <a:bodyPr/>
                    <a:lstStyle/>
                    <a:p>
                      <a:r>
                        <a:rPr lang="en-US" sz="1300" b="1">
                          <a:solidFill>
                            <a:srgbClr val="FFFFFF"/>
                          </a:solidFill>
                          <a:latin typeface="Calibri" panose="020F0502020204030204" pitchFamily="34" charset="0"/>
                        </a:rPr>
                        <a:t>What the commitment means</a:t>
                      </a:r>
                    </a:p>
                  </a:txBody>
                  <a:tcPr marL="127000" marR="101600" marT="63500" marB="63500" anchor="ctr">
                    <a:solidFill>
                      <a:srgbClr val="14213D"/>
                    </a:solidFill>
                  </a:tcPr>
                </a:tc>
                <a:extLst>
                  <a:ext uri="{0D108BD9-81ED-4DB2-BD59-A6C34878D82A}">
                    <a16:rowId xmlns:a16="http://schemas.microsoft.com/office/drawing/2014/main" val="3096555551"/>
                  </a:ext>
                </a:extLst>
              </a:tr>
              <a:tr h="787400">
                <a:tc>
                  <a:txBody>
                    <a:bodyPr/>
                    <a:lstStyle/>
                    <a:p>
                      <a:r>
                        <a:rPr lang="en-US" sz="1300" b="1">
                          <a:solidFill>
                            <a:srgbClr val="14213D"/>
                          </a:solidFill>
                          <a:latin typeface="Calibri" panose="020F0502020204030204" pitchFamily="34" charset="0"/>
                        </a:rPr>
                        <a:t>Product backlog</a:t>
                      </a:r>
                    </a:p>
                  </a:txBody>
                  <a:tcPr marL="127000" marR="101600" marT="63500" marB="63500" anchor="ctr">
                    <a:solidFill>
                      <a:srgbClr val="FFFFFF"/>
                    </a:solidFill>
                  </a:tcPr>
                </a:tc>
                <a:tc>
                  <a:txBody>
                    <a:bodyPr/>
                    <a:lstStyle/>
                    <a:p>
                      <a:r>
                        <a:rPr lang="en-US" sz="1300">
                          <a:solidFill>
                            <a:srgbClr val="1F2937"/>
                          </a:solidFill>
                          <a:latin typeface="Calibri" panose="020F0502020204030204" pitchFamily="34" charset="0"/>
                        </a:rPr>
                        <a:t>An emergent, ordered list of what is needed to improve the product; the single source of work</a:t>
                      </a:r>
                    </a:p>
                  </a:txBody>
                  <a:tcPr marL="127000" marR="101600" marT="63500" marB="63500" anchor="ctr">
                    <a:solidFill>
                      <a:srgbClr val="FFFFFF"/>
                    </a:solidFill>
                  </a:tcPr>
                </a:tc>
                <a:tc>
                  <a:txBody>
                    <a:bodyPr/>
                    <a:lstStyle/>
                    <a:p>
                      <a:r>
                        <a:rPr lang="en-US" sz="1300">
                          <a:solidFill>
                            <a:srgbClr val="1F2937"/>
                          </a:solidFill>
                          <a:latin typeface="Calibri" panose="020F0502020204030204" pitchFamily="34" charset="0"/>
                        </a:rPr>
                        <a:t>Product Owner</a:t>
                      </a:r>
                    </a:p>
                  </a:txBody>
                  <a:tcPr marL="127000" marR="101600" marT="63500" marB="63500" anchor="ctr">
                    <a:solidFill>
                      <a:srgbClr val="FFFFFF"/>
                    </a:solidFill>
                  </a:tcPr>
                </a:tc>
                <a:tc>
                  <a:txBody>
                    <a:bodyPr/>
                    <a:lstStyle/>
                    <a:p>
                      <a:r>
                        <a:rPr lang="en-US" sz="1300" b="1">
                          <a:solidFill>
                            <a:srgbClr val="6A4C93"/>
                          </a:solidFill>
                          <a:latin typeface="Calibri" panose="020F0502020204030204" pitchFamily="34" charset="0"/>
                        </a:rPr>
                        <a:t>Product goal</a:t>
                      </a:r>
                    </a:p>
                  </a:txBody>
                  <a:tcPr marL="127000" marR="101600" marT="63500" marB="63500" anchor="ctr">
                    <a:solidFill>
                      <a:srgbClr val="FFFFFF"/>
                    </a:solidFill>
                  </a:tcPr>
                </a:tc>
                <a:tc>
                  <a:txBody>
                    <a:bodyPr/>
                    <a:lstStyle/>
                    <a:p>
                      <a:r>
                        <a:rPr lang="en-US" sz="1300">
                          <a:solidFill>
                            <a:srgbClr val="1F2937"/>
                          </a:solidFill>
                          <a:latin typeface="Calibri" panose="020F0502020204030204" pitchFamily="34" charset="0"/>
                        </a:rPr>
                        <a:t>The long-term objective; the team fulfils or abandons one before taking the next</a:t>
                      </a:r>
                    </a:p>
                  </a:txBody>
                  <a:tcPr marL="127000" marR="101600" marT="63500" marB="63500" anchor="ctr">
                    <a:solidFill>
                      <a:srgbClr val="FFFFFF"/>
                    </a:solidFill>
                  </a:tcPr>
                </a:tc>
                <a:extLst>
                  <a:ext uri="{0D108BD9-81ED-4DB2-BD59-A6C34878D82A}">
                    <a16:rowId xmlns:a16="http://schemas.microsoft.com/office/drawing/2014/main" val="1027753025"/>
                  </a:ext>
                </a:extLst>
              </a:tr>
              <a:tr h="787400">
                <a:tc>
                  <a:txBody>
                    <a:bodyPr/>
                    <a:lstStyle/>
                    <a:p>
                      <a:r>
                        <a:rPr lang="en-US" sz="1300" b="1">
                          <a:solidFill>
                            <a:srgbClr val="14213D"/>
                          </a:solidFill>
                          <a:latin typeface="Calibri" panose="020F0502020204030204" pitchFamily="34" charset="0"/>
                        </a:rPr>
                        <a:t>Sprint backlog</a:t>
                      </a:r>
                    </a:p>
                  </a:txBody>
                  <a:tcPr marL="127000" marR="101600" marT="63500" marB="63500" anchor="ctr">
                    <a:solidFill>
                      <a:srgbClr val="F3F5F8"/>
                    </a:solidFill>
                  </a:tcPr>
                </a:tc>
                <a:tc>
                  <a:txBody>
                    <a:bodyPr/>
                    <a:lstStyle/>
                    <a:p>
                      <a:r>
                        <a:rPr lang="en-US" sz="1300">
                          <a:solidFill>
                            <a:srgbClr val="1F2937"/>
                          </a:solidFill>
                          <a:latin typeface="Calibri" panose="020F0502020204030204" pitchFamily="34" charset="0"/>
                        </a:rPr>
                        <a:t>The sprint goal (why), the selected product backlog items (what), and the plan to deliver them (how)</a:t>
                      </a:r>
                    </a:p>
                  </a:txBody>
                  <a:tcPr marL="127000" marR="101600" marT="63500" marB="63500" anchor="ctr">
                    <a:solidFill>
                      <a:srgbClr val="F3F5F8"/>
                    </a:solidFill>
                  </a:tcPr>
                </a:tc>
                <a:tc>
                  <a:txBody>
                    <a:bodyPr/>
                    <a:lstStyle/>
                    <a:p>
                      <a:r>
                        <a:rPr lang="en-US" sz="1300">
                          <a:solidFill>
                            <a:srgbClr val="1F2937"/>
                          </a:solidFill>
                          <a:latin typeface="Calibri" panose="020F0502020204030204" pitchFamily="34" charset="0"/>
                        </a:rPr>
                        <a:t>Developers</a:t>
                      </a:r>
                    </a:p>
                  </a:txBody>
                  <a:tcPr marL="127000" marR="101600" marT="63500" marB="63500" anchor="ctr">
                    <a:solidFill>
                      <a:srgbClr val="F3F5F8"/>
                    </a:solidFill>
                  </a:tcPr>
                </a:tc>
                <a:tc>
                  <a:txBody>
                    <a:bodyPr/>
                    <a:lstStyle/>
                    <a:p>
                      <a:r>
                        <a:rPr lang="en-US" sz="1300" b="1">
                          <a:solidFill>
                            <a:srgbClr val="6A4C93"/>
                          </a:solidFill>
                          <a:latin typeface="Calibri" panose="020F0502020204030204" pitchFamily="34" charset="0"/>
                        </a:rPr>
                        <a:t>Sprint goal</a:t>
                      </a:r>
                    </a:p>
                  </a:txBody>
                  <a:tcPr marL="127000" marR="101600" marT="63500" marB="63500" anchor="ctr">
                    <a:solidFill>
                      <a:srgbClr val="F3F5F8"/>
                    </a:solidFill>
                  </a:tcPr>
                </a:tc>
                <a:tc>
                  <a:txBody>
                    <a:bodyPr/>
                    <a:lstStyle/>
                    <a:p>
                      <a:r>
                        <a:rPr lang="en-US" sz="1300">
                          <a:solidFill>
                            <a:srgbClr val="1F2937"/>
                          </a:solidFill>
                          <a:latin typeface="Calibri" panose="020F0502020204030204" pitchFamily="34" charset="0"/>
                        </a:rPr>
                        <a:t>The single objective for the sprint; it stays fixed while the scope can be renegotiated</a:t>
                      </a:r>
                    </a:p>
                  </a:txBody>
                  <a:tcPr marL="127000" marR="101600" marT="63500" marB="63500" anchor="ctr">
                    <a:solidFill>
                      <a:srgbClr val="F3F5F8"/>
                    </a:solidFill>
                  </a:tcPr>
                </a:tc>
                <a:extLst>
                  <a:ext uri="{0D108BD9-81ED-4DB2-BD59-A6C34878D82A}">
                    <a16:rowId xmlns:a16="http://schemas.microsoft.com/office/drawing/2014/main" val="3169476789"/>
                  </a:ext>
                </a:extLst>
              </a:tr>
              <a:tr h="787400">
                <a:tc>
                  <a:txBody>
                    <a:bodyPr/>
                    <a:lstStyle/>
                    <a:p>
                      <a:r>
                        <a:rPr lang="en-US" sz="1300" b="1">
                          <a:solidFill>
                            <a:srgbClr val="14213D"/>
                          </a:solidFill>
                          <a:latin typeface="Calibri" panose="020F0502020204030204" pitchFamily="34" charset="0"/>
                        </a:rPr>
                        <a:t>Increment</a:t>
                      </a:r>
                    </a:p>
                  </a:txBody>
                  <a:tcPr marL="127000" marR="101600" marT="63500" marB="63500" anchor="ctr">
                    <a:solidFill>
                      <a:srgbClr val="FFFFFF"/>
                    </a:solidFill>
                  </a:tcPr>
                </a:tc>
                <a:tc>
                  <a:txBody>
                    <a:bodyPr/>
                    <a:lstStyle/>
                    <a:p>
                      <a:r>
                        <a:rPr lang="en-US" sz="1300">
                          <a:solidFill>
                            <a:srgbClr val="1F2937"/>
                          </a:solidFill>
                          <a:latin typeface="Calibri" panose="020F0502020204030204" pitchFamily="34" charset="0"/>
                        </a:rPr>
                        <a:t>A concrete, usable step toward the product goal; several can be created in one sprint</a:t>
                      </a:r>
                    </a:p>
                  </a:txBody>
                  <a:tcPr marL="127000" marR="101600" marT="63500" marB="63500" anchor="ctr">
                    <a:solidFill>
                      <a:srgbClr val="FFFFFF"/>
                    </a:solidFill>
                  </a:tcPr>
                </a:tc>
                <a:tc>
                  <a:txBody>
                    <a:bodyPr/>
                    <a:lstStyle/>
                    <a:p>
                      <a:r>
                        <a:rPr lang="en-US" sz="1300">
                          <a:solidFill>
                            <a:srgbClr val="1F2937"/>
                          </a:solidFill>
                          <a:latin typeface="Calibri" panose="020F0502020204030204" pitchFamily="34" charset="0"/>
                        </a:rPr>
                        <a:t>Scrum team</a:t>
                      </a:r>
                    </a:p>
                  </a:txBody>
                  <a:tcPr marL="127000" marR="101600" marT="63500" marB="63500" anchor="ctr">
                    <a:solidFill>
                      <a:srgbClr val="FFFFFF"/>
                    </a:solidFill>
                  </a:tcPr>
                </a:tc>
                <a:tc>
                  <a:txBody>
                    <a:bodyPr/>
                    <a:lstStyle/>
                    <a:p>
                      <a:r>
                        <a:rPr lang="en-US" sz="1300" b="1">
                          <a:solidFill>
                            <a:srgbClr val="6A4C93"/>
                          </a:solidFill>
                          <a:latin typeface="Calibri" panose="020F0502020204030204" pitchFamily="34" charset="0"/>
                        </a:rPr>
                        <a:t>Definition of done</a:t>
                      </a:r>
                    </a:p>
                  </a:txBody>
                  <a:tcPr marL="127000" marR="101600" marT="63500" marB="63500" anchor="ctr">
                    <a:solidFill>
                      <a:srgbClr val="FFFFFF"/>
                    </a:solidFill>
                  </a:tcPr>
                </a:tc>
                <a:tc>
                  <a:txBody>
                    <a:bodyPr/>
                    <a:lstStyle/>
                    <a:p>
                      <a:r>
                        <a:rPr lang="en-US" sz="1300">
                          <a:solidFill>
                            <a:srgbClr val="1F2937"/>
                          </a:solidFill>
                          <a:latin typeface="Calibri" panose="020F0502020204030204" pitchFamily="34" charset="0"/>
                        </a:rPr>
                        <a:t>The quality standard work must meet to become part of an increment</a:t>
                      </a:r>
                    </a:p>
                  </a:txBody>
                  <a:tcPr marL="127000" marR="101600" marT="63500" marB="63500" anchor="ctr">
                    <a:solidFill>
                      <a:srgbClr val="FFFFFF"/>
                    </a:solidFill>
                  </a:tcPr>
                </a:tc>
                <a:extLst>
                  <a:ext uri="{0D108BD9-81ED-4DB2-BD59-A6C34878D82A}">
                    <a16:rowId xmlns:a16="http://schemas.microsoft.com/office/drawing/2014/main" val="634876717"/>
                  </a:ext>
                </a:extLst>
              </a:tr>
            </a:tbl>
          </a:graphicData>
        </a:graphic>
      </p:graphicFrame>
      <p:sp>
        <p:nvSpPr>
          <p:cNvPr id="5" name="Rectangle: Rounded Corners 4">
            <a:extLst>
              <a:ext uri="{FF2B5EF4-FFF2-40B4-BE49-F238E27FC236}">
                <a16:creationId xmlns:a16="http://schemas.microsoft.com/office/drawing/2014/main" id="{DAFC20A4-220A-D008-D901-470B0724F211}"/>
              </a:ext>
            </a:extLst>
          </p:cNvPr>
          <p:cNvSpPr/>
          <p:nvPr/>
        </p:nvSpPr>
        <p:spPr>
          <a:xfrm>
            <a:off x="508000" y="4724400"/>
            <a:ext cx="5461000" cy="16256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F790F79-82ED-FAF5-FD93-E3536E9696A7}"/>
              </a:ext>
            </a:extLst>
          </p:cNvPr>
          <p:cNvSpPr txBox="1"/>
          <p:nvPr/>
        </p:nvSpPr>
        <p:spPr>
          <a:xfrm>
            <a:off x="685800" y="4902200"/>
            <a:ext cx="5105400" cy="12700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Scrum artifacts vs. PMI project artifacts</a:t>
            </a:r>
          </a:p>
          <a:p>
            <a:r>
              <a:rPr lang="en-US" sz="1300">
                <a:solidFill>
                  <a:srgbClr val="1F2937"/>
                </a:solidFill>
                <a:latin typeface="Calibri" panose="020F0502020204030204" pitchFamily="34" charset="0"/>
              </a:rPr>
              <a:t>Scrum’s three artifacts make work and value transparent. PMI’s Process Task 9 (Evaluate project status) uses ‘artifacts’ for any project document: charter, plans, registers, logs, and reports. Read the question’s context.</a:t>
            </a:r>
          </a:p>
        </p:txBody>
      </p:sp>
      <p:sp>
        <p:nvSpPr>
          <p:cNvPr id="7" name="Rectangle: Rounded Corners 6">
            <a:extLst>
              <a:ext uri="{FF2B5EF4-FFF2-40B4-BE49-F238E27FC236}">
                <a16:creationId xmlns:a16="http://schemas.microsoft.com/office/drawing/2014/main" id="{2622E7D6-9BAC-1919-8024-CDAB887325D9}"/>
              </a:ext>
            </a:extLst>
          </p:cNvPr>
          <p:cNvSpPr/>
          <p:nvPr/>
        </p:nvSpPr>
        <p:spPr>
          <a:xfrm>
            <a:off x="6223000" y="4724400"/>
            <a:ext cx="5461000" cy="16256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27D1C48-5253-456F-DD01-C3D4509E6085}"/>
              </a:ext>
            </a:extLst>
          </p:cNvPr>
          <p:cNvSpPr txBox="1"/>
          <p:nvPr/>
        </p:nvSpPr>
        <p:spPr>
          <a:xfrm>
            <a:off x="6400800" y="4902200"/>
            <a:ext cx="5105400" cy="1270000"/>
          </a:xfrm>
          <a:prstGeom prst="rect">
            <a:avLst/>
          </a:prstGeom>
          <a:noFill/>
        </p:spPr>
        <p:txBody>
          <a:bodyPr vert="horz" wrap="square" lIns="0" tIns="0" rIns="0" bIns="0" rtlCol="0" anchor="t">
            <a:noAutofit/>
          </a:bodyPr>
          <a:lstStyle/>
          <a:p>
            <a:pPr>
              <a:spcAft>
                <a:spcPts val="600"/>
              </a:spcAft>
            </a:pPr>
            <a:r>
              <a:rPr lang="en-US" sz="1500" b="1">
                <a:solidFill>
                  <a:srgbClr val="6A4C93"/>
                </a:solidFill>
                <a:latin typeface="Calibri" panose="020F0502020204030204" pitchFamily="34" charset="0"/>
              </a:rPr>
              <a:t>Exam cue</a:t>
            </a:r>
          </a:p>
          <a:p>
            <a:r>
              <a:rPr lang="en-US" sz="1300">
                <a:solidFill>
                  <a:srgbClr val="1F2937"/>
                </a:solidFill>
                <a:latin typeface="Calibri" panose="020F0502020204030204" pitchFamily="34" charset="0"/>
              </a:rPr>
              <a:t>The sprint goal does not change during a sprint; the sprint backlog can be renegotiated with the Product Owner. Work that misses the definition of done is not part of the increment and returns to the product backlog.</a:t>
            </a:r>
          </a:p>
        </p:txBody>
      </p:sp>
      <p:sp>
        <p:nvSpPr>
          <p:cNvPr id="9" name="Footer">
            <a:extLst>
              <a:ext uri="{FF2B5EF4-FFF2-40B4-BE49-F238E27FC236}">
                <a16:creationId xmlns:a16="http://schemas.microsoft.com/office/drawing/2014/main" id="{1FB7BFCB-0AE9-E4DB-D163-606D8308885C}"/>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Ken Schwaber and Jeff Sutherland, The Scrum Guide (2020); PMI, PMP® Examination Content Outline (July 2026), Process Task 9</a:t>
            </a:r>
          </a:p>
        </p:txBody>
      </p:sp>
      <p:sp>
        <p:nvSpPr>
          <p:cNvPr id="10" name="SlideNum">
            <a:extLst>
              <a:ext uri="{FF2B5EF4-FFF2-40B4-BE49-F238E27FC236}">
                <a16:creationId xmlns:a16="http://schemas.microsoft.com/office/drawing/2014/main" id="{744260F1-5E2F-E9E9-C2E0-56DF550ABE82}"/>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102</a:t>
            </a:r>
          </a:p>
        </p:txBody>
      </p:sp>
      <p:sp>
        <p:nvSpPr>
          <p:cNvPr id="11"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2358411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1ABCD73-668F-69FA-BEA6-75FE80920F73}"/>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Kanban and lean: limit work, manage flow</a:t>
            </a:r>
          </a:p>
        </p:txBody>
      </p:sp>
      <p:sp>
        <p:nvSpPr>
          <p:cNvPr id="3" name="Tag">
            <a:extLst>
              <a:ext uri="{FF2B5EF4-FFF2-40B4-BE49-F238E27FC236}">
                <a16:creationId xmlns:a16="http://schemas.microsoft.com/office/drawing/2014/main" id="{317C2C20-F2D5-33CF-F704-23A78662F3C9}"/>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6A4C93"/>
                </a:solidFill>
                <a:latin typeface="Calibri" panose="020F0502020204030204" pitchFamily="34" charset="0"/>
              </a:rPr>
              <a:t>Agile essentials · Supports Process Task 8 (Plan and manage schedule) and Task 3 (value-based delivery)</a:t>
            </a:r>
          </a:p>
        </p:txBody>
      </p:sp>
      <p:sp>
        <p:nvSpPr>
          <p:cNvPr id="4" name="Rectangle 3">
            <a:extLst>
              <a:ext uri="{FF2B5EF4-FFF2-40B4-BE49-F238E27FC236}">
                <a16:creationId xmlns:a16="http://schemas.microsoft.com/office/drawing/2014/main" id="{1222D33B-06D3-4DAD-819B-1AFF42430F5A}"/>
              </a:ext>
            </a:extLst>
          </p:cNvPr>
          <p:cNvSpPr/>
          <p:nvPr/>
        </p:nvSpPr>
        <p:spPr>
          <a:xfrm>
            <a:off x="508000" y="1371600"/>
            <a:ext cx="1422400" cy="508000"/>
          </a:xfrm>
          <a:prstGeom prst="rect">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300" b="1">
                <a:solidFill>
                  <a:srgbClr val="FFFFFF"/>
                </a:solidFill>
                <a:latin typeface="Calibri" panose="020F0502020204030204" pitchFamily="34" charset="0"/>
              </a:rPr>
              <a:t>To do</a:t>
            </a:r>
          </a:p>
        </p:txBody>
      </p:sp>
      <p:sp>
        <p:nvSpPr>
          <p:cNvPr id="5" name="Rectangle 4">
            <a:extLst>
              <a:ext uri="{FF2B5EF4-FFF2-40B4-BE49-F238E27FC236}">
                <a16:creationId xmlns:a16="http://schemas.microsoft.com/office/drawing/2014/main" id="{0CAE34EB-FE4C-5631-C5A2-EE6C6B571981}"/>
              </a:ext>
            </a:extLst>
          </p:cNvPr>
          <p:cNvSpPr/>
          <p:nvPr/>
        </p:nvSpPr>
        <p:spPr>
          <a:xfrm>
            <a:off x="508000" y="1930400"/>
            <a:ext cx="1422400" cy="3048000"/>
          </a:xfrm>
          <a:prstGeom prst="rect">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26957DA-064A-8791-1F47-1CF007B67FE8}"/>
              </a:ext>
            </a:extLst>
          </p:cNvPr>
          <p:cNvSpPr/>
          <p:nvPr/>
        </p:nvSpPr>
        <p:spPr>
          <a:xfrm>
            <a:off x="609600" y="2057400"/>
            <a:ext cx="1219200" cy="482600"/>
          </a:xfrm>
          <a:prstGeom prst="rect">
            <a:avLst/>
          </a:prstGeom>
          <a:solidFill>
            <a:srgbClr val="FBEBCB"/>
          </a:solidFill>
          <a:ln w="9525">
            <a:solidFill>
              <a:srgbClr val="E3C98F"/>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25400" rIns="25400" bIns="25400" rtlCol="0" anchor="ctr">
            <a:noAutofit/>
          </a:bodyPr>
          <a:lstStyle/>
          <a:p>
            <a:pPr algn="ctr"/>
            <a:r>
              <a:rPr lang="en-US" sz="1200">
                <a:solidFill>
                  <a:srgbClr val="14213D"/>
                </a:solidFill>
                <a:latin typeface="Calibri" panose="020F0502020204030204" pitchFamily="34" charset="0"/>
              </a:rPr>
              <a:t>Item A</a:t>
            </a:r>
          </a:p>
        </p:txBody>
      </p:sp>
      <p:sp>
        <p:nvSpPr>
          <p:cNvPr id="7" name="Rectangle 6">
            <a:extLst>
              <a:ext uri="{FF2B5EF4-FFF2-40B4-BE49-F238E27FC236}">
                <a16:creationId xmlns:a16="http://schemas.microsoft.com/office/drawing/2014/main" id="{F59ADE54-DD2A-591E-D9C6-9094C8E0196A}"/>
              </a:ext>
            </a:extLst>
          </p:cNvPr>
          <p:cNvSpPr/>
          <p:nvPr/>
        </p:nvSpPr>
        <p:spPr>
          <a:xfrm>
            <a:off x="609600" y="2667000"/>
            <a:ext cx="1219200" cy="482600"/>
          </a:xfrm>
          <a:prstGeom prst="rect">
            <a:avLst/>
          </a:prstGeom>
          <a:solidFill>
            <a:srgbClr val="FBEBCB"/>
          </a:solidFill>
          <a:ln w="9525">
            <a:solidFill>
              <a:srgbClr val="E3C98F"/>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25400" rIns="25400" bIns="25400" rtlCol="0" anchor="ctr">
            <a:noAutofit/>
          </a:bodyPr>
          <a:lstStyle/>
          <a:p>
            <a:pPr algn="ctr"/>
            <a:r>
              <a:rPr lang="en-US" sz="1200">
                <a:solidFill>
                  <a:srgbClr val="14213D"/>
                </a:solidFill>
                <a:latin typeface="Calibri" panose="020F0502020204030204" pitchFamily="34" charset="0"/>
              </a:rPr>
              <a:t>Item B</a:t>
            </a:r>
          </a:p>
        </p:txBody>
      </p:sp>
      <p:sp>
        <p:nvSpPr>
          <p:cNvPr id="8" name="Rectangle 7">
            <a:extLst>
              <a:ext uri="{FF2B5EF4-FFF2-40B4-BE49-F238E27FC236}">
                <a16:creationId xmlns:a16="http://schemas.microsoft.com/office/drawing/2014/main" id="{1E70BB76-EF34-B874-5AD6-30FBC81B22EC}"/>
              </a:ext>
            </a:extLst>
          </p:cNvPr>
          <p:cNvSpPr/>
          <p:nvPr/>
        </p:nvSpPr>
        <p:spPr>
          <a:xfrm>
            <a:off x="609600" y="3276600"/>
            <a:ext cx="1219200" cy="482600"/>
          </a:xfrm>
          <a:prstGeom prst="rect">
            <a:avLst/>
          </a:prstGeom>
          <a:solidFill>
            <a:srgbClr val="FBEBCB"/>
          </a:solidFill>
          <a:ln w="9525">
            <a:solidFill>
              <a:srgbClr val="E3C98F"/>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25400" rIns="25400" bIns="25400" rtlCol="0" anchor="ctr">
            <a:noAutofit/>
          </a:bodyPr>
          <a:lstStyle/>
          <a:p>
            <a:pPr algn="ctr"/>
            <a:r>
              <a:rPr lang="en-US" sz="1200">
                <a:solidFill>
                  <a:srgbClr val="14213D"/>
                </a:solidFill>
                <a:latin typeface="Calibri" panose="020F0502020204030204" pitchFamily="34" charset="0"/>
              </a:rPr>
              <a:t>Item C</a:t>
            </a:r>
          </a:p>
        </p:txBody>
      </p:sp>
      <p:sp>
        <p:nvSpPr>
          <p:cNvPr id="9" name="Rectangle 8">
            <a:extLst>
              <a:ext uri="{FF2B5EF4-FFF2-40B4-BE49-F238E27FC236}">
                <a16:creationId xmlns:a16="http://schemas.microsoft.com/office/drawing/2014/main" id="{0F3C3D1C-8857-1F4A-C3B0-4F452E21759F}"/>
              </a:ext>
            </a:extLst>
          </p:cNvPr>
          <p:cNvSpPr/>
          <p:nvPr/>
        </p:nvSpPr>
        <p:spPr>
          <a:xfrm>
            <a:off x="2057400" y="1371600"/>
            <a:ext cx="1422400" cy="508000"/>
          </a:xfrm>
          <a:prstGeom prst="rect">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300" b="1">
                <a:solidFill>
                  <a:srgbClr val="FFFFFF"/>
                </a:solidFill>
                <a:latin typeface="Calibri" panose="020F0502020204030204" pitchFamily="34" charset="0"/>
              </a:rPr>
              <a:t>Doing</a:t>
            </a:r>
          </a:p>
          <a:p>
            <a:pPr algn="ctr"/>
            <a:r>
              <a:rPr lang="en-US" sz="1300" b="1">
                <a:solidFill>
                  <a:srgbClr val="FFFFFF"/>
                </a:solidFill>
                <a:latin typeface="Calibri" panose="020F0502020204030204" pitchFamily="34" charset="0"/>
              </a:rPr>
              <a:t>WIP limit 3</a:t>
            </a:r>
          </a:p>
        </p:txBody>
      </p:sp>
      <p:sp>
        <p:nvSpPr>
          <p:cNvPr id="10" name="Rectangle 9">
            <a:extLst>
              <a:ext uri="{FF2B5EF4-FFF2-40B4-BE49-F238E27FC236}">
                <a16:creationId xmlns:a16="http://schemas.microsoft.com/office/drawing/2014/main" id="{FE64B074-A2B8-8C3E-89FD-C52D5AB7E311}"/>
              </a:ext>
            </a:extLst>
          </p:cNvPr>
          <p:cNvSpPr/>
          <p:nvPr/>
        </p:nvSpPr>
        <p:spPr>
          <a:xfrm>
            <a:off x="2057400" y="1930400"/>
            <a:ext cx="1422400" cy="3048000"/>
          </a:xfrm>
          <a:prstGeom prst="rect">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A23CCB2-212E-C327-2462-112E25995D86}"/>
              </a:ext>
            </a:extLst>
          </p:cNvPr>
          <p:cNvSpPr/>
          <p:nvPr/>
        </p:nvSpPr>
        <p:spPr>
          <a:xfrm>
            <a:off x="2159000" y="2057400"/>
            <a:ext cx="1219200" cy="482600"/>
          </a:xfrm>
          <a:prstGeom prst="rect">
            <a:avLst/>
          </a:prstGeom>
          <a:solidFill>
            <a:srgbClr val="FBEBCB"/>
          </a:solidFill>
          <a:ln w="9525">
            <a:solidFill>
              <a:srgbClr val="E3C98F"/>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25400" rIns="25400" bIns="25400" rtlCol="0" anchor="ctr">
            <a:noAutofit/>
          </a:bodyPr>
          <a:lstStyle/>
          <a:p>
            <a:pPr algn="ctr"/>
            <a:r>
              <a:rPr lang="en-US" sz="1200">
                <a:solidFill>
                  <a:srgbClr val="14213D"/>
                </a:solidFill>
                <a:latin typeface="Calibri" panose="020F0502020204030204" pitchFamily="34" charset="0"/>
              </a:rPr>
              <a:t>Item D</a:t>
            </a:r>
          </a:p>
        </p:txBody>
      </p:sp>
      <p:sp>
        <p:nvSpPr>
          <p:cNvPr id="12" name="Rectangle 11">
            <a:extLst>
              <a:ext uri="{FF2B5EF4-FFF2-40B4-BE49-F238E27FC236}">
                <a16:creationId xmlns:a16="http://schemas.microsoft.com/office/drawing/2014/main" id="{6C4E26A9-6BC5-EDF2-5476-F55F25837DFC}"/>
              </a:ext>
            </a:extLst>
          </p:cNvPr>
          <p:cNvSpPr/>
          <p:nvPr/>
        </p:nvSpPr>
        <p:spPr>
          <a:xfrm>
            <a:off x="2159000" y="2667000"/>
            <a:ext cx="1219200" cy="482600"/>
          </a:xfrm>
          <a:prstGeom prst="rect">
            <a:avLst/>
          </a:prstGeom>
          <a:solidFill>
            <a:srgbClr val="FBEBCB"/>
          </a:solidFill>
          <a:ln w="9525">
            <a:solidFill>
              <a:srgbClr val="E3C98F"/>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25400" rIns="25400" bIns="25400" rtlCol="0" anchor="ctr">
            <a:noAutofit/>
          </a:bodyPr>
          <a:lstStyle/>
          <a:p>
            <a:pPr algn="ctr"/>
            <a:r>
              <a:rPr lang="en-US" sz="1200">
                <a:solidFill>
                  <a:srgbClr val="14213D"/>
                </a:solidFill>
                <a:latin typeface="Calibri" panose="020F0502020204030204" pitchFamily="34" charset="0"/>
              </a:rPr>
              <a:t>Item E</a:t>
            </a:r>
          </a:p>
        </p:txBody>
      </p:sp>
      <p:sp>
        <p:nvSpPr>
          <p:cNvPr id="13" name="Rectangle 12">
            <a:extLst>
              <a:ext uri="{FF2B5EF4-FFF2-40B4-BE49-F238E27FC236}">
                <a16:creationId xmlns:a16="http://schemas.microsoft.com/office/drawing/2014/main" id="{EBBDCE75-7F18-8076-C888-5F37167BD05C}"/>
              </a:ext>
            </a:extLst>
          </p:cNvPr>
          <p:cNvSpPr/>
          <p:nvPr/>
        </p:nvSpPr>
        <p:spPr>
          <a:xfrm>
            <a:off x="2159000" y="3276600"/>
            <a:ext cx="1219200" cy="482600"/>
          </a:xfrm>
          <a:prstGeom prst="rect">
            <a:avLst/>
          </a:prstGeom>
          <a:solidFill>
            <a:srgbClr val="FBEBCB"/>
          </a:solidFill>
          <a:ln w="9525">
            <a:solidFill>
              <a:srgbClr val="E3C98F"/>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25400" rIns="25400" bIns="25400" rtlCol="0" anchor="ctr">
            <a:noAutofit/>
          </a:bodyPr>
          <a:lstStyle/>
          <a:p>
            <a:pPr algn="ctr"/>
            <a:r>
              <a:rPr lang="en-US" sz="1200">
                <a:solidFill>
                  <a:srgbClr val="14213D"/>
                </a:solidFill>
                <a:latin typeface="Calibri" panose="020F0502020204030204" pitchFamily="34" charset="0"/>
              </a:rPr>
              <a:t>Item F</a:t>
            </a:r>
          </a:p>
        </p:txBody>
      </p:sp>
      <p:sp>
        <p:nvSpPr>
          <p:cNvPr id="14" name="Rectangle 13">
            <a:extLst>
              <a:ext uri="{FF2B5EF4-FFF2-40B4-BE49-F238E27FC236}">
                <a16:creationId xmlns:a16="http://schemas.microsoft.com/office/drawing/2014/main" id="{2197F4B5-6C75-8987-892D-91F3968414C9}"/>
              </a:ext>
            </a:extLst>
          </p:cNvPr>
          <p:cNvSpPr/>
          <p:nvPr/>
        </p:nvSpPr>
        <p:spPr>
          <a:xfrm>
            <a:off x="3606800" y="1371600"/>
            <a:ext cx="1422400" cy="508000"/>
          </a:xfrm>
          <a:prstGeom prst="rect">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300" b="1">
                <a:solidFill>
                  <a:srgbClr val="FFFFFF"/>
                </a:solidFill>
                <a:latin typeface="Calibri" panose="020F0502020204030204" pitchFamily="34" charset="0"/>
              </a:rPr>
              <a:t>Review</a:t>
            </a:r>
          </a:p>
          <a:p>
            <a:pPr algn="ctr"/>
            <a:r>
              <a:rPr lang="en-US" sz="1300" b="1">
                <a:solidFill>
                  <a:srgbClr val="FFFFFF"/>
                </a:solidFill>
                <a:latin typeface="Calibri" panose="020F0502020204030204" pitchFamily="34" charset="0"/>
              </a:rPr>
              <a:t>WIP limit 2</a:t>
            </a:r>
          </a:p>
        </p:txBody>
      </p:sp>
      <p:sp>
        <p:nvSpPr>
          <p:cNvPr id="15" name="Rectangle 14">
            <a:extLst>
              <a:ext uri="{FF2B5EF4-FFF2-40B4-BE49-F238E27FC236}">
                <a16:creationId xmlns:a16="http://schemas.microsoft.com/office/drawing/2014/main" id="{7077FE72-1903-0418-E214-BDFB92A5BF06}"/>
              </a:ext>
            </a:extLst>
          </p:cNvPr>
          <p:cNvSpPr/>
          <p:nvPr/>
        </p:nvSpPr>
        <p:spPr>
          <a:xfrm>
            <a:off x="3606800" y="1930400"/>
            <a:ext cx="1422400" cy="3048000"/>
          </a:xfrm>
          <a:prstGeom prst="rect">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6D5D0E0-F6B2-12CB-4734-470231E32414}"/>
              </a:ext>
            </a:extLst>
          </p:cNvPr>
          <p:cNvSpPr/>
          <p:nvPr/>
        </p:nvSpPr>
        <p:spPr>
          <a:xfrm>
            <a:off x="3708400" y="2057400"/>
            <a:ext cx="1219200" cy="482600"/>
          </a:xfrm>
          <a:prstGeom prst="rect">
            <a:avLst/>
          </a:prstGeom>
          <a:solidFill>
            <a:srgbClr val="FBEBCB"/>
          </a:solidFill>
          <a:ln w="9525">
            <a:solidFill>
              <a:srgbClr val="E3C98F"/>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25400" rIns="25400" bIns="25400" rtlCol="0" anchor="ctr">
            <a:noAutofit/>
          </a:bodyPr>
          <a:lstStyle/>
          <a:p>
            <a:pPr algn="ctr"/>
            <a:r>
              <a:rPr lang="en-US" sz="1200">
                <a:solidFill>
                  <a:srgbClr val="14213D"/>
                </a:solidFill>
                <a:latin typeface="Calibri" panose="020F0502020204030204" pitchFamily="34" charset="0"/>
              </a:rPr>
              <a:t>Item G</a:t>
            </a:r>
          </a:p>
        </p:txBody>
      </p:sp>
      <p:sp>
        <p:nvSpPr>
          <p:cNvPr id="17" name="Rectangle 16">
            <a:extLst>
              <a:ext uri="{FF2B5EF4-FFF2-40B4-BE49-F238E27FC236}">
                <a16:creationId xmlns:a16="http://schemas.microsoft.com/office/drawing/2014/main" id="{4EC64A35-904A-28D8-2890-B3A683117322}"/>
              </a:ext>
            </a:extLst>
          </p:cNvPr>
          <p:cNvSpPr/>
          <p:nvPr/>
        </p:nvSpPr>
        <p:spPr>
          <a:xfrm>
            <a:off x="3708400" y="2667000"/>
            <a:ext cx="1219200" cy="482600"/>
          </a:xfrm>
          <a:prstGeom prst="rect">
            <a:avLst/>
          </a:prstGeom>
          <a:solidFill>
            <a:srgbClr val="FBEBCB"/>
          </a:solidFill>
          <a:ln w="9525">
            <a:solidFill>
              <a:srgbClr val="E3C98F"/>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25400" rIns="25400" bIns="25400" rtlCol="0" anchor="ctr">
            <a:noAutofit/>
          </a:bodyPr>
          <a:lstStyle/>
          <a:p>
            <a:pPr algn="ctr"/>
            <a:r>
              <a:rPr lang="en-US" sz="1200">
                <a:solidFill>
                  <a:srgbClr val="14213D"/>
                </a:solidFill>
                <a:latin typeface="Calibri" panose="020F0502020204030204" pitchFamily="34" charset="0"/>
              </a:rPr>
              <a:t>Item H</a:t>
            </a:r>
          </a:p>
        </p:txBody>
      </p:sp>
      <p:sp>
        <p:nvSpPr>
          <p:cNvPr id="18" name="Rectangle 17">
            <a:extLst>
              <a:ext uri="{FF2B5EF4-FFF2-40B4-BE49-F238E27FC236}">
                <a16:creationId xmlns:a16="http://schemas.microsoft.com/office/drawing/2014/main" id="{2EA38982-FFB6-A60B-A506-2C4D3BD5E2DE}"/>
              </a:ext>
            </a:extLst>
          </p:cNvPr>
          <p:cNvSpPr/>
          <p:nvPr/>
        </p:nvSpPr>
        <p:spPr>
          <a:xfrm>
            <a:off x="5156200" y="1371600"/>
            <a:ext cx="1422400" cy="508000"/>
          </a:xfrm>
          <a:prstGeom prst="rect">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25400" rIns="50800" bIns="25400" rtlCol="0" anchor="ctr"/>
          <a:lstStyle/>
          <a:p>
            <a:pPr algn="ctr"/>
            <a:r>
              <a:rPr lang="en-US" sz="1300" b="1">
                <a:solidFill>
                  <a:srgbClr val="FFFFFF"/>
                </a:solidFill>
                <a:latin typeface="Calibri" panose="020F0502020204030204" pitchFamily="34" charset="0"/>
              </a:rPr>
              <a:t>Done</a:t>
            </a:r>
          </a:p>
        </p:txBody>
      </p:sp>
      <p:sp>
        <p:nvSpPr>
          <p:cNvPr id="19" name="Rectangle 18">
            <a:extLst>
              <a:ext uri="{FF2B5EF4-FFF2-40B4-BE49-F238E27FC236}">
                <a16:creationId xmlns:a16="http://schemas.microsoft.com/office/drawing/2014/main" id="{F7FE9CDF-7939-55B7-3158-D734EDD142FE}"/>
              </a:ext>
            </a:extLst>
          </p:cNvPr>
          <p:cNvSpPr/>
          <p:nvPr/>
        </p:nvSpPr>
        <p:spPr>
          <a:xfrm>
            <a:off x="5156200" y="1930400"/>
            <a:ext cx="1422400" cy="3048000"/>
          </a:xfrm>
          <a:prstGeom prst="rect">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D6476-FB30-74F8-B8DF-1761A978B38E}"/>
              </a:ext>
            </a:extLst>
          </p:cNvPr>
          <p:cNvSpPr/>
          <p:nvPr/>
        </p:nvSpPr>
        <p:spPr>
          <a:xfrm>
            <a:off x="5257800" y="2057400"/>
            <a:ext cx="1219200" cy="482600"/>
          </a:xfrm>
          <a:prstGeom prst="rect">
            <a:avLst/>
          </a:prstGeom>
          <a:solidFill>
            <a:srgbClr val="FBEBCB"/>
          </a:solidFill>
          <a:ln w="9525">
            <a:solidFill>
              <a:srgbClr val="E3C98F"/>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25400" rIns="25400" bIns="25400" rtlCol="0" anchor="ctr">
            <a:noAutofit/>
          </a:bodyPr>
          <a:lstStyle/>
          <a:p>
            <a:pPr algn="ctr"/>
            <a:r>
              <a:rPr lang="en-US" sz="1200">
                <a:solidFill>
                  <a:srgbClr val="14213D"/>
                </a:solidFill>
                <a:latin typeface="Calibri" panose="020F0502020204030204" pitchFamily="34" charset="0"/>
              </a:rPr>
              <a:t>Item J</a:t>
            </a:r>
          </a:p>
        </p:txBody>
      </p:sp>
      <p:sp>
        <p:nvSpPr>
          <p:cNvPr id="21" name="Rectangle 20">
            <a:extLst>
              <a:ext uri="{FF2B5EF4-FFF2-40B4-BE49-F238E27FC236}">
                <a16:creationId xmlns:a16="http://schemas.microsoft.com/office/drawing/2014/main" id="{9DFC9B89-A4AE-A2FA-5F00-A7C1E2525EC5}"/>
              </a:ext>
            </a:extLst>
          </p:cNvPr>
          <p:cNvSpPr/>
          <p:nvPr/>
        </p:nvSpPr>
        <p:spPr>
          <a:xfrm>
            <a:off x="5257800" y="2667000"/>
            <a:ext cx="1219200" cy="482600"/>
          </a:xfrm>
          <a:prstGeom prst="rect">
            <a:avLst/>
          </a:prstGeom>
          <a:solidFill>
            <a:srgbClr val="FBEBCB"/>
          </a:solidFill>
          <a:ln w="9525">
            <a:solidFill>
              <a:srgbClr val="E3C98F"/>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25400" rIns="25400" bIns="25400" rtlCol="0" anchor="ctr">
            <a:noAutofit/>
          </a:bodyPr>
          <a:lstStyle/>
          <a:p>
            <a:pPr algn="ctr"/>
            <a:r>
              <a:rPr lang="en-US" sz="1200">
                <a:solidFill>
                  <a:srgbClr val="14213D"/>
                </a:solidFill>
                <a:latin typeface="Calibri" panose="020F0502020204030204" pitchFamily="34" charset="0"/>
              </a:rPr>
              <a:t>Item K</a:t>
            </a:r>
          </a:p>
        </p:txBody>
      </p:sp>
      <p:sp>
        <p:nvSpPr>
          <p:cNvPr id="22" name="Rectangle 21">
            <a:extLst>
              <a:ext uri="{FF2B5EF4-FFF2-40B4-BE49-F238E27FC236}">
                <a16:creationId xmlns:a16="http://schemas.microsoft.com/office/drawing/2014/main" id="{A793C0F1-A039-61CF-9EFB-43983E61F000}"/>
              </a:ext>
            </a:extLst>
          </p:cNvPr>
          <p:cNvSpPr/>
          <p:nvPr/>
        </p:nvSpPr>
        <p:spPr>
          <a:xfrm>
            <a:off x="5257800" y="3276600"/>
            <a:ext cx="1219200" cy="482600"/>
          </a:xfrm>
          <a:prstGeom prst="rect">
            <a:avLst/>
          </a:prstGeom>
          <a:solidFill>
            <a:srgbClr val="FBEBCB"/>
          </a:solidFill>
          <a:ln w="9525">
            <a:solidFill>
              <a:srgbClr val="E3C98F"/>
            </a:solidFill>
          </a:ln>
        </p:spPr>
        <p:style>
          <a:lnRef idx="2">
            <a:schemeClr val="accent1">
              <a:shade val="15000"/>
            </a:schemeClr>
          </a:lnRef>
          <a:fillRef idx="1">
            <a:schemeClr val="accent1"/>
          </a:fillRef>
          <a:effectRef idx="0">
            <a:schemeClr val="accent1"/>
          </a:effectRef>
          <a:fontRef idx="minor">
            <a:schemeClr val="lt1"/>
          </a:fontRef>
        </p:style>
        <p:txBody>
          <a:bodyPr wrap="square" lIns="25400" tIns="25400" rIns="25400" bIns="25400" rtlCol="0" anchor="ctr">
            <a:noAutofit/>
          </a:bodyPr>
          <a:lstStyle/>
          <a:p>
            <a:pPr algn="ctr"/>
            <a:r>
              <a:rPr lang="en-US" sz="1200">
                <a:solidFill>
                  <a:srgbClr val="14213D"/>
                </a:solidFill>
                <a:latin typeface="Calibri" panose="020F0502020204030204" pitchFamily="34" charset="0"/>
              </a:rPr>
              <a:t>Item L</a:t>
            </a:r>
          </a:p>
        </p:txBody>
      </p:sp>
      <p:sp>
        <p:nvSpPr>
          <p:cNvPr id="23" name="TextBox 22">
            <a:extLst>
              <a:ext uri="{FF2B5EF4-FFF2-40B4-BE49-F238E27FC236}">
                <a16:creationId xmlns:a16="http://schemas.microsoft.com/office/drawing/2014/main" id="{1A0AB310-DF98-E1DE-E20D-F0F9870C013E}"/>
              </a:ext>
            </a:extLst>
          </p:cNvPr>
          <p:cNvSpPr txBox="1"/>
          <p:nvPr/>
        </p:nvSpPr>
        <p:spPr>
          <a:xfrm>
            <a:off x="508000" y="5080000"/>
            <a:ext cx="6070600" cy="508000"/>
          </a:xfrm>
          <a:prstGeom prst="rect">
            <a:avLst/>
          </a:prstGeom>
          <a:noFill/>
        </p:spPr>
        <p:txBody>
          <a:bodyPr vert="horz" wrap="square" lIns="0" tIns="0" rIns="0" bIns="0" rtlCol="0" anchor="t">
            <a:noAutofit/>
          </a:bodyPr>
          <a:lstStyle/>
          <a:p>
            <a:r>
              <a:rPr lang="en-US" sz="1400" i="1">
                <a:solidFill>
                  <a:srgbClr val="14213D"/>
                </a:solidFill>
                <a:latin typeface="Calibri" panose="020F0502020204030204" pitchFamily="34" charset="0"/>
              </a:rPr>
              <a:t>Work is pulled into the next column only when it has room under its WIP limit.</a:t>
            </a:r>
          </a:p>
        </p:txBody>
      </p:sp>
      <p:sp>
        <p:nvSpPr>
          <p:cNvPr id="25" name="Rectangle: Rounded Corners 24">
            <a:extLst>
              <a:ext uri="{FF2B5EF4-FFF2-40B4-BE49-F238E27FC236}">
                <a16:creationId xmlns:a16="http://schemas.microsoft.com/office/drawing/2014/main" id="{3B790400-AB9C-EE93-AC39-66EE2B0B6508}"/>
              </a:ext>
            </a:extLst>
          </p:cNvPr>
          <p:cNvSpPr/>
          <p:nvPr/>
        </p:nvSpPr>
        <p:spPr>
          <a:xfrm>
            <a:off x="6858000" y="1371600"/>
            <a:ext cx="4826000" cy="24892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4C3AF0F4-0B18-E5B3-E4FD-F9B3DD401BEF}"/>
              </a:ext>
            </a:extLst>
          </p:cNvPr>
          <p:cNvSpPr txBox="1"/>
          <p:nvPr/>
        </p:nvSpPr>
        <p:spPr>
          <a:xfrm>
            <a:off x="7061200" y="1524000"/>
            <a:ext cx="4419600" cy="2235200"/>
          </a:xfrm>
          <a:prstGeom prst="rect">
            <a:avLst/>
          </a:prstGeom>
          <a:noFill/>
        </p:spPr>
        <p:txBody>
          <a:bodyPr vert="horz" wrap="square" lIns="0" tIns="0" rIns="0" bIns="0" rtlCol="0" anchor="t">
            <a:noAutofit/>
          </a:bodyPr>
          <a:lstStyle/>
          <a:p>
            <a:pPr>
              <a:spcAft>
                <a:spcPts val="400"/>
              </a:spcAft>
            </a:pPr>
            <a:r>
              <a:rPr lang="en-US" sz="1700" b="1">
                <a:solidFill>
                  <a:srgbClr val="6A4C93"/>
                </a:solidFill>
                <a:latin typeface="Calibri" panose="020F0502020204030204" pitchFamily="34" charset="0"/>
              </a:rPr>
              <a:t>Kanban practices</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Visualize the workflow</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Limit work in progress (WIP)</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Manage and measure flow</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Make process policies explicit</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Pull work; don’t push it</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Improve collaboratively (kaizen)</a:t>
            </a:r>
          </a:p>
        </p:txBody>
      </p:sp>
      <p:sp>
        <p:nvSpPr>
          <p:cNvPr id="27" name="Rectangle: Rounded Corners 26">
            <a:extLst>
              <a:ext uri="{FF2B5EF4-FFF2-40B4-BE49-F238E27FC236}">
                <a16:creationId xmlns:a16="http://schemas.microsoft.com/office/drawing/2014/main" id="{4B09597D-6D1E-E060-9CFD-C5F46392A55B}"/>
              </a:ext>
            </a:extLst>
          </p:cNvPr>
          <p:cNvSpPr/>
          <p:nvPr/>
        </p:nvSpPr>
        <p:spPr>
          <a:xfrm>
            <a:off x="6858000" y="4038600"/>
            <a:ext cx="4826000" cy="2184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2DAEF60A-BF04-1DA6-9053-C367A82C06C0}"/>
              </a:ext>
            </a:extLst>
          </p:cNvPr>
          <p:cNvSpPr txBox="1"/>
          <p:nvPr/>
        </p:nvSpPr>
        <p:spPr>
          <a:xfrm>
            <a:off x="7035800" y="4216400"/>
            <a:ext cx="4470400" cy="1828800"/>
          </a:xfrm>
          <a:prstGeom prst="rect">
            <a:avLst/>
          </a:prstGeom>
          <a:noFill/>
        </p:spPr>
        <p:txBody>
          <a:bodyPr vert="horz" wrap="square" lIns="0" tIns="0" rIns="0" bIns="0" rtlCol="0" anchor="t">
            <a:noAutofit/>
          </a:bodyPr>
          <a:lstStyle/>
          <a:p>
            <a:pPr>
              <a:spcAft>
                <a:spcPts val="600"/>
              </a:spcAft>
            </a:pPr>
            <a:r>
              <a:rPr lang="en-US" sz="1600" b="1">
                <a:solidFill>
                  <a:srgbClr val="14213D"/>
                </a:solidFill>
                <a:latin typeface="Calibri" panose="020F0502020204030204" pitchFamily="34" charset="0"/>
              </a:rPr>
              <a:t>Lean roots</a:t>
            </a:r>
          </a:p>
          <a:p>
            <a:r>
              <a:rPr lang="en-US" sz="1400">
                <a:solidFill>
                  <a:srgbClr val="1F2937"/>
                </a:solidFill>
                <a:latin typeface="Calibri" panose="020F0502020204030204" pitchFamily="34" charset="0"/>
              </a:rPr>
              <a:t>Eliminate waste, build quality in (jidoka), and deliver fast. Little’s Law: average cycle time = WIP × 1/throughput, so lower WIP means faster delivery.</a:t>
            </a:r>
          </a:p>
        </p:txBody>
      </p:sp>
      <p:sp>
        <p:nvSpPr>
          <p:cNvPr id="29" name="Footer">
            <a:extLst>
              <a:ext uri="{FF2B5EF4-FFF2-40B4-BE49-F238E27FC236}">
                <a16:creationId xmlns:a16="http://schemas.microsoft.com/office/drawing/2014/main" id="{5CC33BE7-A613-BF10-36B4-EB4D095E8460}"/>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and Agile Alliance, Agile Practice Guide (2017), Section 2 and Annex A3 (Kanban Method)</a:t>
            </a:r>
          </a:p>
        </p:txBody>
      </p:sp>
      <p:sp>
        <p:nvSpPr>
          <p:cNvPr id="30" name="SlideNum">
            <a:extLst>
              <a:ext uri="{FF2B5EF4-FFF2-40B4-BE49-F238E27FC236}">
                <a16:creationId xmlns:a16="http://schemas.microsoft.com/office/drawing/2014/main" id="{FF189B19-8FBC-DD2D-F6E8-6FE42DF49E46}"/>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103</a:t>
            </a:r>
          </a:p>
        </p:txBody>
      </p:sp>
      <p:sp>
        <p:nvSpPr>
          <p:cNvPr id="31"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42788480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F01922A-D7D6-0870-4549-62429A2AF44A}"/>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Lean in practice: jidoka and kaizen</a:t>
            </a:r>
          </a:p>
        </p:txBody>
      </p:sp>
      <p:sp>
        <p:nvSpPr>
          <p:cNvPr id="3" name="Tag">
            <a:extLst>
              <a:ext uri="{FF2B5EF4-FFF2-40B4-BE49-F238E27FC236}">
                <a16:creationId xmlns:a16="http://schemas.microsoft.com/office/drawing/2014/main" id="{DDF53DA1-F45E-6A55-5077-1E7DDB1E3A12}"/>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6A4C93"/>
                </a:solidFill>
                <a:latin typeface="Calibri" panose="020F0502020204030204" pitchFamily="34" charset="0"/>
              </a:rPr>
              <a:t>Agile essentials · Supports Process Task 7 (continuous improvement) and Business Environment Tasks 4 and 6 (impediments; improvement)</a:t>
            </a:r>
          </a:p>
        </p:txBody>
      </p:sp>
      <p:sp>
        <p:nvSpPr>
          <p:cNvPr id="4" name="Isosceles Triangle 3">
            <a:extLst>
              <a:ext uri="{FF2B5EF4-FFF2-40B4-BE49-F238E27FC236}">
                <a16:creationId xmlns:a16="http://schemas.microsoft.com/office/drawing/2014/main" id="{E875B808-BEB2-26C9-DD31-4965F0E1CB56}"/>
              </a:ext>
            </a:extLst>
          </p:cNvPr>
          <p:cNvSpPr/>
          <p:nvPr/>
        </p:nvSpPr>
        <p:spPr>
          <a:xfrm>
            <a:off x="508000" y="1320800"/>
            <a:ext cx="3810000" cy="762000"/>
          </a:xfrm>
          <a:prstGeom prst="triangle">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b"/>
          <a:lstStyle/>
          <a:p>
            <a:pPr algn="ctr"/>
            <a:r>
              <a:rPr lang="en-US" sz="1200" b="1">
                <a:solidFill>
                  <a:srgbClr val="FFFFFF"/>
                </a:solidFill>
                <a:latin typeface="Calibri" panose="020F0502020204030204" pitchFamily="34" charset="0"/>
              </a:rPr>
              <a:t>Toyota Production System</a:t>
            </a:r>
          </a:p>
        </p:txBody>
      </p:sp>
      <p:sp>
        <p:nvSpPr>
          <p:cNvPr id="5" name="Rectangle 4">
            <a:extLst>
              <a:ext uri="{FF2B5EF4-FFF2-40B4-BE49-F238E27FC236}">
                <a16:creationId xmlns:a16="http://schemas.microsoft.com/office/drawing/2014/main" id="{6FBA1308-F5E9-9BCF-DA64-1D443B193A96}"/>
              </a:ext>
            </a:extLst>
          </p:cNvPr>
          <p:cNvSpPr/>
          <p:nvPr/>
        </p:nvSpPr>
        <p:spPr>
          <a:xfrm>
            <a:off x="660400" y="2184400"/>
            <a:ext cx="1651000" cy="190500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ctr"/>
          <a:lstStyle/>
          <a:p>
            <a:pPr algn="ctr"/>
            <a:r>
              <a:rPr lang="en-US" sz="1600" b="1">
                <a:solidFill>
                  <a:srgbClr val="FFFFFF"/>
                </a:solidFill>
                <a:latin typeface="Calibri" panose="020F0502020204030204" pitchFamily="34" charset="0"/>
              </a:rPr>
              <a:t>Just-in-time</a:t>
            </a:r>
          </a:p>
          <a:p>
            <a:pPr algn="ctr"/>
            <a:r>
              <a:rPr lang="en-US" sz="1200" b="1">
                <a:solidFill>
                  <a:srgbClr val="FFFFFF"/>
                </a:solidFill>
                <a:latin typeface="Calibri" panose="020F0502020204030204" pitchFamily="34" charset="0"/>
              </a:rPr>
              <a:t>make only what is needed, when it is needed</a:t>
            </a:r>
          </a:p>
        </p:txBody>
      </p:sp>
      <p:sp>
        <p:nvSpPr>
          <p:cNvPr id="6" name="Rectangle 5">
            <a:extLst>
              <a:ext uri="{FF2B5EF4-FFF2-40B4-BE49-F238E27FC236}">
                <a16:creationId xmlns:a16="http://schemas.microsoft.com/office/drawing/2014/main" id="{99CD80B0-0C9D-CB13-86A7-CEF71AF176B7}"/>
              </a:ext>
            </a:extLst>
          </p:cNvPr>
          <p:cNvSpPr/>
          <p:nvPr/>
        </p:nvSpPr>
        <p:spPr>
          <a:xfrm>
            <a:off x="2514600" y="2184400"/>
            <a:ext cx="1651000" cy="1905000"/>
          </a:xfrm>
          <a:prstGeom prst="rect">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tIns="25400" rIns="101600" bIns="25400" rtlCol="0" anchor="ctr"/>
          <a:lstStyle/>
          <a:p>
            <a:pPr algn="ctr"/>
            <a:r>
              <a:rPr lang="en-US" sz="1600" b="1">
                <a:solidFill>
                  <a:srgbClr val="FFFFFF"/>
                </a:solidFill>
                <a:latin typeface="Calibri" panose="020F0502020204030204" pitchFamily="34" charset="0"/>
              </a:rPr>
              <a:t>Jidoka</a:t>
            </a:r>
          </a:p>
          <a:p>
            <a:pPr algn="ctr"/>
            <a:r>
              <a:rPr lang="en-US" sz="1200" b="1">
                <a:solidFill>
                  <a:srgbClr val="FFFFFF"/>
                </a:solidFill>
                <a:latin typeface="Calibri" panose="020F0502020204030204" pitchFamily="34" charset="0"/>
              </a:rPr>
              <a:t>automation with a human touch: stop and fix problems as they occur</a:t>
            </a:r>
          </a:p>
        </p:txBody>
      </p:sp>
      <p:sp>
        <p:nvSpPr>
          <p:cNvPr id="7" name="Rectangle 6">
            <a:extLst>
              <a:ext uri="{FF2B5EF4-FFF2-40B4-BE49-F238E27FC236}">
                <a16:creationId xmlns:a16="http://schemas.microsoft.com/office/drawing/2014/main" id="{72C3209C-E862-A8E0-FC3C-C3747F1FAA6F}"/>
              </a:ext>
            </a:extLst>
          </p:cNvPr>
          <p:cNvSpPr/>
          <p:nvPr/>
        </p:nvSpPr>
        <p:spPr>
          <a:xfrm>
            <a:off x="508000" y="4191000"/>
            <a:ext cx="3810000" cy="558800"/>
          </a:xfrm>
          <a:prstGeom prst="rect">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300" b="1">
                <a:solidFill>
                  <a:srgbClr val="FFFFFF"/>
                </a:solidFill>
                <a:latin typeface="Calibri" panose="020F0502020204030204" pitchFamily="34" charset="0"/>
              </a:rPr>
              <a:t>Kaizen: continuous improvement by everyone</a:t>
            </a:r>
          </a:p>
        </p:txBody>
      </p:sp>
      <p:sp>
        <p:nvSpPr>
          <p:cNvPr id="8" name="TextBox 7">
            <a:extLst>
              <a:ext uri="{FF2B5EF4-FFF2-40B4-BE49-F238E27FC236}">
                <a16:creationId xmlns:a16="http://schemas.microsoft.com/office/drawing/2014/main" id="{A105ECDF-E94A-05C3-1274-2971BAEEA19F}"/>
              </a:ext>
            </a:extLst>
          </p:cNvPr>
          <p:cNvSpPr txBox="1"/>
          <p:nvPr/>
        </p:nvSpPr>
        <p:spPr>
          <a:xfrm>
            <a:off x="508000" y="4851400"/>
            <a:ext cx="3810000" cy="457200"/>
          </a:xfrm>
          <a:prstGeom prst="rect">
            <a:avLst/>
          </a:prstGeom>
          <a:noFill/>
        </p:spPr>
        <p:txBody>
          <a:bodyPr vert="horz" wrap="square" lIns="0" tIns="0" rIns="0" bIns="0" rtlCol="0" anchor="t">
            <a:noAutofit/>
          </a:bodyPr>
          <a:lstStyle/>
          <a:p>
            <a:r>
              <a:rPr lang="en-US" sz="1200" i="1">
                <a:solidFill>
                  <a:srgbClr val="5B6475"/>
                </a:solidFill>
                <a:latin typeface="Calibri" panose="020F0502020204030204" pitchFamily="34" charset="0"/>
              </a:rPr>
              <a:t>Lean’s two pillars rest on a foundation of continuous improvement.</a:t>
            </a:r>
          </a:p>
        </p:txBody>
      </p:sp>
      <p:sp>
        <p:nvSpPr>
          <p:cNvPr id="9" name="TextBox 8">
            <a:extLst>
              <a:ext uri="{FF2B5EF4-FFF2-40B4-BE49-F238E27FC236}">
                <a16:creationId xmlns:a16="http://schemas.microsoft.com/office/drawing/2014/main" id="{E259670C-8F4E-37E7-26F7-0C81BE4EF664}"/>
              </a:ext>
            </a:extLst>
          </p:cNvPr>
          <p:cNvSpPr txBox="1"/>
          <p:nvPr/>
        </p:nvSpPr>
        <p:spPr>
          <a:xfrm>
            <a:off x="4622800" y="1320800"/>
            <a:ext cx="3556000" cy="279400"/>
          </a:xfrm>
          <a:prstGeom prst="rect">
            <a:avLst/>
          </a:prstGeom>
          <a:noFill/>
        </p:spPr>
        <p:txBody>
          <a:bodyPr vert="horz" wrap="square" lIns="0" tIns="0" rIns="0" bIns="0" rtlCol="0" anchor="t">
            <a:noAutofit/>
          </a:bodyPr>
          <a:lstStyle/>
          <a:p>
            <a:r>
              <a:rPr lang="en-US" sz="1600" b="1">
                <a:solidFill>
                  <a:srgbClr val="14213D"/>
                </a:solidFill>
                <a:latin typeface="Calibri" panose="020F0502020204030204" pitchFamily="34" charset="0"/>
              </a:rPr>
              <a:t>Jidoka: stop, fix, prevent</a:t>
            </a:r>
          </a:p>
        </p:txBody>
      </p:sp>
      <p:sp>
        <p:nvSpPr>
          <p:cNvPr id="10" name="Oval 9">
            <a:extLst>
              <a:ext uri="{FF2B5EF4-FFF2-40B4-BE49-F238E27FC236}">
                <a16:creationId xmlns:a16="http://schemas.microsoft.com/office/drawing/2014/main" id="{194DB698-069E-2A52-E2A0-2578070B1422}"/>
              </a:ext>
            </a:extLst>
          </p:cNvPr>
          <p:cNvSpPr/>
          <p:nvPr/>
        </p:nvSpPr>
        <p:spPr>
          <a:xfrm>
            <a:off x="4622800" y="1778000"/>
            <a:ext cx="381000" cy="3810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1</a:t>
            </a:r>
          </a:p>
        </p:txBody>
      </p:sp>
      <p:sp>
        <p:nvSpPr>
          <p:cNvPr id="11" name="TextBox 10">
            <a:extLst>
              <a:ext uri="{FF2B5EF4-FFF2-40B4-BE49-F238E27FC236}">
                <a16:creationId xmlns:a16="http://schemas.microsoft.com/office/drawing/2014/main" id="{39D77A71-E386-5A1E-0CFC-D252F6FC8710}"/>
              </a:ext>
            </a:extLst>
          </p:cNvPr>
          <p:cNvSpPr txBox="1"/>
          <p:nvPr/>
        </p:nvSpPr>
        <p:spPr>
          <a:xfrm>
            <a:off x="5130800" y="1701800"/>
            <a:ext cx="3048000" cy="812800"/>
          </a:xfrm>
          <a:prstGeom prst="rect">
            <a:avLst/>
          </a:prstGeom>
          <a:noFill/>
        </p:spPr>
        <p:txBody>
          <a:bodyPr vert="horz" wrap="square" lIns="0" tIns="0" rIns="0" bIns="0" rtlCol="0" anchor="t">
            <a:noAutofit/>
          </a:bodyPr>
          <a:lstStyle/>
          <a:p>
            <a:r>
              <a:rPr lang="en-US" sz="1500" b="1">
                <a:solidFill>
                  <a:srgbClr val="14213D"/>
                </a:solidFill>
                <a:latin typeface="Calibri" panose="020F0502020204030204" pitchFamily="34" charset="0"/>
              </a:rPr>
              <a:t>Detect</a:t>
            </a:r>
          </a:p>
          <a:p>
            <a:r>
              <a:rPr lang="en-US" sz="1300">
                <a:solidFill>
                  <a:srgbClr val="1F2937"/>
                </a:solidFill>
                <a:latin typeface="Calibri" panose="020F0502020204030204" pitchFamily="34" charset="0"/>
              </a:rPr>
              <a:t>A person or machine spots an abnormality the moment it happens.</a:t>
            </a:r>
          </a:p>
        </p:txBody>
      </p:sp>
      <p:sp>
        <p:nvSpPr>
          <p:cNvPr id="12" name="Oval 11">
            <a:extLst>
              <a:ext uri="{FF2B5EF4-FFF2-40B4-BE49-F238E27FC236}">
                <a16:creationId xmlns:a16="http://schemas.microsoft.com/office/drawing/2014/main" id="{468E73F4-2C52-C1BC-8AD1-1EAAB96F693F}"/>
              </a:ext>
            </a:extLst>
          </p:cNvPr>
          <p:cNvSpPr/>
          <p:nvPr/>
        </p:nvSpPr>
        <p:spPr>
          <a:xfrm>
            <a:off x="4622800" y="2692400"/>
            <a:ext cx="381000" cy="3810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2</a:t>
            </a:r>
          </a:p>
        </p:txBody>
      </p:sp>
      <p:sp>
        <p:nvSpPr>
          <p:cNvPr id="13" name="TextBox 12">
            <a:extLst>
              <a:ext uri="{FF2B5EF4-FFF2-40B4-BE49-F238E27FC236}">
                <a16:creationId xmlns:a16="http://schemas.microsoft.com/office/drawing/2014/main" id="{AA38C6B4-0916-A399-EFC7-3517F611C670}"/>
              </a:ext>
            </a:extLst>
          </p:cNvPr>
          <p:cNvSpPr txBox="1"/>
          <p:nvPr/>
        </p:nvSpPr>
        <p:spPr>
          <a:xfrm>
            <a:off x="5130800" y="2616200"/>
            <a:ext cx="3048000" cy="812800"/>
          </a:xfrm>
          <a:prstGeom prst="rect">
            <a:avLst/>
          </a:prstGeom>
          <a:noFill/>
        </p:spPr>
        <p:txBody>
          <a:bodyPr vert="horz" wrap="square" lIns="0" tIns="0" rIns="0" bIns="0" rtlCol="0" anchor="t">
            <a:noAutofit/>
          </a:bodyPr>
          <a:lstStyle/>
          <a:p>
            <a:r>
              <a:rPr lang="en-US" sz="1500" b="1">
                <a:solidFill>
                  <a:srgbClr val="14213D"/>
                </a:solidFill>
                <a:latin typeface="Calibri" panose="020F0502020204030204" pitchFamily="34" charset="0"/>
              </a:rPr>
              <a:t>Stop the line</a:t>
            </a:r>
          </a:p>
          <a:p>
            <a:r>
              <a:rPr lang="en-US" sz="1300">
                <a:solidFill>
                  <a:srgbClr val="1F2937"/>
                </a:solidFill>
                <a:latin typeface="Calibri" panose="020F0502020204030204" pitchFamily="34" charset="0"/>
              </a:rPr>
              <a:t>Halt the work and signal for help (an andon cord or light).</a:t>
            </a:r>
          </a:p>
        </p:txBody>
      </p:sp>
      <p:sp>
        <p:nvSpPr>
          <p:cNvPr id="14" name="Oval 13">
            <a:extLst>
              <a:ext uri="{FF2B5EF4-FFF2-40B4-BE49-F238E27FC236}">
                <a16:creationId xmlns:a16="http://schemas.microsoft.com/office/drawing/2014/main" id="{9AB4BDAD-93C4-D1FE-9DA1-403009029A0D}"/>
              </a:ext>
            </a:extLst>
          </p:cNvPr>
          <p:cNvSpPr/>
          <p:nvPr/>
        </p:nvSpPr>
        <p:spPr>
          <a:xfrm>
            <a:off x="4622800" y="3606800"/>
            <a:ext cx="381000" cy="3810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3</a:t>
            </a:r>
          </a:p>
        </p:txBody>
      </p:sp>
      <p:sp>
        <p:nvSpPr>
          <p:cNvPr id="15" name="TextBox 14">
            <a:extLst>
              <a:ext uri="{FF2B5EF4-FFF2-40B4-BE49-F238E27FC236}">
                <a16:creationId xmlns:a16="http://schemas.microsoft.com/office/drawing/2014/main" id="{62F8293C-74A5-B2B0-4067-500E814C3B69}"/>
              </a:ext>
            </a:extLst>
          </p:cNvPr>
          <p:cNvSpPr txBox="1"/>
          <p:nvPr/>
        </p:nvSpPr>
        <p:spPr>
          <a:xfrm>
            <a:off x="5130800" y="3530600"/>
            <a:ext cx="3048000" cy="812800"/>
          </a:xfrm>
          <a:prstGeom prst="rect">
            <a:avLst/>
          </a:prstGeom>
          <a:noFill/>
        </p:spPr>
        <p:txBody>
          <a:bodyPr vert="horz" wrap="square" lIns="0" tIns="0" rIns="0" bIns="0" rtlCol="0" anchor="t">
            <a:noAutofit/>
          </a:bodyPr>
          <a:lstStyle/>
          <a:p>
            <a:r>
              <a:rPr lang="en-US" sz="1500" b="1">
                <a:solidFill>
                  <a:srgbClr val="14213D"/>
                </a:solidFill>
                <a:latin typeface="Calibri" panose="020F0502020204030204" pitchFamily="34" charset="0"/>
              </a:rPr>
              <a:t>Fix</a:t>
            </a:r>
          </a:p>
          <a:p>
            <a:r>
              <a:rPr lang="en-US" sz="1300">
                <a:solidFill>
                  <a:srgbClr val="1F2937"/>
                </a:solidFill>
                <a:latin typeface="Calibri" panose="020F0502020204030204" pitchFamily="34" charset="0"/>
              </a:rPr>
              <a:t>Correct the problem now, so the defect never moves downstream.</a:t>
            </a:r>
          </a:p>
        </p:txBody>
      </p:sp>
      <p:sp>
        <p:nvSpPr>
          <p:cNvPr id="16" name="Oval 15">
            <a:extLst>
              <a:ext uri="{FF2B5EF4-FFF2-40B4-BE49-F238E27FC236}">
                <a16:creationId xmlns:a16="http://schemas.microsoft.com/office/drawing/2014/main" id="{6F948042-DA75-9F3A-59C5-D22CC4AA7D47}"/>
              </a:ext>
            </a:extLst>
          </p:cNvPr>
          <p:cNvSpPr/>
          <p:nvPr/>
        </p:nvSpPr>
        <p:spPr>
          <a:xfrm>
            <a:off x="4622800" y="4521200"/>
            <a:ext cx="381000" cy="3810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FFFFFF"/>
                </a:solidFill>
                <a:latin typeface="Calibri" panose="020F0502020204030204" pitchFamily="34" charset="0"/>
              </a:rPr>
              <a:t>4</a:t>
            </a:r>
          </a:p>
        </p:txBody>
      </p:sp>
      <p:sp>
        <p:nvSpPr>
          <p:cNvPr id="17" name="TextBox 16">
            <a:extLst>
              <a:ext uri="{FF2B5EF4-FFF2-40B4-BE49-F238E27FC236}">
                <a16:creationId xmlns:a16="http://schemas.microsoft.com/office/drawing/2014/main" id="{97C91804-F9B2-1FA2-C8E2-1A543A15621B}"/>
              </a:ext>
            </a:extLst>
          </p:cNvPr>
          <p:cNvSpPr txBox="1"/>
          <p:nvPr/>
        </p:nvSpPr>
        <p:spPr>
          <a:xfrm>
            <a:off x="5130800" y="4445000"/>
            <a:ext cx="3048000" cy="812800"/>
          </a:xfrm>
          <a:prstGeom prst="rect">
            <a:avLst/>
          </a:prstGeom>
          <a:noFill/>
        </p:spPr>
        <p:txBody>
          <a:bodyPr vert="horz" wrap="square" lIns="0" tIns="0" rIns="0" bIns="0" rtlCol="0" anchor="t">
            <a:noAutofit/>
          </a:bodyPr>
          <a:lstStyle/>
          <a:p>
            <a:r>
              <a:rPr lang="en-US" sz="1500" b="1">
                <a:solidFill>
                  <a:srgbClr val="14213D"/>
                </a:solidFill>
                <a:latin typeface="Calibri" panose="020F0502020204030204" pitchFamily="34" charset="0"/>
              </a:rPr>
              <a:t>Prevent</a:t>
            </a:r>
          </a:p>
          <a:p>
            <a:r>
              <a:rPr lang="en-US" sz="1300">
                <a:solidFill>
                  <a:srgbClr val="1F2937"/>
                </a:solidFill>
                <a:latin typeface="Calibri" panose="020F0502020204030204" pitchFamily="34" charset="0"/>
              </a:rPr>
              <a:t>Find the root cause and change the process so it cannot recur.</a:t>
            </a:r>
          </a:p>
        </p:txBody>
      </p:sp>
      <p:sp>
        <p:nvSpPr>
          <p:cNvPr id="18" name="Rectangle: Rounded Corners 17">
            <a:extLst>
              <a:ext uri="{FF2B5EF4-FFF2-40B4-BE49-F238E27FC236}">
                <a16:creationId xmlns:a16="http://schemas.microsoft.com/office/drawing/2014/main" id="{CE06DD53-2D7B-0430-36A1-01F5F7BFD5D2}"/>
              </a:ext>
            </a:extLst>
          </p:cNvPr>
          <p:cNvSpPr/>
          <p:nvPr/>
        </p:nvSpPr>
        <p:spPr>
          <a:xfrm>
            <a:off x="8432800" y="1320800"/>
            <a:ext cx="3251200" cy="19812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F856549-ABDD-26A5-BC7E-5E3A651AE744}"/>
              </a:ext>
            </a:extLst>
          </p:cNvPr>
          <p:cNvSpPr txBox="1"/>
          <p:nvPr/>
        </p:nvSpPr>
        <p:spPr>
          <a:xfrm>
            <a:off x="8585200" y="1473200"/>
            <a:ext cx="2946400" cy="1676400"/>
          </a:xfrm>
          <a:prstGeom prst="rect">
            <a:avLst/>
          </a:prstGeom>
          <a:noFill/>
        </p:spPr>
        <p:txBody>
          <a:bodyPr vert="horz" wrap="square" lIns="0" tIns="0" rIns="0" bIns="0" rtlCol="0" anchor="t">
            <a:noAutofit/>
          </a:bodyPr>
          <a:lstStyle/>
          <a:p>
            <a:pPr>
              <a:spcAft>
                <a:spcPts val="600"/>
              </a:spcAft>
            </a:pPr>
            <a:r>
              <a:rPr lang="en-US" sz="1500" b="1">
                <a:solidFill>
                  <a:srgbClr val="6A4C93"/>
                </a:solidFill>
                <a:latin typeface="Calibri" panose="020F0502020204030204" pitchFamily="34" charset="0"/>
              </a:rPr>
              <a:t>In PMP terms</a:t>
            </a:r>
          </a:p>
          <a:p>
            <a:r>
              <a:rPr lang="en-US" sz="1300">
                <a:solidFill>
                  <a:srgbClr val="1F2937"/>
                </a:solidFill>
                <a:latin typeface="Calibri" panose="020F0502020204030204" pitchFamily="34" charset="0"/>
              </a:rPr>
              <a:t>Prevention over inspection: quality is planned and built in, not inspected in. PMBOK® 7 principle: ‘Build quality into processes and deliverables.’</a:t>
            </a:r>
          </a:p>
        </p:txBody>
      </p:sp>
      <p:sp>
        <p:nvSpPr>
          <p:cNvPr id="20" name="Rectangle: Rounded Corners 19">
            <a:extLst>
              <a:ext uri="{FF2B5EF4-FFF2-40B4-BE49-F238E27FC236}">
                <a16:creationId xmlns:a16="http://schemas.microsoft.com/office/drawing/2014/main" id="{E90D02B1-F6E8-A99B-17FB-3F202175DCAC}"/>
              </a:ext>
            </a:extLst>
          </p:cNvPr>
          <p:cNvSpPr/>
          <p:nvPr/>
        </p:nvSpPr>
        <p:spPr>
          <a:xfrm>
            <a:off x="8432800" y="3429000"/>
            <a:ext cx="3251200" cy="1879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87CD23FF-2FF7-24CB-253E-717E28A1D5E4}"/>
              </a:ext>
            </a:extLst>
          </p:cNvPr>
          <p:cNvSpPr txBox="1"/>
          <p:nvPr/>
        </p:nvSpPr>
        <p:spPr>
          <a:xfrm>
            <a:off x="8585200" y="3581400"/>
            <a:ext cx="2946400" cy="1574800"/>
          </a:xfrm>
          <a:prstGeom prst="rect">
            <a:avLst/>
          </a:prstGeom>
          <a:noFill/>
        </p:spPr>
        <p:txBody>
          <a:bodyPr vert="horz" wrap="square" lIns="0" tIns="0" rIns="0" bIns="0" rtlCol="0" anchor="t">
            <a:noAutofit/>
          </a:bodyPr>
          <a:lstStyle/>
          <a:p>
            <a:pPr>
              <a:spcAft>
                <a:spcPts val="600"/>
              </a:spcAft>
            </a:pPr>
            <a:r>
              <a:rPr lang="en-US" sz="1500" b="1">
                <a:solidFill>
                  <a:srgbClr val="14213D"/>
                </a:solidFill>
                <a:latin typeface="Calibri" panose="020F0502020204030204" pitchFamily="34" charset="0"/>
              </a:rPr>
              <a:t>In agile teams</a:t>
            </a:r>
          </a:p>
          <a:p>
            <a:r>
              <a:rPr lang="en-US" sz="1300">
                <a:solidFill>
                  <a:srgbClr val="1F2937"/>
                </a:solidFill>
                <a:latin typeface="Calibri" panose="020F0502020204030204" pitchFamily="34" charset="0"/>
              </a:rPr>
              <a:t>Swarm on a defect before pulling new work; respect WIP limits; a broken build stops the pipeline; hold to the definition of done.</a:t>
            </a:r>
          </a:p>
        </p:txBody>
      </p:sp>
      <p:sp>
        <p:nvSpPr>
          <p:cNvPr id="22" name="Rectangle: Rounded Corners 21">
            <a:extLst>
              <a:ext uri="{FF2B5EF4-FFF2-40B4-BE49-F238E27FC236}">
                <a16:creationId xmlns:a16="http://schemas.microsoft.com/office/drawing/2014/main" id="{88283636-0124-BEFA-33F2-E40B879626C2}"/>
              </a:ext>
            </a:extLst>
          </p:cNvPr>
          <p:cNvSpPr/>
          <p:nvPr/>
        </p:nvSpPr>
        <p:spPr>
          <a:xfrm>
            <a:off x="508000" y="5384800"/>
            <a:ext cx="3810000" cy="9652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6AD7C250-4DED-05A7-D394-87CF3810E0E5}"/>
              </a:ext>
            </a:extLst>
          </p:cNvPr>
          <p:cNvSpPr txBox="1"/>
          <p:nvPr/>
        </p:nvSpPr>
        <p:spPr>
          <a:xfrm>
            <a:off x="635000" y="5511800"/>
            <a:ext cx="3556000" cy="711200"/>
          </a:xfrm>
          <a:prstGeom prst="rect">
            <a:avLst/>
          </a:prstGeom>
          <a:noFill/>
        </p:spPr>
        <p:txBody>
          <a:bodyPr vert="horz" wrap="square" lIns="0" tIns="0" rIns="0" bIns="0" rtlCol="0" anchor="t">
            <a:noAutofit/>
          </a:bodyPr>
          <a:lstStyle/>
          <a:p>
            <a:pPr>
              <a:spcAft>
                <a:spcPts val="600"/>
              </a:spcAft>
            </a:pPr>
            <a:r>
              <a:rPr lang="en-US" sz="1400" b="1">
                <a:solidFill>
                  <a:srgbClr val="0F7C80"/>
                </a:solidFill>
                <a:latin typeface="Calibri" panose="020F0502020204030204" pitchFamily="34" charset="0"/>
              </a:rPr>
              <a:t>Kaizen in practice</a:t>
            </a:r>
          </a:p>
          <a:p>
            <a:r>
              <a:rPr lang="en-US" sz="1200">
                <a:solidFill>
                  <a:srgbClr val="1F2937"/>
                </a:solidFill>
                <a:latin typeface="Calibri" panose="020F0502020204030204" pitchFamily="34" charset="0"/>
              </a:rPr>
              <a:t>Retrospectives, lessons learned, and PDCA (plan-do-check-act) cycles.</a:t>
            </a:r>
          </a:p>
        </p:txBody>
      </p:sp>
      <p:sp>
        <p:nvSpPr>
          <p:cNvPr id="24" name="Rectangle: Rounded Corners 23">
            <a:extLst>
              <a:ext uri="{FF2B5EF4-FFF2-40B4-BE49-F238E27FC236}">
                <a16:creationId xmlns:a16="http://schemas.microsoft.com/office/drawing/2014/main" id="{C3B80262-EEE7-3206-D77D-B3A4252E3C9C}"/>
              </a:ext>
            </a:extLst>
          </p:cNvPr>
          <p:cNvSpPr/>
          <p:nvPr/>
        </p:nvSpPr>
        <p:spPr>
          <a:xfrm>
            <a:off x="4622800" y="5461000"/>
            <a:ext cx="7061200" cy="889000"/>
          </a:xfrm>
          <a:prstGeom prst="roundRect">
            <a:avLst>
              <a:gd name="adj" fmla="val 8000"/>
            </a:avLst>
          </a:prstGeom>
          <a:solidFill>
            <a:srgbClr val="E8E1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D715335A-95DE-3C8A-C36F-8506FE9FC757}"/>
              </a:ext>
            </a:extLst>
          </p:cNvPr>
          <p:cNvSpPr txBox="1"/>
          <p:nvPr/>
        </p:nvSpPr>
        <p:spPr>
          <a:xfrm>
            <a:off x="4800600" y="5461000"/>
            <a:ext cx="6705600" cy="889000"/>
          </a:xfrm>
          <a:prstGeom prst="rect">
            <a:avLst/>
          </a:prstGeom>
          <a:noFill/>
        </p:spPr>
        <p:txBody>
          <a:bodyPr vert="horz" wrap="square" lIns="0" tIns="0" rIns="0" bIns="0" rtlCol="0" anchor="ctr">
            <a:noAutofit/>
          </a:bodyPr>
          <a:lstStyle/>
          <a:p>
            <a:r>
              <a:rPr lang="en-US" sz="1300" i="1">
                <a:solidFill>
                  <a:srgbClr val="14213D"/>
                </a:solidFill>
                <a:latin typeface="Calibri" panose="020F0502020204030204" pitchFamily="34" charset="0"/>
              </a:rPr>
              <a:t>Exam cue: when a defect or blocker appears, the best answer usually fixes it at the source now (jidoka) and improves the process afterwards (kaizen), rather than pushing on or adding inspection at the end.</a:t>
            </a:r>
          </a:p>
        </p:txBody>
      </p:sp>
      <p:sp>
        <p:nvSpPr>
          <p:cNvPr id="26" name="Footer">
            <a:extLst>
              <a:ext uri="{FF2B5EF4-FFF2-40B4-BE49-F238E27FC236}">
                <a16:creationId xmlns:a16="http://schemas.microsoft.com/office/drawing/2014/main" id="{23308F66-F8E3-33B8-C4B1-150231FDE4B2}"/>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Taiichi Ohno, Toyota Production System (1988); Masaaki Imai, Kaizen (1986); PMI, PMBOK® Guide — Sixth Edition, Chapter 8</a:t>
            </a:r>
          </a:p>
        </p:txBody>
      </p:sp>
      <p:sp>
        <p:nvSpPr>
          <p:cNvPr id="27" name="SlideNum">
            <a:extLst>
              <a:ext uri="{FF2B5EF4-FFF2-40B4-BE49-F238E27FC236}">
                <a16:creationId xmlns:a16="http://schemas.microsoft.com/office/drawing/2014/main" id="{088F3E13-788D-B45B-67A3-7163FCA50F89}"/>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104</a:t>
            </a:r>
          </a:p>
        </p:txBody>
      </p:sp>
      <p:sp>
        <p:nvSpPr>
          <p:cNvPr id="28"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91812217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A6701D6-E242-AF9F-5D50-9C78446CADA6}"/>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Core agile practices and estimation</a:t>
            </a:r>
          </a:p>
        </p:txBody>
      </p:sp>
      <p:sp>
        <p:nvSpPr>
          <p:cNvPr id="3" name="Tag">
            <a:extLst>
              <a:ext uri="{FF2B5EF4-FFF2-40B4-BE49-F238E27FC236}">
                <a16:creationId xmlns:a16="http://schemas.microsoft.com/office/drawing/2014/main" id="{298D16A4-8D07-2FC6-C0DD-4C518518AB4E}"/>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6A4C93"/>
                </a:solidFill>
                <a:latin typeface="Calibri" panose="020F0502020204030204" pitchFamily="34" charset="0"/>
              </a:rPr>
              <a:t>Agile essentials · Supports Process Tasks 2 and 8 (scope and schedule)</a:t>
            </a:r>
          </a:p>
        </p:txBody>
      </p:sp>
      <p:sp>
        <p:nvSpPr>
          <p:cNvPr id="4" name="Rectangle: Rounded Corners 3">
            <a:extLst>
              <a:ext uri="{FF2B5EF4-FFF2-40B4-BE49-F238E27FC236}">
                <a16:creationId xmlns:a16="http://schemas.microsoft.com/office/drawing/2014/main" id="{4C5CCD00-C7D0-CB77-7CDD-01EC1A73D8CE}"/>
              </a:ext>
            </a:extLst>
          </p:cNvPr>
          <p:cNvSpPr/>
          <p:nvPr/>
        </p:nvSpPr>
        <p:spPr>
          <a:xfrm>
            <a:off x="508000" y="1371600"/>
            <a:ext cx="2705100" cy="17780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E63E503-794E-A182-2800-D53DFC720A59}"/>
              </a:ext>
            </a:extLst>
          </p:cNvPr>
          <p:cNvSpPr txBox="1"/>
          <p:nvPr/>
        </p:nvSpPr>
        <p:spPr>
          <a:xfrm>
            <a:off x="660400" y="1524000"/>
            <a:ext cx="2400300" cy="1473200"/>
          </a:xfrm>
          <a:prstGeom prst="rect">
            <a:avLst/>
          </a:prstGeom>
          <a:noFill/>
        </p:spPr>
        <p:txBody>
          <a:bodyPr vert="horz" wrap="square" lIns="0" tIns="0" rIns="0" bIns="0" rtlCol="0" anchor="t">
            <a:noAutofit/>
          </a:bodyPr>
          <a:lstStyle/>
          <a:p>
            <a:pPr>
              <a:spcAft>
                <a:spcPts val="600"/>
              </a:spcAft>
            </a:pPr>
            <a:r>
              <a:rPr lang="en-US" sz="1500" b="1">
                <a:solidFill>
                  <a:srgbClr val="6A4C93"/>
                </a:solidFill>
                <a:latin typeface="Calibri" panose="020F0502020204030204" pitchFamily="34" charset="0"/>
              </a:rPr>
              <a:t>Backlog refinement</a:t>
            </a:r>
          </a:p>
          <a:p>
            <a:r>
              <a:rPr lang="en-US" sz="1400">
                <a:solidFill>
                  <a:srgbClr val="1F2937"/>
                </a:solidFill>
                <a:latin typeface="Calibri" panose="020F0502020204030204" pitchFamily="34" charset="0"/>
              </a:rPr>
              <a:t>Regularly clarify, split, and re-order upcoming items with the product owner.</a:t>
            </a:r>
          </a:p>
        </p:txBody>
      </p:sp>
      <p:sp>
        <p:nvSpPr>
          <p:cNvPr id="6" name="Rectangle: Rounded Corners 5">
            <a:extLst>
              <a:ext uri="{FF2B5EF4-FFF2-40B4-BE49-F238E27FC236}">
                <a16:creationId xmlns:a16="http://schemas.microsoft.com/office/drawing/2014/main" id="{69AE46D3-F47A-8D51-324D-C53033F09AFE}"/>
              </a:ext>
            </a:extLst>
          </p:cNvPr>
          <p:cNvSpPr/>
          <p:nvPr/>
        </p:nvSpPr>
        <p:spPr>
          <a:xfrm>
            <a:off x="3340100" y="1371600"/>
            <a:ext cx="2705100" cy="1778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63A9009-F3E7-DA9F-A510-8E405015851D}"/>
              </a:ext>
            </a:extLst>
          </p:cNvPr>
          <p:cNvSpPr txBox="1"/>
          <p:nvPr/>
        </p:nvSpPr>
        <p:spPr>
          <a:xfrm>
            <a:off x="3492500" y="1524000"/>
            <a:ext cx="2400300" cy="1473200"/>
          </a:xfrm>
          <a:prstGeom prst="rect">
            <a:avLst/>
          </a:prstGeom>
          <a:noFill/>
        </p:spPr>
        <p:txBody>
          <a:bodyPr vert="horz" wrap="square" lIns="0" tIns="0" rIns="0" bIns="0" rtlCol="0" anchor="t">
            <a:noAutofit/>
          </a:bodyPr>
          <a:lstStyle/>
          <a:p>
            <a:pPr>
              <a:spcAft>
                <a:spcPts val="600"/>
              </a:spcAft>
            </a:pPr>
            <a:r>
              <a:rPr lang="en-US" sz="1500" b="1">
                <a:solidFill>
                  <a:srgbClr val="6A4C93"/>
                </a:solidFill>
                <a:latin typeface="Calibri" panose="020F0502020204030204" pitchFamily="34" charset="0"/>
              </a:rPr>
              <a:t>User stories</a:t>
            </a:r>
          </a:p>
          <a:p>
            <a:r>
              <a:rPr lang="en-US" sz="1400">
                <a:solidFill>
                  <a:srgbClr val="1F2937"/>
                </a:solidFill>
                <a:latin typeface="Calibri" panose="020F0502020204030204" pitchFamily="34" charset="0"/>
              </a:rPr>
              <a:t>‘As a [role], I want [goal], so that [benefit].’ Good stories are small and testable.</a:t>
            </a:r>
          </a:p>
        </p:txBody>
      </p:sp>
      <p:sp>
        <p:nvSpPr>
          <p:cNvPr id="8" name="Rectangle: Rounded Corners 7">
            <a:extLst>
              <a:ext uri="{FF2B5EF4-FFF2-40B4-BE49-F238E27FC236}">
                <a16:creationId xmlns:a16="http://schemas.microsoft.com/office/drawing/2014/main" id="{93F11D53-090C-4CA7-BBBF-38082855A70F}"/>
              </a:ext>
            </a:extLst>
          </p:cNvPr>
          <p:cNvSpPr/>
          <p:nvPr/>
        </p:nvSpPr>
        <p:spPr>
          <a:xfrm>
            <a:off x="6172200" y="1371600"/>
            <a:ext cx="2705100" cy="17780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F771C5D-5A71-8BDC-C548-171A0916D184}"/>
              </a:ext>
            </a:extLst>
          </p:cNvPr>
          <p:cNvSpPr txBox="1"/>
          <p:nvPr/>
        </p:nvSpPr>
        <p:spPr>
          <a:xfrm>
            <a:off x="6324600" y="1524000"/>
            <a:ext cx="2400300" cy="1473200"/>
          </a:xfrm>
          <a:prstGeom prst="rect">
            <a:avLst/>
          </a:prstGeom>
          <a:noFill/>
        </p:spPr>
        <p:txBody>
          <a:bodyPr vert="horz" wrap="square" lIns="0" tIns="0" rIns="0" bIns="0" rtlCol="0" anchor="t">
            <a:noAutofit/>
          </a:bodyPr>
          <a:lstStyle/>
          <a:p>
            <a:pPr>
              <a:spcAft>
                <a:spcPts val="600"/>
              </a:spcAft>
            </a:pPr>
            <a:r>
              <a:rPr lang="en-US" sz="1500" b="1">
                <a:solidFill>
                  <a:srgbClr val="6A4C93"/>
                </a:solidFill>
                <a:latin typeface="Calibri" panose="020F0502020204030204" pitchFamily="34" charset="0"/>
              </a:rPr>
              <a:t>Definition of ready / done</a:t>
            </a:r>
          </a:p>
          <a:p>
            <a:r>
              <a:rPr lang="en-US" sz="1400">
                <a:solidFill>
                  <a:srgbClr val="1F2937"/>
                </a:solidFill>
                <a:latin typeface="Calibri" panose="020F0502020204030204" pitchFamily="34" charset="0"/>
              </a:rPr>
              <a:t>Ready: clear enough to start. Done: meets the agreed quality bar to count as complete.</a:t>
            </a:r>
          </a:p>
        </p:txBody>
      </p:sp>
      <p:sp>
        <p:nvSpPr>
          <p:cNvPr id="10" name="Rectangle: Rounded Corners 9">
            <a:extLst>
              <a:ext uri="{FF2B5EF4-FFF2-40B4-BE49-F238E27FC236}">
                <a16:creationId xmlns:a16="http://schemas.microsoft.com/office/drawing/2014/main" id="{70AB08DF-A854-F629-6088-73ADA4ECAE84}"/>
              </a:ext>
            </a:extLst>
          </p:cNvPr>
          <p:cNvSpPr/>
          <p:nvPr/>
        </p:nvSpPr>
        <p:spPr>
          <a:xfrm>
            <a:off x="9004300" y="1371600"/>
            <a:ext cx="2705100" cy="1778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94E45FD-AF5E-5175-5F64-E027080A587A}"/>
              </a:ext>
            </a:extLst>
          </p:cNvPr>
          <p:cNvSpPr txBox="1"/>
          <p:nvPr/>
        </p:nvSpPr>
        <p:spPr>
          <a:xfrm>
            <a:off x="9156700" y="1524000"/>
            <a:ext cx="2400300" cy="1473200"/>
          </a:xfrm>
          <a:prstGeom prst="rect">
            <a:avLst/>
          </a:prstGeom>
          <a:noFill/>
        </p:spPr>
        <p:txBody>
          <a:bodyPr vert="horz" wrap="square" lIns="0" tIns="0" rIns="0" bIns="0" rtlCol="0" anchor="t">
            <a:noAutofit/>
          </a:bodyPr>
          <a:lstStyle/>
          <a:p>
            <a:pPr>
              <a:spcAft>
                <a:spcPts val="600"/>
              </a:spcAft>
            </a:pPr>
            <a:r>
              <a:rPr lang="en-US" sz="1500" b="1">
                <a:solidFill>
                  <a:srgbClr val="6A4C93"/>
                </a:solidFill>
                <a:latin typeface="Calibri" panose="020F0502020204030204" pitchFamily="34" charset="0"/>
              </a:rPr>
              <a:t>Spikes</a:t>
            </a:r>
          </a:p>
          <a:p>
            <a:r>
              <a:rPr lang="en-US" sz="1400">
                <a:solidFill>
                  <a:srgbClr val="1F2937"/>
                </a:solidFill>
                <a:latin typeface="Calibri" panose="020F0502020204030204" pitchFamily="34" charset="0"/>
              </a:rPr>
              <a:t>Short, timeboxed research to reduce risk or uncertainty before committing.</a:t>
            </a:r>
          </a:p>
        </p:txBody>
      </p:sp>
      <p:sp>
        <p:nvSpPr>
          <p:cNvPr id="12" name="Rectangle: Rounded Corners 11">
            <a:extLst>
              <a:ext uri="{FF2B5EF4-FFF2-40B4-BE49-F238E27FC236}">
                <a16:creationId xmlns:a16="http://schemas.microsoft.com/office/drawing/2014/main" id="{13C68606-BFBA-173F-CE0A-207E68BA6BCF}"/>
              </a:ext>
            </a:extLst>
          </p:cNvPr>
          <p:cNvSpPr/>
          <p:nvPr/>
        </p:nvSpPr>
        <p:spPr>
          <a:xfrm>
            <a:off x="508000" y="3276600"/>
            <a:ext cx="2705100" cy="17780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2B3B4279-B8A8-C479-2D69-813582A8F155}"/>
              </a:ext>
            </a:extLst>
          </p:cNvPr>
          <p:cNvSpPr txBox="1"/>
          <p:nvPr/>
        </p:nvSpPr>
        <p:spPr>
          <a:xfrm>
            <a:off x="660400" y="3429000"/>
            <a:ext cx="2400300" cy="1473200"/>
          </a:xfrm>
          <a:prstGeom prst="rect">
            <a:avLst/>
          </a:prstGeom>
          <a:noFill/>
        </p:spPr>
        <p:txBody>
          <a:bodyPr vert="horz" wrap="square" lIns="0" tIns="0" rIns="0" bIns="0" rtlCol="0" anchor="t">
            <a:noAutofit/>
          </a:bodyPr>
          <a:lstStyle/>
          <a:p>
            <a:pPr>
              <a:spcAft>
                <a:spcPts val="600"/>
              </a:spcAft>
            </a:pPr>
            <a:r>
              <a:rPr lang="en-US" sz="1500" b="1">
                <a:solidFill>
                  <a:srgbClr val="6A4C93"/>
                </a:solidFill>
                <a:latin typeface="Calibri" panose="020F0502020204030204" pitchFamily="34" charset="0"/>
              </a:rPr>
              <a:t>Daily standup</a:t>
            </a:r>
          </a:p>
          <a:p>
            <a:r>
              <a:rPr lang="en-US" sz="1400">
                <a:solidFill>
                  <a:srgbClr val="1F2937"/>
                </a:solidFill>
                <a:latin typeface="Calibri" panose="020F0502020204030204" pitchFamily="34" charset="0"/>
              </a:rPr>
              <a:t>A brief check: what I finished, what I’ll do next, and what is blocking me.</a:t>
            </a:r>
          </a:p>
        </p:txBody>
      </p:sp>
      <p:sp>
        <p:nvSpPr>
          <p:cNvPr id="14" name="Rectangle: Rounded Corners 13">
            <a:extLst>
              <a:ext uri="{FF2B5EF4-FFF2-40B4-BE49-F238E27FC236}">
                <a16:creationId xmlns:a16="http://schemas.microsoft.com/office/drawing/2014/main" id="{91231188-F0A2-2C1D-8907-9003E15FE7EF}"/>
              </a:ext>
            </a:extLst>
          </p:cNvPr>
          <p:cNvSpPr/>
          <p:nvPr/>
        </p:nvSpPr>
        <p:spPr>
          <a:xfrm>
            <a:off x="3340100" y="3276600"/>
            <a:ext cx="2705100" cy="1778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86FBA4B5-6B88-EE3F-E5E9-7A6FCB616F69}"/>
              </a:ext>
            </a:extLst>
          </p:cNvPr>
          <p:cNvSpPr txBox="1"/>
          <p:nvPr/>
        </p:nvSpPr>
        <p:spPr>
          <a:xfrm>
            <a:off x="3492500" y="3429000"/>
            <a:ext cx="2400300" cy="1473200"/>
          </a:xfrm>
          <a:prstGeom prst="rect">
            <a:avLst/>
          </a:prstGeom>
          <a:noFill/>
        </p:spPr>
        <p:txBody>
          <a:bodyPr vert="horz" wrap="square" lIns="0" tIns="0" rIns="0" bIns="0" rtlCol="0" anchor="t">
            <a:noAutofit/>
          </a:bodyPr>
          <a:lstStyle/>
          <a:p>
            <a:pPr>
              <a:spcAft>
                <a:spcPts val="600"/>
              </a:spcAft>
            </a:pPr>
            <a:r>
              <a:rPr lang="en-US" sz="1500" b="1">
                <a:solidFill>
                  <a:srgbClr val="6A4C93"/>
                </a:solidFill>
                <a:latin typeface="Calibri" panose="020F0502020204030204" pitchFamily="34" charset="0"/>
              </a:rPr>
              <a:t>Reviews and demos</a:t>
            </a:r>
          </a:p>
          <a:p>
            <a:r>
              <a:rPr lang="en-US" sz="1400">
                <a:solidFill>
                  <a:srgbClr val="1F2937"/>
                </a:solidFill>
                <a:latin typeface="Calibri" panose="020F0502020204030204" pitchFamily="34" charset="0"/>
              </a:rPr>
              <a:t>Show working results to stakeholders at the end of each iteration to get feedback.</a:t>
            </a:r>
          </a:p>
        </p:txBody>
      </p:sp>
      <p:sp>
        <p:nvSpPr>
          <p:cNvPr id="16" name="Rectangle: Rounded Corners 15">
            <a:extLst>
              <a:ext uri="{FF2B5EF4-FFF2-40B4-BE49-F238E27FC236}">
                <a16:creationId xmlns:a16="http://schemas.microsoft.com/office/drawing/2014/main" id="{F559C069-8580-DBDA-AB45-AD7EA3B4998E}"/>
              </a:ext>
            </a:extLst>
          </p:cNvPr>
          <p:cNvSpPr/>
          <p:nvPr/>
        </p:nvSpPr>
        <p:spPr>
          <a:xfrm>
            <a:off x="6172200" y="3276600"/>
            <a:ext cx="2705100" cy="17780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12BC2CD-A546-68C7-0192-29F2CE0CB327}"/>
              </a:ext>
            </a:extLst>
          </p:cNvPr>
          <p:cNvSpPr txBox="1"/>
          <p:nvPr/>
        </p:nvSpPr>
        <p:spPr>
          <a:xfrm>
            <a:off x="6324600" y="3429000"/>
            <a:ext cx="2400300" cy="1473200"/>
          </a:xfrm>
          <a:prstGeom prst="rect">
            <a:avLst/>
          </a:prstGeom>
          <a:noFill/>
        </p:spPr>
        <p:txBody>
          <a:bodyPr vert="horz" wrap="square" lIns="0" tIns="0" rIns="0" bIns="0" rtlCol="0" anchor="t">
            <a:noAutofit/>
          </a:bodyPr>
          <a:lstStyle/>
          <a:p>
            <a:pPr>
              <a:spcAft>
                <a:spcPts val="600"/>
              </a:spcAft>
            </a:pPr>
            <a:r>
              <a:rPr lang="en-US" sz="1500" b="1">
                <a:solidFill>
                  <a:srgbClr val="6A4C93"/>
                </a:solidFill>
                <a:latin typeface="Calibri" panose="020F0502020204030204" pitchFamily="34" charset="0"/>
              </a:rPr>
              <a:t>Retrospectives</a:t>
            </a:r>
          </a:p>
          <a:p>
            <a:r>
              <a:rPr lang="en-US" sz="1400">
                <a:solidFill>
                  <a:srgbClr val="1F2937"/>
                </a:solidFill>
                <a:latin typeface="Calibri" panose="020F0502020204030204" pitchFamily="34" charset="0"/>
              </a:rPr>
              <a:t>The team inspects how it works and picks improvements to try next (kaizen).</a:t>
            </a:r>
          </a:p>
        </p:txBody>
      </p:sp>
      <p:sp>
        <p:nvSpPr>
          <p:cNvPr id="18" name="Rectangle: Rounded Corners 17">
            <a:extLst>
              <a:ext uri="{FF2B5EF4-FFF2-40B4-BE49-F238E27FC236}">
                <a16:creationId xmlns:a16="http://schemas.microsoft.com/office/drawing/2014/main" id="{82D4E387-7744-523B-930E-E7413054CB9A}"/>
              </a:ext>
            </a:extLst>
          </p:cNvPr>
          <p:cNvSpPr/>
          <p:nvPr/>
        </p:nvSpPr>
        <p:spPr>
          <a:xfrm>
            <a:off x="9004300" y="3276600"/>
            <a:ext cx="2705100" cy="1778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7254751-ED82-7821-DBA2-1A30127B4A72}"/>
              </a:ext>
            </a:extLst>
          </p:cNvPr>
          <p:cNvSpPr txBox="1"/>
          <p:nvPr/>
        </p:nvSpPr>
        <p:spPr>
          <a:xfrm>
            <a:off x="9156700" y="3429000"/>
            <a:ext cx="2400300" cy="1473200"/>
          </a:xfrm>
          <a:prstGeom prst="rect">
            <a:avLst/>
          </a:prstGeom>
          <a:noFill/>
        </p:spPr>
        <p:txBody>
          <a:bodyPr vert="horz" wrap="square" lIns="0" tIns="0" rIns="0" bIns="0" rtlCol="0" anchor="t">
            <a:noAutofit/>
          </a:bodyPr>
          <a:lstStyle/>
          <a:p>
            <a:pPr>
              <a:spcAft>
                <a:spcPts val="600"/>
              </a:spcAft>
            </a:pPr>
            <a:r>
              <a:rPr lang="en-US" sz="1500" b="1">
                <a:solidFill>
                  <a:srgbClr val="6A4C93"/>
                </a:solidFill>
                <a:latin typeface="Calibri" panose="020F0502020204030204" pitchFamily="34" charset="0"/>
              </a:rPr>
              <a:t>Relative estimation</a:t>
            </a:r>
          </a:p>
          <a:p>
            <a:r>
              <a:rPr lang="en-US" sz="1400">
                <a:solidFill>
                  <a:srgbClr val="1F2937"/>
                </a:solidFill>
                <a:latin typeface="Calibri" panose="020F0502020204030204" pitchFamily="34" charset="0"/>
              </a:rPr>
              <a:t>Size work against other work: story points, planning poker, affinity grouping, T-shirt sizes.</a:t>
            </a:r>
          </a:p>
        </p:txBody>
      </p:sp>
      <p:sp>
        <p:nvSpPr>
          <p:cNvPr id="20" name="Rectangle: Rounded Corners 19">
            <a:extLst>
              <a:ext uri="{FF2B5EF4-FFF2-40B4-BE49-F238E27FC236}">
                <a16:creationId xmlns:a16="http://schemas.microsoft.com/office/drawing/2014/main" id="{785871F9-203A-6131-53C4-AD35B1719008}"/>
              </a:ext>
            </a:extLst>
          </p:cNvPr>
          <p:cNvSpPr/>
          <p:nvPr/>
        </p:nvSpPr>
        <p:spPr>
          <a:xfrm>
            <a:off x="508000" y="5232400"/>
            <a:ext cx="11176000" cy="990600"/>
          </a:xfrm>
          <a:prstGeom prst="roundRect">
            <a:avLst>
              <a:gd name="adj" fmla="val 8000"/>
            </a:avLst>
          </a:prstGeom>
          <a:solidFill>
            <a:srgbClr val="E8E1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00E765D0-44F6-9DEE-82E4-3C645C3CDB78}"/>
              </a:ext>
            </a:extLst>
          </p:cNvPr>
          <p:cNvSpPr txBox="1"/>
          <p:nvPr/>
        </p:nvSpPr>
        <p:spPr>
          <a:xfrm>
            <a:off x="736600" y="5232400"/>
            <a:ext cx="10718800" cy="990600"/>
          </a:xfrm>
          <a:prstGeom prst="rect">
            <a:avLst/>
          </a:prstGeom>
          <a:noFill/>
        </p:spPr>
        <p:txBody>
          <a:bodyPr vert="horz" wrap="square" lIns="0" tIns="0" rIns="0" bIns="0" rtlCol="0" anchor="ctr">
            <a:noAutofit/>
          </a:bodyPr>
          <a:lstStyle/>
          <a:p>
            <a:r>
              <a:rPr lang="en-US" sz="1500" i="1">
                <a:solidFill>
                  <a:srgbClr val="14213D"/>
                </a:solidFill>
                <a:latin typeface="Calibri" panose="020F0502020204030204" pitchFamily="34" charset="0"/>
              </a:rPr>
              <a:t>Exam cue: agile estimates are relative and made by the people doing the work; velocity from past iterations turns story points into a forecast.</a:t>
            </a:r>
          </a:p>
        </p:txBody>
      </p:sp>
      <p:sp>
        <p:nvSpPr>
          <p:cNvPr id="22" name="Footer">
            <a:extLst>
              <a:ext uri="{FF2B5EF4-FFF2-40B4-BE49-F238E27FC236}">
                <a16:creationId xmlns:a16="http://schemas.microsoft.com/office/drawing/2014/main" id="{18BA4E37-B53C-B51E-EB74-3A22B9A96E20}"/>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and Agile Alliance, Agile Practice Guide (2017), Section 5 (Implementing Agile: Delivering in an Agile Environment)</a:t>
            </a:r>
          </a:p>
        </p:txBody>
      </p:sp>
      <p:sp>
        <p:nvSpPr>
          <p:cNvPr id="23" name="SlideNum">
            <a:extLst>
              <a:ext uri="{FF2B5EF4-FFF2-40B4-BE49-F238E27FC236}">
                <a16:creationId xmlns:a16="http://schemas.microsoft.com/office/drawing/2014/main" id="{1686D7EE-1EFD-372C-AD55-B4A043EC53F0}"/>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105</a:t>
            </a:r>
          </a:p>
        </p:txBody>
      </p:sp>
      <p:sp>
        <p:nvSpPr>
          <p:cNvPr id="24"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88240253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93B72FC-0C58-4A62-4938-CC4AA8BD6A53}"/>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Relative estimation: story points and Fibonacci</a:t>
            </a:r>
          </a:p>
        </p:txBody>
      </p:sp>
      <p:sp>
        <p:nvSpPr>
          <p:cNvPr id="3" name="Tag">
            <a:extLst>
              <a:ext uri="{FF2B5EF4-FFF2-40B4-BE49-F238E27FC236}">
                <a16:creationId xmlns:a16="http://schemas.microsoft.com/office/drawing/2014/main" id="{BCA5EF41-6580-A948-356C-05CE5420C3C1}"/>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6A4C93"/>
                </a:solidFill>
                <a:latin typeface="Calibri" panose="020F0502020204030204" pitchFamily="34" charset="0"/>
              </a:rPr>
              <a:t>Agile essentials · Supports Process Task 8 (Plan and manage schedule: estimate project tasks)</a:t>
            </a:r>
          </a:p>
        </p:txBody>
      </p:sp>
      <p:sp>
        <p:nvSpPr>
          <p:cNvPr id="4" name="Oval 3">
            <a:extLst>
              <a:ext uri="{FF2B5EF4-FFF2-40B4-BE49-F238E27FC236}">
                <a16:creationId xmlns:a16="http://schemas.microsoft.com/office/drawing/2014/main" id="{163BDF12-D052-0E21-423D-FCD64E4237D2}"/>
              </a:ext>
            </a:extLst>
          </p:cNvPr>
          <p:cNvSpPr/>
          <p:nvPr/>
        </p:nvSpPr>
        <p:spPr>
          <a:xfrm>
            <a:off x="508000" y="1371600"/>
            <a:ext cx="558800" cy="5588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600" b="1">
                <a:solidFill>
                  <a:srgbClr val="FFFFFF"/>
                </a:solidFill>
                <a:latin typeface="Calibri" panose="020F0502020204030204" pitchFamily="34" charset="0"/>
              </a:rPr>
              <a:t>0</a:t>
            </a:r>
          </a:p>
        </p:txBody>
      </p:sp>
      <p:sp>
        <p:nvSpPr>
          <p:cNvPr id="5" name="Oval 4">
            <a:extLst>
              <a:ext uri="{FF2B5EF4-FFF2-40B4-BE49-F238E27FC236}">
                <a16:creationId xmlns:a16="http://schemas.microsoft.com/office/drawing/2014/main" id="{25251EF3-0416-EFA9-47FF-3009DDDAF534}"/>
              </a:ext>
            </a:extLst>
          </p:cNvPr>
          <p:cNvSpPr/>
          <p:nvPr/>
        </p:nvSpPr>
        <p:spPr>
          <a:xfrm>
            <a:off x="1244600" y="1371600"/>
            <a:ext cx="558800" cy="5588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600" b="1">
                <a:solidFill>
                  <a:srgbClr val="FFFFFF"/>
                </a:solidFill>
                <a:latin typeface="Calibri" panose="020F0502020204030204" pitchFamily="34" charset="0"/>
              </a:rPr>
              <a:t>1</a:t>
            </a:r>
          </a:p>
        </p:txBody>
      </p:sp>
      <p:sp>
        <p:nvSpPr>
          <p:cNvPr id="6" name="Oval 5">
            <a:extLst>
              <a:ext uri="{FF2B5EF4-FFF2-40B4-BE49-F238E27FC236}">
                <a16:creationId xmlns:a16="http://schemas.microsoft.com/office/drawing/2014/main" id="{473C4A11-EEF7-EA75-22BC-B73C308B32AA}"/>
              </a:ext>
            </a:extLst>
          </p:cNvPr>
          <p:cNvSpPr/>
          <p:nvPr/>
        </p:nvSpPr>
        <p:spPr>
          <a:xfrm>
            <a:off x="1981200" y="1371600"/>
            <a:ext cx="558800" cy="5588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600" b="1">
                <a:solidFill>
                  <a:srgbClr val="FFFFFF"/>
                </a:solidFill>
                <a:latin typeface="Calibri" panose="020F0502020204030204" pitchFamily="34" charset="0"/>
              </a:rPr>
              <a:t>1</a:t>
            </a:r>
          </a:p>
        </p:txBody>
      </p:sp>
      <p:sp>
        <p:nvSpPr>
          <p:cNvPr id="7" name="Oval 6">
            <a:extLst>
              <a:ext uri="{FF2B5EF4-FFF2-40B4-BE49-F238E27FC236}">
                <a16:creationId xmlns:a16="http://schemas.microsoft.com/office/drawing/2014/main" id="{E1A47A59-AA29-B10F-2A5C-CF388D4DED1F}"/>
              </a:ext>
            </a:extLst>
          </p:cNvPr>
          <p:cNvSpPr/>
          <p:nvPr/>
        </p:nvSpPr>
        <p:spPr>
          <a:xfrm>
            <a:off x="2717800" y="1371600"/>
            <a:ext cx="558800" cy="5588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600" b="1">
                <a:solidFill>
                  <a:srgbClr val="FFFFFF"/>
                </a:solidFill>
                <a:latin typeface="Calibri" panose="020F0502020204030204" pitchFamily="34" charset="0"/>
              </a:rPr>
              <a:t>2</a:t>
            </a:r>
          </a:p>
        </p:txBody>
      </p:sp>
      <p:sp>
        <p:nvSpPr>
          <p:cNvPr id="8" name="Oval 7">
            <a:extLst>
              <a:ext uri="{FF2B5EF4-FFF2-40B4-BE49-F238E27FC236}">
                <a16:creationId xmlns:a16="http://schemas.microsoft.com/office/drawing/2014/main" id="{DA238B03-B7E3-3DE4-EC95-1DF0E0ECFCAC}"/>
              </a:ext>
            </a:extLst>
          </p:cNvPr>
          <p:cNvSpPr/>
          <p:nvPr/>
        </p:nvSpPr>
        <p:spPr>
          <a:xfrm>
            <a:off x="3454400" y="1371600"/>
            <a:ext cx="558800" cy="5588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600" b="1">
                <a:solidFill>
                  <a:srgbClr val="FFFFFF"/>
                </a:solidFill>
                <a:latin typeface="Calibri" panose="020F0502020204030204" pitchFamily="34" charset="0"/>
              </a:rPr>
              <a:t>3</a:t>
            </a:r>
          </a:p>
        </p:txBody>
      </p:sp>
      <p:sp>
        <p:nvSpPr>
          <p:cNvPr id="9" name="Oval 8">
            <a:extLst>
              <a:ext uri="{FF2B5EF4-FFF2-40B4-BE49-F238E27FC236}">
                <a16:creationId xmlns:a16="http://schemas.microsoft.com/office/drawing/2014/main" id="{6230AB24-CAC5-C1B6-F70C-B3C9040C1D86}"/>
              </a:ext>
            </a:extLst>
          </p:cNvPr>
          <p:cNvSpPr/>
          <p:nvPr/>
        </p:nvSpPr>
        <p:spPr>
          <a:xfrm>
            <a:off x="4191000" y="1371600"/>
            <a:ext cx="558800" cy="5588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600" b="1">
                <a:solidFill>
                  <a:srgbClr val="FFFFFF"/>
                </a:solidFill>
                <a:latin typeface="Calibri" panose="020F0502020204030204" pitchFamily="34" charset="0"/>
              </a:rPr>
              <a:t>5</a:t>
            </a:r>
          </a:p>
        </p:txBody>
      </p:sp>
      <p:sp>
        <p:nvSpPr>
          <p:cNvPr id="10" name="Oval 9">
            <a:extLst>
              <a:ext uri="{FF2B5EF4-FFF2-40B4-BE49-F238E27FC236}">
                <a16:creationId xmlns:a16="http://schemas.microsoft.com/office/drawing/2014/main" id="{3FD7CF4A-6893-5EB0-13D7-AF761B36D166}"/>
              </a:ext>
            </a:extLst>
          </p:cNvPr>
          <p:cNvSpPr/>
          <p:nvPr/>
        </p:nvSpPr>
        <p:spPr>
          <a:xfrm>
            <a:off x="4927600" y="1371600"/>
            <a:ext cx="558800" cy="5588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600" b="1">
                <a:solidFill>
                  <a:srgbClr val="FFFFFF"/>
                </a:solidFill>
                <a:latin typeface="Calibri" panose="020F0502020204030204" pitchFamily="34" charset="0"/>
              </a:rPr>
              <a:t>8</a:t>
            </a:r>
          </a:p>
        </p:txBody>
      </p:sp>
      <p:sp>
        <p:nvSpPr>
          <p:cNvPr id="11" name="Oval 10">
            <a:extLst>
              <a:ext uri="{FF2B5EF4-FFF2-40B4-BE49-F238E27FC236}">
                <a16:creationId xmlns:a16="http://schemas.microsoft.com/office/drawing/2014/main" id="{86BD9C85-5235-8B50-2110-B0B356FED778}"/>
              </a:ext>
            </a:extLst>
          </p:cNvPr>
          <p:cNvSpPr/>
          <p:nvPr/>
        </p:nvSpPr>
        <p:spPr>
          <a:xfrm>
            <a:off x="5664200" y="1371600"/>
            <a:ext cx="558800" cy="558800"/>
          </a:xfrm>
          <a:prstGeom prst="ellipse">
            <a:avLst/>
          </a:prstGeom>
          <a:solidFill>
            <a:srgbClr val="6A4C9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600" b="1">
                <a:solidFill>
                  <a:srgbClr val="FFFFFF"/>
                </a:solidFill>
                <a:latin typeface="Calibri" panose="020F0502020204030204" pitchFamily="34" charset="0"/>
              </a:rPr>
              <a:t>13</a:t>
            </a:r>
          </a:p>
        </p:txBody>
      </p:sp>
      <p:sp>
        <p:nvSpPr>
          <p:cNvPr id="12" name="TextBox 11">
            <a:extLst>
              <a:ext uri="{FF2B5EF4-FFF2-40B4-BE49-F238E27FC236}">
                <a16:creationId xmlns:a16="http://schemas.microsoft.com/office/drawing/2014/main" id="{89766EC6-5B2E-0FB1-7B9D-61A89BC3FBA5}"/>
              </a:ext>
            </a:extLst>
          </p:cNvPr>
          <p:cNvSpPr txBox="1"/>
          <p:nvPr/>
        </p:nvSpPr>
        <p:spPr>
          <a:xfrm>
            <a:off x="508000" y="2006600"/>
            <a:ext cx="5969000" cy="254000"/>
          </a:xfrm>
          <a:prstGeom prst="rect">
            <a:avLst/>
          </a:prstGeom>
          <a:noFill/>
        </p:spPr>
        <p:txBody>
          <a:bodyPr vert="horz" wrap="square" lIns="0" tIns="0" rIns="0" bIns="0" rtlCol="0" anchor="t">
            <a:noAutofit/>
          </a:bodyPr>
          <a:lstStyle/>
          <a:p>
            <a:r>
              <a:rPr lang="en-US" sz="1300" i="1">
                <a:solidFill>
                  <a:srgbClr val="1F2937"/>
                </a:solidFill>
                <a:latin typeface="Calibri" panose="020F0502020204030204" pitchFamily="34" charset="0"/>
              </a:rPr>
              <a:t>Each number is the sum of the two before it: 2 + 3 = 5, 3 + 5 = 8, 5 + 8 = 13.</a:t>
            </a:r>
          </a:p>
        </p:txBody>
      </p:sp>
      <p:sp>
        <p:nvSpPr>
          <p:cNvPr id="13" name="Rectangle: Rounded Corners 12">
            <a:extLst>
              <a:ext uri="{FF2B5EF4-FFF2-40B4-BE49-F238E27FC236}">
                <a16:creationId xmlns:a16="http://schemas.microsoft.com/office/drawing/2014/main" id="{5F2CCD9E-0FAB-7EBD-1BC3-E590E95B1A82}"/>
              </a:ext>
            </a:extLst>
          </p:cNvPr>
          <p:cNvSpPr/>
          <p:nvPr/>
        </p:nvSpPr>
        <p:spPr>
          <a:xfrm>
            <a:off x="6731000" y="1320800"/>
            <a:ext cx="4953000" cy="9906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81D7741-872A-298A-96FD-5904EE46BA8F}"/>
              </a:ext>
            </a:extLst>
          </p:cNvPr>
          <p:cNvSpPr txBox="1"/>
          <p:nvPr/>
        </p:nvSpPr>
        <p:spPr>
          <a:xfrm>
            <a:off x="6858000" y="1447800"/>
            <a:ext cx="4699000" cy="736600"/>
          </a:xfrm>
          <a:prstGeom prst="rect">
            <a:avLst/>
          </a:prstGeom>
          <a:noFill/>
        </p:spPr>
        <p:txBody>
          <a:bodyPr vert="horz" wrap="square" lIns="0" tIns="0" rIns="0" bIns="0" rtlCol="0" anchor="t">
            <a:noAutofit/>
          </a:bodyPr>
          <a:lstStyle/>
          <a:p>
            <a:pPr>
              <a:spcAft>
                <a:spcPts val="600"/>
              </a:spcAft>
            </a:pPr>
            <a:r>
              <a:rPr lang="en-US" sz="1400" b="1">
                <a:solidFill>
                  <a:srgbClr val="6A4C93"/>
                </a:solidFill>
                <a:latin typeface="Calibri" panose="020F0502020204030204" pitchFamily="34" charset="0"/>
              </a:rPr>
              <a:t>Modified scale on planning poker decks</a:t>
            </a:r>
          </a:p>
          <a:p>
            <a:r>
              <a:rPr lang="en-US" sz="1300">
                <a:solidFill>
                  <a:srgbClr val="1F2937"/>
                </a:solidFill>
                <a:latin typeface="Calibri" panose="020F0502020204030204" pitchFamily="34" charset="0"/>
              </a:rPr>
              <a:t>1, 2, 3, 5, 8, 13, 20, 40, 100, plus ? for ‘can’t estimate yet’</a:t>
            </a:r>
          </a:p>
        </p:txBody>
      </p:sp>
      <p:sp>
        <p:nvSpPr>
          <p:cNvPr id="15" name="Rectangle: Rounded Corners 14">
            <a:extLst>
              <a:ext uri="{FF2B5EF4-FFF2-40B4-BE49-F238E27FC236}">
                <a16:creationId xmlns:a16="http://schemas.microsoft.com/office/drawing/2014/main" id="{4F477ADE-6EDE-1144-ABBA-C6C5168D054B}"/>
              </a:ext>
            </a:extLst>
          </p:cNvPr>
          <p:cNvSpPr/>
          <p:nvPr/>
        </p:nvSpPr>
        <p:spPr>
          <a:xfrm>
            <a:off x="508000" y="2463800"/>
            <a:ext cx="3556000" cy="2895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8DBCCE4A-31D6-E030-8083-479C1D388951}"/>
              </a:ext>
            </a:extLst>
          </p:cNvPr>
          <p:cNvSpPr txBox="1"/>
          <p:nvPr/>
        </p:nvSpPr>
        <p:spPr>
          <a:xfrm>
            <a:off x="660400" y="2616200"/>
            <a:ext cx="3251200" cy="2590800"/>
          </a:xfrm>
          <a:prstGeom prst="rect">
            <a:avLst/>
          </a:prstGeom>
          <a:noFill/>
        </p:spPr>
        <p:txBody>
          <a:bodyPr vert="horz" wrap="square" lIns="0" tIns="0" rIns="0" bIns="0" rtlCol="0" anchor="t">
            <a:noAutofit/>
          </a:bodyPr>
          <a:lstStyle/>
          <a:p>
            <a:pPr>
              <a:spcAft>
                <a:spcPts val="600"/>
              </a:spcAft>
            </a:pPr>
            <a:r>
              <a:rPr lang="en-US" sz="1500" b="1">
                <a:solidFill>
                  <a:srgbClr val="14213D"/>
                </a:solidFill>
                <a:latin typeface="Calibri" panose="020F0502020204030204" pitchFamily="34" charset="0"/>
              </a:rPr>
              <a:t>Why Fibonacci</a:t>
            </a:r>
          </a:p>
          <a:p>
            <a:r>
              <a:rPr lang="en-US" sz="1300">
                <a:solidFill>
                  <a:srgbClr val="1F2937"/>
                </a:solidFill>
                <a:latin typeface="Calibri" panose="020F0502020204030204" pitchFamily="34" charset="0"/>
              </a:rPr>
              <a:t>Gaps widen as size grows, matching rising uncertainty.</a:t>
            </a:r>
          </a:p>
          <a:p>
            <a:r>
              <a:rPr lang="en-US" sz="1300">
                <a:solidFill>
                  <a:srgbClr val="1F2937"/>
                </a:solidFill>
                <a:latin typeface="Calibri" panose="020F0502020204030204" pitchFamily="34" charset="0"/>
              </a:rPr>
              <a:t>No debates over 6 vs. 7: pick 5 or 8.</a:t>
            </a:r>
          </a:p>
          <a:p>
            <a:r>
              <a:rPr lang="en-US" sz="1300">
                <a:solidFill>
                  <a:srgbClr val="1F2937"/>
                </a:solidFill>
                <a:latin typeface="Calibri" panose="020F0502020204030204" pitchFamily="34" charset="0"/>
              </a:rPr>
              <a:t>Points are relative and team-specific, not hours.</a:t>
            </a:r>
          </a:p>
        </p:txBody>
      </p:sp>
      <p:sp>
        <p:nvSpPr>
          <p:cNvPr id="17" name="Rectangle: Rounded Corners 16">
            <a:extLst>
              <a:ext uri="{FF2B5EF4-FFF2-40B4-BE49-F238E27FC236}">
                <a16:creationId xmlns:a16="http://schemas.microsoft.com/office/drawing/2014/main" id="{089A3ABE-8544-ECCD-D14D-2CEA99F500FE}"/>
              </a:ext>
            </a:extLst>
          </p:cNvPr>
          <p:cNvSpPr/>
          <p:nvPr/>
        </p:nvSpPr>
        <p:spPr>
          <a:xfrm>
            <a:off x="4191000" y="2463800"/>
            <a:ext cx="3683000" cy="2895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70A38CC-12C0-90A0-E6AA-C0F3BD79648A}"/>
              </a:ext>
            </a:extLst>
          </p:cNvPr>
          <p:cNvSpPr txBox="1"/>
          <p:nvPr/>
        </p:nvSpPr>
        <p:spPr>
          <a:xfrm>
            <a:off x="4343400" y="2616200"/>
            <a:ext cx="3378200" cy="2590800"/>
          </a:xfrm>
          <a:prstGeom prst="rect">
            <a:avLst/>
          </a:prstGeom>
          <a:noFill/>
        </p:spPr>
        <p:txBody>
          <a:bodyPr vert="horz" wrap="square" lIns="0" tIns="0" rIns="0" bIns="0" rtlCol="0" anchor="t">
            <a:noAutofit/>
          </a:bodyPr>
          <a:lstStyle/>
          <a:p>
            <a:pPr>
              <a:spcAft>
                <a:spcPts val="600"/>
              </a:spcAft>
            </a:pPr>
            <a:r>
              <a:rPr lang="en-US" sz="1500" b="1">
                <a:solidFill>
                  <a:srgbClr val="14213D"/>
                </a:solidFill>
                <a:latin typeface="Calibri" panose="020F0502020204030204" pitchFamily="34" charset="0"/>
              </a:rPr>
              <a:t>Planning poker</a:t>
            </a:r>
          </a:p>
          <a:p>
            <a:r>
              <a:rPr lang="en-US" sz="1300">
                <a:solidFill>
                  <a:srgbClr val="1F2937"/>
                </a:solidFill>
                <a:latin typeface="Calibri" panose="020F0502020204030204" pitchFamily="34" charset="0"/>
              </a:rPr>
              <a:t>1. The product owner reads the story.</a:t>
            </a:r>
          </a:p>
          <a:p>
            <a:r>
              <a:rPr lang="en-US" sz="1300">
                <a:solidFill>
                  <a:srgbClr val="1F2937"/>
                </a:solidFill>
                <a:latin typeface="Calibri" panose="020F0502020204030204" pitchFamily="34" charset="0"/>
              </a:rPr>
              <a:t>2. Everyone picks a card privately.</a:t>
            </a:r>
          </a:p>
          <a:p>
            <a:r>
              <a:rPr lang="en-US" sz="1300">
                <a:solidFill>
                  <a:srgbClr val="1F2937"/>
                </a:solidFill>
                <a:latin typeface="Calibri" panose="020F0502020204030204" pitchFamily="34" charset="0"/>
              </a:rPr>
              <a:t>3. All cards are revealed at once.</a:t>
            </a:r>
          </a:p>
          <a:p>
            <a:r>
              <a:rPr lang="en-US" sz="1300">
                <a:solidFill>
                  <a:srgbClr val="1F2937"/>
                </a:solidFill>
                <a:latin typeface="Calibri" panose="020F0502020204030204" pitchFamily="34" charset="0"/>
              </a:rPr>
              <a:t>4. The highest and lowest explain.</a:t>
            </a:r>
          </a:p>
          <a:p>
            <a:r>
              <a:rPr lang="en-US" sz="1300">
                <a:solidFill>
                  <a:srgbClr val="1F2937"/>
                </a:solidFill>
                <a:latin typeface="Calibri" panose="020F0502020204030204" pitchFamily="34" charset="0"/>
              </a:rPr>
              <a:t>5. Re-vote until the team converges.</a:t>
            </a:r>
          </a:p>
        </p:txBody>
      </p:sp>
      <p:sp>
        <p:nvSpPr>
          <p:cNvPr id="19" name="Rectangle: Rounded Corners 18">
            <a:extLst>
              <a:ext uri="{FF2B5EF4-FFF2-40B4-BE49-F238E27FC236}">
                <a16:creationId xmlns:a16="http://schemas.microsoft.com/office/drawing/2014/main" id="{9CE3F327-6324-C1D6-CAD2-AC2CAA986006}"/>
              </a:ext>
            </a:extLst>
          </p:cNvPr>
          <p:cNvSpPr/>
          <p:nvPr/>
        </p:nvSpPr>
        <p:spPr>
          <a:xfrm>
            <a:off x="8001000" y="2463800"/>
            <a:ext cx="3683000" cy="28956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39DFDE7-239D-4037-D6A0-CF5022AE7BF0}"/>
              </a:ext>
            </a:extLst>
          </p:cNvPr>
          <p:cNvSpPr txBox="1"/>
          <p:nvPr/>
        </p:nvSpPr>
        <p:spPr>
          <a:xfrm>
            <a:off x="8153400" y="2616200"/>
            <a:ext cx="3378200" cy="2590800"/>
          </a:xfrm>
          <a:prstGeom prst="rect">
            <a:avLst/>
          </a:prstGeom>
          <a:noFill/>
        </p:spPr>
        <p:txBody>
          <a:bodyPr vert="horz" wrap="square" lIns="0" tIns="0" rIns="0" bIns="0" rtlCol="0" anchor="t">
            <a:noAutofit/>
          </a:bodyPr>
          <a:lstStyle/>
          <a:p>
            <a:pPr>
              <a:spcAft>
                <a:spcPts val="600"/>
              </a:spcAft>
            </a:pPr>
            <a:r>
              <a:rPr lang="en-US" sz="1500" b="1">
                <a:solidFill>
                  <a:srgbClr val="A86F0E"/>
                </a:solidFill>
                <a:latin typeface="Calibri" panose="020F0502020204030204" pitchFamily="34" charset="0"/>
              </a:rPr>
              <a:t>Velocity forecast</a:t>
            </a:r>
          </a:p>
          <a:p>
            <a:pPr>
              <a:spcAft>
                <a:spcPts val="500"/>
              </a:spcAft>
            </a:pPr>
            <a:r>
              <a:rPr lang="en-US" sz="1300" b="1">
                <a:solidFill>
                  <a:srgbClr val="14213D"/>
                </a:solidFill>
                <a:latin typeface="Calibri" panose="020F0502020204030204" pitchFamily="34" charset="0"/>
              </a:rPr>
              <a:t>Velocity:</a:t>
            </a:r>
            <a:r>
              <a:rPr lang="en-US" sz="1300">
                <a:solidFill>
                  <a:srgbClr val="1F2937"/>
                </a:solidFill>
                <a:latin typeface="Calibri" panose="020F0502020204030204" pitchFamily="34" charset="0"/>
              </a:rPr>
              <a:t> points completed per iteration; use a recent average.</a:t>
            </a:r>
          </a:p>
          <a:p>
            <a:pPr>
              <a:spcAft>
                <a:spcPts val="500"/>
              </a:spcAft>
            </a:pPr>
            <a:r>
              <a:rPr lang="en-US" sz="1500" b="1">
                <a:solidFill>
                  <a:srgbClr val="14213D"/>
                </a:solidFill>
                <a:latin typeface="Calibri" panose="020F0502020204030204" pitchFamily="34" charset="0"/>
              </a:rPr>
              <a:t>Example: 120 points remaining / 20 points per sprint = 6 sprints.</a:t>
            </a:r>
          </a:p>
        </p:txBody>
      </p:sp>
      <p:sp>
        <p:nvSpPr>
          <p:cNvPr id="21" name="Rectangle: Rounded Corners 20">
            <a:extLst>
              <a:ext uri="{FF2B5EF4-FFF2-40B4-BE49-F238E27FC236}">
                <a16:creationId xmlns:a16="http://schemas.microsoft.com/office/drawing/2014/main" id="{E90D31F1-C9ED-17AD-28D3-F03EA438589F}"/>
              </a:ext>
            </a:extLst>
          </p:cNvPr>
          <p:cNvSpPr/>
          <p:nvPr/>
        </p:nvSpPr>
        <p:spPr>
          <a:xfrm>
            <a:off x="508000" y="5486400"/>
            <a:ext cx="11176000" cy="8382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9BFA8B2D-2251-F515-A397-1BE34FCB6D2D}"/>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the people doing the work estimate. Story points are relative and team-specific, so never compare velocity across teams.</a:t>
            </a:r>
          </a:p>
        </p:txBody>
      </p:sp>
      <p:sp>
        <p:nvSpPr>
          <p:cNvPr id="23" name="Footer">
            <a:extLst>
              <a:ext uri="{FF2B5EF4-FFF2-40B4-BE49-F238E27FC236}">
                <a16:creationId xmlns:a16="http://schemas.microsoft.com/office/drawing/2014/main" id="{92072319-DBAB-1E01-0751-BB929A843B31}"/>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Mike Cohn, Agile Estimating and Planning (2005); PMI and Agile Alliance, Agile Practice Guide (2017); adapted from PMI course material</a:t>
            </a:r>
          </a:p>
        </p:txBody>
      </p:sp>
      <p:sp>
        <p:nvSpPr>
          <p:cNvPr id="24" name="SlideNum">
            <a:extLst>
              <a:ext uri="{FF2B5EF4-FFF2-40B4-BE49-F238E27FC236}">
                <a16:creationId xmlns:a16="http://schemas.microsoft.com/office/drawing/2014/main" id="{5C32F7BE-022A-0369-B081-782CD697487D}"/>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106</a:t>
            </a:r>
          </a:p>
        </p:txBody>
      </p:sp>
      <p:sp>
        <p:nvSpPr>
          <p:cNvPr id="25"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71003500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8715AF4-16F0-7467-C579-930FA2C5B12A}"/>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Agile metrics: show progress and flow</a:t>
            </a:r>
          </a:p>
        </p:txBody>
      </p:sp>
      <p:sp>
        <p:nvSpPr>
          <p:cNvPr id="3" name="Tag">
            <a:extLst>
              <a:ext uri="{FF2B5EF4-FFF2-40B4-BE49-F238E27FC236}">
                <a16:creationId xmlns:a16="http://schemas.microsoft.com/office/drawing/2014/main" id="{4347C02D-15C1-8ACA-882E-24FF506F4D00}"/>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6A4C93"/>
                </a:solidFill>
                <a:latin typeface="Calibri" panose="020F0502020204030204" pitchFamily="34" charset="0"/>
              </a:rPr>
              <a:t>Agile essentials · Supports Process Task 9 (Evaluate project status: measure, analyze, and update metrics)</a:t>
            </a:r>
          </a:p>
        </p:txBody>
      </p:sp>
      <p:graphicFrame>
        <p:nvGraphicFramePr>
          <p:cNvPr id="4" name="Chart 3">
            <a:extLst>
              <a:ext uri="{FF2B5EF4-FFF2-40B4-BE49-F238E27FC236}">
                <a16:creationId xmlns:a16="http://schemas.microsoft.com/office/drawing/2014/main" id="{B2811314-5B0E-2CA0-0409-7D4E1D3551C9}"/>
              </a:ext>
            </a:extLst>
          </p:cNvPr>
          <p:cNvGraphicFramePr/>
          <p:nvPr>
            <p:extLst>
              <p:ext uri="{D42A27DB-BD31-4B8C-83A1-F6EECF244321}">
                <p14:modId xmlns:p14="http://schemas.microsoft.com/office/powerpoint/2010/main" val="3780649497"/>
              </p:ext>
            </p:extLst>
          </p:nvPr>
        </p:nvGraphicFramePr>
        <p:xfrm>
          <a:off x="508000" y="1320800"/>
          <a:ext cx="5461000" cy="2870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5A9FCEEB-F61F-0D31-0E78-F5240E1ACB01}"/>
              </a:ext>
            </a:extLst>
          </p:cNvPr>
          <p:cNvGraphicFramePr/>
          <p:nvPr>
            <p:extLst>
              <p:ext uri="{D42A27DB-BD31-4B8C-83A1-F6EECF244321}">
                <p14:modId xmlns:p14="http://schemas.microsoft.com/office/powerpoint/2010/main" val="43610807"/>
              </p:ext>
            </p:extLst>
          </p:nvPr>
        </p:nvGraphicFramePr>
        <p:xfrm>
          <a:off x="6223000" y="1320800"/>
          <a:ext cx="5461000" cy="2870200"/>
        </p:xfrm>
        <a:graphic>
          <a:graphicData uri="http://schemas.openxmlformats.org/drawingml/2006/chart">
            <c:chart xmlns:c="http://schemas.openxmlformats.org/drawingml/2006/chart" xmlns:r="http://schemas.openxmlformats.org/officeDocument/2006/relationships" r:id="rId4"/>
          </a:graphicData>
        </a:graphic>
      </p:graphicFrame>
      <p:sp>
        <p:nvSpPr>
          <p:cNvPr id="6" name="Rectangle: Rounded Corners 5">
            <a:extLst>
              <a:ext uri="{FF2B5EF4-FFF2-40B4-BE49-F238E27FC236}">
                <a16:creationId xmlns:a16="http://schemas.microsoft.com/office/drawing/2014/main" id="{2C5DE8EA-A4BD-7DB4-B891-7C25E2892F18}"/>
              </a:ext>
            </a:extLst>
          </p:cNvPr>
          <p:cNvSpPr/>
          <p:nvPr/>
        </p:nvSpPr>
        <p:spPr>
          <a:xfrm>
            <a:off x="508000" y="4343400"/>
            <a:ext cx="3556000" cy="18796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558CCA4-F69B-5893-1B8F-ECBC4AE1DA6E}"/>
              </a:ext>
            </a:extLst>
          </p:cNvPr>
          <p:cNvSpPr txBox="1"/>
          <p:nvPr/>
        </p:nvSpPr>
        <p:spPr>
          <a:xfrm>
            <a:off x="685800" y="4521200"/>
            <a:ext cx="3200400" cy="1524000"/>
          </a:xfrm>
          <a:prstGeom prst="rect">
            <a:avLst/>
          </a:prstGeom>
          <a:noFill/>
        </p:spPr>
        <p:txBody>
          <a:bodyPr vert="horz" wrap="square" lIns="0" tIns="0" rIns="0" bIns="0" rtlCol="0" anchor="t">
            <a:noAutofit/>
          </a:bodyPr>
          <a:lstStyle/>
          <a:p>
            <a:pPr>
              <a:spcAft>
                <a:spcPts val="600"/>
              </a:spcAft>
            </a:pPr>
            <a:r>
              <a:rPr lang="en-US" sz="1600" b="1">
                <a:solidFill>
                  <a:srgbClr val="6A4C93"/>
                </a:solidFill>
                <a:latin typeface="Calibri" panose="020F0502020204030204" pitchFamily="34" charset="0"/>
              </a:rPr>
              <a:t>Velocity</a:t>
            </a:r>
          </a:p>
          <a:p>
            <a:r>
              <a:rPr lang="en-US" sz="1400">
                <a:solidFill>
                  <a:srgbClr val="1F2937"/>
                </a:solidFill>
                <a:latin typeface="Calibri" panose="020F0502020204030204" pitchFamily="34" charset="0"/>
              </a:rPr>
              <a:t>Points completed per iteration. Use it to forecast, never to compare teams.</a:t>
            </a:r>
          </a:p>
          <a:p>
            <a:r>
              <a:rPr lang="en-US" sz="1400">
                <a:solidFill>
                  <a:srgbClr val="1F2937"/>
                </a:solidFill>
                <a:latin typeface="Calibri" panose="020F0502020204030204" pitchFamily="34" charset="0"/>
              </a:rPr>
              <a:t>Example: 10, 15, 30, 25, 20, 30 points gives an average of 21.67.</a:t>
            </a:r>
          </a:p>
        </p:txBody>
      </p:sp>
      <p:sp>
        <p:nvSpPr>
          <p:cNvPr id="8" name="Rectangle: Rounded Corners 7">
            <a:extLst>
              <a:ext uri="{FF2B5EF4-FFF2-40B4-BE49-F238E27FC236}">
                <a16:creationId xmlns:a16="http://schemas.microsoft.com/office/drawing/2014/main" id="{D4858FFB-2768-8BB0-4E3F-C7FC430A1C64}"/>
              </a:ext>
            </a:extLst>
          </p:cNvPr>
          <p:cNvSpPr/>
          <p:nvPr/>
        </p:nvSpPr>
        <p:spPr>
          <a:xfrm>
            <a:off x="4318000" y="4343400"/>
            <a:ext cx="3556000" cy="18796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AB503B2-5D55-1D4D-AD31-4546F5D48C5A}"/>
              </a:ext>
            </a:extLst>
          </p:cNvPr>
          <p:cNvSpPr txBox="1"/>
          <p:nvPr/>
        </p:nvSpPr>
        <p:spPr>
          <a:xfrm>
            <a:off x="4495800" y="4521200"/>
            <a:ext cx="3200400" cy="1524000"/>
          </a:xfrm>
          <a:prstGeom prst="rect">
            <a:avLst/>
          </a:prstGeom>
          <a:noFill/>
        </p:spPr>
        <p:txBody>
          <a:bodyPr vert="horz" wrap="square" lIns="0" tIns="0" rIns="0" bIns="0" rtlCol="0" anchor="t">
            <a:noAutofit/>
          </a:bodyPr>
          <a:lstStyle/>
          <a:p>
            <a:pPr>
              <a:spcAft>
                <a:spcPts val="600"/>
              </a:spcAft>
            </a:pPr>
            <a:r>
              <a:rPr lang="en-US" sz="1600" b="1">
                <a:solidFill>
                  <a:srgbClr val="6A4C93"/>
                </a:solidFill>
                <a:latin typeface="Calibri" panose="020F0502020204030204" pitchFamily="34" charset="0"/>
              </a:rPr>
              <a:t>Cumulative flow diagram</a:t>
            </a:r>
          </a:p>
          <a:p>
            <a:r>
              <a:rPr lang="en-US" sz="1400">
                <a:solidFill>
                  <a:srgbClr val="1F2937"/>
                </a:solidFill>
                <a:latin typeface="Calibri" panose="020F0502020204030204" pitchFamily="34" charset="0"/>
              </a:rPr>
              <a:t>Work in each state over time; a widening band signals a bottleneck.</a:t>
            </a:r>
          </a:p>
          <a:p>
            <a:r>
              <a:rPr lang="en-US" sz="1400">
                <a:solidFill>
                  <a:srgbClr val="1F2937"/>
                </a:solidFill>
                <a:latin typeface="Calibri" panose="020F0502020204030204" pitchFamily="34" charset="0"/>
              </a:rPr>
              <a:t>Band height = work in progress; band width = lead or cycle time; the top band is the backlog.</a:t>
            </a:r>
          </a:p>
        </p:txBody>
      </p:sp>
      <p:sp>
        <p:nvSpPr>
          <p:cNvPr id="10" name="Rectangle: Rounded Corners 9">
            <a:extLst>
              <a:ext uri="{FF2B5EF4-FFF2-40B4-BE49-F238E27FC236}">
                <a16:creationId xmlns:a16="http://schemas.microsoft.com/office/drawing/2014/main" id="{638644EF-613F-23E9-9D22-FBEEEEBB480F}"/>
              </a:ext>
            </a:extLst>
          </p:cNvPr>
          <p:cNvSpPr/>
          <p:nvPr/>
        </p:nvSpPr>
        <p:spPr>
          <a:xfrm>
            <a:off x="8128000" y="4343400"/>
            <a:ext cx="3556000" cy="18796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0C614E8-6135-5E18-BB77-C6FDD540F92D}"/>
              </a:ext>
            </a:extLst>
          </p:cNvPr>
          <p:cNvSpPr txBox="1"/>
          <p:nvPr/>
        </p:nvSpPr>
        <p:spPr>
          <a:xfrm>
            <a:off x="8305800" y="4521200"/>
            <a:ext cx="3200400" cy="1524000"/>
          </a:xfrm>
          <a:prstGeom prst="rect">
            <a:avLst/>
          </a:prstGeom>
          <a:noFill/>
        </p:spPr>
        <p:txBody>
          <a:bodyPr vert="horz" wrap="square" lIns="0" tIns="0" rIns="0" bIns="0" rtlCol="0" anchor="t">
            <a:noAutofit/>
          </a:bodyPr>
          <a:lstStyle/>
          <a:p>
            <a:pPr>
              <a:spcAft>
                <a:spcPts val="600"/>
              </a:spcAft>
            </a:pPr>
            <a:r>
              <a:rPr lang="en-US" sz="1600" b="1">
                <a:solidFill>
                  <a:srgbClr val="6A4C93"/>
                </a:solidFill>
                <a:latin typeface="Calibri" panose="020F0502020204030204" pitchFamily="34" charset="0"/>
              </a:rPr>
              <a:t>Lead time vs. cycle time</a:t>
            </a:r>
          </a:p>
          <a:p>
            <a:r>
              <a:rPr lang="en-US" sz="1400">
                <a:solidFill>
                  <a:srgbClr val="1F2937"/>
                </a:solidFill>
                <a:latin typeface="Calibri" panose="020F0502020204030204" pitchFamily="34" charset="0"/>
              </a:rPr>
              <a:t>Lead: request to delivery. Cycle: work started to done.</a:t>
            </a:r>
          </a:p>
        </p:txBody>
      </p:sp>
      <p:sp>
        <p:nvSpPr>
          <p:cNvPr id="12" name="Footer">
            <a:extLst>
              <a:ext uri="{FF2B5EF4-FFF2-40B4-BE49-F238E27FC236}">
                <a16:creationId xmlns:a16="http://schemas.microsoft.com/office/drawing/2014/main" id="{A895A54C-072C-E4C0-B8A9-22F2AB45BEA6}"/>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and Agile Alliance, Agile Practice Guide (2017), Section 5 (measurements in agile projects)</a:t>
            </a:r>
          </a:p>
        </p:txBody>
      </p:sp>
      <p:sp>
        <p:nvSpPr>
          <p:cNvPr id="13" name="SlideNum">
            <a:extLst>
              <a:ext uri="{FF2B5EF4-FFF2-40B4-BE49-F238E27FC236}">
                <a16:creationId xmlns:a16="http://schemas.microsoft.com/office/drawing/2014/main" id="{84ADECAD-E088-8F5F-958B-9C2B7CD4D586}"/>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107</a:t>
            </a:r>
          </a:p>
        </p:txBody>
      </p:sp>
      <p:sp>
        <p:nvSpPr>
          <p:cNvPr id="14"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92810835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50A4D72-422B-E3F6-91E0-38ADF67634D2}"/>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Reading agile charts: velocity and flow</a:t>
            </a:r>
          </a:p>
        </p:txBody>
      </p:sp>
      <p:sp>
        <p:nvSpPr>
          <p:cNvPr id="3" name="Tag">
            <a:extLst>
              <a:ext uri="{FF2B5EF4-FFF2-40B4-BE49-F238E27FC236}">
                <a16:creationId xmlns:a16="http://schemas.microsoft.com/office/drawing/2014/main" id="{FA6BDCC1-80B9-068A-96FD-61E9DA8C4FFB}"/>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6A4C93"/>
                </a:solidFill>
                <a:latin typeface="Calibri" panose="020F0502020204030204" pitchFamily="34" charset="0"/>
              </a:rPr>
              <a:t>Agile essentials · Supports Process Task 9 (Evaluate project status: assess current progress)</a:t>
            </a:r>
          </a:p>
        </p:txBody>
      </p:sp>
      <p:graphicFrame>
        <p:nvGraphicFramePr>
          <p:cNvPr id="4" name="Chart 3">
            <a:extLst>
              <a:ext uri="{FF2B5EF4-FFF2-40B4-BE49-F238E27FC236}">
                <a16:creationId xmlns:a16="http://schemas.microsoft.com/office/drawing/2014/main" id="{17932807-2FCE-8A17-950C-B934F13E86B0}"/>
              </a:ext>
            </a:extLst>
          </p:cNvPr>
          <p:cNvGraphicFramePr/>
          <p:nvPr>
            <p:extLst>
              <p:ext uri="{D42A27DB-BD31-4B8C-83A1-F6EECF244321}">
                <p14:modId xmlns:p14="http://schemas.microsoft.com/office/powerpoint/2010/main" val="3114781589"/>
              </p:ext>
            </p:extLst>
          </p:nvPr>
        </p:nvGraphicFramePr>
        <p:xfrm>
          <a:off x="508000" y="1320800"/>
          <a:ext cx="5461000" cy="2667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E99F4CE7-9460-E3B7-3BBB-968F9C958E87}"/>
              </a:ext>
            </a:extLst>
          </p:cNvPr>
          <p:cNvGraphicFramePr/>
          <p:nvPr>
            <p:extLst>
              <p:ext uri="{D42A27DB-BD31-4B8C-83A1-F6EECF244321}">
                <p14:modId xmlns:p14="http://schemas.microsoft.com/office/powerpoint/2010/main" val="2950522160"/>
              </p:ext>
            </p:extLst>
          </p:nvPr>
        </p:nvGraphicFramePr>
        <p:xfrm>
          <a:off x="6223000" y="1320800"/>
          <a:ext cx="5461000" cy="2667000"/>
        </p:xfrm>
        <a:graphic>
          <a:graphicData uri="http://schemas.openxmlformats.org/drawingml/2006/chart">
            <c:chart xmlns:c="http://schemas.openxmlformats.org/drawingml/2006/chart" xmlns:r="http://schemas.openxmlformats.org/officeDocument/2006/relationships" r:id="rId4"/>
          </a:graphicData>
        </a:graphic>
      </p:graphicFrame>
      <p:sp>
        <p:nvSpPr>
          <p:cNvPr id="6" name="Rectangle: Rounded Corners 5">
            <a:extLst>
              <a:ext uri="{FF2B5EF4-FFF2-40B4-BE49-F238E27FC236}">
                <a16:creationId xmlns:a16="http://schemas.microsoft.com/office/drawing/2014/main" id="{30AED1DC-D6C1-9236-7CC9-6918D2EA525A}"/>
              </a:ext>
            </a:extLst>
          </p:cNvPr>
          <p:cNvSpPr/>
          <p:nvPr/>
        </p:nvSpPr>
        <p:spPr>
          <a:xfrm>
            <a:off x="508000" y="4114800"/>
            <a:ext cx="3556000" cy="14224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52C0612-0753-7597-6342-7902DAB48983}"/>
              </a:ext>
            </a:extLst>
          </p:cNvPr>
          <p:cNvSpPr txBox="1"/>
          <p:nvPr/>
        </p:nvSpPr>
        <p:spPr>
          <a:xfrm>
            <a:off x="635000" y="4241800"/>
            <a:ext cx="3302000" cy="1168400"/>
          </a:xfrm>
          <a:prstGeom prst="rect">
            <a:avLst/>
          </a:prstGeom>
          <a:noFill/>
        </p:spPr>
        <p:txBody>
          <a:bodyPr vert="horz" wrap="square" lIns="0" tIns="0" rIns="0" bIns="0" rtlCol="0" anchor="t">
            <a:noAutofit/>
          </a:bodyPr>
          <a:lstStyle/>
          <a:p>
            <a:pPr>
              <a:spcAft>
                <a:spcPts val="600"/>
              </a:spcAft>
            </a:pPr>
            <a:r>
              <a:rPr lang="en-US" sz="1400" b="1">
                <a:solidFill>
                  <a:srgbClr val="6A4C93"/>
                </a:solidFill>
                <a:latin typeface="Calibri" panose="020F0502020204030204" pitchFamily="34" charset="0"/>
              </a:rPr>
              <a:t>Reading a burndown</a:t>
            </a:r>
          </a:p>
          <a:p>
            <a:pPr marL="152400" indent="-152400">
              <a:spcAft>
                <a:spcPts val="400"/>
              </a:spcAft>
              <a:buClr>
                <a:srgbClr val="6A4C93"/>
              </a:buClr>
              <a:buFont typeface="+mj-lt"/>
              <a:buChar char="•"/>
            </a:pPr>
            <a:r>
              <a:rPr lang="en-US" sz="1100">
                <a:solidFill>
                  <a:srgbClr val="1F2937"/>
                </a:solidFill>
                <a:latin typeface="Calibri" panose="020F0502020204030204" pitchFamily="34" charset="0"/>
              </a:rPr>
              <a:t>Actual above the ideal line: behind</a:t>
            </a:r>
          </a:p>
          <a:p>
            <a:pPr marL="152400" indent="-152400">
              <a:spcAft>
                <a:spcPts val="400"/>
              </a:spcAft>
              <a:buClr>
                <a:srgbClr val="6A4C93"/>
              </a:buClr>
              <a:buFont typeface="+mj-lt"/>
              <a:buChar char="•"/>
            </a:pPr>
            <a:r>
              <a:rPr lang="en-US" sz="1100">
                <a:solidFill>
                  <a:srgbClr val="1F2937"/>
                </a:solidFill>
                <a:latin typeface="Calibri" panose="020F0502020204030204" pitchFamily="34" charset="0"/>
              </a:rPr>
              <a:t>Flat line: blocked, or the chart isn’t updated</a:t>
            </a:r>
          </a:p>
          <a:p>
            <a:pPr marL="152400" indent="-152400">
              <a:spcAft>
                <a:spcPts val="400"/>
              </a:spcAft>
              <a:buClr>
                <a:srgbClr val="6A4C93"/>
              </a:buClr>
              <a:buFont typeface="+mj-lt"/>
              <a:buChar char="•"/>
            </a:pPr>
            <a:r>
              <a:rPr lang="en-US" sz="1100">
                <a:solidFill>
                  <a:srgbClr val="1F2937"/>
                </a:solidFill>
                <a:latin typeface="Calibri" panose="020F0502020204030204" pitchFamily="34" charset="0"/>
              </a:rPr>
              <a:t>Line goes up: scope was added</a:t>
            </a:r>
          </a:p>
          <a:p>
            <a:pPr marL="152400" indent="-152400">
              <a:spcAft>
                <a:spcPts val="400"/>
              </a:spcAft>
              <a:buClr>
                <a:srgbClr val="6A4C93"/>
              </a:buClr>
              <a:buFont typeface="+mj-lt"/>
              <a:buChar char="•"/>
            </a:pPr>
            <a:r>
              <a:rPr lang="en-US" sz="1100">
                <a:solidFill>
                  <a:srgbClr val="1F2937"/>
                </a:solidFill>
                <a:latin typeface="Calibri" panose="020F0502020204030204" pitchFamily="34" charset="0"/>
              </a:rPr>
              <a:t>Reaches zero early: work was overestimated</a:t>
            </a:r>
          </a:p>
        </p:txBody>
      </p:sp>
      <p:sp>
        <p:nvSpPr>
          <p:cNvPr id="8" name="Rectangle: Rounded Corners 7">
            <a:extLst>
              <a:ext uri="{FF2B5EF4-FFF2-40B4-BE49-F238E27FC236}">
                <a16:creationId xmlns:a16="http://schemas.microsoft.com/office/drawing/2014/main" id="{341DEB94-DF5A-C8D0-748D-CCD27EB0B5E8}"/>
              </a:ext>
            </a:extLst>
          </p:cNvPr>
          <p:cNvSpPr/>
          <p:nvPr/>
        </p:nvSpPr>
        <p:spPr>
          <a:xfrm>
            <a:off x="4318000" y="4114800"/>
            <a:ext cx="3556000" cy="14224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EE5529D-57AB-9254-47F7-4A7DAE7AA1F1}"/>
              </a:ext>
            </a:extLst>
          </p:cNvPr>
          <p:cNvSpPr txBox="1"/>
          <p:nvPr/>
        </p:nvSpPr>
        <p:spPr>
          <a:xfrm>
            <a:off x="4445000" y="4241800"/>
            <a:ext cx="3302000" cy="1168400"/>
          </a:xfrm>
          <a:prstGeom prst="rect">
            <a:avLst/>
          </a:prstGeom>
          <a:noFill/>
        </p:spPr>
        <p:txBody>
          <a:bodyPr vert="horz" wrap="square" lIns="0" tIns="0" rIns="0" bIns="0" rtlCol="0" anchor="t">
            <a:noAutofit/>
          </a:bodyPr>
          <a:lstStyle/>
          <a:p>
            <a:pPr>
              <a:spcAft>
                <a:spcPts val="600"/>
              </a:spcAft>
            </a:pPr>
            <a:r>
              <a:rPr lang="en-US" sz="1400" b="1">
                <a:solidFill>
                  <a:srgbClr val="6A4C93"/>
                </a:solidFill>
                <a:latin typeface="Calibri" panose="020F0502020204030204" pitchFamily="34" charset="0"/>
              </a:rPr>
              <a:t>Reading velocity</a:t>
            </a:r>
          </a:p>
          <a:p>
            <a:pPr marL="152400" indent="-152400">
              <a:spcAft>
                <a:spcPts val="400"/>
              </a:spcAft>
              <a:buClr>
                <a:srgbClr val="6A4C93"/>
              </a:buClr>
              <a:buFont typeface="+mj-lt"/>
              <a:buChar char="•"/>
            </a:pPr>
            <a:r>
              <a:rPr lang="en-US" sz="1100">
                <a:solidFill>
                  <a:srgbClr val="1F2937"/>
                </a:solidFill>
                <a:latin typeface="Calibri" panose="020F0502020204030204" pitchFamily="34" charset="0"/>
              </a:rPr>
              <a:t>Forecast with a recent average: 21.67 here</a:t>
            </a:r>
          </a:p>
          <a:p>
            <a:pPr marL="152400" indent="-152400">
              <a:spcAft>
                <a:spcPts val="400"/>
              </a:spcAft>
              <a:buClr>
                <a:srgbClr val="6A4C93"/>
              </a:buClr>
              <a:buFont typeface="+mj-lt"/>
              <a:buChar char="•"/>
            </a:pPr>
            <a:r>
              <a:rPr lang="en-US" sz="1100">
                <a:solidFill>
                  <a:srgbClr val="1F2937"/>
                </a:solidFill>
                <a:latin typeface="Calibri" panose="020F0502020204030204" pitchFamily="34" charset="0"/>
              </a:rPr>
              <a:t>Stabilizes after a few iterations; dips when the team changes</a:t>
            </a:r>
          </a:p>
          <a:p>
            <a:pPr marL="152400" indent="-152400">
              <a:spcAft>
                <a:spcPts val="400"/>
              </a:spcAft>
              <a:buClr>
                <a:srgbClr val="6A4C93"/>
              </a:buClr>
              <a:buFont typeface="+mj-lt"/>
              <a:buChar char="•"/>
            </a:pPr>
            <a:r>
              <a:rPr lang="en-US" sz="1100">
                <a:solidFill>
                  <a:srgbClr val="1F2937"/>
                </a:solidFill>
                <a:latin typeface="Calibri" panose="020F0502020204030204" pitchFamily="34" charset="0"/>
              </a:rPr>
              <a:t>Not a target and never compared across teams</a:t>
            </a:r>
          </a:p>
        </p:txBody>
      </p:sp>
      <p:sp>
        <p:nvSpPr>
          <p:cNvPr id="10" name="Rectangle: Rounded Corners 9">
            <a:extLst>
              <a:ext uri="{FF2B5EF4-FFF2-40B4-BE49-F238E27FC236}">
                <a16:creationId xmlns:a16="http://schemas.microsoft.com/office/drawing/2014/main" id="{73E56646-0812-BEBC-6466-C83692D8F34F}"/>
              </a:ext>
            </a:extLst>
          </p:cNvPr>
          <p:cNvSpPr/>
          <p:nvPr/>
        </p:nvSpPr>
        <p:spPr>
          <a:xfrm>
            <a:off x="8128000" y="4114800"/>
            <a:ext cx="3556000" cy="14224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CC69648-0DC8-CBF5-E2C9-F447E5B1234C}"/>
              </a:ext>
            </a:extLst>
          </p:cNvPr>
          <p:cNvSpPr txBox="1"/>
          <p:nvPr/>
        </p:nvSpPr>
        <p:spPr>
          <a:xfrm>
            <a:off x="8255000" y="4241800"/>
            <a:ext cx="3302000" cy="1168400"/>
          </a:xfrm>
          <a:prstGeom prst="rect">
            <a:avLst/>
          </a:prstGeom>
          <a:noFill/>
        </p:spPr>
        <p:txBody>
          <a:bodyPr vert="horz" wrap="square" lIns="0" tIns="0" rIns="0" bIns="0" rtlCol="0" anchor="t">
            <a:noAutofit/>
          </a:bodyPr>
          <a:lstStyle/>
          <a:p>
            <a:pPr>
              <a:spcAft>
                <a:spcPts val="600"/>
              </a:spcAft>
            </a:pPr>
            <a:r>
              <a:rPr lang="en-US" sz="1400" b="1">
                <a:solidFill>
                  <a:srgbClr val="6A4C93"/>
                </a:solidFill>
                <a:latin typeface="Calibri" panose="020F0502020204030204" pitchFamily="34" charset="0"/>
              </a:rPr>
              <a:t>Reading a CFD</a:t>
            </a:r>
          </a:p>
          <a:p>
            <a:pPr marL="152400" indent="-152400">
              <a:spcAft>
                <a:spcPts val="400"/>
              </a:spcAft>
              <a:buClr>
                <a:srgbClr val="6A4C93"/>
              </a:buClr>
              <a:buFont typeface="+mj-lt"/>
              <a:buChar char="•"/>
            </a:pPr>
            <a:r>
              <a:rPr lang="en-US" sz="1100">
                <a:solidFill>
                  <a:srgbClr val="1F2937"/>
                </a:solidFill>
                <a:latin typeface="Calibri" panose="020F0502020204030204" pitchFamily="34" charset="0"/>
              </a:rPr>
              <a:t>Widening in-progress band: a bottleneck; limit WIP</a:t>
            </a:r>
          </a:p>
          <a:p>
            <a:pPr marL="152400" indent="-152400">
              <a:spcAft>
                <a:spcPts val="400"/>
              </a:spcAft>
              <a:buClr>
                <a:srgbClr val="6A4C93"/>
              </a:buClr>
              <a:buFont typeface="+mj-lt"/>
              <a:buChar char="•"/>
            </a:pPr>
            <a:r>
              <a:rPr lang="en-US" sz="1100">
                <a:solidFill>
                  <a:srgbClr val="1F2937"/>
                </a:solidFill>
                <a:latin typeface="Calibri" panose="020F0502020204030204" pitchFamily="34" charset="0"/>
              </a:rPr>
              <a:t>Flat Done band: nothing is finishing</a:t>
            </a:r>
          </a:p>
          <a:p>
            <a:pPr marL="152400" indent="-152400">
              <a:spcAft>
                <a:spcPts val="400"/>
              </a:spcAft>
              <a:buClr>
                <a:srgbClr val="6A4C93"/>
              </a:buClr>
              <a:buFont typeface="+mj-lt"/>
              <a:buChar char="•"/>
            </a:pPr>
            <a:r>
              <a:rPr lang="en-US" sz="1100">
                <a:solidFill>
                  <a:srgbClr val="1F2937"/>
                </a:solidFill>
                <a:latin typeface="Calibri" panose="020F0502020204030204" pitchFamily="34" charset="0"/>
              </a:rPr>
              <a:t>Parallel bands: smooth, stable flow</a:t>
            </a:r>
          </a:p>
          <a:p>
            <a:pPr marL="152400" indent="-152400">
              <a:spcAft>
                <a:spcPts val="400"/>
              </a:spcAft>
              <a:buClr>
                <a:srgbClr val="6A4C93"/>
              </a:buClr>
              <a:buFont typeface="+mj-lt"/>
              <a:buChar char="•"/>
            </a:pPr>
            <a:r>
              <a:rPr lang="en-US" sz="1100">
                <a:solidFill>
                  <a:srgbClr val="1F2937"/>
                </a:solidFill>
                <a:latin typeface="Calibri" panose="020F0502020204030204" pitchFamily="34" charset="0"/>
              </a:rPr>
              <a:t>Little’s Law: cycle time = WIP ÷ throughput</a:t>
            </a:r>
          </a:p>
        </p:txBody>
      </p:sp>
      <p:sp>
        <p:nvSpPr>
          <p:cNvPr id="12" name="Footer">
            <a:extLst>
              <a:ext uri="{FF2B5EF4-FFF2-40B4-BE49-F238E27FC236}">
                <a16:creationId xmlns:a16="http://schemas.microsoft.com/office/drawing/2014/main" id="{81613CD4-2B2E-0D4A-6249-F0669707A3A5}"/>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and Agile Alliance, Agile Practice Guide (2017), Section 5.4; John D. C. Little (1961); adapted from PMI course material</a:t>
            </a:r>
          </a:p>
        </p:txBody>
      </p:sp>
      <p:sp>
        <p:nvSpPr>
          <p:cNvPr id="13" name="SlideNum">
            <a:extLst>
              <a:ext uri="{FF2B5EF4-FFF2-40B4-BE49-F238E27FC236}">
                <a16:creationId xmlns:a16="http://schemas.microsoft.com/office/drawing/2014/main" id="{DCDB8607-F475-3CB7-EAC6-B38944F597CA}"/>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108</a:t>
            </a:r>
          </a:p>
        </p:txBody>
      </p:sp>
      <p:sp>
        <p:nvSpPr>
          <p:cNvPr id="14" name="Rectangle: Rounded Corners 13">
            <a:extLst>
              <a:ext uri="{FF2B5EF4-FFF2-40B4-BE49-F238E27FC236}">
                <a16:creationId xmlns:a16="http://schemas.microsoft.com/office/drawing/2014/main" id="{0B64B1E4-F18E-ADCA-0A98-36CD72C6D310}"/>
              </a:ext>
            </a:extLst>
          </p:cNvPr>
          <p:cNvSpPr/>
          <p:nvPr/>
        </p:nvSpPr>
        <p:spPr>
          <a:xfrm>
            <a:off x="508000" y="5664200"/>
            <a:ext cx="11176000" cy="660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BD2D3EE-EBC1-333B-2075-98D8228DD9AF}"/>
              </a:ext>
            </a:extLst>
          </p:cNvPr>
          <p:cNvSpPr txBox="1"/>
          <p:nvPr/>
        </p:nvSpPr>
        <p:spPr>
          <a:xfrm>
            <a:off x="711200" y="5664200"/>
            <a:ext cx="10769600" cy="660400"/>
          </a:xfrm>
          <a:prstGeom prst="rect">
            <a:avLst/>
          </a:prstGeom>
          <a:noFill/>
        </p:spPr>
        <p:txBody>
          <a:bodyPr vert="horz" wrap="square" lIns="0" tIns="0" rIns="0" bIns="0" rtlCol="0" anchor="ctr">
            <a:noAutofit/>
          </a:bodyPr>
          <a:lstStyle/>
          <a:p>
            <a:r>
              <a:rPr lang="en-US" sz="1300" i="1">
                <a:solidFill>
                  <a:srgbClr val="14213D"/>
                </a:solidFill>
                <a:latin typeface="Calibri" panose="020F0502020204030204" pitchFamily="34" charset="0"/>
              </a:rPr>
              <a:t>Exam cue: a widening in-progress band or a flat burndown is a signal to find and remove impediments with the team. Limit work in progress before adding people.</a:t>
            </a:r>
          </a:p>
        </p:txBody>
      </p:sp>
      <p:sp>
        <p:nvSpPr>
          <p:cNvPr id="16"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40827558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FD56CC21-E692-EB4E-C7A8-C03D20CDD972}"/>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Agile contracts and the agile PMO</a:t>
            </a:r>
          </a:p>
        </p:txBody>
      </p:sp>
      <p:sp>
        <p:nvSpPr>
          <p:cNvPr id="3" name="Tag">
            <a:extLst>
              <a:ext uri="{FF2B5EF4-FFF2-40B4-BE49-F238E27FC236}">
                <a16:creationId xmlns:a16="http://schemas.microsoft.com/office/drawing/2014/main" id="{839211FC-767B-8C87-EA8F-EE41F3DC1656}"/>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6A4C93"/>
                </a:solidFill>
                <a:latin typeface="Calibri" panose="020F0502020204030204" pitchFamily="34" charset="0"/>
              </a:rPr>
              <a:t>Agile essentials · Supports Process Task 5 (procurement) and Business Environment Task 1 (governance)</a:t>
            </a:r>
          </a:p>
        </p:txBody>
      </p:sp>
      <p:sp>
        <p:nvSpPr>
          <p:cNvPr id="4" name="Rectangle: Rounded Corners 3">
            <a:extLst>
              <a:ext uri="{FF2B5EF4-FFF2-40B4-BE49-F238E27FC236}">
                <a16:creationId xmlns:a16="http://schemas.microsoft.com/office/drawing/2014/main" id="{9C9D1E5E-EA5F-8E4E-6775-880063AB42BF}"/>
              </a:ext>
            </a:extLst>
          </p:cNvPr>
          <p:cNvSpPr/>
          <p:nvPr/>
        </p:nvSpPr>
        <p:spPr>
          <a:xfrm>
            <a:off x="508000" y="1371600"/>
            <a:ext cx="6604000" cy="3810000"/>
          </a:xfrm>
          <a:prstGeom prst="roundRect">
            <a:avLst>
              <a:gd name="adj" fmla="val 8000"/>
            </a:avLst>
          </a:prstGeom>
          <a:solidFill>
            <a:srgbClr val="EEE8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66F071A-1232-6785-2002-66D0A20B6D0A}"/>
              </a:ext>
            </a:extLst>
          </p:cNvPr>
          <p:cNvSpPr txBox="1"/>
          <p:nvPr/>
        </p:nvSpPr>
        <p:spPr>
          <a:xfrm>
            <a:off x="711200" y="1549400"/>
            <a:ext cx="6197600" cy="3556000"/>
          </a:xfrm>
          <a:prstGeom prst="rect">
            <a:avLst/>
          </a:prstGeom>
          <a:noFill/>
        </p:spPr>
        <p:txBody>
          <a:bodyPr vert="horz" wrap="square" lIns="0" tIns="0" rIns="0" bIns="0" rtlCol="0" anchor="t">
            <a:noAutofit/>
          </a:bodyPr>
          <a:lstStyle/>
          <a:p>
            <a:pPr>
              <a:spcAft>
                <a:spcPts val="600"/>
              </a:spcAft>
            </a:pPr>
            <a:r>
              <a:rPr lang="en-US" sz="1700" b="1">
                <a:solidFill>
                  <a:srgbClr val="6A4C93"/>
                </a:solidFill>
                <a:latin typeface="Calibri" panose="020F0502020204030204" pitchFamily="34" charset="0"/>
              </a:rPr>
              <a:t>Agile contracting techniques</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Multi-tiered structure: stable terms in a master agreement, changeable items in lighter schedules</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Emphasize value delivered: tie payment to features or milestones</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Fixed-price increments: price small pieces rather than the whole scope</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Not-to-exceed time and materials</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Graduated time and materials: rates tied to early or late delivery</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Early cancellation option</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Dynamic scope option</a:t>
            </a:r>
          </a:p>
          <a:p>
            <a:pPr marL="203200" indent="-203200">
              <a:spcAft>
                <a:spcPts val="400"/>
              </a:spcAft>
              <a:buClr>
                <a:srgbClr val="6A4C93"/>
              </a:buClr>
              <a:buFont typeface="+mj-lt"/>
              <a:buChar char="•"/>
            </a:pPr>
            <a:r>
              <a:rPr lang="en-US" sz="1400">
                <a:solidFill>
                  <a:srgbClr val="1F2937"/>
                </a:solidFill>
                <a:latin typeface="Calibri" panose="020F0502020204030204" pitchFamily="34" charset="0"/>
              </a:rPr>
              <a:t>Team augmentation</a:t>
            </a:r>
          </a:p>
        </p:txBody>
      </p:sp>
      <p:sp>
        <p:nvSpPr>
          <p:cNvPr id="6" name="TextBox 5">
            <a:extLst>
              <a:ext uri="{FF2B5EF4-FFF2-40B4-BE49-F238E27FC236}">
                <a16:creationId xmlns:a16="http://schemas.microsoft.com/office/drawing/2014/main" id="{2D0E2C57-B38A-B4CD-2949-AA7A5409EF8C}"/>
              </a:ext>
            </a:extLst>
          </p:cNvPr>
          <p:cNvSpPr txBox="1"/>
          <p:nvPr/>
        </p:nvSpPr>
        <p:spPr>
          <a:xfrm>
            <a:off x="7366000" y="1371600"/>
            <a:ext cx="4318000" cy="279400"/>
          </a:xfrm>
          <a:prstGeom prst="rect">
            <a:avLst/>
          </a:prstGeom>
          <a:noFill/>
        </p:spPr>
        <p:txBody>
          <a:bodyPr vert="horz" wrap="square" lIns="0" tIns="0" rIns="0" bIns="0" rtlCol="0" anchor="t">
            <a:noAutofit/>
          </a:bodyPr>
          <a:lstStyle/>
          <a:p>
            <a:r>
              <a:rPr lang="en-US" sz="1700" b="1">
                <a:solidFill>
                  <a:srgbClr val="14213D"/>
                </a:solidFill>
                <a:latin typeface="Calibri" panose="020F0502020204030204" pitchFamily="34" charset="0"/>
              </a:rPr>
              <a:t>An agile PMO is</a:t>
            </a:r>
          </a:p>
        </p:txBody>
      </p:sp>
      <p:sp>
        <p:nvSpPr>
          <p:cNvPr id="7" name="Rectangle: Rounded Corners 6">
            <a:extLst>
              <a:ext uri="{FF2B5EF4-FFF2-40B4-BE49-F238E27FC236}">
                <a16:creationId xmlns:a16="http://schemas.microsoft.com/office/drawing/2014/main" id="{75922239-6137-D555-6847-B1B711AA578F}"/>
              </a:ext>
            </a:extLst>
          </p:cNvPr>
          <p:cNvSpPr/>
          <p:nvPr/>
        </p:nvSpPr>
        <p:spPr>
          <a:xfrm>
            <a:off x="7366000" y="1752600"/>
            <a:ext cx="4318000" cy="1371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3C9F805-035D-36E9-02A9-00B7E4014765}"/>
              </a:ext>
            </a:extLst>
          </p:cNvPr>
          <p:cNvSpPr txBox="1"/>
          <p:nvPr/>
        </p:nvSpPr>
        <p:spPr>
          <a:xfrm>
            <a:off x="7518400" y="1905000"/>
            <a:ext cx="4013200" cy="1066800"/>
          </a:xfrm>
          <a:prstGeom prst="rect">
            <a:avLst/>
          </a:prstGeom>
          <a:noFill/>
        </p:spPr>
        <p:txBody>
          <a:bodyPr vert="horz" wrap="square" lIns="0" tIns="0" rIns="0" bIns="0" rtlCol="0" anchor="t">
            <a:noAutofit/>
          </a:bodyPr>
          <a:lstStyle/>
          <a:p>
            <a:pPr>
              <a:spcAft>
                <a:spcPts val="600"/>
              </a:spcAft>
            </a:pPr>
            <a:r>
              <a:rPr lang="en-US" sz="1600" b="1">
                <a:solidFill>
                  <a:srgbClr val="14213D"/>
                </a:solidFill>
                <a:latin typeface="Calibri" panose="020F0502020204030204" pitchFamily="34" charset="0"/>
              </a:rPr>
              <a:t>Value-driven</a:t>
            </a:r>
          </a:p>
          <a:p>
            <a:r>
              <a:rPr lang="en-US" sz="1400">
                <a:solidFill>
                  <a:srgbClr val="1F2937"/>
                </a:solidFill>
                <a:latin typeface="Calibri" panose="020F0502020204030204" pitchFamily="34" charset="0"/>
              </a:rPr>
              <a:t>Focuses on delivering customer value, not enforcing process.</a:t>
            </a:r>
          </a:p>
        </p:txBody>
      </p:sp>
      <p:sp>
        <p:nvSpPr>
          <p:cNvPr id="9" name="Rectangle: Rounded Corners 8">
            <a:extLst>
              <a:ext uri="{FF2B5EF4-FFF2-40B4-BE49-F238E27FC236}">
                <a16:creationId xmlns:a16="http://schemas.microsoft.com/office/drawing/2014/main" id="{0BA61137-C0F2-1C1C-62BD-A5185DFEB843}"/>
              </a:ext>
            </a:extLst>
          </p:cNvPr>
          <p:cNvSpPr/>
          <p:nvPr/>
        </p:nvSpPr>
        <p:spPr>
          <a:xfrm>
            <a:off x="7366000" y="3251200"/>
            <a:ext cx="4318000" cy="1371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B126BB2-7837-6454-F37B-FDA3C9B2D72B}"/>
              </a:ext>
            </a:extLst>
          </p:cNvPr>
          <p:cNvSpPr txBox="1"/>
          <p:nvPr/>
        </p:nvSpPr>
        <p:spPr>
          <a:xfrm>
            <a:off x="7518400" y="3403600"/>
            <a:ext cx="4013200" cy="1066800"/>
          </a:xfrm>
          <a:prstGeom prst="rect">
            <a:avLst/>
          </a:prstGeom>
          <a:noFill/>
        </p:spPr>
        <p:txBody>
          <a:bodyPr vert="horz" wrap="square" lIns="0" tIns="0" rIns="0" bIns="0" rtlCol="0" anchor="t">
            <a:noAutofit/>
          </a:bodyPr>
          <a:lstStyle/>
          <a:p>
            <a:pPr>
              <a:spcAft>
                <a:spcPts val="600"/>
              </a:spcAft>
            </a:pPr>
            <a:r>
              <a:rPr lang="en-US" sz="1600" b="1">
                <a:solidFill>
                  <a:srgbClr val="14213D"/>
                </a:solidFill>
                <a:latin typeface="Calibri" panose="020F0502020204030204" pitchFamily="34" charset="0"/>
              </a:rPr>
              <a:t>Invitation-oriented</a:t>
            </a:r>
          </a:p>
          <a:p>
            <a:r>
              <a:rPr lang="en-US" sz="1400">
                <a:solidFill>
                  <a:srgbClr val="1F2937"/>
                </a:solidFill>
                <a:latin typeface="Calibri" panose="020F0502020204030204" pitchFamily="34" charset="0"/>
              </a:rPr>
              <a:t>Offers support teams choose to use, rather than mandating it.</a:t>
            </a:r>
          </a:p>
        </p:txBody>
      </p:sp>
      <p:sp>
        <p:nvSpPr>
          <p:cNvPr id="11" name="Rectangle: Rounded Corners 10">
            <a:extLst>
              <a:ext uri="{FF2B5EF4-FFF2-40B4-BE49-F238E27FC236}">
                <a16:creationId xmlns:a16="http://schemas.microsoft.com/office/drawing/2014/main" id="{C31A3A23-7C84-D2B1-5443-7245E47EBDF3}"/>
              </a:ext>
            </a:extLst>
          </p:cNvPr>
          <p:cNvSpPr/>
          <p:nvPr/>
        </p:nvSpPr>
        <p:spPr>
          <a:xfrm>
            <a:off x="7366000" y="4749800"/>
            <a:ext cx="4318000" cy="1371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7DDEF33-C655-4D22-077E-6E8E79CA6804}"/>
              </a:ext>
            </a:extLst>
          </p:cNvPr>
          <p:cNvSpPr txBox="1"/>
          <p:nvPr/>
        </p:nvSpPr>
        <p:spPr>
          <a:xfrm>
            <a:off x="7518400" y="4902200"/>
            <a:ext cx="4013200" cy="1066800"/>
          </a:xfrm>
          <a:prstGeom prst="rect">
            <a:avLst/>
          </a:prstGeom>
          <a:noFill/>
        </p:spPr>
        <p:txBody>
          <a:bodyPr vert="horz" wrap="square" lIns="0" tIns="0" rIns="0" bIns="0" rtlCol="0" anchor="t">
            <a:noAutofit/>
          </a:bodyPr>
          <a:lstStyle/>
          <a:p>
            <a:pPr>
              <a:spcAft>
                <a:spcPts val="600"/>
              </a:spcAft>
            </a:pPr>
            <a:r>
              <a:rPr lang="en-US" sz="1600" b="1">
                <a:solidFill>
                  <a:srgbClr val="14213D"/>
                </a:solidFill>
                <a:latin typeface="Calibri" panose="020F0502020204030204" pitchFamily="34" charset="0"/>
              </a:rPr>
              <a:t>Multidisciplinary</a:t>
            </a:r>
          </a:p>
          <a:p>
            <a:r>
              <a:rPr lang="en-US" sz="1400">
                <a:solidFill>
                  <a:srgbClr val="1F2937"/>
                </a:solidFill>
                <a:latin typeface="Calibri" panose="020F0502020204030204" pitchFamily="34" charset="0"/>
              </a:rPr>
              <a:t>Builds skills across the organization, beyond project management.</a:t>
            </a:r>
          </a:p>
        </p:txBody>
      </p:sp>
      <p:sp>
        <p:nvSpPr>
          <p:cNvPr id="13" name="Rectangle: Rounded Corners 12">
            <a:extLst>
              <a:ext uri="{FF2B5EF4-FFF2-40B4-BE49-F238E27FC236}">
                <a16:creationId xmlns:a16="http://schemas.microsoft.com/office/drawing/2014/main" id="{DBC1C3E3-C1B0-F11C-142A-BC7A3E3493FF}"/>
              </a:ext>
            </a:extLst>
          </p:cNvPr>
          <p:cNvSpPr/>
          <p:nvPr/>
        </p:nvSpPr>
        <p:spPr>
          <a:xfrm>
            <a:off x="508000" y="5334000"/>
            <a:ext cx="6604000" cy="889000"/>
          </a:xfrm>
          <a:prstGeom prst="roundRect">
            <a:avLst>
              <a:gd name="adj" fmla="val 8000"/>
            </a:avLst>
          </a:prstGeom>
          <a:solidFill>
            <a:srgbClr val="E8E1F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4FCAB9D-BCC6-4574-171C-8CC3273A9444}"/>
              </a:ext>
            </a:extLst>
          </p:cNvPr>
          <p:cNvSpPr txBox="1"/>
          <p:nvPr/>
        </p:nvSpPr>
        <p:spPr>
          <a:xfrm>
            <a:off x="736600" y="5334000"/>
            <a:ext cx="6146800" cy="889000"/>
          </a:xfrm>
          <a:prstGeom prst="rect">
            <a:avLst/>
          </a:prstGeom>
          <a:noFill/>
        </p:spPr>
        <p:txBody>
          <a:bodyPr vert="horz" wrap="square" lIns="0" tIns="0" rIns="0" bIns="0" rtlCol="0" anchor="ctr">
            <a:noAutofit/>
          </a:bodyPr>
          <a:lstStyle/>
          <a:p>
            <a:r>
              <a:rPr lang="en-US" sz="1500" i="1">
                <a:solidFill>
                  <a:srgbClr val="14213D"/>
                </a:solidFill>
                <a:latin typeface="Calibri" panose="020F0502020204030204" pitchFamily="34" charset="0"/>
              </a:rPr>
              <a:t>Exam cue: agile-friendly contracts share risk and let scope flex while protecting both buyer and seller.</a:t>
            </a:r>
          </a:p>
        </p:txBody>
      </p:sp>
      <p:sp>
        <p:nvSpPr>
          <p:cNvPr id="15" name="Footer">
            <a:extLst>
              <a:ext uri="{FF2B5EF4-FFF2-40B4-BE49-F238E27FC236}">
                <a16:creationId xmlns:a16="http://schemas.microsoft.com/office/drawing/2014/main" id="{B013859A-1A73-43B5-29DE-0CAE6BCC2377}"/>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and Agile Alliance, Agile Practice Guide (2017), Section 6 (Organizational Considerations for Project Agility)</a:t>
            </a:r>
          </a:p>
        </p:txBody>
      </p:sp>
      <p:sp>
        <p:nvSpPr>
          <p:cNvPr id="16" name="SlideNum">
            <a:extLst>
              <a:ext uri="{FF2B5EF4-FFF2-40B4-BE49-F238E27FC236}">
                <a16:creationId xmlns:a16="http://schemas.microsoft.com/office/drawing/2014/main" id="{CC95E4CF-F250-ECD2-F601-3078EBD83270}"/>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109</a:t>
            </a:r>
          </a:p>
        </p:txBody>
      </p:sp>
      <p:sp>
        <p:nvSpPr>
          <p:cNvPr id="17"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06476550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7E38888-BBDF-E8D9-FB9C-F7B0673A9AD3}"/>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Other agile frameworks and scaling approaches</a:t>
            </a:r>
          </a:p>
        </p:txBody>
      </p:sp>
      <p:sp>
        <p:nvSpPr>
          <p:cNvPr id="3" name="Tag">
            <a:extLst>
              <a:ext uri="{FF2B5EF4-FFF2-40B4-BE49-F238E27FC236}">
                <a16:creationId xmlns:a16="http://schemas.microsoft.com/office/drawing/2014/main" id="{718CAB52-FBE8-A4B6-026C-86631F07710B}"/>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6A4C93"/>
                </a:solidFill>
                <a:latin typeface="Calibri" panose="020F0502020204030204" pitchFamily="34" charset="0"/>
              </a:rPr>
              <a:t>Agile essentials · Recognition level: know the key idea of each</a:t>
            </a:r>
          </a:p>
        </p:txBody>
      </p:sp>
      <p:graphicFrame>
        <p:nvGraphicFramePr>
          <p:cNvPr id="4" name="Table">
            <a:extLst>
              <a:ext uri="{FF2B5EF4-FFF2-40B4-BE49-F238E27FC236}">
                <a16:creationId xmlns:a16="http://schemas.microsoft.com/office/drawing/2014/main" id="{23B549E8-596A-2F60-21EB-917B5557EEE5}"/>
              </a:ext>
            </a:extLst>
          </p:cNvPr>
          <p:cNvGraphicFramePr>
            <a:graphicFrameLocks noGrp="1"/>
          </p:cNvGraphicFramePr>
          <p:nvPr>
            <p:extLst>
              <p:ext uri="{D42A27DB-BD31-4B8C-83A1-F6EECF244321}">
                <p14:modId xmlns:p14="http://schemas.microsoft.com/office/powerpoint/2010/main" val="860825189"/>
              </p:ext>
            </p:extLst>
          </p:nvPr>
        </p:nvGraphicFramePr>
        <p:xfrm>
          <a:off x="508000" y="1371600"/>
          <a:ext cx="5461000" cy="4800600"/>
        </p:xfrm>
        <a:graphic>
          <a:graphicData uri="http://schemas.openxmlformats.org/drawingml/2006/table">
            <a:tbl>
              <a:tblPr firstRow="1" bandRow="1">
                <a:tableStyleId>{2D5ABB26-0587-4C30-8999-92F81FD0307C}</a:tableStyleId>
              </a:tblPr>
              <a:tblGrid>
                <a:gridCol w="2159000">
                  <a:extLst>
                    <a:ext uri="{9D8B030D-6E8A-4147-A177-3AD203B41FA5}">
                      <a16:colId xmlns:a16="http://schemas.microsoft.com/office/drawing/2014/main" val="2779044809"/>
                    </a:ext>
                  </a:extLst>
                </a:gridCol>
                <a:gridCol w="3302000">
                  <a:extLst>
                    <a:ext uri="{9D8B030D-6E8A-4147-A177-3AD203B41FA5}">
                      <a16:colId xmlns:a16="http://schemas.microsoft.com/office/drawing/2014/main" val="3948208701"/>
                    </a:ext>
                  </a:extLst>
                </a:gridCol>
              </a:tblGrid>
              <a:tr h="685800">
                <a:tc>
                  <a:txBody>
                    <a:bodyPr/>
                    <a:lstStyle/>
                    <a:p>
                      <a:r>
                        <a:rPr lang="en-US" sz="1300" b="1">
                          <a:solidFill>
                            <a:srgbClr val="FFFFFF"/>
                          </a:solidFill>
                          <a:latin typeface="Calibri" panose="020F0502020204030204" pitchFamily="34" charset="0"/>
                        </a:rPr>
                        <a:t>Team-level framework</a:t>
                      </a:r>
                    </a:p>
                  </a:txBody>
                  <a:tcPr marL="127000" marR="101600" marT="63500" marB="63500" anchor="ctr">
                    <a:solidFill>
                      <a:srgbClr val="14213D"/>
                    </a:solidFill>
                  </a:tcPr>
                </a:tc>
                <a:tc>
                  <a:txBody>
                    <a:bodyPr/>
                    <a:lstStyle/>
                    <a:p>
                      <a:r>
                        <a:rPr lang="en-US" sz="1300" b="1">
                          <a:solidFill>
                            <a:srgbClr val="FFFFFF"/>
                          </a:solidFill>
                          <a:latin typeface="Calibri" panose="020F0502020204030204" pitchFamily="34" charset="0"/>
                        </a:rPr>
                        <a:t>Key idea</a:t>
                      </a:r>
                    </a:p>
                  </a:txBody>
                  <a:tcPr marL="127000" marR="101600" marT="63500" marB="63500" anchor="ctr">
                    <a:solidFill>
                      <a:srgbClr val="14213D"/>
                    </a:solidFill>
                  </a:tcPr>
                </a:tc>
                <a:extLst>
                  <a:ext uri="{0D108BD9-81ED-4DB2-BD59-A6C34878D82A}">
                    <a16:rowId xmlns:a16="http://schemas.microsoft.com/office/drawing/2014/main" val="3160332116"/>
                  </a:ext>
                </a:extLst>
              </a:tr>
              <a:tr h="685800">
                <a:tc>
                  <a:txBody>
                    <a:bodyPr/>
                    <a:lstStyle/>
                    <a:p>
                      <a:r>
                        <a:rPr lang="en-US" sz="1300" b="1">
                          <a:solidFill>
                            <a:srgbClr val="14213D"/>
                          </a:solidFill>
                          <a:latin typeface="Calibri" panose="020F0502020204030204" pitchFamily="34" charset="0"/>
                        </a:rPr>
                        <a:t>Extreme Programming (XP)</a:t>
                      </a:r>
                    </a:p>
                  </a:txBody>
                  <a:tcPr marL="127000" marR="101600" marT="63500" marB="63500" anchor="ctr">
                    <a:solidFill>
                      <a:srgbClr val="FFFFFF"/>
                    </a:solidFill>
                  </a:tcPr>
                </a:tc>
                <a:tc>
                  <a:txBody>
                    <a:bodyPr/>
                    <a:lstStyle/>
                    <a:p>
                      <a:r>
                        <a:rPr lang="en-US" sz="1300">
                          <a:solidFill>
                            <a:srgbClr val="1F2937"/>
                          </a:solidFill>
                          <a:latin typeface="Calibri" panose="020F0502020204030204" pitchFamily="34" charset="0"/>
                        </a:rPr>
                        <a:t>Pair programming, test-driven development, continuous integration (a broken build stops the line: jidoka)</a:t>
                      </a:r>
                    </a:p>
                  </a:txBody>
                  <a:tcPr marL="127000" marR="101600" marT="63500" marB="63500" anchor="ctr">
                    <a:solidFill>
                      <a:srgbClr val="FFFFFF"/>
                    </a:solidFill>
                  </a:tcPr>
                </a:tc>
                <a:extLst>
                  <a:ext uri="{0D108BD9-81ED-4DB2-BD59-A6C34878D82A}">
                    <a16:rowId xmlns:a16="http://schemas.microsoft.com/office/drawing/2014/main" val="2430277963"/>
                  </a:ext>
                </a:extLst>
              </a:tr>
              <a:tr h="685800">
                <a:tc>
                  <a:txBody>
                    <a:bodyPr/>
                    <a:lstStyle/>
                    <a:p>
                      <a:r>
                        <a:rPr lang="en-US" sz="1300" b="1">
                          <a:solidFill>
                            <a:srgbClr val="14213D"/>
                          </a:solidFill>
                          <a:latin typeface="Calibri" panose="020F0502020204030204" pitchFamily="34" charset="0"/>
                        </a:rPr>
                        <a:t>Crystal</a:t>
                      </a:r>
                    </a:p>
                  </a:txBody>
                  <a:tcPr marL="127000" marR="101600" marT="63500" marB="63500" anchor="ctr">
                    <a:solidFill>
                      <a:srgbClr val="F3F5F8"/>
                    </a:solidFill>
                  </a:tcPr>
                </a:tc>
                <a:tc>
                  <a:txBody>
                    <a:bodyPr/>
                    <a:lstStyle/>
                    <a:p>
                      <a:r>
                        <a:rPr lang="en-US" sz="1300">
                          <a:solidFill>
                            <a:srgbClr val="1F2937"/>
                          </a:solidFill>
                          <a:latin typeface="Calibri" panose="020F0502020204030204" pitchFamily="34" charset="0"/>
                        </a:rPr>
                        <a:t>A family of methods tailored to team size and project criticality</a:t>
                      </a:r>
                    </a:p>
                  </a:txBody>
                  <a:tcPr marL="127000" marR="101600" marT="63500" marB="63500" anchor="ctr">
                    <a:solidFill>
                      <a:srgbClr val="F3F5F8"/>
                    </a:solidFill>
                  </a:tcPr>
                </a:tc>
                <a:extLst>
                  <a:ext uri="{0D108BD9-81ED-4DB2-BD59-A6C34878D82A}">
                    <a16:rowId xmlns:a16="http://schemas.microsoft.com/office/drawing/2014/main" val="3117919466"/>
                  </a:ext>
                </a:extLst>
              </a:tr>
              <a:tr h="685800">
                <a:tc>
                  <a:txBody>
                    <a:bodyPr/>
                    <a:lstStyle/>
                    <a:p>
                      <a:r>
                        <a:rPr lang="en-US" sz="1300" b="1">
                          <a:solidFill>
                            <a:srgbClr val="14213D"/>
                          </a:solidFill>
                          <a:latin typeface="Calibri" panose="020F0502020204030204" pitchFamily="34" charset="0"/>
                        </a:rPr>
                        <a:t>Scrumban</a:t>
                      </a:r>
                    </a:p>
                  </a:txBody>
                  <a:tcPr marL="127000" marR="101600" marT="63500" marB="63500" anchor="ctr">
                    <a:solidFill>
                      <a:srgbClr val="FFFFFF"/>
                    </a:solidFill>
                  </a:tcPr>
                </a:tc>
                <a:tc>
                  <a:txBody>
                    <a:bodyPr/>
                    <a:lstStyle/>
                    <a:p>
                      <a:r>
                        <a:rPr lang="en-US" sz="1300">
                          <a:solidFill>
                            <a:srgbClr val="1F2937"/>
                          </a:solidFill>
                          <a:latin typeface="Calibri" panose="020F0502020204030204" pitchFamily="34" charset="0"/>
                        </a:rPr>
                        <a:t>Scrum structure with Kanban flow and WIP limits</a:t>
                      </a:r>
                    </a:p>
                  </a:txBody>
                  <a:tcPr marL="127000" marR="101600" marT="63500" marB="63500" anchor="ctr">
                    <a:solidFill>
                      <a:srgbClr val="FFFFFF"/>
                    </a:solidFill>
                  </a:tcPr>
                </a:tc>
                <a:extLst>
                  <a:ext uri="{0D108BD9-81ED-4DB2-BD59-A6C34878D82A}">
                    <a16:rowId xmlns:a16="http://schemas.microsoft.com/office/drawing/2014/main" val="3574417651"/>
                  </a:ext>
                </a:extLst>
              </a:tr>
              <a:tr h="685800">
                <a:tc>
                  <a:txBody>
                    <a:bodyPr/>
                    <a:lstStyle/>
                    <a:p>
                      <a:r>
                        <a:rPr lang="en-US" sz="1300" b="1">
                          <a:solidFill>
                            <a:srgbClr val="14213D"/>
                          </a:solidFill>
                          <a:latin typeface="Calibri" panose="020F0502020204030204" pitchFamily="34" charset="0"/>
                        </a:rPr>
                        <a:t>Feature-Driven Development</a:t>
                      </a:r>
                    </a:p>
                  </a:txBody>
                  <a:tcPr marL="127000" marR="101600" marT="63500" marB="63500" anchor="ctr">
                    <a:solidFill>
                      <a:srgbClr val="F3F5F8"/>
                    </a:solidFill>
                  </a:tcPr>
                </a:tc>
                <a:tc>
                  <a:txBody>
                    <a:bodyPr/>
                    <a:lstStyle/>
                    <a:p>
                      <a:r>
                        <a:rPr lang="en-US" sz="1300">
                          <a:solidFill>
                            <a:srgbClr val="1F2937"/>
                          </a:solidFill>
                          <a:latin typeface="Calibri" panose="020F0502020204030204" pitchFamily="34" charset="0"/>
                        </a:rPr>
                        <a:t>Build and deliver by small client-valued features</a:t>
                      </a:r>
                    </a:p>
                  </a:txBody>
                  <a:tcPr marL="127000" marR="101600" marT="63500" marB="63500" anchor="ctr">
                    <a:solidFill>
                      <a:srgbClr val="F3F5F8"/>
                    </a:solidFill>
                  </a:tcPr>
                </a:tc>
                <a:extLst>
                  <a:ext uri="{0D108BD9-81ED-4DB2-BD59-A6C34878D82A}">
                    <a16:rowId xmlns:a16="http://schemas.microsoft.com/office/drawing/2014/main" val="2513716474"/>
                  </a:ext>
                </a:extLst>
              </a:tr>
              <a:tr h="685800">
                <a:tc>
                  <a:txBody>
                    <a:bodyPr/>
                    <a:lstStyle/>
                    <a:p>
                      <a:r>
                        <a:rPr lang="en-US" sz="1300" b="1">
                          <a:solidFill>
                            <a:srgbClr val="14213D"/>
                          </a:solidFill>
                          <a:latin typeface="Calibri" panose="020F0502020204030204" pitchFamily="34" charset="0"/>
                        </a:rPr>
                        <a:t>DSDM</a:t>
                      </a:r>
                    </a:p>
                  </a:txBody>
                  <a:tcPr marL="127000" marR="101600" marT="63500" marB="63500" anchor="ctr">
                    <a:solidFill>
                      <a:srgbClr val="FFFFFF"/>
                    </a:solidFill>
                  </a:tcPr>
                </a:tc>
                <a:tc>
                  <a:txBody>
                    <a:bodyPr/>
                    <a:lstStyle/>
                    <a:p>
                      <a:r>
                        <a:rPr lang="en-US" sz="1300">
                          <a:solidFill>
                            <a:srgbClr val="1F2937"/>
                          </a:solidFill>
                          <a:latin typeface="Calibri" panose="020F0502020204030204" pitchFamily="34" charset="0"/>
                        </a:rPr>
                        <a:t>Fixed time and cost; scope flexes using MoSCoW prioritization</a:t>
                      </a:r>
                    </a:p>
                  </a:txBody>
                  <a:tcPr marL="127000" marR="101600" marT="63500" marB="63500" anchor="ctr">
                    <a:solidFill>
                      <a:srgbClr val="FFFFFF"/>
                    </a:solidFill>
                  </a:tcPr>
                </a:tc>
                <a:extLst>
                  <a:ext uri="{0D108BD9-81ED-4DB2-BD59-A6C34878D82A}">
                    <a16:rowId xmlns:a16="http://schemas.microsoft.com/office/drawing/2014/main" val="739574193"/>
                  </a:ext>
                </a:extLst>
              </a:tr>
              <a:tr h="685800">
                <a:tc>
                  <a:txBody>
                    <a:bodyPr/>
                    <a:lstStyle/>
                    <a:p>
                      <a:r>
                        <a:rPr lang="en-US" sz="1300" b="1">
                          <a:solidFill>
                            <a:srgbClr val="14213D"/>
                          </a:solidFill>
                          <a:latin typeface="Calibri" panose="020F0502020204030204" pitchFamily="34" charset="0"/>
                        </a:rPr>
                        <a:t>Agile Unified Process</a:t>
                      </a:r>
                    </a:p>
                  </a:txBody>
                  <a:tcPr marL="127000" marR="101600" marT="63500" marB="63500" anchor="ctr">
                    <a:solidFill>
                      <a:srgbClr val="F3F5F8"/>
                    </a:solidFill>
                  </a:tcPr>
                </a:tc>
                <a:tc>
                  <a:txBody>
                    <a:bodyPr/>
                    <a:lstStyle/>
                    <a:p>
                      <a:r>
                        <a:rPr lang="en-US" sz="1300">
                          <a:solidFill>
                            <a:srgbClr val="1F2937"/>
                          </a:solidFill>
                          <a:latin typeface="Calibri" panose="020F0502020204030204" pitchFamily="34" charset="0"/>
                        </a:rPr>
                        <a:t>Iterative releases built on Unified Process disciplines</a:t>
                      </a:r>
                    </a:p>
                  </a:txBody>
                  <a:tcPr marL="127000" marR="101600" marT="63500" marB="63500" anchor="ctr">
                    <a:solidFill>
                      <a:srgbClr val="F3F5F8"/>
                    </a:solidFill>
                  </a:tcPr>
                </a:tc>
                <a:extLst>
                  <a:ext uri="{0D108BD9-81ED-4DB2-BD59-A6C34878D82A}">
                    <a16:rowId xmlns:a16="http://schemas.microsoft.com/office/drawing/2014/main" val="2411551195"/>
                  </a:ext>
                </a:extLst>
              </a:tr>
            </a:tbl>
          </a:graphicData>
        </a:graphic>
      </p:graphicFrame>
      <p:graphicFrame>
        <p:nvGraphicFramePr>
          <p:cNvPr id="5" name="Table">
            <a:extLst>
              <a:ext uri="{FF2B5EF4-FFF2-40B4-BE49-F238E27FC236}">
                <a16:creationId xmlns:a16="http://schemas.microsoft.com/office/drawing/2014/main" id="{E84F123E-5BAC-85C2-3872-C45960E9361F}"/>
              </a:ext>
            </a:extLst>
          </p:cNvPr>
          <p:cNvGraphicFramePr>
            <a:graphicFrameLocks noGrp="1"/>
          </p:cNvGraphicFramePr>
          <p:nvPr>
            <p:extLst>
              <p:ext uri="{D42A27DB-BD31-4B8C-83A1-F6EECF244321}">
                <p14:modId xmlns:p14="http://schemas.microsoft.com/office/powerpoint/2010/main" val="1197411781"/>
              </p:ext>
            </p:extLst>
          </p:nvPr>
        </p:nvGraphicFramePr>
        <p:xfrm>
          <a:off x="6223000" y="1371600"/>
          <a:ext cx="5461000" cy="4114800"/>
        </p:xfrm>
        <a:graphic>
          <a:graphicData uri="http://schemas.openxmlformats.org/drawingml/2006/table">
            <a:tbl>
              <a:tblPr firstRow="1" bandRow="1">
                <a:tableStyleId>{2D5ABB26-0587-4C30-8999-92F81FD0307C}</a:tableStyleId>
              </a:tblPr>
              <a:tblGrid>
                <a:gridCol w="1905000">
                  <a:extLst>
                    <a:ext uri="{9D8B030D-6E8A-4147-A177-3AD203B41FA5}">
                      <a16:colId xmlns:a16="http://schemas.microsoft.com/office/drawing/2014/main" val="3596334088"/>
                    </a:ext>
                  </a:extLst>
                </a:gridCol>
                <a:gridCol w="3556000">
                  <a:extLst>
                    <a:ext uri="{9D8B030D-6E8A-4147-A177-3AD203B41FA5}">
                      <a16:colId xmlns:a16="http://schemas.microsoft.com/office/drawing/2014/main" val="1955486969"/>
                    </a:ext>
                  </a:extLst>
                </a:gridCol>
              </a:tblGrid>
              <a:tr h="685800">
                <a:tc>
                  <a:txBody>
                    <a:bodyPr/>
                    <a:lstStyle/>
                    <a:p>
                      <a:r>
                        <a:rPr lang="en-US" sz="1300" b="1">
                          <a:solidFill>
                            <a:srgbClr val="FFFFFF"/>
                          </a:solidFill>
                          <a:latin typeface="Calibri" panose="020F0502020204030204" pitchFamily="34" charset="0"/>
                        </a:rPr>
                        <a:t>Scaling approach</a:t>
                      </a:r>
                    </a:p>
                  </a:txBody>
                  <a:tcPr marL="127000" marR="101600" marT="63500" marB="63500" anchor="ctr">
                    <a:solidFill>
                      <a:srgbClr val="14213D"/>
                    </a:solidFill>
                  </a:tcPr>
                </a:tc>
                <a:tc>
                  <a:txBody>
                    <a:bodyPr/>
                    <a:lstStyle/>
                    <a:p>
                      <a:r>
                        <a:rPr lang="en-US" sz="1300" b="1">
                          <a:solidFill>
                            <a:srgbClr val="FFFFFF"/>
                          </a:solidFill>
                          <a:latin typeface="Calibri" panose="020F0502020204030204" pitchFamily="34" charset="0"/>
                        </a:rPr>
                        <a:t>Key idea</a:t>
                      </a:r>
                    </a:p>
                  </a:txBody>
                  <a:tcPr marL="127000" marR="101600" marT="63500" marB="63500" anchor="ctr">
                    <a:solidFill>
                      <a:srgbClr val="14213D"/>
                    </a:solidFill>
                  </a:tcPr>
                </a:tc>
                <a:extLst>
                  <a:ext uri="{0D108BD9-81ED-4DB2-BD59-A6C34878D82A}">
                    <a16:rowId xmlns:a16="http://schemas.microsoft.com/office/drawing/2014/main" val="4030758632"/>
                  </a:ext>
                </a:extLst>
              </a:tr>
              <a:tr h="685800">
                <a:tc>
                  <a:txBody>
                    <a:bodyPr/>
                    <a:lstStyle/>
                    <a:p>
                      <a:r>
                        <a:rPr lang="en-US" sz="1300" b="1">
                          <a:solidFill>
                            <a:srgbClr val="14213D"/>
                          </a:solidFill>
                          <a:latin typeface="Calibri" panose="020F0502020204030204" pitchFamily="34" charset="0"/>
                        </a:rPr>
                        <a:t>Scrum of Scrums</a:t>
                      </a:r>
                    </a:p>
                  </a:txBody>
                  <a:tcPr marL="127000" marR="101600" marT="63500" marB="63500" anchor="ctr">
                    <a:solidFill>
                      <a:srgbClr val="FFFFFF"/>
                    </a:solidFill>
                  </a:tcPr>
                </a:tc>
                <a:tc>
                  <a:txBody>
                    <a:bodyPr/>
                    <a:lstStyle/>
                    <a:p>
                      <a:r>
                        <a:rPr lang="en-US" sz="1300">
                          <a:solidFill>
                            <a:srgbClr val="1F2937"/>
                          </a:solidFill>
                          <a:latin typeface="Calibri" panose="020F0502020204030204" pitchFamily="34" charset="0"/>
                        </a:rPr>
                        <a:t>Representatives from each team meet to coordinate dependencies</a:t>
                      </a:r>
                    </a:p>
                  </a:txBody>
                  <a:tcPr marL="127000" marR="101600" marT="63500" marB="63500" anchor="ctr">
                    <a:solidFill>
                      <a:srgbClr val="FFFFFF"/>
                    </a:solidFill>
                  </a:tcPr>
                </a:tc>
                <a:extLst>
                  <a:ext uri="{0D108BD9-81ED-4DB2-BD59-A6C34878D82A}">
                    <a16:rowId xmlns:a16="http://schemas.microsoft.com/office/drawing/2014/main" val="3396598928"/>
                  </a:ext>
                </a:extLst>
              </a:tr>
              <a:tr h="685800">
                <a:tc>
                  <a:txBody>
                    <a:bodyPr/>
                    <a:lstStyle/>
                    <a:p>
                      <a:r>
                        <a:rPr lang="en-US" sz="1300" b="1">
                          <a:solidFill>
                            <a:srgbClr val="14213D"/>
                          </a:solidFill>
                          <a:latin typeface="Calibri" panose="020F0502020204030204" pitchFamily="34" charset="0"/>
                        </a:rPr>
                        <a:t>SAFe</a:t>
                      </a:r>
                    </a:p>
                  </a:txBody>
                  <a:tcPr marL="127000" marR="101600" marT="63500" marB="63500" anchor="ctr">
                    <a:solidFill>
                      <a:srgbClr val="F3F5F8"/>
                    </a:solidFill>
                  </a:tcPr>
                </a:tc>
                <a:tc>
                  <a:txBody>
                    <a:bodyPr/>
                    <a:lstStyle/>
                    <a:p>
                      <a:r>
                        <a:rPr lang="en-US" sz="1300">
                          <a:solidFill>
                            <a:srgbClr val="1F2937"/>
                          </a:solidFill>
                          <a:latin typeface="Calibri" panose="020F0502020204030204" pitchFamily="34" charset="0"/>
                        </a:rPr>
                        <a:t>Scaled Agile Framework: portfolio, program, and team levels; PI planning</a:t>
                      </a:r>
                    </a:p>
                  </a:txBody>
                  <a:tcPr marL="127000" marR="101600" marT="63500" marB="63500" anchor="ctr">
                    <a:solidFill>
                      <a:srgbClr val="F3F5F8"/>
                    </a:solidFill>
                  </a:tcPr>
                </a:tc>
                <a:extLst>
                  <a:ext uri="{0D108BD9-81ED-4DB2-BD59-A6C34878D82A}">
                    <a16:rowId xmlns:a16="http://schemas.microsoft.com/office/drawing/2014/main" val="691049568"/>
                  </a:ext>
                </a:extLst>
              </a:tr>
              <a:tr h="685800">
                <a:tc>
                  <a:txBody>
                    <a:bodyPr/>
                    <a:lstStyle/>
                    <a:p>
                      <a:r>
                        <a:rPr lang="en-US" sz="1300" b="1">
                          <a:solidFill>
                            <a:srgbClr val="14213D"/>
                          </a:solidFill>
                          <a:latin typeface="Calibri" panose="020F0502020204030204" pitchFamily="34" charset="0"/>
                        </a:rPr>
                        <a:t>LeSS</a:t>
                      </a:r>
                    </a:p>
                  </a:txBody>
                  <a:tcPr marL="127000" marR="101600" marT="63500" marB="63500" anchor="ctr">
                    <a:solidFill>
                      <a:srgbClr val="FFFFFF"/>
                    </a:solidFill>
                  </a:tcPr>
                </a:tc>
                <a:tc>
                  <a:txBody>
                    <a:bodyPr/>
                    <a:lstStyle/>
                    <a:p>
                      <a:r>
                        <a:rPr lang="en-US" sz="1300">
                          <a:solidFill>
                            <a:srgbClr val="1F2937"/>
                          </a:solidFill>
                          <a:latin typeface="Calibri" panose="020F0502020204030204" pitchFamily="34" charset="0"/>
                        </a:rPr>
                        <a:t>Large-Scale Scrum: many teams, one product backlog, one product owner</a:t>
                      </a:r>
                    </a:p>
                  </a:txBody>
                  <a:tcPr marL="127000" marR="101600" marT="63500" marB="63500" anchor="ctr">
                    <a:solidFill>
                      <a:srgbClr val="FFFFFF"/>
                    </a:solidFill>
                  </a:tcPr>
                </a:tc>
                <a:extLst>
                  <a:ext uri="{0D108BD9-81ED-4DB2-BD59-A6C34878D82A}">
                    <a16:rowId xmlns:a16="http://schemas.microsoft.com/office/drawing/2014/main" val="2580417366"/>
                  </a:ext>
                </a:extLst>
              </a:tr>
              <a:tr h="685800">
                <a:tc>
                  <a:txBody>
                    <a:bodyPr/>
                    <a:lstStyle/>
                    <a:p>
                      <a:r>
                        <a:rPr lang="en-US" sz="1300" b="1">
                          <a:solidFill>
                            <a:srgbClr val="14213D"/>
                          </a:solidFill>
                          <a:latin typeface="Calibri" panose="020F0502020204030204" pitchFamily="34" charset="0"/>
                        </a:rPr>
                        <a:t>Enterprise Scrum</a:t>
                      </a:r>
                    </a:p>
                  </a:txBody>
                  <a:tcPr marL="127000" marR="101600" marT="63500" marB="63500" anchor="ctr">
                    <a:solidFill>
                      <a:srgbClr val="F3F5F8"/>
                    </a:solidFill>
                  </a:tcPr>
                </a:tc>
                <a:tc>
                  <a:txBody>
                    <a:bodyPr/>
                    <a:lstStyle/>
                    <a:p>
                      <a:r>
                        <a:rPr lang="en-US" sz="1300">
                          <a:solidFill>
                            <a:srgbClr val="1F2937"/>
                          </a:solidFill>
                          <a:latin typeface="Calibri" panose="020F0502020204030204" pitchFamily="34" charset="0"/>
                        </a:rPr>
                        <a:t>Applies Scrum across the whole organization, beyond software</a:t>
                      </a:r>
                    </a:p>
                  </a:txBody>
                  <a:tcPr marL="127000" marR="101600" marT="63500" marB="63500" anchor="ctr">
                    <a:solidFill>
                      <a:srgbClr val="F3F5F8"/>
                    </a:solidFill>
                  </a:tcPr>
                </a:tc>
                <a:extLst>
                  <a:ext uri="{0D108BD9-81ED-4DB2-BD59-A6C34878D82A}">
                    <a16:rowId xmlns:a16="http://schemas.microsoft.com/office/drawing/2014/main" val="829553438"/>
                  </a:ext>
                </a:extLst>
              </a:tr>
              <a:tr h="685800">
                <a:tc>
                  <a:txBody>
                    <a:bodyPr/>
                    <a:lstStyle/>
                    <a:p>
                      <a:r>
                        <a:rPr lang="en-US" sz="1300" b="1">
                          <a:solidFill>
                            <a:srgbClr val="14213D"/>
                          </a:solidFill>
                          <a:latin typeface="Calibri" panose="020F0502020204030204" pitchFamily="34" charset="0"/>
                        </a:rPr>
                        <a:t>Disciplined Agile</a:t>
                      </a:r>
                    </a:p>
                  </a:txBody>
                  <a:tcPr marL="127000" marR="101600" marT="63500" marB="63500" anchor="ctr">
                    <a:solidFill>
                      <a:srgbClr val="FFFFFF"/>
                    </a:solidFill>
                  </a:tcPr>
                </a:tc>
                <a:tc>
                  <a:txBody>
                    <a:bodyPr/>
                    <a:lstStyle/>
                    <a:p>
                      <a:r>
                        <a:rPr lang="en-US" sz="1300">
                          <a:solidFill>
                            <a:srgbClr val="1F2937"/>
                          </a:solidFill>
                          <a:latin typeface="Calibri" panose="020F0502020204030204" pitchFamily="34" charset="0"/>
                        </a:rPr>
                        <a:t>A toolkit for choosing your own way of working at any scale</a:t>
                      </a:r>
                    </a:p>
                  </a:txBody>
                  <a:tcPr marL="127000" marR="101600" marT="63500" marB="63500" anchor="ctr">
                    <a:solidFill>
                      <a:srgbClr val="FFFFFF"/>
                    </a:solidFill>
                  </a:tcPr>
                </a:tc>
                <a:extLst>
                  <a:ext uri="{0D108BD9-81ED-4DB2-BD59-A6C34878D82A}">
                    <a16:rowId xmlns:a16="http://schemas.microsoft.com/office/drawing/2014/main" val="1301243555"/>
                  </a:ext>
                </a:extLst>
              </a:tr>
            </a:tbl>
          </a:graphicData>
        </a:graphic>
      </p:graphicFrame>
      <p:sp>
        <p:nvSpPr>
          <p:cNvPr id="6" name="Footer">
            <a:extLst>
              <a:ext uri="{FF2B5EF4-FFF2-40B4-BE49-F238E27FC236}">
                <a16:creationId xmlns:a16="http://schemas.microsoft.com/office/drawing/2014/main" id="{A43661C0-62E7-1501-2367-452DF6A92ADC}"/>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and Agile Alliance, Agile Practice Guide (2017), Annex A3 (Overview of Agile and Lean Frameworks)</a:t>
            </a:r>
          </a:p>
        </p:txBody>
      </p:sp>
      <p:sp>
        <p:nvSpPr>
          <p:cNvPr id="7" name="SlideNum">
            <a:extLst>
              <a:ext uri="{FF2B5EF4-FFF2-40B4-BE49-F238E27FC236}">
                <a16:creationId xmlns:a16="http://schemas.microsoft.com/office/drawing/2014/main" id="{C0CFC9C7-35F3-E825-87C4-7C2F120508B0}"/>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110</a:t>
            </a:r>
          </a:p>
        </p:txBody>
      </p:sp>
      <p:sp>
        <p:nvSpPr>
          <p:cNvPr id="8"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416248215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572832-E500-27B0-4851-3900538FD6BE}"/>
              </a:ext>
            </a:extLst>
          </p:cNvPr>
          <p:cNvSpPr txBox="1"/>
          <p:nvPr/>
        </p:nvSpPr>
        <p:spPr>
          <a:xfrm>
            <a:off x="508000" y="1905000"/>
            <a:ext cx="6350000" cy="381000"/>
          </a:xfrm>
          <a:prstGeom prst="rect">
            <a:avLst/>
          </a:prstGeom>
          <a:noFill/>
        </p:spPr>
        <p:txBody>
          <a:bodyPr vert="horz" wrap="square" lIns="0" tIns="0" rIns="0" bIns="0" rtlCol="0" anchor="t">
            <a:noAutofit/>
          </a:bodyPr>
          <a:lstStyle/>
          <a:p>
            <a:r>
              <a:rPr lang="en-US" sz="2200" b="1">
                <a:solidFill>
                  <a:srgbClr val="E3A63B"/>
                </a:solidFill>
                <a:latin typeface="Calibri" panose="020F0502020204030204" pitchFamily="34" charset="0"/>
              </a:rPr>
              <a:t>Formulas</a:t>
            </a:r>
          </a:p>
        </p:txBody>
      </p:sp>
      <p:sp>
        <p:nvSpPr>
          <p:cNvPr id="3" name="TextBox 2">
            <a:extLst>
              <a:ext uri="{FF2B5EF4-FFF2-40B4-BE49-F238E27FC236}">
                <a16:creationId xmlns:a16="http://schemas.microsoft.com/office/drawing/2014/main" id="{D34FF511-B7F6-5B98-4A37-CACFFA0BBFD7}"/>
              </a:ext>
            </a:extLst>
          </p:cNvPr>
          <p:cNvSpPr txBox="1"/>
          <p:nvPr/>
        </p:nvSpPr>
        <p:spPr>
          <a:xfrm>
            <a:off x="508000" y="2349500"/>
            <a:ext cx="8128000" cy="1778000"/>
          </a:xfrm>
          <a:prstGeom prst="rect">
            <a:avLst/>
          </a:prstGeom>
          <a:noFill/>
        </p:spPr>
        <p:txBody>
          <a:bodyPr vert="horz" wrap="square" lIns="0" tIns="0" rIns="0" bIns="0" rtlCol="0" anchor="t">
            <a:noAutofit/>
          </a:bodyPr>
          <a:lstStyle/>
          <a:p>
            <a:r>
              <a:rPr lang="en-US" sz="5400" b="1">
                <a:solidFill>
                  <a:srgbClr val="FFFFFF"/>
                </a:solidFill>
                <a:latin typeface="Cambria" panose="02040503050406030204" pitchFamily="18" charset="0"/>
              </a:rPr>
              <a:t>Budget and earned value</a:t>
            </a:r>
          </a:p>
        </p:txBody>
      </p:sp>
      <p:sp>
        <p:nvSpPr>
          <p:cNvPr id="4" name="TextBox 3">
            <a:extLst>
              <a:ext uri="{FF2B5EF4-FFF2-40B4-BE49-F238E27FC236}">
                <a16:creationId xmlns:a16="http://schemas.microsoft.com/office/drawing/2014/main" id="{FCC5DD30-C824-E059-D10A-FF229B2CFD24}"/>
              </a:ext>
            </a:extLst>
          </p:cNvPr>
          <p:cNvSpPr txBox="1"/>
          <p:nvPr/>
        </p:nvSpPr>
        <p:spPr>
          <a:xfrm>
            <a:off x="508000" y="4318000"/>
            <a:ext cx="7620000" cy="889000"/>
          </a:xfrm>
          <a:prstGeom prst="rect">
            <a:avLst/>
          </a:prstGeom>
          <a:noFill/>
        </p:spPr>
        <p:txBody>
          <a:bodyPr vert="horz" wrap="square" lIns="0" tIns="0" rIns="0" bIns="0" rtlCol="0" anchor="t">
            <a:noAutofit/>
          </a:bodyPr>
          <a:lstStyle/>
          <a:p>
            <a:r>
              <a:rPr lang="en-US" sz="2000">
                <a:solidFill>
                  <a:srgbClr val="C9D6EA"/>
                </a:solidFill>
                <a:latin typeface="Calibri" panose="020F0502020204030204" pitchFamily="34" charset="0"/>
              </a:rPr>
              <a:t>From estimating and building the budget to forecasting the finish, with a worked example and practice problem</a:t>
            </a:r>
          </a:p>
        </p:txBody>
      </p:sp>
      <p:sp>
        <p:nvSpPr>
          <p:cNvPr id="23" name="Footer">
            <a:extLst>
              <a:ext uri="{FF2B5EF4-FFF2-40B4-BE49-F238E27FC236}">
                <a16:creationId xmlns:a16="http://schemas.microsoft.com/office/drawing/2014/main" id="{871D3D23-D773-2B10-4AA7-0E6C197BD031}"/>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C9D6EA"/>
                </a:solidFill>
                <a:latin typeface="Calibri" panose="020F0502020204030204" pitchFamily="34" charset="0"/>
              </a:rPr>
              <a:t>Sources: PMI, PMBOK® Guide — Sixth Edition, Sections 6.4 and 7.2–7.4; PMI and Agile Alliance, Agile Practice Guide (2017)</a:t>
            </a:r>
          </a:p>
        </p:txBody>
      </p:sp>
      <p:sp>
        <p:nvSpPr>
          <p:cNvPr id="21" name="Oval 20">
            <a:extLst>
              <a:ext uri="{FF2B5EF4-FFF2-40B4-BE49-F238E27FC236}">
                <a16:creationId xmlns:a16="http://schemas.microsoft.com/office/drawing/2014/main" id="{F60815E6-09B8-18C3-FBD2-5C7595C129A0}"/>
              </a:ext>
            </a:extLst>
          </p:cNvPr>
          <p:cNvSpPr/>
          <p:nvPr/>
        </p:nvSpPr>
        <p:spPr>
          <a:xfrm>
            <a:off x="8890000" y="1066800"/>
            <a:ext cx="355600" cy="355600"/>
          </a:xfrm>
          <a:prstGeom prst="ellipse">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14213D"/>
                </a:solidFill>
                <a:latin typeface="Calibri" panose="020F0502020204030204" pitchFamily="34" charset="0"/>
              </a:rPr>
              <a:t>1</a:t>
            </a:r>
          </a:p>
        </p:txBody>
      </p:sp>
      <p:sp>
        <p:nvSpPr>
          <p:cNvPr id="22" name="TextBox 21">
            <a:extLst>
              <a:ext uri="{FF2B5EF4-FFF2-40B4-BE49-F238E27FC236}">
                <a16:creationId xmlns:a16="http://schemas.microsoft.com/office/drawing/2014/main" id="{CEBCCD99-89F9-8BF0-9840-2D3B27DFA18D}"/>
              </a:ext>
            </a:extLst>
          </p:cNvPr>
          <p:cNvSpPr txBox="1"/>
          <p:nvPr/>
        </p:nvSpPr>
        <p:spPr>
          <a:xfrm>
            <a:off x="9398000" y="1066800"/>
            <a:ext cx="2413000" cy="355600"/>
          </a:xfrm>
          <a:prstGeom prst="rect">
            <a:avLst/>
          </a:prstGeom>
          <a:noFill/>
        </p:spPr>
        <p:txBody>
          <a:bodyPr vert="horz" wrap="square" lIns="0" tIns="0" rIns="0" bIns="0" rtlCol="0" anchor="ctr">
            <a:noAutofit/>
          </a:bodyPr>
          <a:lstStyle/>
          <a:p>
            <a:r>
              <a:rPr lang="en-US" sz="1500">
                <a:solidFill>
                  <a:srgbClr val="FFFFFF"/>
                </a:solidFill>
                <a:latin typeface="Calibri" panose="020F0502020204030204" pitchFamily="34" charset="0"/>
              </a:rPr>
              <a:t>Estimate accuracy (ROM)</a:t>
            </a:r>
          </a:p>
        </p:txBody>
      </p:sp>
      <p:sp>
        <p:nvSpPr>
          <p:cNvPr id="24" name="Oval 23">
            <a:extLst>
              <a:ext uri="{FF2B5EF4-FFF2-40B4-BE49-F238E27FC236}">
                <a16:creationId xmlns:a16="http://schemas.microsoft.com/office/drawing/2014/main" id="{D0BB5EF3-D207-95FA-9939-F99F60CC0579}"/>
              </a:ext>
            </a:extLst>
          </p:cNvPr>
          <p:cNvSpPr/>
          <p:nvPr/>
        </p:nvSpPr>
        <p:spPr>
          <a:xfrm>
            <a:off x="8890000" y="1549400"/>
            <a:ext cx="355600" cy="355600"/>
          </a:xfrm>
          <a:prstGeom prst="ellipse">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14213D"/>
                </a:solidFill>
                <a:latin typeface="Calibri" panose="020F0502020204030204" pitchFamily="34" charset="0"/>
              </a:rPr>
              <a:t>2</a:t>
            </a:r>
          </a:p>
        </p:txBody>
      </p:sp>
      <p:sp>
        <p:nvSpPr>
          <p:cNvPr id="25" name="TextBox 24">
            <a:extLst>
              <a:ext uri="{FF2B5EF4-FFF2-40B4-BE49-F238E27FC236}">
                <a16:creationId xmlns:a16="http://schemas.microsoft.com/office/drawing/2014/main" id="{611F2CC9-5A36-0DBA-90AD-A515A7FC5C98}"/>
              </a:ext>
            </a:extLst>
          </p:cNvPr>
          <p:cNvSpPr txBox="1"/>
          <p:nvPr/>
        </p:nvSpPr>
        <p:spPr>
          <a:xfrm>
            <a:off x="9398000" y="1549400"/>
            <a:ext cx="2413000" cy="355600"/>
          </a:xfrm>
          <a:prstGeom prst="rect">
            <a:avLst/>
          </a:prstGeom>
          <a:noFill/>
        </p:spPr>
        <p:txBody>
          <a:bodyPr vert="horz" wrap="square" lIns="0" tIns="0" rIns="0" bIns="0" rtlCol="0" anchor="ctr">
            <a:noAutofit/>
          </a:bodyPr>
          <a:lstStyle/>
          <a:p>
            <a:r>
              <a:rPr lang="en-US" sz="1500">
                <a:solidFill>
                  <a:srgbClr val="FFFFFF"/>
                </a:solidFill>
                <a:latin typeface="Calibri" panose="020F0502020204030204" pitchFamily="34" charset="0"/>
              </a:rPr>
              <a:t>Three-point estimating</a:t>
            </a:r>
          </a:p>
        </p:txBody>
      </p:sp>
      <p:sp>
        <p:nvSpPr>
          <p:cNvPr id="26" name="Oval 25">
            <a:extLst>
              <a:ext uri="{FF2B5EF4-FFF2-40B4-BE49-F238E27FC236}">
                <a16:creationId xmlns:a16="http://schemas.microsoft.com/office/drawing/2014/main" id="{21532FDF-F163-3803-63C2-6B7527942145}"/>
              </a:ext>
            </a:extLst>
          </p:cNvPr>
          <p:cNvSpPr/>
          <p:nvPr/>
        </p:nvSpPr>
        <p:spPr>
          <a:xfrm>
            <a:off x="8890000" y="2032000"/>
            <a:ext cx="355600" cy="355600"/>
          </a:xfrm>
          <a:prstGeom prst="ellipse">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14213D"/>
                </a:solidFill>
                <a:latin typeface="Calibri" panose="020F0502020204030204" pitchFamily="34" charset="0"/>
              </a:rPr>
              <a:t>3</a:t>
            </a:r>
          </a:p>
        </p:txBody>
      </p:sp>
      <p:sp>
        <p:nvSpPr>
          <p:cNvPr id="27" name="TextBox 26">
            <a:extLst>
              <a:ext uri="{FF2B5EF4-FFF2-40B4-BE49-F238E27FC236}">
                <a16:creationId xmlns:a16="http://schemas.microsoft.com/office/drawing/2014/main" id="{B6B7D986-7D03-606A-4BFC-09B530F42303}"/>
              </a:ext>
            </a:extLst>
          </p:cNvPr>
          <p:cNvSpPr txBox="1"/>
          <p:nvPr/>
        </p:nvSpPr>
        <p:spPr>
          <a:xfrm>
            <a:off x="9398000" y="2032000"/>
            <a:ext cx="2413000" cy="355600"/>
          </a:xfrm>
          <a:prstGeom prst="rect">
            <a:avLst/>
          </a:prstGeom>
          <a:noFill/>
        </p:spPr>
        <p:txBody>
          <a:bodyPr vert="horz" wrap="square" lIns="0" tIns="0" rIns="0" bIns="0" rtlCol="0" anchor="ctr">
            <a:noAutofit/>
          </a:bodyPr>
          <a:lstStyle/>
          <a:p>
            <a:r>
              <a:rPr lang="en-US" sz="1500">
                <a:solidFill>
                  <a:srgbClr val="FFFFFF"/>
                </a:solidFill>
                <a:latin typeface="Calibri" panose="020F0502020204030204" pitchFamily="34" charset="0"/>
              </a:rPr>
              <a:t>Building the budget</a:t>
            </a:r>
          </a:p>
        </p:txBody>
      </p:sp>
      <p:sp>
        <p:nvSpPr>
          <p:cNvPr id="28" name="Oval 27">
            <a:extLst>
              <a:ext uri="{FF2B5EF4-FFF2-40B4-BE49-F238E27FC236}">
                <a16:creationId xmlns:a16="http://schemas.microsoft.com/office/drawing/2014/main" id="{90F8A96B-D84E-73DB-796A-DD24A8A71CDC}"/>
              </a:ext>
            </a:extLst>
          </p:cNvPr>
          <p:cNvSpPr/>
          <p:nvPr/>
        </p:nvSpPr>
        <p:spPr>
          <a:xfrm>
            <a:off x="8890000" y="2514600"/>
            <a:ext cx="355600" cy="355600"/>
          </a:xfrm>
          <a:prstGeom prst="ellipse">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14213D"/>
                </a:solidFill>
                <a:latin typeface="Calibri" panose="020F0502020204030204" pitchFamily="34" charset="0"/>
              </a:rPr>
              <a:t>4</a:t>
            </a:r>
          </a:p>
        </p:txBody>
      </p:sp>
      <p:sp>
        <p:nvSpPr>
          <p:cNvPr id="29" name="TextBox 28">
            <a:extLst>
              <a:ext uri="{FF2B5EF4-FFF2-40B4-BE49-F238E27FC236}">
                <a16:creationId xmlns:a16="http://schemas.microsoft.com/office/drawing/2014/main" id="{DF3DB477-DB9C-4DBE-8DB4-30BD5A8CEC4F}"/>
              </a:ext>
            </a:extLst>
          </p:cNvPr>
          <p:cNvSpPr txBox="1"/>
          <p:nvPr/>
        </p:nvSpPr>
        <p:spPr>
          <a:xfrm>
            <a:off x="9398000" y="2514600"/>
            <a:ext cx="2413000" cy="355600"/>
          </a:xfrm>
          <a:prstGeom prst="rect">
            <a:avLst/>
          </a:prstGeom>
          <a:noFill/>
        </p:spPr>
        <p:txBody>
          <a:bodyPr vert="horz" wrap="square" lIns="0" tIns="0" rIns="0" bIns="0" rtlCol="0" anchor="ctr">
            <a:noAutofit/>
          </a:bodyPr>
          <a:lstStyle/>
          <a:p>
            <a:r>
              <a:rPr lang="en-US" sz="1500">
                <a:solidFill>
                  <a:srgbClr val="FFFFFF"/>
                </a:solidFill>
                <a:latin typeface="Calibri" panose="020F0502020204030204" pitchFamily="34" charset="0"/>
              </a:rPr>
              <a:t>Predictive vs. adaptive</a:t>
            </a:r>
          </a:p>
        </p:txBody>
      </p:sp>
      <p:sp>
        <p:nvSpPr>
          <p:cNvPr id="30" name="Oval 29">
            <a:extLst>
              <a:ext uri="{FF2B5EF4-FFF2-40B4-BE49-F238E27FC236}">
                <a16:creationId xmlns:a16="http://schemas.microsoft.com/office/drawing/2014/main" id="{62D54548-A9F2-8735-3449-4407F20A47A2}"/>
              </a:ext>
            </a:extLst>
          </p:cNvPr>
          <p:cNvSpPr/>
          <p:nvPr/>
        </p:nvSpPr>
        <p:spPr>
          <a:xfrm>
            <a:off x="8890000" y="2997200"/>
            <a:ext cx="355600" cy="355600"/>
          </a:xfrm>
          <a:prstGeom prst="ellipse">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14213D"/>
                </a:solidFill>
                <a:latin typeface="Calibri" panose="020F0502020204030204" pitchFamily="34" charset="0"/>
              </a:rPr>
              <a:t>5</a:t>
            </a:r>
          </a:p>
        </p:txBody>
      </p:sp>
      <p:sp>
        <p:nvSpPr>
          <p:cNvPr id="31" name="TextBox 30">
            <a:extLst>
              <a:ext uri="{FF2B5EF4-FFF2-40B4-BE49-F238E27FC236}">
                <a16:creationId xmlns:a16="http://schemas.microsoft.com/office/drawing/2014/main" id="{69FCB469-E584-B6D0-A757-110FF1758EF7}"/>
              </a:ext>
            </a:extLst>
          </p:cNvPr>
          <p:cNvSpPr txBox="1"/>
          <p:nvPr/>
        </p:nvSpPr>
        <p:spPr>
          <a:xfrm>
            <a:off x="9398000" y="2997200"/>
            <a:ext cx="2413000" cy="355600"/>
          </a:xfrm>
          <a:prstGeom prst="rect">
            <a:avLst/>
          </a:prstGeom>
          <a:noFill/>
        </p:spPr>
        <p:txBody>
          <a:bodyPr vert="horz" wrap="square" lIns="0" tIns="0" rIns="0" bIns="0" rtlCol="0" anchor="ctr">
            <a:noAutofit/>
          </a:bodyPr>
          <a:lstStyle/>
          <a:p>
            <a:r>
              <a:rPr lang="en-US" sz="1500">
                <a:solidFill>
                  <a:srgbClr val="FFFFFF"/>
                </a:solidFill>
                <a:latin typeface="Calibri" panose="020F0502020204030204" pitchFamily="34" charset="0"/>
              </a:rPr>
              <a:t>Funding limit reconciliation</a:t>
            </a:r>
          </a:p>
        </p:txBody>
      </p:sp>
      <p:sp>
        <p:nvSpPr>
          <p:cNvPr id="32" name="Oval 31">
            <a:extLst>
              <a:ext uri="{FF2B5EF4-FFF2-40B4-BE49-F238E27FC236}">
                <a16:creationId xmlns:a16="http://schemas.microsoft.com/office/drawing/2014/main" id="{DE140FC7-E4ED-E054-F8CE-6CE3FDF62111}"/>
              </a:ext>
            </a:extLst>
          </p:cNvPr>
          <p:cNvSpPr/>
          <p:nvPr/>
        </p:nvSpPr>
        <p:spPr>
          <a:xfrm>
            <a:off x="8890000" y="3479800"/>
            <a:ext cx="355600" cy="355600"/>
          </a:xfrm>
          <a:prstGeom prst="ellipse">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14213D"/>
                </a:solidFill>
                <a:latin typeface="Calibri" panose="020F0502020204030204" pitchFamily="34" charset="0"/>
              </a:rPr>
              <a:t>6</a:t>
            </a:r>
          </a:p>
        </p:txBody>
      </p:sp>
      <p:sp>
        <p:nvSpPr>
          <p:cNvPr id="33" name="TextBox 32">
            <a:extLst>
              <a:ext uri="{FF2B5EF4-FFF2-40B4-BE49-F238E27FC236}">
                <a16:creationId xmlns:a16="http://schemas.microsoft.com/office/drawing/2014/main" id="{E44B2AB8-0273-5FD5-F848-520C5689A062}"/>
              </a:ext>
            </a:extLst>
          </p:cNvPr>
          <p:cNvSpPr txBox="1"/>
          <p:nvPr/>
        </p:nvSpPr>
        <p:spPr>
          <a:xfrm>
            <a:off x="9398000" y="3479800"/>
            <a:ext cx="2413000" cy="355600"/>
          </a:xfrm>
          <a:prstGeom prst="rect">
            <a:avLst/>
          </a:prstGeom>
          <a:noFill/>
        </p:spPr>
        <p:txBody>
          <a:bodyPr vert="horz" wrap="square" lIns="0" tIns="0" rIns="0" bIns="0" rtlCol="0" anchor="ctr">
            <a:noAutofit/>
          </a:bodyPr>
          <a:lstStyle/>
          <a:p>
            <a:r>
              <a:rPr lang="en-US" sz="1500">
                <a:solidFill>
                  <a:srgbClr val="FFFFFF"/>
                </a:solidFill>
                <a:latin typeface="Calibri" panose="020F0502020204030204" pitchFamily="34" charset="0"/>
              </a:rPr>
              <a:t>Earned value basics</a:t>
            </a:r>
          </a:p>
        </p:txBody>
      </p:sp>
      <p:sp>
        <p:nvSpPr>
          <p:cNvPr id="34" name="Oval 33">
            <a:extLst>
              <a:ext uri="{FF2B5EF4-FFF2-40B4-BE49-F238E27FC236}">
                <a16:creationId xmlns:a16="http://schemas.microsoft.com/office/drawing/2014/main" id="{134DF55C-D1EC-F5DE-0C3D-E6FBEF580668}"/>
              </a:ext>
            </a:extLst>
          </p:cNvPr>
          <p:cNvSpPr/>
          <p:nvPr/>
        </p:nvSpPr>
        <p:spPr>
          <a:xfrm>
            <a:off x="8890000" y="3962400"/>
            <a:ext cx="355600" cy="355600"/>
          </a:xfrm>
          <a:prstGeom prst="ellipse">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14213D"/>
                </a:solidFill>
                <a:latin typeface="Calibri" panose="020F0502020204030204" pitchFamily="34" charset="0"/>
              </a:rPr>
              <a:t>7</a:t>
            </a:r>
          </a:p>
        </p:txBody>
      </p:sp>
      <p:sp>
        <p:nvSpPr>
          <p:cNvPr id="35" name="TextBox 34">
            <a:extLst>
              <a:ext uri="{FF2B5EF4-FFF2-40B4-BE49-F238E27FC236}">
                <a16:creationId xmlns:a16="http://schemas.microsoft.com/office/drawing/2014/main" id="{5A40461A-CAA1-740A-1F9F-193E0CEFB5CC}"/>
              </a:ext>
            </a:extLst>
          </p:cNvPr>
          <p:cNvSpPr txBox="1"/>
          <p:nvPr/>
        </p:nvSpPr>
        <p:spPr>
          <a:xfrm>
            <a:off x="9398000" y="3962400"/>
            <a:ext cx="2413000" cy="355600"/>
          </a:xfrm>
          <a:prstGeom prst="rect">
            <a:avLst/>
          </a:prstGeom>
          <a:noFill/>
        </p:spPr>
        <p:txBody>
          <a:bodyPr vert="horz" wrap="square" lIns="0" tIns="0" rIns="0" bIns="0" rtlCol="0" anchor="ctr">
            <a:noAutofit/>
          </a:bodyPr>
          <a:lstStyle/>
          <a:p>
            <a:r>
              <a:rPr lang="en-US" sz="1500">
                <a:solidFill>
                  <a:srgbClr val="FFFFFF"/>
                </a:solidFill>
                <a:latin typeface="Calibri" panose="020F0502020204030204" pitchFamily="34" charset="0"/>
              </a:rPr>
              <a:t>Schedule variance and CPI</a:t>
            </a:r>
          </a:p>
        </p:txBody>
      </p:sp>
      <p:sp>
        <p:nvSpPr>
          <p:cNvPr id="36" name="Oval 35">
            <a:extLst>
              <a:ext uri="{FF2B5EF4-FFF2-40B4-BE49-F238E27FC236}">
                <a16:creationId xmlns:a16="http://schemas.microsoft.com/office/drawing/2014/main" id="{8157A2AD-A306-E3AE-F8F0-41019B79BBE1}"/>
              </a:ext>
            </a:extLst>
          </p:cNvPr>
          <p:cNvSpPr/>
          <p:nvPr/>
        </p:nvSpPr>
        <p:spPr>
          <a:xfrm>
            <a:off x="8890000" y="4445000"/>
            <a:ext cx="355600" cy="355600"/>
          </a:xfrm>
          <a:prstGeom prst="ellipse">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14213D"/>
                </a:solidFill>
                <a:latin typeface="Calibri" panose="020F0502020204030204" pitchFamily="34" charset="0"/>
              </a:rPr>
              <a:t>8</a:t>
            </a:r>
          </a:p>
        </p:txBody>
      </p:sp>
      <p:sp>
        <p:nvSpPr>
          <p:cNvPr id="37" name="TextBox 36">
            <a:extLst>
              <a:ext uri="{FF2B5EF4-FFF2-40B4-BE49-F238E27FC236}">
                <a16:creationId xmlns:a16="http://schemas.microsoft.com/office/drawing/2014/main" id="{2718CB55-E674-BBF3-1C68-17F1FC09EFBB}"/>
              </a:ext>
            </a:extLst>
          </p:cNvPr>
          <p:cNvSpPr txBox="1"/>
          <p:nvPr/>
        </p:nvSpPr>
        <p:spPr>
          <a:xfrm>
            <a:off x="9398000" y="4445000"/>
            <a:ext cx="2413000" cy="355600"/>
          </a:xfrm>
          <a:prstGeom prst="rect">
            <a:avLst/>
          </a:prstGeom>
          <a:noFill/>
        </p:spPr>
        <p:txBody>
          <a:bodyPr vert="horz" wrap="square" lIns="0" tIns="0" rIns="0" bIns="0" rtlCol="0" anchor="ctr">
            <a:noAutofit/>
          </a:bodyPr>
          <a:lstStyle/>
          <a:p>
            <a:r>
              <a:rPr lang="en-US" sz="1500">
                <a:solidFill>
                  <a:srgbClr val="FFFFFF"/>
                </a:solidFill>
                <a:latin typeface="Calibri" panose="020F0502020204030204" pitchFamily="34" charset="0"/>
              </a:rPr>
              <a:t>Forecasting the finish</a:t>
            </a:r>
          </a:p>
        </p:txBody>
      </p:sp>
      <p:sp>
        <p:nvSpPr>
          <p:cNvPr id="38" name="Oval 37">
            <a:extLst>
              <a:ext uri="{FF2B5EF4-FFF2-40B4-BE49-F238E27FC236}">
                <a16:creationId xmlns:a16="http://schemas.microsoft.com/office/drawing/2014/main" id="{5149F568-9623-45B5-4916-C86195B33537}"/>
              </a:ext>
            </a:extLst>
          </p:cNvPr>
          <p:cNvSpPr/>
          <p:nvPr/>
        </p:nvSpPr>
        <p:spPr>
          <a:xfrm>
            <a:off x="8890000" y="4927600"/>
            <a:ext cx="355600" cy="355600"/>
          </a:xfrm>
          <a:prstGeom prst="ellipse">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14213D"/>
                </a:solidFill>
                <a:latin typeface="Calibri" panose="020F0502020204030204" pitchFamily="34" charset="0"/>
              </a:rPr>
              <a:t>9</a:t>
            </a:r>
          </a:p>
        </p:txBody>
      </p:sp>
      <p:sp>
        <p:nvSpPr>
          <p:cNvPr id="39" name="TextBox 38">
            <a:extLst>
              <a:ext uri="{FF2B5EF4-FFF2-40B4-BE49-F238E27FC236}">
                <a16:creationId xmlns:a16="http://schemas.microsoft.com/office/drawing/2014/main" id="{0FFEA845-B3C8-F0C2-E225-2FE209A44FA7}"/>
              </a:ext>
            </a:extLst>
          </p:cNvPr>
          <p:cNvSpPr txBox="1"/>
          <p:nvPr/>
        </p:nvSpPr>
        <p:spPr>
          <a:xfrm>
            <a:off x="9398000" y="4927600"/>
            <a:ext cx="2413000" cy="355600"/>
          </a:xfrm>
          <a:prstGeom prst="rect">
            <a:avLst/>
          </a:prstGeom>
          <a:noFill/>
        </p:spPr>
        <p:txBody>
          <a:bodyPr vert="horz" wrap="square" lIns="0" tIns="0" rIns="0" bIns="0" rtlCol="0" anchor="ctr">
            <a:noAutofit/>
          </a:bodyPr>
          <a:lstStyle/>
          <a:p>
            <a:r>
              <a:rPr lang="en-US" sz="1500">
                <a:solidFill>
                  <a:srgbClr val="FFFFFF"/>
                </a:solidFill>
                <a:latin typeface="Calibri" panose="020F0502020204030204" pitchFamily="34" charset="0"/>
              </a:rPr>
              <a:t>Worked example</a:t>
            </a:r>
          </a:p>
        </p:txBody>
      </p:sp>
      <p:sp>
        <p:nvSpPr>
          <p:cNvPr id="40" name="Oval 39">
            <a:extLst>
              <a:ext uri="{FF2B5EF4-FFF2-40B4-BE49-F238E27FC236}">
                <a16:creationId xmlns:a16="http://schemas.microsoft.com/office/drawing/2014/main" id="{3C8E6AAE-8D6C-EC97-9593-1F69448E8FB4}"/>
              </a:ext>
            </a:extLst>
          </p:cNvPr>
          <p:cNvSpPr/>
          <p:nvPr/>
        </p:nvSpPr>
        <p:spPr>
          <a:xfrm>
            <a:off x="8890000" y="5410200"/>
            <a:ext cx="355600" cy="355600"/>
          </a:xfrm>
          <a:prstGeom prst="ellipse">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14213D"/>
                </a:solidFill>
                <a:latin typeface="Calibri" panose="020F0502020204030204" pitchFamily="34" charset="0"/>
              </a:rPr>
              <a:t>10</a:t>
            </a:r>
          </a:p>
        </p:txBody>
      </p:sp>
      <p:sp>
        <p:nvSpPr>
          <p:cNvPr id="41" name="TextBox 40">
            <a:extLst>
              <a:ext uri="{FF2B5EF4-FFF2-40B4-BE49-F238E27FC236}">
                <a16:creationId xmlns:a16="http://schemas.microsoft.com/office/drawing/2014/main" id="{2DCB635C-BDAD-9D20-8EE6-5DC511DF680E}"/>
              </a:ext>
            </a:extLst>
          </p:cNvPr>
          <p:cNvSpPr txBox="1"/>
          <p:nvPr/>
        </p:nvSpPr>
        <p:spPr>
          <a:xfrm>
            <a:off x="9398000" y="5410200"/>
            <a:ext cx="2413000" cy="355600"/>
          </a:xfrm>
          <a:prstGeom prst="rect">
            <a:avLst/>
          </a:prstGeom>
          <a:noFill/>
        </p:spPr>
        <p:txBody>
          <a:bodyPr vert="horz" wrap="square" lIns="0" tIns="0" rIns="0" bIns="0" rtlCol="0" anchor="ctr">
            <a:noAutofit/>
          </a:bodyPr>
          <a:lstStyle/>
          <a:p>
            <a:r>
              <a:rPr lang="en-US" sz="1500">
                <a:solidFill>
                  <a:srgbClr val="FFFFFF"/>
                </a:solidFill>
                <a:latin typeface="Calibri" panose="020F0502020204030204" pitchFamily="34" charset="0"/>
              </a:rPr>
              <a:t>Practice problem and solution</a:t>
            </a:r>
          </a:p>
        </p:txBody>
      </p:sp>
      <p:sp>
        <p:nvSpPr>
          <p:cNvPr id="5" name="Oval 4">
            <a:extLst>
              <a:ext uri="{FF2B5EF4-FFF2-40B4-BE49-F238E27FC236}">
                <a16:creationId xmlns:a16="http://schemas.microsoft.com/office/drawing/2014/main" id="{098EE398-B9B8-5DF4-3043-69874013C6B3}"/>
              </a:ext>
            </a:extLst>
          </p:cNvPr>
          <p:cNvSpPr/>
          <p:nvPr/>
        </p:nvSpPr>
        <p:spPr>
          <a:xfrm>
            <a:off x="8890000" y="5892800"/>
            <a:ext cx="355600" cy="355600"/>
          </a:xfrm>
          <a:prstGeom prst="ellipse">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200" b="1">
                <a:solidFill>
                  <a:srgbClr val="14213D"/>
                </a:solidFill>
                <a:latin typeface="Calibri" panose="020F0502020204030204" pitchFamily="34" charset="0"/>
              </a:rPr>
              <a:t>11</a:t>
            </a:r>
          </a:p>
        </p:txBody>
      </p:sp>
      <p:sp>
        <p:nvSpPr>
          <p:cNvPr id="6" name="TextBox 5">
            <a:extLst>
              <a:ext uri="{FF2B5EF4-FFF2-40B4-BE49-F238E27FC236}">
                <a16:creationId xmlns:a16="http://schemas.microsoft.com/office/drawing/2014/main" id="{2B50E4D3-1D39-BD04-9719-73DFBF2A712E}"/>
              </a:ext>
            </a:extLst>
          </p:cNvPr>
          <p:cNvSpPr txBox="1"/>
          <p:nvPr/>
        </p:nvSpPr>
        <p:spPr>
          <a:xfrm>
            <a:off x="9398000" y="5892800"/>
            <a:ext cx="2413000" cy="355600"/>
          </a:xfrm>
          <a:prstGeom prst="rect">
            <a:avLst/>
          </a:prstGeom>
          <a:noFill/>
        </p:spPr>
        <p:txBody>
          <a:bodyPr vert="horz" wrap="square" lIns="0" tIns="0" rIns="0" bIns="0" rtlCol="0" anchor="ctr">
            <a:noAutofit/>
          </a:bodyPr>
          <a:lstStyle/>
          <a:p>
            <a:r>
              <a:rPr lang="en-US" sz="1500">
                <a:solidFill>
                  <a:srgbClr val="FFFFFF"/>
                </a:solidFill>
                <a:latin typeface="Calibri" panose="020F0502020204030204" pitchFamily="34" charset="0"/>
              </a:rPr>
              <a:t>Key formulas review</a:t>
            </a:r>
          </a:p>
        </p:txBody>
      </p:sp>
      <p:sp>
        <p:nvSpPr>
          <p:cNvPr id="42"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50511157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4AD0C1D-2874-6FFD-F3DF-9980BA7E7DB3}"/>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Estimate accuracy: from ROM to definitive</a:t>
            </a:r>
          </a:p>
        </p:txBody>
      </p:sp>
      <p:sp>
        <p:nvSpPr>
          <p:cNvPr id="3" name="Tag">
            <a:extLst>
              <a:ext uri="{FF2B5EF4-FFF2-40B4-BE49-F238E27FC236}">
                <a16:creationId xmlns:a16="http://schemas.microsoft.com/office/drawing/2014/main" id="{A9D7C48E-E392-4A59-5431-2D318BBBF7E4}"/>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E3A63B"/>
                </a:solidFill>
                <a:latin typeface="Calibri" panose="020F0502020204030204" pitchFamily="34" charset="0"/>
              </a:rPr>
              <a:t>Supports Process Task 6 (Analyze project financial needs) and Task 8 (Estimate project tasks)</a:t>
            </a:r>
          </a:p>
        </p:txBody>
      </p:sp>
      <p:cxnSp>
        <p:nvCxnSpPr>
          <p:cNvPr id="4" name="Straight Connector 3">
            <a:extLst>
              <a:ext uri="{FF2B5EF4-FFF2-40B4-BE49-F238E27FC236}">
                <a16:creationId xmlns:a16="http://schemas.microsoft.com/office/drawing/2014/main" id="{0A138246-92F3-AAF1-04C1-80F96AE9F936}"/>
              </a:ext>
            </a:extLst>
          </p:cNvPr>
          <p:cNvCxnSpPr/>
          <p:nvPr/>
        </p:nvCxnSpPr>
        <p:spPr>
          <a:xfrm>
            <a:off x="4533900" y="1397000"/>
            <a:ext cx="0" cy="1600200"/>
          </a:xfrm>
          <a:prstGeom prst="line">
            <a:avLst/>
          </a:prstGeom>
          <a:ln w="15875">
            <a:solidFill>
              <a:srgbClr val="5B6475"/>
            </a:solidFill>
            <a:prstDash val="dash"/>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B605096E-307B-DC35-0380-C04DB4D169FB}"/>
              </a:ext>
            </a:extLst>
          </p:cNvPr>
          <p:cNvSpPr txBox="1"/>
          <p:nvPr/>
        </p:nvSpPr>
        <p:spPr>
          <a:xfrm>
            <a:off x="3898900" y="2997200"/>
            <a:ext cx="1270000" cy="203200"/>
          </a:xfrm>
          <a:prstGeom prst="rect">
            <a:avLst/>
          </a:prstGeom>
          <a:noFill/>
        </p:spPr>
        <p:txBody>
          <a:bodyPr vert="horz" wrap="square" lIns="0" tIns="0" rIns="0" bIns="0" rtlCol="0" anchor="t">
            <a:noAutofit/>
          </a:bodyPr>
          <a:lstStyle/>
          <a:p>
            <a:pPr algn="ctr"/>
            <a:r>
              <a:rPr lang="en-US" sz="1100" b="1">
                <a:solidFill>
                  <a:srgbClr val="5B6475"/>
                </a:solidFill>
                <a:latin typeface="Calibri" panose="020F0502020204030204" pitchFamily="34" charset="0"/>
              </a:rPr>
              <a:t>Actual cost</a:t>
            </a:r>
          </a:p>
        </p:txBody>
      </p:sp>
      <p:sp>
        <p:nvSpPr>
          <p:cNvPr id="6" name="TextBox 5">
            <a:extLst>
              <a:ext uri="{FF2B5EF4-FFF2-40B4-BE49-F238E27FC236}">
                <a16:creationId xmlns:a16="http://schemas.microsoft.com/office/drawing/2014/main" id="{1369F74D-3856-E0D9-A791-47007959D09D}"/>
              </a:ext>
            </a:extLst>
          </p:cNvPr>
          <p:cNvSpPr txBox="1"/>
          <p:nvPr/>
        </p:nvSpPr>
        <p:spPr>
          <a:xfrm>
            <a:off x="508000" y="1473200"/>
            <a:ext cx="1524000" cy="381000"/>
          </a:xfrm>
          <a:prstGeom prst="rect">
            <a:avLst/>
          </a:prstGeom>
          <a:noFill/>
        </p:spPr>
        <p:txBody>
          <a:bodyPr vert="horz" wrap="square" lIns="0" tIns="0" rIns="0" bIns="0" rtlCol="0" anchor="ctr">
            <a:noAutofit/>
          </a:bodyPr>
          <a:lstStyle/>
          <a:p>
            <a:r>
              <a:rPr lang="en-US" sz="1500" b="1">
                <a:solidFill>
                  <a:srgbClr val="14213D"/>
                </a:solidFill>
                <a:latin typeface="Calibri" panose="020F0502020204030204" pitchFamily="34" charset="0"/>
              </a:rPr>
              <a:t>ROM</a:t>
            </a:r>
          </a:p>
        </p:txBody>
      </p:sp>
      <p:sp>
        <p:nvSpPr>
          <p:cNvPr id="7" name="Rectangle: Rounded Corners 6">
            <a:extLst>
              <a:ext uri="{FF2B5EF4-FFF2-40B4-BE49-F238E27FC236}">
                <a16:creationId xmlns:a16="http://schemas.microsoft.com/office/drawing/2014/main" id="{AF06103A-8608-7ED3-7576-7DA5B34E8F86}"/>
              </a:ext>
            </a:extLst>
          </p:cNvPr>
          <p:cNvSpPr/>
          <p:nvPr/>
        </p:nvSpPr>
        <p:spPr>
          <a:xfrm>
            <a:off x="2339975" y="1473200"/>
            <a:ext cx="8775700" cy="381000"/>
          </a:xfrm>
          <a:prstGeom prst="roundRect">
            <a:avLst>
              <a:gd name="adj" fmla="val 8000"/>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200" b="1">
                <a:solidFill>
                  <a:srgbClr val="FFFFFF"/>
                </a:solidFill>
                <a:latin typeface="Calibri" panose="020F0502020204030204" pitchFamily="34" charset="0"/>
              </a:rPr>
              <a:t>−25% to +75%</a:t>
            </a:r>
          </a:p>
        </p:txBody>
      </p:sp>
      <p:sp>
        <p:nvSpPr>
          <p:cNvPr id="8" name="TextBox 7">
            <a:extLst>
              <a:ext uri="{FF2B5EF4-FFF2-40B4-BE49-F238E27FC236}">
                <a16:creationId xmlns:a16="http://schemas.microsoft.com/office/drawing/2014/main" id="{29ED3C7A-1163-3ABE-4DD9-58A134CEFBA2}"/>
              </a:ext>
            </a:extLst>
          </p:cNvPr>
          <p:cNvSpPr txBox="1"/>
          <p:nvPr/>
        </p:nvSpPr>
        <p:spPr>
          <a:xfrm>
            <a:off x="508000" y="1981200"/>
            <a:ext cx="1524000" cy="381000"/>
          </a:xfrm>
          <a:prstGeom prst="rect">
            <a:avLst/>
          </a:prstGeom>
          <a:noFill/>
        </p:spPr>
        <p:txBody>
          <a:bodyPr vert="horz" wrap="square" lIns="0" tIns="0" rIns="0" bIns="0" rtlCol="0" anchor="ctr">
            <a:noAutofit/>
          </a:bodyPr>
          <a:lstStyle/>
          <a:p>
            <a:r>
              <a:rPr lang="en-US" sz="1500" b="1">
                <a:solidFill>
                  <a:srgbClr val="14213D"/>
                </a:solidFill>
                <a:latin typeface="Calibri" panose="020F0502020204030204" pitchFamily="34" charset="0"/>
              </a:rPr>
              <a:t>Budget*</a:t>
            </a:r>
          </a:p>
        </p:txBody>
      </p:sp>
      <p:sp>
        <p:nvSpPr>
          <p:cNvPr id="9" name="Rectangle: Rounded Corners 8">
            <a:extLst>
              <a:ext uri="{FF2B5EF4-FFF2-40B4-BE49-F238E27FC236}">
                <a16:creationId xmlns:a16="http://schemas.microsoft.com/office/drawing/2014/main" id="{EF1340E8-21E0-0663-DC0A-7C850EF90507}"/>
              </a:ext>
            </a:extLst>
          </p:cNvPr>
          <p:cNvSpPr/>
          <p:nvPr/>
        </p:nvSpPr>
        <p:spPr>
          <a:xfrm>
            <a:off x="3656330" y="1981200"/>
            <a:ext cx="3071495" cy="381000"/>
          </a:xfrm>
          <a:prstGeom prst="roundRect">
            <a:avLst>
              <a:gd name="adj" fmla="val 8000"/>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200" b="1">
                <a:solidFill>
                  <a:srgbClr val="14213D"/>
                </a:solidFill>
                <a:latin typeface="Calibri" panose="020F0502020204030204" pitchFamily="34" charset="0"/>
              </a:rPr>
              <a:t>−10% to +25%</a:t>
            </a:r>
          </a:p>
        </p:txBody>
      </p:sp>
      <p:sp>
        <p:nvSpPr>
          <p:cNvPr id="10" name="TextBox 9">
            <a:extLst>
              <a:ext uri="{FF2B5EF4-FFF2-40B4-BE49-F238E27FC236}">
                <a16:creationId xmlns:a16="http://schemas.microsoft.com/office/drawing/2014/main" id="{9D2A607C-AAA4-5AA8-4485-ACC09273A091}"/>
              </a:ext>
            </a:extLst>
          </p:cNvPr>
          <p:cNvSpPr txBox="1"/>
          <p:nvPr/>
        </p:nvSpPr>
        <p:spPr>
          <a:xfrm>
            <a:off x="508000" y="2489200"/>
            <a:ext cx="1524000" cy="381000"/>
          </a:xfrm>
          <a:prstGeom prst="rect">
            <a:avLst/>
          </a:prstGeom>
          <a:noFill/>
        </p:spPr>
        <p:txBody>
          <a:bodyPr vert="horz" wrap="square" lIns="0" tIns="0" rIns="0" bIns="0" rtlCol="0" anchor="ctr">
            <a:noAutofit/>
          </a:bodyPr>
          <a:lstStyle/>
          <a:p>
            <a:r>
              <a:rPr lang="en-US" sz="1500" b="1">
                <a:solidFill>
                  <a:srgbClr val="14213D"/>
                </a:solidFill>
                <a:latin typeface="Calibri" panose="020F0502020204030204" pitchFamily="34" charset="0"/>
              </a:rPr>
              <a:t>Definitive</a:t>
            </a:r>
          </a:p>
        </p:txBody>
      </p:sp>
      <p:sp>
        <p:nvSpPr>
          <p:cNvPr id="11" name="Rectangle: Rounded Corners 10">
            <a:extLst>
              <a:ext uri="{FF2B5EF4-FFF2-40B4-BE49-F238E27FC236}">
                <a16:creationId xmlns:a16="http://schemas.microsoft.com/office/drawing/2014/main" id="{F880B9E6-F8F6-7BB7-259F-05B4A63A8228}"/>
              </a:ext>
            </a:extLst>
          </p:cNvPr>
          <p:cNvSpPr/>
          <p:nvPr/>
        </p:nvSpPr>
        <p:spPr>
          <a:xfrm>
            <a:off x="4095115" y="2489200"/>
            <a:ext cx="1316355" cy="381000"/>
          </a:xfrm>
          <a:prstGeom prst="roundRect">
            <a:avLst>
              <a:gd name="adj" fmla="val 8000"/>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200" b="1">
                <a:solidFill>
                  <a:srgbClr val="FFFFFF"/>
                </a:solidFill>
                <a:latin typeface="Calibri" panose="020F0502020204030204" pitchFamily="34" charset="0"/>
              </a:rPr>
              <a:t>−5% to +10%</a:t>
            </a:r>
          </a:p>
        </p:txBody>
      </p:sp>
      <p:sp>
        <p:nvSpPr>
          <p:cNvPr id="12" name="Rectangle: Rounded Corners 11">
            <a:extLst>
              <a:ext uri="{FF2B5EF4-FFF2-40B4-BE49-F238E27FC236}">
                <a16:creationId xmlns:a16="http://schemas.microsoft.com/office/drawing/2014/main" id="{89351585-ADD2-347C-0625-35767EC96F8F}"/>
              </a:ext>
            </a:extLst>
          </p:cNvPr>
          <p:cNvSpPr/>
          <p:nvPr/>
        </p:nvSpPr>
        <p:spPr>
          <a:xfrm>
            <a:off x="508000" y="3327400"/>
            <a:ext cx="3810000" cy="20066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2838D958-9631-8C2C-B285-3A98E57C6C96}"/>
              </a:ext>
            </a:extLst>
          </p:cNvPr>
          <p:cNvSpPr txBox="1"/>
          <p:nvPr/>
        </p:nvSpPr>
        <p:spPr>
          <a:xfrm>
            <a:off x="660400" y="3479800"/>
            <a:ext cx="3505200" cy="1701800"/>
          </a:xfrm>
          <a:prstGeom prst="rect">
            <a:avLst/>
          </a:prstGeom>
          <a:noFill/>
        </p:spPr>
        <p:txBody>
          <a:bodyPr vert="horz" wrap="square" lIns="0" tIns="0" rIns="0" bIns="0" rtlCol="0" anchor="t">
            <a:noAutofit/>
          </a:bodyPr>
          <a:lstStyle/>
          <a:p>
            <a:pPr>
              <a:spcAft>
                <a:spcPts val="600"/>
              </a:spcAft>
            </a:pPr>
            <a:r>
              <a:rPr lang="en-US" sz="1500" b="1">
                <a:solidFill>
                  <a:srgbClr val="A84A2E"/>
                </a:solidFill>
                <a:latin typeface="Calibri" panose="020F0502020204030204" pitchFamily="34" charset="0"/>
              </a:rPr>
              <a:t>Example</a:t>
            </a:r>
          </a:p>
          <a:p>
            <a:r>
              <a:rPr lang="en-US" sz="1300">
                <a:solidFill>
                  <a:srgbClr val="1F2937"/>
                </a:solidFill>
                <a:latin typeface="Calibri" panose="020F0502020204030204" pitchFamily="34" charset="0"/>
              </a:rPr>
              <a:t>A $100,000 ROM means the actual cost is likely between $75,000 and $175,000.</a:t>
            </a:r>
          </a:p>
          <a:p>
            <a:r>
              <a:rPr lang="en-US" sz="1300">
                <a:solidFill>
                  <a:srgbClr val="1F2937"/>
                </a:solidFill>
                <a:latin typeface="Calibri" panose="020F0502020204030204" pitchFamily="34" charset="0"/>
              </a:rPr>
              <a:t>Used during initiation (business case, charter); progressive elaboration narrows the range as scope and the WBS are defined.</a:t>
            </a:r>
          </a:p>
        </p:txBody>
      </p:sp>
      <p:sp>
        <p:nvSpPr>
          <p:cNvPr id="14" name="Rectangle: Rounded Corners 13">
            <a:extLst>
              <a:ext uri="{FF2B5EF4-FFF2-40B4-BE49-F238E27FC236}">
                <a16:creationId xmlns:a16="http://schemas.microsoft.com/office/drawing/2014/main" id="{A0BF707F-AE2A-6615-C1A4-B1E3F0624DEB}"/>
              </a:ext>
            </a:extLst>
          </p:cNvPr>
          <p:cNvSpPr/>
          <p:nvPr/>
        </p:nvSpPr>
        <p:spPr>
          <a:xfrm>
            <a:off x="4521200" y="3327400"/>
            <a:ext cx="1714500" cy="2006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3025609-F2C7-43C6-451F-BBE917F1D2FB}"/>
              </a:ext>
            </a:extLst>
          </p:cNvPr>
          <p:cNvSpPr txBox="1"/>
          <p:nvPr/>
        </p:nvSpPr>
        <p:spPr>
          <a:xfrm>
            <a:off x="4648200" y="3454400"/>
            <a:ext cx="1460500" cy="1752600"/>
          </a:xfrm>
          <a:prstGeom prst="rect">
            <a:avLst/>
          </a:prstGeom>
          <a:noFill/>
        </p:spPr>
        <p:txBody>
          <a:bodyPr vert="horz" wrap="square" lIns="0" tIns="0" rIns="0" bIns="0" rtlCol="0" anchor="t">
            <a:noAutofit/>
          </a:bodyPr>
          <a:lstStyle/>
          <a:p>
            <a:pPr>
              <a:spcAft>
                <a:spcPts val="600"/>
              </a:spcAft>
            </a:pPr>
            <a:r>
              <a:rPr lang="en-US" sz="1400" b="1">
                <a:solidFill>
                  <a:srgbClr val="14213D"/>
                </a:solidFill>
                <a:latin typeface="Calibri" panose="020F0502020204030204" pitchFamily="34" charset="0"/>
              </a:rPr>
              <a:t>Analogous</a:t>
            </a:r>
          </a:p>
          <a:p>
            <a:r>
              <a:rPr lang="en-US" sz="1200">
                <a:solidFill>
                  <a:srgbClr val="1F2937"/>
                </a:solidFill>
                <a:latin typeface="Calibri" panose="020F0502020204030204" pitchFamily="34" charset="0"/>
              </a:rPr>
              <a:t>Top-down, from a similar past project. Rough but quick: fast, cheap, least accurate.</a:t>
            </a:r>
          </a:p>
        </p:txBody>
      </p:sp>
      <p:sp>
        <p:nvSpPr>
          <p:cNvPr id="16" name="Rectangle: Rounded Corners 15">
            <a:extLst>
              <a:ext uri="{FF2B5EF4-FFF2-40B4-BE49-F238E27FC236}">
                <a16:creationId xmlns:a16="http://schemas.microsoft.com/office/drawing/2014/main" id="{6F541DC1-ACE2-6B23-A3A7-6CAF08C6146C}"/>
              </a:ext>
            </a:extLst>
          </p:cNvPr>
          <p:cNvSpPr/>
          <p:nvPr/>
        </p:nvSpPr>
        <p:spPr>
          <a:xfrm>
            <a:off x="6337300" y="3327400"/>
            <a:ext cx="1714500" cy="2006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85486DE-E270-0E6D-DD82-A9B7E3A3675E}"/>
              </a:ext>
            </a:extLst>
          </p:cNvPr>
          <p:cNvSpPr txBox="1"/>
          <p:nvPr/>
        </p:nvSpPr>
        <p:spPr>
          <a:xfrm>
            <a:off x="6464300" y="3454400"/>
            <a:ext cx="1460500" cy="1752600"/>
          </a:xfrm>
          <a:prstGeom prst="rect">
            <a:avLst/>
          </a:prstGeom>
          <a:noFill/>
        </p:spPr>
        <p:txBody>
          <a:bodyPr vert="horz" wrap="square" lIns="0" tIns="0" rIns="0" bIns="0" rtlCol="0" anchor="t">
            <a:noAutofit/>
          </a:bodyPr>
          <a:lstStyle/>
          <a:p>
            <a:pPr>
              <a:spcAft>
                <a:spcPts val="600"/>
              </a:spcAft>
            </a:pPr>
            <a:r>
              <a:rPr lang="en-US" sz="1400" b="1">
                <a:solidFill>
                  <a:srgbClr val="14213D"/>
                </a:solidFill>
                <a:latin typeface="Calibri" panose="020F0502020204030204" pitchFamily="34" charset="0"/>
              </a:rPr>
              <a:t>Parametric</a:t>
            </a:r>
          </a:p>
          <a:p>
            <a:r>
              <a:rPr lang="en-US" sz="1200">
                <a:solidFill>
                  <a:srgbClr val="1F2937"/>
                </a:solidFill>
                <a:latin typeface="Calibri" panose="020F0502020204030204" pitchFamily="34" charset="0"/>
              </a:rPr>
              <a:t>A unit rate × quantity, such as cost per square meter.</a:t>
            </a:r>
          </a:p>
        </p:txBody>
      </p:sp>
      <p:sp>
        <p:nvSpPr>
          <p:cNvPr id="18" name="Rectangle: Rounded Corners 17">
            <a:extLst>
              <a:ext uri="{FF2B5EF4-FFF2-40B4-BE49-F238E27FC236}">
                <a16:creationId xmlns:a16="http://schemas.microsoft.com/office/drawing/2014/main" id="{D9088D64-9140-B796-23FC-92A90FA437CC}"/>
              </a:ext>
            </a:extLst>
          </p:cNvPr>
          <p:cNvSpPr/>
          <p:nvPr/>
        </p:nvSpPr>
        <p:spPr>
          <a:xfrm>
            <a:off x="8153400" y="3327400"/>
            <a:ext cx="1714500" cy="2006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798B523-DAE5-20D1-0F07-6FFE4E72BE71}"/>
              </a:ext>
            </a:extLst>
          </p:cNvPr>
          <p:cNvSpPr txBox="1"/>
          <p:nvPr/>
        </p:nvSpPr>
        <p:spPr>
          <a:xfrm>
            <a:off x="8280400" y="3454400"/>
            <a:ext cx="1460500" cy="1752600"/>
          </a:xfrm>
          <a:prstGeom prst="rect">
            <a:avLst/>
          </a:prstGeom>
          <a:noFill/>
        </p:spPr>
        <p:txBody>
          <a:bodyPr vert="horz" wrap="square" lIns="0" tIns="0" rIns="0" bIns="0" rtlCol="0" anchor="t">
            <a:noAutofit/>
          </a:bodyPr>
          <a:lstStyle/>
          <a:p>
            <a:pPr>
              <a:spcAft>
                <a:spcPts val="600"/>
              </a:spcAft>
            </a:pPr>
            <a:r>
              <a:rPr lang="en-US" sz="1400" b="1">
                <a:solidFill>
                  <a:srgbClr val="14213D"/>
                </a:solidFill>
                <a:latin typeface="Calibri" panose="020F0502020204030204" pitchFamily="34" charset="0"/>
              </a:rPr>
              <a:t>Bottom-up</a:t>
            </a:r>
          </a:p>
          <a:p>
            <a:r>
              <a:rPr lang="en-US" sz="1200">
                <a:solidFill>
                  <a:srgbClr val="1F2937"/>
                </a:solidFill>
                <a:latin typeface="Calibri" panose="020F0502020204030204" pitchFamily="34" charset="0"/>
              </a:rPr>
              <a:t>Sum the estimates of every WBS work package. Most accurate, slowest.</a:t>
            </a:r>
          </a:p>
        </p:txBody>
      </p:sp>
      <p:sp>
        <p:nvSpPr>
          <p:cNvPr id="20" name="Rectangle: Rounded Corners 19">
            <a:extLst>
              <a:ext uri="{FF2B5EF4-FFF2-40B4-BE49-F238E27FC236}">
                <a16:creationId xmlns:a16="http://schemas.microsoft.com/office/drawing/2014/main" id="{42F9F7E3-676A-7329-0F49-BB940D1AB148}"/>
              </a:ext>
            </a:extLst>
          </p:cNvPr>
          <p:cNvSpPr/>
          <p:nvPr/>
        </p:nvSpPr>
        <p:spPr>
          <a:xfrm>
            <a:off x="9969500" y="3327400"/>
            <a:ext cx="1714500" cy="2006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E10A08E-B1F3-FAA3-4AB7-DC0D50FAF978}"/>
              </a:ext>
            </a:extLst>
          </p:cNvPr>
          <p:cNvSpPr txBox="1"/>
          <p:nvPr/>
        </p:nvSpPr>
        <p:spPr>
          <a:xfrm>
            <a:off x="10096500" y="3454400"/>
            <a:ext cx="1460500" cy="1752600"/>
          </a:xfrm>
          <a:prstGeom prst="rect">
            <a:avLst/>
          </a:prstGeom>
          <a:noFill/>
        </p:spPr>
        <p:txBody>
          <a:bodyPr vert="horz" wrap="square" lIns="0" tIns="0" rIns="0" bIns="0" rtlCol="0" anchor="t">
            <a:noAutofit/>
          </a:bodyPr>
          <a:lstStyle/>
          <a:p>
            <a:pPr>
              <a:spcAft>
                <a:spcPts val="600"/>
              </a:spcAft>
            </a:pPr>
            <a:r>
              <a:rPr lang="en-US" sz="1400" b="1">
                <a:solidFill>
                  <a:srgbClr val="14213D"/>
                </a:solidFill>
                <a:latin typeface="Calibri" panose="020F0502020204030204" pitchFamily="34" charset="0"/>
              </a:rPr>
              <a:t>Three-point</a:t>
            </a:r>
          </a:p>
          <a:p>
            <a:r>
              <a:rPr lang="en-US" sz="1200">
                <a:solidFill>
                  <a:srgbClr val="1F2937"/>
                </a:solidFill>
                <a:latin typeface="Calibri" panose="020F0502020204030204" pitchFamily="34" charset="0"/>
              </a:rPr>
              <a:t>Uses optimistic, most likely, and pessimistic values (next slide).</a:t>
            </a:r>
          </a:p>
        </p:txBody>
      </p:sp>
      <p:sp>
        <p:nvSpPr>
          <p:cNvPr id="22" name="Rectangle: Rounded Corners 21">
            <a:extLst>
              <a:ext uri="{FF2B5EF4-FFF2-40B4-BE49-F238E27FC236}">
                <a16:creationId xmlns:a16="http://schemas.microsoft.com/office/drawing/2014/main" id="{B143C70C-6855-BE99-0D3B-0496171A8801}"/>
              </a:ext>
            </a:extLst>
          </p:cNvPr>
          <p:cNvSpPr/>
          <p:nvPr/>
        </p:nvSpPr>
        <p:spPr>
          <a:xfrm>
            <a:off x="508000" y="5486400"/>
            <a:ext cx="11176000" cy="8382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2D518A7E-5110-56EF-ED12-9027FEF2EF13}"/>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early, with little detail, the answer is a ROM. If a sponsor treats a ROM as a firm commitment, explain its range and refine the estimate as scope is elaborated.</a:t>
            </a:r>
          </a:p>
        </p:txBody>
      </p:sp>
      <p:sp>
        <p:nvSpPr>
          <p:cNvPr id="24" name="Footer">
            <a:extLst>
              <a:ext uri="{FF2B5EF4-FFF2-40B4-BE49-F238E27FC236}">
                <a16:creationId xmlns:a16="http://schemas.microsoft.com/office/drawing/2014/main" id="{061C68E2-90B8-9D0D-873E-94369DD2D426}"/>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PMBOK® Guide — Sixth Edition, 6.4 and 7.2 · * Budget range from earlier PMBOK® Guide editions</a:t>
            </a:r>
          </a:p>
        </p:txBody>
      </p:sp>
      <p:sp>
        <p:nvSpPr>
          <p:cNvPr id="25" name="SlideNum">
            <a:extLst>
              <a:ext uri="{FF2B5EF4-FFF2-40B4-BE49-F238E27FC236}">
                <a16:creationId xmlns:a16="http://schemas.microsoft.com/office/drawing/2014/main" id="{1A0F4734-25F7-1EBF-61C1-6FA861B53C16}"/>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112</a:t>
            </a:r>
          </a:p>
        </p:txBody>
      </p:sp>
      <p:sp>
        <p:nvSpPr>
          <p:cNvPr id="26"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2258445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34B4F7E-2923-637F-C810-98D86B21293E}"/>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Three-point estimating: triangular and PERT</a:t>
            </a:r>
          </a:p>
        </p:txBody>
      </p:sp>
      <p:sp>
        <p:nvSpPr>
          <p:cNvPr id="3" name="Tag">
            <a:extLst>
              <a:ext uri="{FF2B5EF4-FFF2-40B4-BE49-F238E27FC236}">
                <a16:creationId xmlns:a16="http://schemas.microsoft.com/office/drawing/2014/main" id="{0D987FEE-C081-7E92-1F6B-3E0640964E65}"/>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E3A63B"/>
                </a:solidFill>
                <a:latin typeface="Calibri" panose="020F0502020204030204" pitchFamily="34" charset="0"/>
              </a:rPr>
              <a:t>Supports Process Task 6 (Analyze project financial needs) and Task 8 (Estimate project tasks)</a:t>
            </a:r>
          </a:p>
        </p:txBody>
      </p:sp>
      <p:sp>
        <p:nvSpPr>
          <p:cNvPr id="4" name="Rectangle: Rounded Corners 3">
            <a:extLst>
              <a:ext uri="{FF2B5EF4-FFF2-40B4-BE49-F238E27FC236}">
                <a16:creationId xmlns:a16="http://schemas.microsoft.com/office/drawing/2014/main" id="{0F8A9FAF-2A55-2423-4D31-24AAA4C9A51F}"/>
              </a:ext>
            </a:extLst>
          </p:cNvPr>
          <p:cNvSpPr/>
          <p:nvPr/>
        </p:nvSpPr>
        <p:spPr>
          <a:xfrm>
            <a:off x="508000" y="1320800"/>
            <a:ext cx="5334000" cy="1371600"/>
          </a:xfrm>
          <a:prstGeom prst="roundRect">
            <a:avLst>
              <a:gd name="adj" fmla="val 8000"/>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21F9EB4-C3C4-2AE9-1753-61C67A9F0E84}"/>
              </a:ext>
            </a:extLst>
          </p:cNvPr>
          <p:cNvSpPr txBox="1"/>
          <p:nvPr/>
        </p:nvSpPr>
        <p:spPr>
          <a:xfrm>
            <a:off x="762000" y="1447800"/>
            <a:ext cx="4826000" cy="254000"/>
          </a:xfrm>
          <a:prstGeom prst="rect">
            <a:avLst/>
          </a:prstGeom>
          <a:noFill/>
        </p:spPr>
        <p:txBody>
          <a:bodyPr vert="horz" wrap="square" lIns="0" tIns="0" rIns="0" bIns="0" rtlCol="0" anchor="t">
            <a:noAutofit/>
          </a:bodyPr>
          <a:lstStyle/>
          <a:p>
            <a:r>
              <a:rPr lang="en-US" sz="1300" b="1">
                <a:solidFill>
                  <a:srgbClr val="E3A63B"/>
                </a:solidFill>
                <a:latin typeface="Calibri" panose="020F0502020204030204" pitchFamily="34" charset="0"/>
              </a:rPr>
              <a:t>Triangular</a:t>
            </a:r>
          </a:p>
        </p:txBody>
      </p:sp>
      <p:sp>
        <p:nvSpPr>
          <p:cNvPr id="6" name="TextBox 5">
            <a:extLst>
              <a:ext uri="{FF2B5EF4-FFF2-40B4-BE49-F238E27FC236}">
                <a16:creationId xmlns:a16="http://schemas.microsoft.com/office/drawing/2014/main" id="{9A088953-ED13-1B83-4F77-C0C7898FE6B6}"/>
              </a:ext>
            </a:extLst>
          </p:cNvPr>
          <p:cNvSpPr txBox="1"/>
          <p:nvPr/>
        </p:nvSpPr>
        <p:spPr>
          <a:xfrm>
            <a:off x="762000" y="1727200"/>
            <a:ext cx="4826000" cy="558800"/>
          </a:xfrm>
          <a:prstGeom prst="rect">
            <a:avLst/>
          </a:prstGeom>
          <a:noFill/>
        </p:spPr>
        <p:txBody>
          <a:bodyPr vert="horz" wrap="square" lIns="0" tIns="0" rIns="0" bIns="0" rtlCol="0" anchor="ctr">
            <a:noAutofit/>
          </a:bodyPr>
          <a:lstStyle/>
          <a:p>
            <a:r>
              <a:rPr lang="pt-BR" sz="3000" b="1">
                <a:solidFill>
                  <a:srgbClr val="FFFFFF"/>
                </a:solidFill>
                <a:latin typeface="Cambria" panose="02040503050406030204" pitchFamily="18" charset="0"/>
              </a:rPr>
              <a:t>E = (O + M + P) / 3</a:t>
            </a:r>
            <a:endParaRPr lang="en-US" sz="3000" b="1">
              <a:solidFill>
                <a:srgbClr val="FFFFFF"/>
              </a:solidFill>
              <a:latin typeface="Cambria" panose="02040503050406030204" pitchFamily="18" charset="0"/>
            </a:endParaRPr>
          </a:p>
        </p:txBody>
      </p:sp>
      <p:sp>
        <p:nvSpPr>
          <p:cNvPr id="7" name="TextBox 6">
            <a:extLst>
              <a:ext uri="{FF2B5EF4-FFF2-40B4-BE49-F238E27FC236}">
                <a16:creationId xmlns:a16="http://schemas.microsoft.com/office/drawing/2014/main" id="{6EAD03F1-1C84-9B06-9B0D-81EBFED9B683}"/>
              </a:ext>
            </a:extLst>
          </p:cNvPr>
          <p:cNvSpPr txBox="1"/>
          <p:nvPr/>
        </p:nvSpPr>
        <p:spPr>
          <a:xfrm>
            <a:off x="762000" y="2311400"/>
            <a:ext cx="4826000" cy="254000"/>
          </a:xfrm>
          <a:prstGeom prst="rect">
            <a:avLst/>
          </a:prstGeom>
          <a:noFill/>
        </p:spPr>
        <p:txBody>
          <a:bodyPr vert="horz" wrap="square" lIns="0" tIns="0" rIns="0" bIns="0" rtlCol="0" anchor="t">
            <a:noAutofit/>
          </a:bodyPr>
          <a:lstStyle/>
          <a:p>
            <a:r>
              <a:rPr lang="en-US" sz="1300">
                <a:solidFill>
                  <a:srgbClr val="C9D6EA"/>
                </a:solidFill>
                <a:latin typeface="Calibri" panose="020F0502020204030204" pitchFamily="34" charset="0"/>
              </a:rPr>
              <a:t>Simple average of the three values</a:t>
            </a:r>
          </a:p>
        </p:txBody>
      </p:sp>
      <p:sp>
        <p:nvSpPr>
          <p:cNvPr id="8" name="Rectangle: Rounded Corners 7">
            <a:extLst>
              <a:ext uri="{FF2B5EF4-FFF2-40B4-BE49-F238E27FC236}">
                <a16:creationId xmlns:a16="http://schemas.microsoft.com/office/drawing/2014/main" id="{19DC17B6-8434-4E4B-F2E3-7A63E8DD977D}"/>
              </a:ext>
            </a:extLst>
          </p:cNvPr>
          <p:cNvSpPr/>
          <p:nvPr/>
        </p:nvSpPr>
        <p:spPr>
          <a:xfrm>
            <a:off x="508000" y="2819400"/>
            <a:ext cx="5334000" cy="1371600"/>
          </a:xfrm>
          <a:prstGeom prst="roundRect">
            <a:avLst>
              <a:gd name="adj" fmla="val 8000"/>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FE81607-7853-644E-1A94-E3F4F1803BAB}"/>
              </a:ext>
            </a:extLst>
          </p:cNvPr>
          <p:cNvSpPr txBox="1"/>
          <p:nvPr/>
        </p:nvSpPr>
        <p:spPr>
          <a:xfrm>
            <a:off x="762000" y="2946400"/>
            <a:ext cx="4826000" cy="254000"/>
          </a:xfrm>
          <a:prstGeom prst="rect">
            <a:avLst/>
          </a:prstGeom>
          <a:noFill/>
        </p:spPr>
        <p:txBody>
          <a:bodyPr vert="horz" wrap="square" lIns="0" tIns="0" rIns="0" bIns="0" rtlCol="0" anchor="t">
            <a:noAutofit/>
          </a:bodyPr>
          <a:lstStyle/>
          <a:p>
            <a:r>
              <a:rPr lang="en-US" sz="1300" b="1">
                <a:solidFill>
                  <a:srgbClr val="E3A63B"/>
                </a:solidFill>
                <a:latin typeface="Calibri" panose="020F0502020204030204" pitchFamily="34" charset="0"/>
              </a:rPr>
              <a:t>Beta (PERT)</a:t>
            </a:r>
          </a:p>
        </p:txBody>
      </p:sp>
      <p:sp>
        <p:nvSpPr>
          <p:cNvPr id="10" name="TextBox 9">
            <a:extLst>
              <a:ext uri="{FF2B5EF4-FFF2-40B4-BE49-F238E27FC236}">
                <a16:creationId xmlns:a16="http://schemas.microsoft.com/office/drawing/2014/main" id="{8F7770B9-3743-8EAA-EBBB-078852785D84}"/>
              </a:ext>
            </a:extLst>
          </p:cNvPr>
          <p:cNvSpPr txBox="1"/>
          <p:nvPr/>
        </p:nvSpPr>
        <p:spPr>
          <a:xfrm>
            <a:off x="762000" y="3225800"/>
            <a:ext cx="4826000" cy="558800"/>
          </a:xfrm>
          <a:prstGeom prst="rect">
            <a:avLst/>
          </a:prstGeom>
          <a:noFill/>
        </p:spPr>
        <p:txBody>
          <a:bodyPr vert="horz" wrap="square" lIns="0" tIns="0" rIns="0" bIns="0" rtlCol="0" anchor="ctr">
            <a:noAutofit/>
          </a:bodyPr>
          <a:lstStyle/>
          <a:p>
            <a:r>
              <a:rPr lang="pt-BR" sz="3000" b="1">
                <a:solidFill>
                  <a:srgbClr val="FFFFFF"/>
                </a:solidFill>
                <a:latin typeface="Cambria" panose="02040503050406030204" pitchFamily="18" charset="0"/>
              </a:rPr>
              <a:t>E = (O + 4M + P) / 6</a:t>
            </a:r>
            <a:endParaRPr lang="en-US" sz="3000" b="1">
              <a:solidFill>
                <a:srgbClr val="FFFFFF"/>
              </a:solidFill>
              <a:latin typeface="Cambria" panose="02040503050406030204" pitchFamily="18" charset="0"/>
            </a:endParaRPr>
          </a:p>
        </p:txBody>
      </p:sp>
      <p:sp>
        <p:nvSpPr>
          <p:cNvPr id="11" name="TextBox 10">
            <a:extLst>
              <a:ext uri="{FF2B5EF4-FFF2-40B4-BE49-F238E27FC236}">
                <a16:creationId xmlns:a16="http://schemas.microsoft.com/office/drawing/2014/main" id="{2682E597-0B4B-8D76-4E8E-B254608B6BA8}"/>
              </a:ext>
            </a:extLst>
          </p:cNvPr>
          <p:cNvSpPr txBox="1"/>
          <p:nvPr/>
        </p:nvSpPr>
        <p:spPr>
          <a:xfrm>
            <a:off x="762000" y="3810000"/>
            <a:ext cx="4826000" cy="254000"/>
          </a:xfrm>
          <a:prstGeom prst="rect">
            <a:avLst/>
          </a:prstGeom>
          <a:noFill/>
        </p:spPr>
        <p:txBody>
          <a:bodyPr vert="horz" wrap="square" lIns="0" tIns="0" rIns="0" bIns="0" rtlCol="0" anchor="t">
            <a:noAutofit/>
          </a:bodyPr>
          <a:lstStyle/>
          <a:p>
            <a:r>
              <a:rPr lang="en-US" sz="1300">
                <a:solidFill>
                  <a:srgbClr val="C9D6EA"/>
                </a:solidFill>
                <a:latin typeface="Calibri" panose="020F0502020204030204" pitchFamily="34" charset="0"/>
              </a:rPr>
              <a:t>Weights the most likely value (M, also written ML) four times</a:t>
            </a:r>
          </a:p>
        </p:txBody>
      </p:sp>
      <p:sp>
        <p:nvSpPr>
          <p:cNvPr id="12" name="Rectangle: Rounded Corners 11">
            <a:extLst>
              <a:ext uri="{FF2B5EF4-FFF2-40B4-BE49-F238E27FC236}">
                <a16:creationId xmlns:a16="http://schemas.microsoft.com/office/drawing/2014/main" id="{9C8A7CE0-200F-83B0-E1CC-60AE27666231}"/>
              </a:ext>
            </a:extLst>
          </p:cNvPr>
          <p:cNvSpPr/>
          <p:nvPr/>
        </p:nvSpPr>
        <p:spPr>
          <a:xfrm>
            <a:off x="508000" y="4318000"/>
            <a:ext cx="5334000" cy="1016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5B5318B-D78E-7794-5587-7BABFD77516C}"/>
              </a:ext>
            </a:extLst>
          </p:cNvPr>
          <p:cNvSpPr txBox="1"/>
          <p:nvPr/>
        </p:nvSpPr>
        <p:spPr>
          <a:xfrm>
            <a:off x="660400" y="4470400"/>
            <a:ext cx="5029200" cy="711200"/>
          </a:xfrm>
          <a:prstGeom prst="rect">
            <a:avLst/>
          </a:prstGeom>
          <a:noFill/>
        </p:spPr>
        <p:txBody>
          <a:bodyPr vert="horz" wrap="square" lIns="0" tIns="0" rIns="0" bIns="0" rtlCol="0" anchor="t">
            <a:noAutofit/>
          </a:bodyPr>
          <a:lstStyle/>
          <a:p>
            <a:pPr>
              <a:spcAft>
                <a:spcPts val="600"/>
              </a:spcAft>
            </a:pPr>
            <a:r>
              <a:rPr lang="en-US" sz="1400" b="1">
                <a:solidFill>
                  <a:srgbClr val="34509A"/>
                </a:solidFill>
                <a:latin typeface="Calibri" panose="020F0502020204030204" pitchFamily="34" charset="0"/>
              </a:rPr>
              <a:t>Standard deviation (PERT)</a:t>
            </a:r>
          </a:p>
          <a:p>
            <a:r>
              <a:rPr lang="en-US" sz="1300">
                <a:solidFill>
                  <a:srgbClr val="1F2937"/>
                </a:solidFill>
                <a:latin typeface="Calibri" panose="020F0502020204030204" pitchFamily="34" charset="0"/>
              </a:rPr>
              <a:t>σ = (P − O) / 6, variance = σ². A wider spread means more uncertainty.</a:t>
            </a:r>
          </a:p>
        </p:txBody>
      </p:sp>
      <p:sp>
        <p:nvSpPr>
          <p:cNvPr id="14" name="Rectangle: Rounded Corners 13">
            <a:extLst>
              <a:ext uri="{FF2B5EF4-FFF2-40B4-BE49-F238E27FC236}">
                <a16:creationId xmlns:a16="http://schemas.microsoft.com/office/drawing/2014/main" id="{10E4D09B-466A-FBFF-5E71-22949229291D}"/>
              </a:ext>
            </a:extLst>
          </p:cNvPr>
          <p:cNvSpPr/>
          <p:nvPr/>
        </p:nvSpPr>
        <p:spPr>
          <a:xfrm>
            <a:off x="6096000" y="1320800"/>
            <a:ext cx="5588000" cy="40132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A102873-AC34-A155-6955-11BB005DE5EC}"/>
              </a:ext>
            </a:extLst>
          </p:cNvPr>
          <p:cNvSpPr txBox="1"/>
          <p:nvPr/>
        </p:nvSpPr>
        <p:spPr>
          <a:xfrm>
            <a:off x="6299200" y="1524000"/>
            <a:ext cx="5181600" cy="3606800"/>
          </a:xfrm>
          <a:prstGeom prst="rect">
            <a:avLst/>
          </a:prstGeom>
          <a:noFill/>
        </p:spPr>
        <p:txBody>
          <a:bodyPr vert="horz" wrap="square" lIns="0" tIns="0" rIns="0" bIns="0" rtlCol="0" anchor="t">
            <a:noAutofit/>
          </a:bodyPr>
          <a:lstStyle/>
          <a:p>
            <a:pPr>
              <a:spcAft>
                <a:spcPts val="600"/>
              </a:spcAft>
            </a:pPr>
            <a:r>
              <a:rPr lang="en-US" sz="1600" b="1">
                <a:solidFill>
                  <a:srgbClr val="A86F0E"/>
                </a:solidFill>
                <a:latin typeface="Calibri" panose="020F0502020204030204" pitchFamily="34" charset="0"/>
              </a:rPr>
              <a:t>Worked example</a:t>
            </a:r>
          </a:p>
          <a:p>
            <a:pPr>
              <a:spcAft>
                <a:spcPts val="1000"/>
              </a:spcAft>
            </a:pPr>
            <a:r>
              <a:rPr lang="en-US" sz="1400">
                <a:solidFill>
                  <a:srgbClr val="1F2937"/>
                </a:solidFill>
                <a:latin typeface="Calibri" panose="020F0502020204030204" pitchFamily="34" charset="0"/>
              </a:rPr>
              <a:t>O = 4 days (optimistic), M = 6 days (most likely), P = 14 days (pessimistic)</a:t>
            </a:r>
          </a:p>
          <a:p>
            <a:pPr>
              <a:spcAft>
                <a:spcPts val="1000"/>
              </a:spcAft>
            </a:pPr>
            <a:r>
              <a:rPr lang="en-US" sz="1700" b="1">
                <a:solidFill>
                  <a:srgbClr val="14213D"/>
                </a:solidFill>
                <a:latin typeface="Calibri" panose="020F0502020204030204" pitchFamily="34" charset="0"/>
              </a:rPr>
              <a:t>Triangular: (4 + 6 + 14) / 3 = 8 days</a:t>
            </a:r>
          </a:p>
          <a:p>
            <a:pPr>
              <a:spcAft>
                <a:spcPts val="1000"/>
              </a:spcAft>
            </a:pPr>
            <a:r>
              <a:rPr lang="en-US" sz="1700" b="1">
                <a:solidFill>
                  <a:srgbClr val="14213D"/>
                </a:solidFill>
                <a:latin typeface="Calibri" panose="020F0502020204030204" pitchFamily="34" charset="0"/>
              </a:rPr>
              <a:t>PERT: (4 + 4×6 + 14) / 6 = 42 / 6 = 7 days</a:t>
            </a:r>
          </a:p>
          <a:p>
            <a:pPr>
              <a:spcAft>
                <a:spcPts val="1000"/>
              </a:spcAft>
            </a:pPr>
            <a:r>
              <a:rPr lang="en-US" sz="1400">
                <a:solidFill>
                  <a:srgbClr val="1F2937"/>
                </a:solidFill>
                <a:latin typeface="Calibri" panose="020F0502020204030204" pitchFamily="34" charset="0"/>
              </a:rPr>
              <a:t>σ = (14 − 4) / 6 ≈ 1.67 days</a:t>
            </a:r>
          </a:p>
          <a:p>
            <a:pPr>
              <a:spcAft>
                <a:spcPts val="1000"/>
              </a:spcAft>
            </a:pPr>
            <a:r>
              <a:rPr lang="en-US" sz="1400">
                <a:solidFill>
                  <a:srgbClr val="1F2937"/>
                </a:solidFill>
                <a:latin typeface="Calibri" panose="020F0502020204030204" pitchFamily="34" charset="0"/>
              </a:rPr>
              <a:t>About 68% confidence: 7 ± 1.67, or 5.3 to 8.7 days</a:t>
            </a:r>
          </a:p>
        </p:txBody>
      </p:sp>
      <p:sp>
        <p:nvSpPr>
          <p:cNvPr id="16" name="Rectangle: Rounded Corners 15">
            <a:extLst>
              <a:ext uri="{FF2B5EF4-FFF2-40B4-BE49-F238E27FC236}">
                <a16:creationId xmlns:a16="http://schemas.microsoft.com/office/drawing/2014/main" id="{66529A33-D7A7-3CC4-274F-6D665A4E5013}"/>
              </a:ext>
            </a:extLst>
          </p:cNvPr>
          <p:cNvSpPr/>
          <p:nvPr/>
        </p:nvSpPr>
        <p:spPr>
          <a:xfrm>
            <a:off x="508000" y="5486400"/>
            <a:ext cx="11176000" cy="8382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500CA8B-E8EF-A1A8-A558-3C4A0E2E0D47}"/>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if a question says beta or PERT, weight M by 4 and divide by 6; if it says triangular or simple average, divide by 3. Three-point estimates account for uncertainty and risk.</a:t>
            </a:r>
          </a:p>
        </p:txBody>
      </p:sp>
      <p:sp>
        <p:nvSpPr>
          <p:cNvPr id="18" name="Footer">
            <a:extLst>
              <a:ext uri="{FF2B5EF4-FFF2-40B4-BE49-F238E27FC236}">
                <a16:creationId xmlns:a16="http://schemas.microsoft.com/office/drawing/2014/main" id="{BCF34D0A-E720-19F4-422C-5CBFC43E828E}"/>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PMBOK® Guide — Sixth Edition, Sections 6.4.2.4 and 7.2.2.5 (three-point estimating)</a:t>
            </a:r>
          </a:p>
        </p:txBody>
      </p:sp>
      <p:sp>
        <p:nvSpPr>
          <p:cNvPr id="19" name="SlideNum">
            <a:extLst>
              <a:ext uri="{FF2B5EF4-FFF2-40B4-BE49-F238E27FC236}">
                <a16:creationId xmlns:a16="http://schemas.microsoft.com/office/drawing/2014/main" id="{4D8D1BD2-E59D-1378-B4A3-75903934F9A5}"/>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113</a:t>
            </a:r>
          </a:p>
        </p:txBody>
      </p:sp>
      <p:sp>
        <p:nvSpPr>
          <p:cNvPr id="20"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37703007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C8EC85F-DA48-82D1-CC62-F47B9CC74C8B}"/>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How the project budget builds up</a:t>
            </a:r>
          </a:p>
        </p:txBody>
      </p:sp>
      <p:sp>
        <p:nvSpPr>
          <p:cNvPr id="3" name="Tag">
            <a:extLst>
              <a:ext uri="{FF2B5EF4-FFF2-40B4-BE49-F238E27FC236}">
                <a16:creationId xmlns:a16="http://schemas.microsoft.com/office/drawing/2014/main" id="{8A1384D4-780E-3D3E-8FE0-CFDFDE1B9F83}"/>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Supports Process Task 6 · Plan and manage finance</a:t>
            </a:r>
          </a:p>
        </p:txBody>
      </p:sp>
      <p:sp>
        <p:nvSpPr>
          <p:cNvPr id="4" name="TextBox 3">
            <a:extLst>
              <a:ext uri="{FF2B5EF4-FFF2-40B4-BE49-F238E27FC236}">
                <a16:creationId xmlns:a16="http://schemas.microsoft.com/office/drawing/2014/main" id="{B9E563E9-C14A-9A00-B660-1940C9ABCC58}"/>
              </a:ext>
            </a:extLst>
          </p:cNvPr>
          <p:cNvSpPr txBox="1"/>
          <p:nvPr/>
        </p:nvSpPr>
        <p:spPr>
          <a:xfrm>
            <a:off x="508000" y="1422400"/>
            <a:ext cx="4699000" cy="889000"/>
          </a:xfrm>
          <a:prstGeom prst="rect">
            <a:avLst/>
          </a:prstGeom>
          <a:noFill/>
        </p:spPr>
        <p:txBody>
          <a:bodyPr vert="horz" wrap="square" lIns="0" tIns="0" rIns="0" bIns="0" rtlCol="0" anchor="t">
            <a:noAutofit/>
          </a:bodyPr>
          <a:lstStyle/>
          <a:p>
            <a:r>
              <a:rPr lang="en-US" sz="2000" i="1">
                <a:solidFill>
                  <a:srgbClr val="14213D"/>
                </a:solidFill>
                <a:latin typeface="Calibri" panose="020F0502020204030204" pitchFamily="34" charset="0"/>
              </a:rPr>
              <a:t>A project budget includes all funds authorized to execute the project.</a:t>
            </a:r>
          </a:p>
        </p:txBody>
      </p:sp>
      <p:sp>
        <p:nvSpPr>
          <p:cNvPr id="5" name="Rectangle: Rounded Corners 4">
            <a:extLst>
              <a:ext uri="{FF2B5EF4-FFF2-40B4-BE49-F238E27FC236}">
                <a16:creationId xmlns:a16="http://schemas.microsoft.com/office/drawing/2014/main" id="{E0FF4D1D-B28D-13FC-EFC8-869CF64D784E}"/>
              </a:ext>
            </a:extLst>
          </p:cNvPr>
          <p:cNvSpPr/>
          <p:nvPr/>
        </p:nvSpPr>
        <p:spPr>
          <a:xfrm>
            <a:off x="508000" y="2489200"/>
            <a:ext cx="4699000" cy="17526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9B12185-9AFD-6803-7F29-031DC095123F}"/>
              </a:ext>
            </a:extLst>
          </p:cNvPr>
          <p:cNvSpPr txBox="1"/>
          <p:nvPr/>
        </p:nvSpPr>
        <p:spPr>
          <a:xfrm>
            <a:off x="711200" y="2692400"/>
            <a:ext cx="4292600" cy="1346200"/>
          </a:xfrm>
          <a:prstGeom prst="rect">
            <a:avLst/>
          </a:prstGeom>
          <a:noFill/>
        </p:spPr>
        <p:txBody>
          <a:bodyPr vert="horz" wrap="square" lIns="0" tIns="0" rIns="0" bIns="0" rtlCol="0" anchor="t">
            <a:noAutofit/>
          </a:bodyPr>
          <a:lstStyle/>
          <a:p>
            <a:pPr>
              <a:spcAft>
                <a:spcPts val="600"/>
              </a:spcAft>
            </a:pPr>
            <a:r>
              <a:rPr lang="en-US" sz="1700" b="1">
                <a:solidFill>
                  <a:srgbClr val="A86F0E"/>
                </a:solidFill>
                <a:latin typeface="Calibri" panose="020F0502020204030204" pitchFamily="34" charset="0"/>
              </a:rPr>
              <a:t>Contingency reserve</a:t>
            </a:r>
          </a:p>
          <a:p>
            <a:r>
              <a:rPr lang="en-US" sz="1400">
                <a:solidFill>
                  <a:srgbClr val="1F2937"/>
                </a:solidFill>
                <a:latin typeface="Calibri" panose="020F0502020204030204" pitchFamily="34" charset="0"/>
              </a:rPr>
              <a:t>For identified risks (known-unknowns). It is part of the cost baseline, and the project manager uses it to respond to those risks.</a:t>
            </a:r>
          </a:p>
        </p:txBody>
      </p:sp>
      <p:sp>
        <p:nvSpPr>
          <p:cNvPr id="7" name="Rectangle: Rounded Corners 6">
            <a:extLst>
              <a:ext uri="{FF2B5EF4-FFF2-40B4-BE49-F238E27FC236}">
                <a16:creationId xmlns:a16="http://schemas.microsoft.com/office/drawing/2014/main" id="{5C110657-AE64-BC1D-B847-A0AE1E923C57}"/>
              </a:ext>
            </a:extLst>
          </p:cNvPr>
          <p:cNvSpPr/>
          <p:nvPr/>
        </p:nvSpPr>
        <p:spPr>
          <a:xfrm>
            <a:off x="508000" y="4394200"/>
            <a:ext cx="4699000" cy="17526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238C80F-BB93-FF21-6A1E-2B7AF83AD99F}"/>
              </a:ext>
            </a:extLst>
          </p:cNvPr>
          <p:cNvSpPr txBox="1"/>
          <p:nvPr/>
        </p:nvSpPr>
        <p:spPr>
          <a:xfrm>
            <a:off x="711200" y="4597400"/>
            <a:ext cx="4292600" cy="1346200"/>
          </a:xfrm>
          <a:prstGeom prst="rect">
            <a:avLst/>
          </a:prstGeom>
          <a:noFill/>
        </p:spPr>
        <p:txBody>
          <a:bodyPr vert="horz" wrap="square" lIns="0" tIns="0" rIns="0" bIns="0" rtlCol="0" anchor="t">
            <a:noAutofit/>
          </a:bodyPr>
          <a:lstStyle/>
          <a:p>
            <a:pPr>
              <a:spcAft>
                <a:spcPts val="600"/>
              </a:spcAft>
            </a:pPr>
            <a:r>
              <a:rPr lang="en-US" sz="1700" b="1">
                <a:solidFill>
                  <a:srgbClr val="A84A2E"/>
                </a:solidFill>
                <a:latin typeface="Calibri" panose="020F0502020204030204" pitchFamily="34" charset="0"/>
              </a:rPr>
              <a:t>Management reserve</a:t>
            </a:r>
          </a:p>
          <a:p>
            <a:r>
              <a:rPr lang="en-US" sz="1400">
                <a:solidFill>
                  <a:srgbClr val="1F2937"/>
                </a:solidFill>
                <a:latin typeface="Calibri" panose="020F0502020204030204" pitchFamily="34" charset="0"/>
              </a:rPr>
              <a:t>For unidentified risks (unknown-unknowns). It sits outside the cost baseline; using it needs management approval and a baseline change.</a:t>
            </a:r>
          </a:p>
        </p:txBody>
      </p:sp>
      <p:sp>
        <p:nvSpPr>
          <p:cNvPr id="9" name="TextBox 8">
            <a:extLst>
              <a:ext uri="{FF2B5EF4-FFF2-40B4-BE49-F238E27FC236}">
                <a16:creationId xmlns:a16="http://schemas.microsoft.com/office/drawing/2014/main" id="{59FC38BE-8AC3-8093-337A-617EE2A63C39}"/>
              </a:ext>
            </a:extLst>
          </p:cNvPr>
          <p:cNvSpPr txBox="1"/>
          <p:nvPr/>
        </p:nvSpPr>
        <p:spPr>
          <a:xfrm>
            <a:off x="5588000" y="1422400"/>
            <a:ext cx="3810000" cy="889000"/>
          </a:xfrm>
          <a:prstGeom prst="rect">
            <a:avLst/>
          </a:prstGeom>
          <a:noFill/>
        </p:spPr>
        <p:txBody>
          <a:bodyPr vert="horz" wrap="square" lIns="0" tIns="0" rIns="0" bIns="0" rtlCol="0" anchor="t">
            <a:noAutofit/>
          </a:bodyPr>
          <a:lstStyle/>
          <a:p>
            <a:r>
              <a:rPr lang="en-US" sz="1500">
                <a:solidFill>
                  <a:srgbClr val="1F2937"/>
                </a:solidFill>
                <a:latin typeface="Calibri" panose="020F0502020204030204" pitchFamily="34" charset="0"/>
              </a:rPr>
              <a:t>Earned value is measured against the cost baseline, so BAC does not include management reserve.</a:t>
            </a:r>
          </a:p>
        </p:txBody>
      </p:sp>
      <p:sp>
        <p:nvSpPr>
          <p:cNvPr id="10" name="Rectangle 9">
            <a:extLst>
              <a:ext uri="{FF2B5EF4-FFF2-40B4-BE49-F238E27FC236}">
                <a16:creationId xmlns:a16="http://schemas.microsoft.com/office/drawing/2014/main" id="{8086EF70-AF59-674A-7E39-25C10B08A2AA}"/>
              </a:ext>
            </a:extLst>
          </p:cNvPr>
          <p:cNvSpPr/>
          <p:nvPr/>
        </p:nvSpPr>
        <p:spPr>
          <a:xfrm>
            <a:off x="5588000" y="3683000"/>
            <a:ext cx="1905000" cy="2286000"/>
          </a:xfrm>
          <a:prstGeom prst="rect">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600" b="1">
                <a:solidFill>
                  <a:srgbClr val="FFFFFF"/>
                </a:solidFill>
                <a:latin typeface="Calibri" panose="020F0502020204030204" pitchFamily="34" charset="0"/>
              </a:rPr>
              <a:t>Activity cost estimates</a:t>
            </a:r>
          </a:p>
        </p:txBody>
      </p:sp>
      <p:sp>
        <p:nvSpPr>
          <p:cNvPr id="11" name="Rectangle 10">
            <a:extLst>
              <a:ext uri="{FF2B5EF4-FFF2-40B4-BE49-F238E27FC236}">
                <a16:creationId xmlns:a16="http://schemas.microsoft.com/office/drawing/2014/main" id="{AC80BE47-1E0A-D7CD-7A92-51F1900890B1}"/>
              </a:ext>
            </a:extLst>
          </p:cNvPr>
          <p:cNvSpPr/>
          <p:nvPr/>
        </p:nvSpPr>
        <p:spPr>
          <a:xfrm>
            <a:off x="7620000" y="2819400"/>
            <a:ext cx="1905000" cy="685800"/>
          </a:xfrm>
          <a:prstGeom prst="rect">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400" b="1">
                <a:solidFill>
                  <a:srgbClr val="14213D"/>
                </a:solidFill>
                <a:latin typeface="Calibri" panose="020F0502020204030204" pitchFamily="34" charset="0"/>
              </a:rPr>
              <a:t>Contingency reserve</a:t>
            </a:r>
          </a:p>
        </p:txBody>
      </p:sp>
      <p:sp>
        <p:nvSpPr>
          <p:cNvPr id="12" name="Rectangle 11">
            <a:extLst>
              <a:ext uri="{FF2B5EF4-FFF2-40B4-BE49-F238E27FC236}">
                <a16:creationId xmlns:a16="http://schemas.microsoft.com/office/drawing/2014/main" id="{F8C25A95-20C0-1B20-CC46-4142672A6CC5}"/>
              </a:ext>
            </a:extLst>
          </p:cNvPr>
          <p:cNvSpPr/>
          <p:nvPr/>
        </p:nvSpPr>
        <p:spPr>
          <a:xfrm>
            <a:off x="7620000" y="3556000"/>
            <a:ext cx="1905000" cy="241300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600" b="1">
                <a:solidFill>
                  <a:srgbClr val="FFFFFF"/>
                </a:solidFill>
                <a:latin typeface="Calibri" panose="020F0502020204030204" pitchFamily="34" charset="0"/>
              </a:rPr>
              <a:t>Cost baseline</a:t>
            </a:r>
          </a:p>
          <a:p>
            <a:pPr algn="ctr"/>
            <a:r>
              <a:rPr lang="en-US" sz="1600" b="1">
                <a:solidFill>
                  <a:srgbClr val="FFFFFF"/>
                </a:solidFill>
                <a:latin typeface="Calibri" panose="020F0502020204030204" pitchFamily="34" charset="0"/>
              </a:rPr>
              <a:t>(BAC)</a:t>
            </a:r>
          </a:p>
        </p:txBody>
      </p:sp>
      <p:sp>
        <p:nvSpPr>
          <p:cNvPr id="13" name="Rectangle 12">
            <a:extLst>
              <a:ext uri="{FF2B5EF4-FFF2-40B4-BE49-F238E27FC236}">
                <a16:creationId xmlns:a16="http://schemas.microsoft.com/office/drawing/2014/main" id="{4BA953E8-717D-A2C3-ABC5-35F0D46D90C1}"/>
              </a:ext>
            </a:extLst>
          </p:cNvPr>
          <p:cNvSpPr/>
          <p:nvPr/>
        </p:nvSpPr>
        <p:spPr>
          <a:xfrm>
            <a:off x="9652000" y="1905000"/>
            <a:ext cx="2032000" cy="685800"/>
          </a:xfrm>
          <a:prstGeom prst="rect">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400" b="1">
                <a:solidFill>
                  <a:srgbClr val="FFFFFF"/>
                </a:solidFill>
                <a:latin typeface="Calibri" panose="020F0502020204030204" pitchFamily="34" charset="0"/>
              </a:rPr>
              <a:t>Management reserve</a:t>
            </a:r>
          </a:p>
        </p:txBody>
      </p:sp>
      <p:sp>
        <p:nvSpPr>
          <p:cNvPr id="14" name="Rectangle 13">
            <a:extLst>
              <a:ext uri="{FF2B5EF4-FFF2-40B4-BE49-F238E27FC236}">
                <a16:creationId xmlns:a16="http://schemas.microsoft.com/office/drawing/2014/main" id="{42FE29BF-B7F6-6709-9FF8-30552CDD6AFD}"/>
              </a:ext>
            </a:extLst>
          </p:cNvPr>
          <p:cNvSpPr/>
          <p:nvPr/>
        </p:nvSpPr>
        <p:spPr>
          <a:xfrm>
            <a:off x="9652000" y="2641600"/>
            <a:ext cx="2032000" cy="3327400"/>
          </a:xfrm>
          <a:prstGeom prst="rect">
            <a:avLst/>
          </a:prstGeom>
          <a:solidFill>
            <a:srgbClr val="0B5E6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600" b="1">
                <a:solidFill>
                  <a:srgbClr val="FFFFFF"/>
                </a:solidFill>
                <a:latin typeface="Calibri" panose="020F0502020204030204" pitchFamily="34" charset="0"/>
              </a:rPr>
              <a:t>Project budget</a:t>
            </a:r>
          </a:p>
        </p:txBody>
      </p:sp>
      <p:sp>
        <p:nvSpPr>
          <p:cNvPr id="15" name="TextBox 14">
            <a:extLst>
              <a:ext uri="{FF2B5EF4-FFF2-40B4-BE49-F238E27FC236}">
                <a16:creationId xmlns:a16="http://schemas.microsoft.com/office/drawing/2014/main" id="{2D7030D4-1407-22F0-69F1-B8A66721B0F5}"/>
              </a:ext>
            </a:extLst>
          </p:cNvPr>
          <p:cNvSpPr txBox="1"/>
          <p:nvPr/>
        </p:nvSpPr>
        <p:spPr>
          <a:xfrm>
            <a:off x="5588000" y="6045200"/>
            <a:ext cx="1905000" cy="228600"/>
          </a:xfrm>
          <a:prstGeom prst="rect">
            <a:avLst/>
          </a:prstGeom>
          <a:noFill/>
        </p:spPr>
        <p:txBody>
          <a:bodyPr vert="horz" wrap="square" lIns="0" tIns="0" rIns="0" bIns="0" rtlCol="0" anchor="t">
            <a:noAutofit/>
          </a:bodyPr>
          <a:lstStyle/>
          <a:p>
            <a:pPr algn="ctr"/>
            <a:r>
              <a:rPr lang="en-US" sz="1200">
                <a:solidFill>
                  <a:srgbClr val="5B6475"/>
                </a:solidFill>
                <a:latin typeface="Calibri" panose="020F0502020204030204" pitchFamily="34" charset="0"/>
              </a:rPr>
              <a:t>sum of estimates</a:t>
            </a:r>
          </a:p>
        </p:txBody>
      </p:sp>
      <p:sp>
        <p:nvSpPr>
          <p:cNvPr id="16" name="TextBox 15">
            <a:extLst>
              <a:ext uri="{FF2B5EF4-FFF2-40B4-BE49-F238E27FC236}">
                <a16:creationId xmlns:a16="http://schemas.microsoft.com/office/drawing/2014/main" id="{5AA44849-6A18-8670-7B20-15D90E0D158D}"/>
              </a:ext>
            </a:extLst>
          </p:cNvPr>
          <p:cNvSpPr txBox="1"/>
          <p:nvPr/>
        </p:nvSpPr>
        <p:spPr>
          <a:xfrm>
            <a:off x="7620000" y="6045200"/>
            <a:ext cx="1905000" cy="228600"/>
          </a:xfrm>
          <a:prstGeom prst="rect">
            <a:avLst/>
          </a:prstGeom>
          <a:noFill/>
        </p:spPr>
        <p:txBody>
          <a:bodyPr vert="horz" wrap="square" lIns="0" tIns="0" rIns="0" bIns="0" rtlCol="0" anchor="t">
            <a:noAutofit/>
          </a:bodyPr>
          <a:lstStyle/>
          <a:p>
            <a:pPr algn="ctr"/>
            <a:r>
              <a:rPr lang="en-US" sz="1200">
                <a:solidFill>
                  <a:srgbClr val="5B6475"/>
                </a:solidFill>
                <a:latin typeface="Calibri" panose="020F0502020204030204" pitchFamily="34" charset="0"/>
              </a:rPr>
              <a:t>+ contingency reserve</a:t>
            </a:r>
          </a:p>
        </p:txBody>
      </p:sp>
      <p:sp>
        <p:nvSpPr>
          <p:cNvPr id="17" name="TextBox 16">
            <a:extLst>
              <a:ext uri="{FF2B5EF4-FFF2-40B4-BE49-F238E27FC236}">
                <a16:creationId xmlns:a16="http://schemas.microsoft.com/office/drawing/2014/main" id="{2E795380-0B94-A379-7AE1-2BA73A37EC7A}"/>
              </a:ext>
            </a:extLst>
          </p:cNvPr>
          <p:cNvSpPr txBox="1"/>
          <p:nvPr/>
        </p:nvSpPr>
        <p:spPr>
          <a:xfrm>
            <a:off x="9652000" y="6045200"/>
            <a:ext cx="2032000" cy="228600"/>
          </a:xfrm>
          <a:prstGeom prst="rect">
            <a:avLst/>
          </a:prstGeom>
          <a:noFill/>
        </p:spPr>
        <p:txBody>
          <a:bodyPr vert="horz" wrap="square" lIns="0" tIns="0" rIns="0" bIns="0" rtlCol="0" anchor="t">
            <a:noAutofit/>
          </a:bodyPr>
          <a:lstStyle/>
          <a:p>
            <a:pPr algn="ctr"/>
            <a:r>
              <a:rPr lang="en-US" sz="1200">
                <a:solidFill>
                  <a:srgbClr val="5B6475"/>
                </a:solidFill>
                <a:latin typeface="Calibri" panose="020F0502020204030204" pitchFamily="34" charset="0"/>
              </a:rPr>
              <a:t>+ management reserve</a:t>
            </a:r>
          </a:p>
        </p:txBody>
      </p:sp>
      <p:sp>
        <p:nvSpPr>
          <p:cNvPr id="18" name="Footer">
            <a:extLst>
              <a:ext uri="{FF2B5EF4-FFF2-40B4-BE49-F238E27FC236}">
                <a16:creationId xmlns:a16="http://schemas.microsoft.com/office/drawing/2014/main" id="{3C3A2A38-A944-98AB-A09F-BC3C74C7EE2B}"/>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PMBOK® Guide — Sixth Edition, Section 7.3 (Determine Budget)</a:t>
            </a:r>
          </a:p>
        </p:txBody>
      </p:sp>
      <p:sp>
        <p:nvSpPr>
          <p:cNvPr id="19" name="SlideNum">
            <a:extLst>
              <a:ext uri="{FF2B5EF4-FFF2-40B4-BE49-F238E27FC236}">
                <a16:creationId xmlns:a16="http://schemas.microsoft.com/office/drawing/2014/main" id="{AE70A71D-D16C-A4BD-5A4D-CBBF4CDBCC0B}"/>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114</a:t>
            </a:r>
          </a:p>
        </p:txBody>
      </p:sp>
      <p:sp>
        <p:nvSpPr>
          <p:cNvPr id="20"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06600004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930F3DE3-BCF8-9677-7778-18DA95FAC43B}"/>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Predictive vs. adaptive: what is fixed, what flexes</a:t>
            </a:r>
          </a:p>
        </p:txBody>
      </p:sp>
      <p:sp>
        <p:nvSpPr>
          <p:cNvPr id="3" name="Tag">
            <a:extLst>
              <a:ext uri="{FF2B5EF4-FFF2-40B4-BE49-F238E27FC236}">
                <a16:creationId xmlns:a16="http://schemas.microsoft.com/office/drawing/2014/main" id="{43EDF969-BB57-E7E4-1B15-9CD4A9B8679A}"/>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6A4C93"/>
                </a:solidFill>
                <a:latin typeface="Calibri" panose="020F0502020204030204" pitchFamily="34" charset="0"/>
              </a:rPr>
              <a:t>Agile method (adaptive approach) · Supports Process Tasks 1 and 6 · See Agile essentials, slides 92–94</a:t>
            </a:r>
          </a:p>
        </p:txBody>
      </p:sp>
      <p:sp>
        <p:nvSpPr>
          <p:cNvPr id="4" name="PredictiveTriangle">
            <a:extLst>
              <a:ext uri="{FF2B5EF4-FFF2-40B4-BE49-F238E27FC236}">
                <a16:creationId xmlns:a16="http://schemas.microsoft.com/office/drawing/2014/main" id="{499EFA0C-4E78-AA49-7CCD-DC6B9D2038FD}"/>
              </a:ext>
            </a:extLst>
          </p:cNvPr>
          <p:cNvSpPr/>
          <p:nvPr/>
        </p:nvSpPr>
        <p:spPr>
          <a:xfrm>
            <a:off x="1651000" y="1905000"/>
            <a:ext cx="3048000" cy="2540000"/>
          </a:xfrm>
          <a:prstGeom prst="triangl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51E52BC-106E-16A0-2AA6-F09A1BA85005}"/>
              </a:ext>
            </a:extLst>
          </p:cNvPr>
          <p:cNvSpPr txBox="1"/>
          <p:nvPr/>
        </p:nvSpPr>
        <p:spPr>
          <a:xfrm>
            <a:off x="2159000" y="3429000"/>
            <a:ext cx="2032000" cy="711200"/>
          </a:xfrm>
          <a:prstGeom prst="rect">
            <a:avLst/>
          </a:prstGeom>
          <a:noFill/>
        </p:spPr>
        <p:txBody>
          <a:bodyPr vert="horz" wrap="square" lIns="0" tIns="0" rIns="0" bIns="0" rtlCol="0" anchor="ctr">
            <a:noAutofit/>
          </a:bodyPr>
          <a:lstStyle/>
          <a:p>
            <a:pPr algn="ctr"/>
            <a:r>
              <a:rPr lang="en-US" b="1">
                <a:solidFill>
                  <a:srgbClr val="FFFFFF"/>
                </a:solidFill>
                <a:latin typeface="Calibri" panose="020F0502020204030204" pitchFamily="34" charset="0"/>
              </a:rPr>
              <a:t>Predictive</a:t>
            </a:r>
          </a:p>
          <a:p>
            <a:pPr algn="ctr"/>
            <a:r>
              <a:rPr lang="en-US" b="1">
                <a:solidFill>
                  <a:srgbClr val="FFFFFF"/>
                </a:solidFill>
                <a:latin typeface="Calibri" panose="020F0502020204030204" pitchFamily="34" charset="0"/>
              </a:rPr>
              <a:t>approach</a:t>
            </a:r>
          </a:p>
        </p:txBody>
      </p:sp>
      <p:sp>
        <p:nvSpPr>
          <p:cNvPr id="6" name="TextBox 5">
            <a:extLst>
              <a:ext uri="{FF2B5EF4-FFF2-40B4-BE49-F238E27FC236}">
                <a16:creationId xmlns:a16="http://schemas.microsoft.com/office/drawing/2014/main" id="{1C7BE935-B3D5-2288-C6BB-A803A36DF598}"/>
              </a:ext>
            </a:extLst>
          </p:cNvPr>
          <p:cNvSpPr txBox="1"/>
          <p:nvPr/>
        </p:nvSpPr>
        <p:spPr>
          <a:xfrm>
            <a:off x="2413000" y="1549400"/>
            <a:ext cx="1524000" cy="304800"/>
          </a:xfrm>
          <a:prstGeom prst="rect">
            <a:avLst/>
          </a:prstGeom>
          <a:noFill/>
        </p:spPr>
        <p:txBody>
          <a:bodyPr vert="horz" wrap="square" lIns="0" tIns="0" rIns="0" bIns="0" rtlCol="0" anchor="t">
            <a:noAutofit/>
          </a:bodyPr>
          <a:lstStyle/>
          <a:p>
            <a:pPr algn="ctr"/>
            <a:r>
              <a:rPr lang="en-US" b="1">
                <a:solidFill>
                  <a:srgbClr val="A84A2E"/>
                </a:solidFill>
                <a:latin typeface="Calibri" panose="020F0502020204030204" pitchFamily="34" charset="0"/>
              </a:rPr>
              <a:t>Scope</a:t>
            </a:r>
          </a:p>
        </p:txBody>
      </p:sp>
      <p:sp>
        <p:nvSpPr>
          <p:cNvPr id="7" name="TextBox 6">
            <a:extLst>
              <a:ext uri="{FF2B5EF4-FFF2-40B4-BE49-F238E27FC236}">
                <a16:creationId xmlns:a16="http://schemas.microsoft.com/office/drawing/2014/main" id="{26CFD278-EF9A-575C-1022-C0AD305ED120}"/>
              </a:ext>
            </a:extLst>
          </p:cNvPr>
          <p:cNvSpPr txBox="1"/>
          <p:nvPr/>
        </p:nvSpPr>
        <p:spPr>
          <a:xfrm>
            <a:off x="889000" y="4521200"/>
            <a:ext cx="1524000" cy="304800"/>
          </a:xfrm>
          <a:prstGeom prst="rect">
            <a:avLst/>
          </a:prstGeom>
          <a:noFill/>
        </p:spPr>
        <p:txBody>
          <a:bodyPr vert="horz" wrap="square" lIns="0" tIns="0" rIns="0" bIns="0" rtlCol="0" anchor="t">
            <a:noAutofit/>
          </a:bodyPr>
          <a:lstStyle/>
          <a:p>
            <a:pPr algn="ctr"/>
            <a:r>
              <a:rPr lang="en-US" b="1">
                <a:solidFill>
                  <a:srgbClr val="A84A2E"/>
                </a:solidFill>
                <a:latin typeface="Calibri" panose="020F0502020204030204" pitchFamily="34" charset="0"/>
              </a:rPr>
              <a:t>Time</a:t>
            </a:r>
          </a:p>
        </p:txBody>
      </p:sp>
      <p:sp>
        <p:nvSpPr>
          <p:cNvPr id="8" name="TextBox 7">
            <a:extLst>
              <a:ext uri="{FF2B5EF4-FFF2-40B4-BE49-F238E27FC236}">
                <a16:creationId xmlns:a16="http://schemas.microsoft.com/office/drawing/2014/main" id="{6DE07708-CF73-C70D-439B-E02368364424}"/>
              </a:ext>
            </a:extLst>
          </p:cNvPr>
          <p:cNvSpPr txBox="1"/>
          <p:nvPr/>
        </p:nvSpPr>
        <p:spPr>
          <a:xfrm>
            <a:off x="3937000" y="4521200"/>
            <a:ext cx="1524000" cy="304800"/>
          </a:xfrm>
          <a:prstGeom prst="rect">
            <a:avLst/>
          </a:prstGeom>
          <a:noFill/>
        </p:spPr>
        <p:txBody>
          <a:bodyPr vert="horz" wrap="square" lIns="0" tIns="0" rIns="0" bIns="0" rtlCol="0" anchor="t">
            <a:noAutofit/>
          </a:bodyPr>
          <a:lstStyle/>
          <a:p>
            <a:pPr algn="ctr"/>
            <a:r>
              <a:rPr lang="en-US" b="1">
                <a:solidFill>
                  <a:srgbClr val="A84A2E"/>
                </a:solidFill>
                <a:latin typeface="Calibri" panose="020F0502020204030204" pitchFamily="34" charset="0"/>
              </a:rPr>
              <a:t>Cost</a:t>
            </a:r>
          </a:p>
        </p:txBody>
      </p:sp>
      <p:sp>
        <p:nvSpPr>
          <p:cNvPr id="9" name="AdaptiveTriangle">
            <a:extLst>
              <a:ext uri="{FF2B5EF4-FFF2-40B4-BE49-F238E27FC236}">
                <a16:creationId xmlns:a16="http://schemas.microsoft.com/office/drawing/2014/main" id="{32C6A9AA-8F2A-B63A-3944-DFD5DE2DCB8E}"/>
              </a:ext>
            </a:extLst>
          </p:cNvPr>
          <p:cNvSpPr/>
          <p:nvPr/>
        </p:nvSpPr>
        <p:spPr>
          <a:xfrm rot="10800000">
            <a:off x="7493000" y="1905000"/>
            <a:ext cx="3048000" cy="2540000"/>
          </a:xfrm>
          <a:prstGeom prst="triangl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33213BA-F6AE-C5B7-CC3A-D79224A59CE5}"/>
              </a:ext>
            </a:extLst>
          </p:cNvPr>
          <p:cNvSpPr txBox="1"/>
          <p:nvPr/>
        </p:nvSpPr>
        <p:spPr>
          <a:xfrm>
            <a:off x="8001000" y="2159000"/>
            <a:ext cx="2032000" cy="711200"/>
          </a:xfrm>
          <a:prstGeom prst="rect">
            <a:avLst/>
          </a:prstGeom>
          <a:noFill/>
        </p:spPr>
        <p:txBody>
          <a:bodyPr vert="horz" wrap="square" lIns="0" tIns="0" rIns="0" bIns="0" rtlCol="0" anchor="ctr">
            <a:noAutofit/>
          </a:bodyPr>
          <a:lstStyle/>
          <a:p>
            <a:pPr algn="ctr"/>
            <a:r>
              <a:rPr lang="en-US" b="1">
                <a:solidFill>
                  <a:srgbClr val="FFFFFF"/>
                </a:solidFill>
                <a:latin typeface="Calibri" panose="020F0502020204030204" pitchFamily="34" charset="0"/>
              </a:rPr>
              <a:t>Adaptive</a:t>
            </a:r>
          </a:p>
          <a:p>
            <a:pPr algn="ctr"/>
            <a:r>
              <a:rPr lang="en-US" b="1">
                <a:solidFill>
                  <a:srgbClr val="FFFFFF"/>
                </a:solidFill>
                <a:latin typeface="Calibri" panose="020F0502020204030204" pitchFamily="34" charset="0"/>
              </a:rPr>
              <a:t>approach</a:t>
            </a:r>
          </a:p>
        </p:txBody>
      </p:sp>
      <p:sp>
        <p:nvSpPr>
          <p:cNvPr id="11" name="TextBox 10">
            <a:extLst>
              <a:ext uri="{FF2B5EF4-FFF2-40B4-BE49-F238E27FC236}">
                <a16:creationId xmlns:a16="http://schemas.microsoft.com/office/drawing/2014/main" id="{3794CF85-DEB9-44A2-61F3-8CE204FF3713}"/>
              </a:ext>
            </a:extLst>
          </p:cNvPr>
          <p:cNvSpPr txBox="1"/>
          <p:nvPr/>
        </p:nvSpPr>
        <p:spPr>
          <a:xfrm>
            <a:off x="6731000" y="1549400"/>
            <a:ext cx="1524000" cy="304800"/>
          </a:xfrm>
          <a:prstGeom prst="rect">
            <a:avLst/>
          </a:prstGeom>
          <a:noFill/>
        </p:spPr>
        <p:txBody>
          <a:bodyPr vert="horz" wrap="square" lIns="0" tIns="0" rIns="0" bIns="0" rtlCol="0" anchor="t">
            <a:noAutofit/>
          </a:bodyPr>
          <a:lstStyle/>
          <a:p>
            <a:pPr algn="ctr"/>
            <a:r>
              <a:rPr lang="en-US" b="1">
                <a:solidFill>
                  <a:srgbClr val="34509A"/>
                </a:solidFill>
                <a:latin typeface="Calibri" panose="020F0502020204030204" pitchFamily="34" charset="0"/>
              </a:rPr>
              <a:t>Time</a:t>
            </a:r>
          </a:p>
        </p:txBody>
      </p:sp>
      <p:sp>
        <p:nvSpPr>
          <p:cNvPr id="12" name="TextBox 11">
            <a:extLst>
              <a:ext uri="{FF2B5EF4-FFF2-40B4-BE49-F238E27FC236}">
                <a16:creationId xmlns:a16="http://schemas.microsoft.com/office/drawing/2014/main" id="{32AAD42B-EFF8-8F0C-A1A8-87BB377A096A}"/>
              </a:ext>
            </a:extLst>
          </p:cNvPr>
          <p:cNvSpPr txBox="1"/>
          <p:nvPr/>
        </p:nvSpPr>
        <p:spPr>
          <a:xfrm>
            <a:off x="9779000" y="1549400"/>
            <a:ext cx="1524000" cy="304800"/>
          </a:xfrm>
          <a:prstGeom prst="rect">
            <a:avLst/>
          </a:prstGeom>
          <a:noFill/>
        </p:spPr>
        <p:txBody>
          <a:bodyPr vert="horz" wrap="square" lIns="0" tIns="0" rIns="0" bIns="0" rtlCol="0" anchor="t">
            <a:noAutofit/>
          </a:bodyPr>
          <a:lstStyle/>
          <a:p>
            <a:pPr algn="ctr"/>
            <a:r>
              <a:rPr lang="en-US" b="1">
                <a:solidFill>
                  <a:srgbClr val="34509A"/>
                </a:solidFill>
                <a:latin typeface="Calibri" panose="020F0502020204030204" pitchFamily="34" charset="0"/>
              </a:rPr>
              <a:t>Cost</a:t>
            </a:r>
          </a:p>
        </p:txBody>
      </p:sp>
      <p:sp>
        <p:nvSpPr>
          <p:cNvPr id="13" name="TextBox 12">
            <a:extLst>
              <a:ext uri="{FF2B5EF4-FFF2-40B4-BE49-F238E27FC236}">
                <a16:creationId xmlns:a16="http://schemas.microsoft.com/office/drawing/2014/main" id="{6E76BBA2-4FA4-EBD9-BE1E-DA026CA648EC}"/>
              </a:ext>
            </a:extLst>
          </p:cNvPr>
          <p:cNvSpPr txBox="1"/>
          <p:nvPr/>
        </p:nvSpPr>
        <p:spPr>
          <a:xfrm>
            <a:off x="8255000" y="4521200"/>
            <a:ext cx="1524000" cy="304800"/>
          </a:xfrm>
          <a:prstGeom prst="rect">
            <a:avLst/>
          </a:prstGeom>
          <a:noFill/>
        </p:spPr>
        <p:txBody>
          <a:bodyPr vert="horz" wrap="square" lIns="0" tIns="0" rIns="0" bIns="0" rtlCol="0" anchor="t">
            <a:noAutofit/>
          </a:bodyPr>
          <a:lstStyle/>
          <a:p>
            <a:pPr algn="ctr"/>
            <a:r>
              <a:rPr lang="en-US" b="1">
                <a:solidFill>
                  <a:srgbClr val="34509A"/>
                </a:solidFill>
                <a:latin typeface="Calibri" panose="020F0502020204030204" pitchFamily="34" charset="0"/>
              </a:rPr>
              <a:t>Scope</a:t>
            </a:r>
          </a:p>
        </p:txBody>
      </p:sp>
      <p:cxnSp>
        <p:nvCxnSpPr>
          <p:cNvPr id="14" name="Straight Connector 13">
            <a:extLst>
              <a:ext uri="{FF2B5EF4-FFF2-40B4-BE49-F238E27FC236}">
                <a16:creationId xmlns:a16="http://schemas.microsoft.com/office/drawing/2014/main" id="{B00EEBD6-9C12-8A40-3534-258B41E77D14}"/>
              </a:ext>
            </a:extLst>
          </p:cNvPr>
          <p:cNvCxnSpPr/>
          <p:nvPr/>
        </p:nvCxnSpPr>
        <p:spPr>
          <a:xfrm>
            <a:off x="4038600" y="1701800"/>
            <a:ext cx="2590800" cy="0"/>
          </a:xfrm>
          <a:prstGeom prst="line">
            <a:avLst/>
          </a:prstGeom>
          <a:ln w="19050">
            <a:solidFill>
              <a:srgbClr val="5B6475"/>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CC704D8E-AA32-F009-24F9-0CAF9A00BAE3}"/>
              </a:ext>
            </a:extLst>
          </p:cNvPr>
          <p:cNvSpPr txBox="1"/>
          <p:nvPr/>
        </p:nvSpPr>
        <p:spPr>
          <a:xfrm>
            <a:off x="4546600" y="1574800"/>
            <a:ext cx="1574800" cy="254000"/>
          </a:xfrm>
          <a:prstGeom prst="rect">
            <a:avLst/>
          </a:prstGeom>
          <a:solidFill>
            <a:srgbClr val="FFFFFF"/>
          </a:solidFill>
        </p:spPr>
        <p:txBody>
          <a:bodyPr vert="horz" wrap="square" lIns="0" tIns="0" rIns="0" bIns="0" rtlCol="0" anchor="ctr">
            <a:noAutofit/>
          </a:bodyPr>
          <a:lstStyle/>
          <a:p>
            <a:pPr algn="ctr"/>
            <a:r>
              <a:rPr lang="en-US" sz="1500" b="1">
                <a:solidFill>
                  <a:srgbClr val="14213D"/>
                </a:solidFill>
                <a:latin typeface="Calibri" panose="020F0502020204030204" pitchFamily="34" charset="0"/>
              </a:rPr>
              <a:t>Fixed</a:t>
            </a:r>
          </a:p>
        </p:txBody>
      </p:sp>
      <p:cxnSp>
        <p:nvCxnSpPr>
          <p:cNvPr id="16" name="Straight Connector 15">
            <a:extLst>
              <a:ext uri="{FF2B5EF4-FFF2-40B4-BE49-F238E27FC236}">
                <a16:creationId xmlns:a16="http://schemas.microsoft.com/office/drawing/2014/main" id="{EE77CF15-3BA2-B924-B84B-EA081100BECA}"/>
              </a:ext>
            </a:extLst>
          </p:cNvPr>
          <p:cNvCxnSpPr/>
          <p:nvPr/>
        </p:nvCxnSpPr>
        <p:spPr>
          <a:xfrm>
            <a:off x="5537200" y="4673600"/>
            <a:ext cx="2590800" cy="0"/>
          </a:xfrm>
          <a:prstGeom prst="line">
            <a:avLst/>
          </a:prstGeom>
          <a:ln w="19050">
            <a:solidFill>
              <a:srgbClr val="5B6475"/>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FEE79B81-19FA-921D-71DC-4FFF5F216D80}"/>
              </a:ext>
            </a:extLst>
          </p:cNvPr>
          <p:cNvSpPr txBox="1"/>
          <p:nvPr/>
        </p:nvSpPr>
        <p:spPr>
          <a:xfrm>
            <a:off x="6045200" y="4546600"/>
            <a:ext cx="1574800" cy="254000"/>
          </a:xfrm>
          <a:prstGeom prst="rect">
            <a:avLst/>
          </a:prstGeom>
          <a:solidFill>
            <a:srgbClr val="FFFFFF"/>
          </a:solidFill>
        </p:spPr>
        <p:txBody>
          <a:bodyPr vert="horz" wrap="square" lIns="0" tIns="0" rIns="0" bIns="0" rtlCol="0" anchor="ctr">
            <a:noAutofit/>
          </a:bodyPr>
          <a:lstStyle/>
          <a:p>
            <a:pPr algn="ctr"/>
            <a:r>
              <a:rPr lang="en-US" sz="1500" b="1">
                <a:solidFill>
                  <a:srgbClr val="14213D"/>
                </a:solidFill>
                <a:latin typeface="Calibri" panose="020F0502020204030204" pitchFamily="34" charset="0"/>
              </a:rPr>
              <a:t>Variable</a:t>
            </a:r>
          </a:p>
        </p:txBody>
      </p:sp>
      <p:sp>
        <p:nvSpPr>
          <p:cNvPr id="18" name="Rectangle: Rounded Corners 17">
            <a:extLst>
              <a:ext uri="{FF2B5EF4-FFF2-40B4-BE49-F238E27FC236}">
                <a16:creationId xmlns:a16="http://schemas.microsoft.com/office/drawing/2014/main" id="{88CA73F9-171A-AA0F-04B8-EADDFC17673F}"/>
              </a:ext>
            </a:extLst>
          </p:cNvPr>
          <p:cNvSpPr/>
          <p:nvPr/>
        </p:nvSpPr>
        <p:spPr>
          <a:xfrm>
            <a:off x="508000" y="5130800"/>
            <a:ext cx="5461000" cy="11684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E55CBED-8BE7-F370-9E93-7D70638B8A5B}"/>
              </a:ext>
            </a:extLst>
          </p:cNvPr>
          <p:cNvSpPr txBox="1"/>
          <p:nvPr/>
        </p:nvSpPr>
        <p:spPr>
          <a:xfrm>
            <a:off x="660400" y="5283200"/>
            <a:ext cx="5156200" cy="863600"/>
          </a:xfrm>
          <a:prstGeom prst="rect">
            <a:avLst/>
          </a:prstGeom>
          <a:noFill/>
        </p:spPr>
        <p:txBody>
          <a:bodyPr vert="horz" wrap="square" lIns="0" tIns="0" rIns="0" bIns="0" rtlCol="0" anchor="t">
            <a:noAutofit/>
          </a:bodyPr>
          <a:lstStyle/>
          <a:p>
            <a:pPr>
              <a:spcAft>
                <a:spcPts val="600"/>
              </a:spcAft>
            </a:pPr>
            <a:r>
              <a:rPr lang="en-US" sz="1500" b="1">
                <a:solidFill>
                  <a:srgbClr val="A84A2E"/>
                </a:solidFill>
                <a:latin typeface="Calibri" panose="020F0502020204030204" pitchFamily="34" charset="0"/>
              </a:rPr>
              <a:t>Predictive budgeting</a:t>
            </a:r>
          </a:p>
          <a:p>
            <a:r>
              <a:rPr lang="en-US" sz="1400">
                <a:solidFill>
                  <a:srgbClr val="1F2937"/>
                </a:solidFill>
                <a:latin typeface="Calibri" panose="020F0502020204030204" pitchFamily="34" charset="0"/>
              </a:rPr>
              <a:t>Scope is set up front; the budget is built bottom-up from the WBS and tracked against the cost baseline.</a:t>
            </a:r>
          </a:p>
        </p:txBody>
      </p:sp>
      <p:sp>
        <p:nvSpPr>
          <p:cNvPr id="20" name="Rectangle: Rounded Corners 19">
            <a:extLst>
              <a:ext uri="{FF2B5EF4-FFF2-40B4-BE49-F238E27FC236}">
                <a16:creationId xmlns:a16="http://schemas.microsoft.com/office/drawing/2014/main" id="{5CFF515A-9037-DD93-D37C-A8A965803223}"/>
              </a:ext>
            </a:extLst>
          </p:cNvPr>
          <p:cNvSpPr/>
          <p:nvPr/>
        </p:nvSpPr>
        <p:spPr>
          <a:xfrm>
            <a:off x="6223000" y="5130800"/>
            <a:ext cx="5461000" cy="1168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7F793B41-8521-92A2-3ADC-41DBFD55F51A}"/>
              </a:ext>
            </a:extLst>
          </p:cNvPr>
          <p:cNvSpPr txBox="1"/>
          <p:nvPr/>
        </p:nvSpPr>
        <p:spPr>
          <a:xfrm>
            <a:off x="6375400" y="5283200"/>
            <a:ext cx="5156200" cy="8636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Adaptive budgeting</a:t>
            </a:r>
          </a:p>
          <a:p>
            <a:r>
              <a:rPr lang="en-US" sz="1400">
                <a:solidFill>
                  <a:srgbClr val="1F2937"/>
                </a:solidFill>
                <a:latin typeface="Calibri" panose="020F0502020204030204" pitchFamily="34" charset="0"/>
              </a:rPr>
              <a:t>Time and cost are fixed (team cost × iterations); scope flexes through backlog prioritization.</a:t>
            </a:r>
          </a:p>
        </p:txBody>
      </p:sp>
      <p:sp>
        <p:nvSpPr>
          <p:cNvPr id="22" name="Footer">
            <a:extLst>
              <a:ext uri="{FF2B5EF4-FFF2-40B4-BE49-F238E27FC236}">
                <a16:creationId xmlns:a16="http://schemas.microsoft.com/office/drawing/2014/main" id="{B121633C-8511-88A8-EFD2-85A9CEE0CC42}"/>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and Agile Alliance, Agile Practice Guide (2017), Section 3 (Life Cycle Selection)</a:t>
            </a:r>
          </a:p>
        </p:txBody>
      </p:sp>
      <p:sp>
        <p:nvSpPr>
          <p:cNvPr id="23" name="SlideNum">
            <a:extLst>
              <a:ext uri="{FF2B5EF4-FFF2-40B4-BE49-F238E27FC236}">
                <a16:creationId xmlns:a16="http://schemas.microsoft.com/office/drawing/2014/main" id="{9DF383A8-4412-A2E4-1AFD-3C3B5864EB12}"/>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115</a:t>
            </a:r>
          </a:p>
        </p:txBody>
      </p:sp>
      <p:sp>
        <p:nvSpPr>
          <p:cNvPr id="24"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63234150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658083A-4CD4-B6C2-DAD2-AE9E06EBC5A2}"/>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Funding limit reconciliation: money arrives in steps</a:t>
            </a:r>
          </a:p>
        </p:txBody>
      </p:sp>
      <p:sp>
        <p:nvSpPr>
          <p:cNvPr id="3" name="Tag">
            <a:extLst>
              <a:ext uri="{FF2B5EF4-FFF2-40B4-BE49-F238E27FC236}">
                <a16:creationId xmlns:a16="http://schemas.microsoft.com/office/drawing/2014/main" id="{74C062A0-DBC2-F7AB-737D-022023C86A60}"/>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Supports Process Task 6 · Plan and manage finance</a:t>
            </a:r>
          </a:p>
        </p:txBody>
      </p:sp>
      <p:graphicFrame>
        <p:nvGraphicFramePr>
          <p:cNvPr id="4" name="FundingChart">
            <a:extLst>
              <a:ext uri="{FF2B5EF4-FFF2-40B4-BE49-F238E27FC236}">
                <a16:creationId xmlns:a16="http://schemas.microsoft.com/office/drawing/2014/main" id="{5B159050-AA02-FD1C-C943-ABDB36BEB567}"/>
              </a:ext>
            </a:extLst>
          </p:cNvPr>
          <p:cNvGraphicFramePr/>
          <p:nvPr>
            <p:extLst>
              <p:ext uri="{D42A27DB-BD31-4B8C-83A1-F6EECF244321}">
                <p14:modId xmlns:p14="http://schemas.microsoft.com/office/powerpoint/2010/main" val="2494578298"/>
              </p:ext>
            </p:extLst>
          </p:nvPr>
        </p:nvGraphicFramePr>
        <p:xfrm>
          <a:off x="508000" y="1320800"/>
          <a:ext cx="7366000" cy="49784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2AF15463-5C4B-4D56-FC32-B52ABD0370E3}"/>
              </a:ext>
            </a:extLst>
          </p:cNvPr>
          <p:cNvSpPr txBox="1"/>
          <p:nvPr/>
        </p:nvSpPr>
        <p:spPr>
          <a:xfrm>
            <a:off x="950665" y="1540013"/>
            <a:ext cx="2032000" cy="215900"/>
          </a:xfrm>
          <a:prstGeom prst="rect">
            <a:avLst/>
          </a:prstGeom>
          <a:noFill/>
        </p:spPr>
        <p:txBody>
          <a:bodyPr vert="horz" wrap="square" lIns="0" tIns="0" rIns="0" bIns="0" rtlCol="0" anchor="t">
            <a:noAutofit/>
          </a:bodyPr>
          <a:lstStyle/>
          <a:p>
            <a:r>
              <a:rPr lang="en-US" sz="1300" b="1">
                <a:solidFill>
                  <a:srgbClr val="A86F0E"/>
                </a:solidFill>
                <a:latin typeface="Calibri" panose="020F0502020204030204" pitchFamily="34" charset="0"/>
              </a:rPr>
              <a:t>Project budget</a:t>
            </a:r>
          </a:p>
        </p:txBody>
      </p:sp>
      <p:sp>
        <p:nvSpPr>
          <p:cNvPr id="6" name="TextBox 5">
            <a:extLst>
              <a:ext uri="{FF2B5EF4-FFF2-40B4-BE49-F238E27FC236}">
                <a16:creationId xmlns:a16="http://schemas.microsoft.com/office/drawing/2014/main" id="{19E1651D-3C26-6DEF-905F-CD660ABE0253}"/>
              </a:ext>
            </a:extLst>
          </p:cNvPr>
          <p:cNvSpPr txBox="1"/>
          <p:nvPr/>
        </p:nvSpPr>
        <p:spPr>
          <a:xfrm>
            <a:off x="950665" y="1911625"/>
            <a:ext cx="2794000" cy="215900"/>
          </a:xfrm>
          <a:prstGeom prst="rect">
            <a:avLst/>
          </a:prstGeom>
          <a:noFill/>
        </p:spPr>
        <p:txBody>
          <a:bodyPr vert="horz" wrap="square" lIns="0" tIns="0" rIns="0" bIns="0" rtlCol="0" anchor="t">
            <a:noAutofit/>
          </a:bodyPr>
          <a:lstStyle/>
          <a:p>
            <a:r>
              <a:rPr lang="en-US" sz="1300" b="1">
                <a:solidFill>
                  <a:srgbClr val="14213D"/>
                </a:solidFill>
                <a:latin typeface="Calibri" panose="020F0502020204030204" pitchFamily="34" charset="0"/>
              </a:rPr>
              <a:t>Budget at completion (BAC)</a:t>
            </a:r>
          </a:p>
        </p:txBody>
      </p:sp>
      <p:sp>
        <p:nvSpPr>
          <p:cNvPr id="7" name="TextBox 6">
            <a:extLst>
              <a:ext uri="{FF2B5EF4-FFF2-40B4-BE49-F238E27FC236}">
                <a16:creationId xmlns:a16="http://schemas.microsoft.com/office/drawing/2014/main" id="{86C4F352-B7D3-95AE-657A-73AB27D72A6F}"/>
              </a:ext>
            </a:extLst>
          </p:cNvPr>
          <p:cNvSpPr txBox="1"/>
          <p:nvPr/>
        </p:nvSpPr>
        <p:spPr>
          <a:xfrm>
            <a:off x="3461214" y="1852819"/>
            <a:ext cx="1905000" cy="228600"/>
          </a:xfrm>
          <a:prstGeom prst="rect">
            <a:avLst/>
          </a:prstGeom>
          <a:noFill/>
        </p:spPr>
        <p:txBody>
          <a:bodyPr vert="horz" wrap="square" lIns="0" tIns="0" rIns="0" bIns="0" rtlCol="0" anchor="t">
            <a:noAutofit/>
          </a:bodyPr>
          <a:lstStyle/>
          <a:p>
            <a:r>
              <a:rPr lang="en-US" sz="1200" b="1" i="1">
                <a:solidFill>
                  <a:srgbClr val="A86F0E"/>
                </a:solidFill>
                <a:latin typeface="Calibri" panose="020F0502020204030204" pitchFamily="34" charset="0"/>
              </a:rPr>
              <a:t>Management reserve</a:t>
            </a:r>
          </a:p>
        </p:txBody>
      </p:sp>
      <p:sp>
        <p:nvSpPr>
          <p:cNvPr id="8" name="TextBox 7">
            <a:extLst>
              <a:ext uri="{FF2B5EF4-FFF2-40B4-BE49-F238E27FC236}">
                <a16:creationId xmlns:a16="http://schemas.microsoft.com/office/drawing/2014/main" id="{26C77666-BDD1-93E7-A6DD-6FE919334BA7}"/>
              </a:ext>
            </a:extLst>
          </p:cNvPr>
          <p:cNvSpPr txBox="1"/>
          <p:nvPr/>
        </p:nvSpPr>
        <p:spPr>
          <a:xfrm>
            <a:off x="950665" y="4512913"/>
            <a:ext cx="2159000" cy="215900"/>
          </a:xfrm>
          <a:prstGeom prst="rect">
            <a:avLst/>
          </a:prstGeom>
          <a:noFill/>
        </p:spPr>
        <p:txBody>
          <a:bodyPr vert="horz" wrap="square" lIns="0" tIns="0" rIns="0" bIns="0" rtlCol="0" anchor="t">
            <a:noAutofit/>
          </a:bodyPr>
          <a:lstStyle/>
          <a:p>
            <a:r>
              <a:rPr lang="en-US" sz="1300" b="1">
                <a:solidFill>
                  <a:srgbClr val="A84A2E"/>
                </a:solidFill>
                <a:latin typeface="Calibri" panose="020F0502020204030204" pitchFamily="34" charset="0"/>
              </a:rPr>
              <a:t>Funding requirements</a:t>
            </a:r>
          </a:p>
        </p:txBody>
      </p:sp>
      <p:sp>
        <p:nvSpPr>
          <p:cNvPr id="9" name="TextBox 8">
            <a:extLst>
              <a:ext uri="{FF2B5EF4-FFF2-40B4-BE49-F238E27FC236}">
                <a16:creationId xmlns:a16="http://schemas.microsoft.com/office/drawing/2014/main" id="{95529D2B-CF25-9982-D9C1-78961556FDC5}"/>
              </a:ext>
            </a:extLst>
          </p:cNvPr>
          <p:cNvSpPr txBox="1"/>
          <p:nvPr/>
        </p:nvSpPr>
        <p:spPr>
          <a:xfrm>
            <a:off x="2634793" y="3785204"/>
            <a:ext cx="1320800" cy="228600"/>
          </a:xfrm>
          <a:prstGeom prst="rect">
            <a:avLst/>
          </a:prstGeom>
          <a:noFill/>
        </p:spPr>
        <p:txBody>
          <a:bodyPr vert="horz" wrap="square" lIns="0" tIns="0" rIns="0" bIns="0" rtlCol="0" anchor="t">
            <a:noAutofit/>
          </a:bodyPr>
          <a:lstStyle/>
          <a:p>
            <a:pPr algn="r"/>
            <a:r>
              <a:rPr lang="en-US" sz="1300" b="1">
                <a:solidFill>
                  <a:srgbClr val="34509A"/>
                </a:solidFill>
                <a:latin typeface="Calibri" panose="020F0502020204030204" pitchFamily="34" charset="0"/>
              </a:rPr>
              <a:t>Cost baseline</a:t>
            </a:r>
          </a:p>
        </p:txBody>
      </p:sp>
      <p:sp>
        <p:nvSpPr>
          <p:cNvPr id="10" name="TextBox 9">
            <a:extLst>
              <a:ext uri="{FF2B5EF4-FFF2-40B4-BE49-F238E27FC236}">
                <a16:creationId xmlns:a16="http://schemas.microsoft.com/office/drawing/2014/main" id="{1F86FC8C-4C84-BF5C-AE9D-103D1AEF354C}"/>
              </a:ext>
            </a:extLst>
          </p:cNvPr>
          <p:cNvSpPr txBox="1"/>
          <p:nvPr/>
        </p:nvSpPr>
        <p:spPr>
          <a:xfrm>
            <a:off x="5905317" y="3822366"/>
            <a:ext cx="1397000" cy="228600"/>
          </a:xfrm>
          <a:prstGeom prst="rect">
            <a:avLst/>
          </a:prstGeom>
          <a:noFill/>
        </p:spPr>
        <p:txBody>
          <a:bodyPr vert="horz" wrap="square" lIns="0" tIns="0" rIns="0" bIns="0" rtlCol="0" anchor="t">
            <a:noAutofit/>
          </a:bodyPr>
          <a:lstStyle/>
          <a:p>
            <a:r>
              <a:rPr lang="en-US" sz="1300" b="1">
                <a:solidFill>
                  <a:srgbClr val="0B5E61"/>
                </a:solidFill>
                <a:latin typeface="Calibri" panose="020F0502020204030204" pitchFamily="34" charset="0"/>
              </a:rPr>
              <a:t>Expenditures</a:t>
            </a:r>
          </a:p>
        </p:txBody>
      </p:sp>
      <p:sp>
        <p:nvSpPr>
          <p:cNvPr id="11" name="Rectangle 10">
            <a:extLst>
              <a:ext uri="{FF2B5EF4-FFF2-40B4-BE49-F238E27FC236}">
                <a16:creationId xmlns:a16="http://schemas.microsoft.com/office/drawing/2014/main" id="{83C351A3-8F6D-E4C0-A1E3-D750A788A040}"/>
              </a:ext>
            </a:extLst>
          </p:cNvPr>
          <p:cNvSpPr/>
          <p:nvPr/>
        </p:nvSpPr>
        <p:spPr>
          <a:xfrm>
            <a:off x="8128000" y="1524000"/>
            <a:ext cx="330200" cy="63500"/>
          </a:xfrm>
          <a:prstGeom prst="rect">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E817A32-2B94-B9F9-1591-6C3D12D99528}"/>
              </a:ext>
            </a:extLst>
          </p:cNvPr>
          <p:cNvSpPr txBox="1"/>
          <p:nvPr/>
        </p:nvSpPr>
        <p:spPr>
          <a:xfrm>
            <a:off x="8585200" y="1422400"/>
            <a:ext cx="3098800" cy="1117600"/>
          </a:xfrm>
          <a:prstGeom prst="rect">
            <a:avLst/>
          </a:prstGeom>
          <a:noFill/>
        </p:spPr>
        <p:txBody>
          <a:bodyPr vert="horz" wrap="square" lIns="0" tIns="0" rIns="0" bIns="0" rtlCol="0" anchor="t">
            <a:noAutofit/>
          </a:bodyPr>
          <a:lstStyle/>
          <a:p>
            <a:pPr>
              <a:spcAft>
                <a:spcPts val="300"/>
              </a:spcAft>
            </a:pPr>
            <a:r>
              <a:rPr lang="en-US" sz="1500" b="1">
                <a:solidFill>
                  <a:srgbClr val="14213D"/>
                </a:solidFill>
                <a:latin typeface="Calibri" panose="020F0502020204030204" pitchFamily="34" charset="0"/>
              </a:rPr>
              <a:t>Cost baseline</a:t>
            </a:r>
          </a:p>
          <a:p>
            <a:r>
              <a:rPr lang="en-US" sz="1400">
                <a:solidFill>
                  <a:srgbClr val="1F2937"/>
                </a:solidFill>
                <a:latin typeface="Calibri" panose="020F0502020204030204" pitchFamily="34" charset="0"/>
              </a:rPr>
              <a:t>The approved, time-phased budget; the S-curve that earned value is measured against.</a:t>
            </a:r>
          </a:p>
        </p:txBody>
      </p:sp>
      <p:sp>
        <p:nvSpPr>
          <p:cNvPr id="13" name="Rectangle 12">
            <a:extLst>
              <a:ext uri="{FF2B5EF4-FFF2-40B4-BE49-F238E27FC236}">
                <a16:creationId xmlns:a16="http://schemas.microsoft.com/office/drawing/2014/main" id="{5BBEF413-322A-5C4A-A5FD-ECFDBE48D1CA}"/>
              </a:ext>
            </a:extLst>
          </p:cNvPr>
          <p:cNvSpPr/>
          <p:nvPr/>
        </p:nvSpPr>
        <p:spPr>
          <a:xfrm>
            <a:off x="8128000" y="2717800"/>
            <a:ext cx="330200" cy="63500"/>
          </a:xfrm>
          <a:prstGeom prst="rect">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5BE795B-A1E1-D49D-1B61-5023551F401C}"/>
              </a:ext>
            </a:extLst>
          </p:cNvPr>
          <p:cNvSpPr txBox="1"/>
          <p:nvPr/>
        </p:nvSpPr>
        <p:spPr>
          <a:xfrm>
            <a:off x="8585200" y="2616200"/>
            <a:ext cx="3098800" cy="1117600"/>
          </a:xfrm>
          <a:prstGeom prst="rect">
            <a:avLst/>
          </a:prstGeom>
          <a:noFill/>
        </p:spPr>
        <p:txBody>
          <a:bodyPr vert="horz" wrap="square" lIns="0" tIns="0" rIns="0" bIns="0" rtlCol="0" anchor="t">
            <a:noAutofit/>
          </a:bodyPr>
          <a:lstStyle/>
          <a:p>
            <a:pPr>
              <a:spcAft>
                <a:spcPts val="300"/>
              </a:spcAft>
            </a:pPr>
            <a:r>
              <a:rPr lang="en-US" sz="1500" b="1">
                <a:solidFill>
                  <a:srgbClr val="14213D"/>
                </a:solidFill>
                <a:latin typeface="Calibri" panose="020F0502020204030204" pitchFamily="34" charset="0"/>
              </a:rPr>
              <a:t>Funding requirements</a:t>
            </a:r>
          </a:p>
          <a:p>
            <a:r>
              <a:rPr lang="en-US" sz="1400">
                <a:solidFill>
                  <a:srgbClr val="1F2937"/>
                </a:solidFill>
                <a:latin typeface="Calibri" panose="020F0502020204030204" pitchFamily="34" charset="0"/>
              </a:rPr>
              <a:t>Money released in steps, usually just ahead of spending.</a:t>
            </a:r>
          </a:p>
        </p:txBody>
      </p:sp>
      <p:sp>
        <p:nvSpPr>
          <p:cNvPr id="15" name="Rectangle 14">
            <a:extLst>
              <a:ext uri="{FF2B5EF4-FFF2-40B4-BE49-F238E27FC236}">
                <a16:creationId xmlns:a16="http://schemas.microsoft.com/office/drawing/2014/main" id="{96C37845-1B45-78A8-712E-5B3664334B5A}"/>
              </a:ext>
            </a:extLst>
          </p:cNvPr>
          <p:cNvSpPr/>
          <p:nvPr/>
        </p:nvSpPr>
        <p:spPr>
          <a:xfrm>
            <a:off x="8128000" y="3911600"/>
            <a:ext cx="330200" cy="63500"/>
          </a:xfrm>
          <a:prstGeom prst="rect">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188EA59-E2FF-D644-61E0-95446BDB87E9}"/>
              </a:ext>
            </a:extLst>
          </p:cNvPr>
          <p:cNvSpPr txBox="1"/>
          <p:nvPr/>
        </p:nvSpPr>
        <p:spPr>
          <a:xfrm>
            <a:off x="8585200" y="3810000"/>
            <a:ext cx="3098800" cy="1117600"/>
          </a:xfrm>
          <a:prstGeom prst="rect">
            <a:avLst/>
          </a:prstGeom>
          <a:noFill/>
        </p:spPr>
        <p:txBody>
          <a:bodyPr vert="horz" wrap="square" lIns="0" tIns="0" rIns="0" bIns="0" rtlCol="0" anchor="t">
            <a:noAutofit/>
          </a:bodyPr>
          <a:lstStyle/>
          <a:p>
            <a:pPr>
              <a:spcAft>
                <a:spcPts val="300"/>
              </a:spcAft>
            </a:pPr>
            <a:r>
              <a:rPr lang="en-US" sz="1500" b="1">
                <a:solidFill>
                  <a:srgbClr val="14213D"/>
                </a:solidFill>
                <a:latin typeface="Calibri" panose="020F0502020204030204" pitchFamily="34" charset="0"/>
              </a:rPr>
              <a:t>Expenditures</a:t>
            </a:r>
          </a:p>
          <a:p>
            <a:r>
              <a:rPr lang="en-US" sz="1400">
                <a:solidFill>
                  <a:srgbClr val="1F2937"/>
                </a:solidFill>
                <a:latin typeface="Calibri" panose="020F0502020204030204" pitchFamily="34" charset="0"/>
              </a:rPr>
              <a:t>Actual spending, which lags the baseline.</a:t>
            </a:r>
          </a:p>
        </p:txBody>
      </p:sp>
      <p:sp>
        <p:nvSpPr>
          <p:cNvPr id="17" name="Rectangle 16">
            <a:extLst>
              <a:ext uri="{FF2B5EF4-FFF2-40B4-BE49-F238E27FC236}">
                <a16:creationId xmlns:a16="http://schemas.microsoft.com/office/drawing/2014/main" id="{DDE90732-EC23-6F0C-089A-042113EEAFEF}"/>
              </a:ext>
            </a:extLst>
          </p:cNvPr>
          <p:cNvSpPr/>
          <p:nvPr/>
        </p:nvSpPr>
        <p:spPr>
          <a:xfrm>
            <a:off x="8128000" y="5105400"/>
            <a:ext cx="330200" cy="63500"/>
          </a:xfrm>
          <a:prstGeom prst="rect">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9ACDF14-21E6-60D0-7C2E-332BD641D46B}"/>
              </a:ext>
            </a:extLst>
          </p:cNvPr>
          <p:cNvSpPr txBox="1"/>
          <p:nvPr/>
        </p:nvSpPr>
        <p:spPr>
          <a:xfrm>
            <a:off x="8585200" y="5003800"/>
            <a:ext cx="3098800" cy="1117600"/>
          </a:xfrm>
          <a:prstGeom prst="rect">
            <a:avLst/>
          </a:prstGeom>
          <a:noFill/>
        </p:spPr>
        <p:txBody>
          <a:bodyPr vert="horz" wrap="square" lIns="0" tIns="0" rIns="0" bIns="0" rtlCol="0" anchor="t">
            <a:noAutofit/>
          </a:bodyPr>
          <a:lstStyle/>
          <a:p>
            <a:pPr>
              <a:spcAft>
                <a:spcPts val="300"/>
              </a:spcAft>
            </a:pPr>
            <a:r>
              <a:rPr lang="en-US" sz="1500" b="1">
                <a:solidFill>
                  <a:srgbClr val="14213D"/>
                </a:solidFill>
                <a:latin typeface="Calibri" panose="020F0502020204030204" pitchFamily="34" charset="0"/>
              </a:rPr>
              <a:t>Management reserve</a:t>
            </a:r>
          </a:p>
          <a:p>
            <a:r>
              <a:rPr lang="en-US" sz="1400">
                <a:solidFill>
                  <a:srgbClr val="1F2937"/>
                </a:solidFill>
                <a:latin typeface="Calibri" panose="020F0502020204030204" pitchFamily="34" charset="0"/>
              </a:rPr>
              <a:t>The gap between BAC and the project budget; outside the cost baseline.</a:t>
            </a:r>
          </a:p>
        </p:txBody>
      </p:sp>
      <p:sp>
        <p:nvSpPr>
          <p:cNvPr id="19" name="Footer">
            <a:extLst>
              <a:ext uri="{FF2B5EF4-FFF2-40B4-BE49-F238E27FC236}">
                <a16:creationId xmlns:a16="http://schemas.microsoft.com/office/drawing/2014/main" id="{A6BDD426-B692-E908-B2C2-C8430A4E1793}"/>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PMBOK® Guide — Sixth Edition, Section 7.3 (Determine Budget)</a:t>
            </a:r>
          </a:p>
        </p:txBody>
      </p:sp>
      <p:sp>
        <p:nvSpPr>
          <p:cNvPr id="20" name="SlideNum">
            <a:extLst>
              <a:ext uri="{FF2B5EF4-FFF2-40B4-BE49-F238E27FC236}">
                <a16:creationId xmlns:a16="http://schemas.microsoft.com/office/drawing/2014/main" id="{0E9317B8-24D7-0774-3326-61C38D9F0C9D}"/>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116</a:t>
            </a:r>
          </a:p>
        </p:txBody>
      </p:sp>
      <p:sp>
        <p:nvSpPr>
          <p:cNvPr id="21"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87815969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2CDDA91-40BA-BD6E-D6F3-4C8F25DF2A4F}"/>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Earned value: compare plan, progress, and cost</a:t>
            </a:r>
          </a:p>
        </p:txBody>
      </p:sp>
      <p:sp>
        <p:nvSpPr>
          <p:cNvPr id="3" name="Tag">
            <a:extLst>
              <a:ext uri="{FF2B5EF4-FFF2-40B4-BE49-F238E27FC236}">
                <a16:creationId xmlns:a16="http://schemas.microsoft.com/office/drawing/2014/main" id="{8ABCD95B-3D01-8E81-33F7-88FF34209876}"/>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Supports Process Task 6 · Plan and manage finance</a:t>
            </a:r>
          </a:p>
        </p:txBody>
      </p:sp>
      <p:sp>
        <p:nvSpPr>
          <p:cNvPr id="4" name="Rectangle: Rounded Corners 3">
            <a:extLst>
              <a:ext uri="{FF2B5EF4-FFF2-40B4-BE49-F238E27FC236}">
                <a16:creationId xmlns:a16="http://schemas.microsoft.com/office/drawing/2014/main" id="{E35EEE71-3BAA-A8EB-6D47-C492A85C23B4}"/>
              </a:ext>
            </a:extLst>
          </p:cNvPr>
          <p:cNvSpPr/>
          <p:nvPr/>
        </p:nvSpPr>
        <p:spPr>
          <a:xfrm>
            <a:off x="508000" y="1371600"/>
            <a:ext cx="2603500" cy="1498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3BFAFDB-3A5A-F200-CCB4-3B211665E795}"/>
              </a:ext>
            </a:extLst>
          </p:cNvPr>
          <p:cNvSpPr txBox="1"/>
          <p:nvPr/>
        </p:nvSpPr>
        <p:spPr>
          <a:xfrm>
            <a:off x="711200" y="1473200"/>
            <a:ext cx="2222500" cy="508000"/>
          </a:xfrm>
          <a:prstGeom prst="rect">
            <a:avLst/>
          </a:prstGeom>
          <a:noFill/>
        </p:spPr>
        <p:txBody>
          <a:bodyPr vert="horz" wrap="square" lIns="0" tIns="0" rIns="0" bIns="0" rtlCol="0" anchor="t">
            <a:noAutofit/>
          </a:bodyPr>
          <a:lstStyle/>
          <a:p>
            <a:r>
              <a:rPr lang="en-US" sz="3000" b="1">
                <a:solidFill>
                  <a:srgbClr val="34509A"/>
                </a:solidFill>
                <a:latin typeface="Cambria" panose="02040503050406030204" pitchFamily="18" charset="0"/>
              </a:rPr>
              <a:t>PV</a:t>
            </a:r>
          </a:p>
        </p:txBody>
      </p:sp>
      <p:sp>
        <p:nvSpPr>
          <p:cNvPr id="6" name="TextBox 5">
            <a:extLst>
              <a:ext uri="{FF2B5EF4-FFF2-40B4-BE49-F238E27FC236}">
                <a16:creationId xmlns:a16="http://schemas.microsoft.com/office/drawing/2014/main" id="{0E635773-A987-D106-28EF-7D8EAA18570C}"/>
              </a:ext>
            </a:extLst>
          </p:cNvPr>
          <p:cNvSpPr txBox="1"/>
          <p:nvPr/>
        </p:nvSpPr>
        <p:spPr>
          <a:xfrm>
            <a:off x="711200" y="1981200"/>
            <a:ext cx="2222500" cy="838200"/>
          </a:xfrm>
          <a:prstGeom prst="rect">
            <a:avLst/>
          </a:prstGeom>
          <a:noFill/>
        </p:spPr>
        <p:txBody>
          <a:bodyPr vert="horz" wrap="square" lIns="0" tIns="0" rIns="0" bIns="0" rtlCol="0" anchor="t">
            <a:noAutofit/>
          </a:bodyPr>
          <a:lstStyle/>
          <a:p>
            <a:r>
              <a:rPr lang="en-US" sz="1400" b="1">
                <a:solidFill>
                  <a:srgbClr val="14213D"/>
                </a:solidFill>
                <a:latin typeface="Calibri" panose="020F0502020204030204" pitchFamily="34" charset="0"/>
              </a:rPr>
              <a:t>Planned Value</a:t>
            </a:r>
          </a:p>
          <a:p>
            <a:r>
              <a:rPr lang="en-US" sz="1400">
                <a:solidFill>
                  <a:srgbClr val="5B6475"/>
                </a:solidFill>
                <a:latin typeface="Calibri" panose="020F0502020204030204" pitchFamily="34" charset="0"/>
              </a:rPr>
              <a:t>Budgeted cost of the work scheduled to date</a:t>
            </a:r>
          </a:p>
        </p:txBody>
      </p:sp>
      <p:sp>
        <p:nvSpPr>
          <p:cNvPr id="7" name="Rectangle: Rounded Corners 6">
            <a:extLst>
              <a:ext uri="{FF2B5EF4-FFF2-40B4-BE49-F238E27FC236}">
                <a16:creationId xmlns:a16="http://schemas.microsoft.com/office/drawing/2014/main" id="{F59D8C24-4E90-4DCC-02AA-3BEE9345D39C}"/>
              </a:ext>
            </a:extLst>
          </p:cNvPr>
          <p:cNvSpPr/>
          <p:nvPr/>
        </p:nvSpPr>
        <p:spPr>
          <a:xfrm>
            <a:off x="3365500" y="1371600"/>
            <a:ext cx="2603500" cy="1498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F5DCF2F-A984-41EB-EEAB-767550C03D90}"/>
              </a:ext>
            </a:extLst>
          </p:cNvPr>
          <p:cNvSpPr txBox="1"/>
          <p:nvPr/>
        </p:nvSpPr>
        <p:spPr>
          <a:xfrm>
            <a:off x="3568700" y="1473200"/>
            <a:ext cx="2222500" cy="508000"/>
          </a:xfrm>
          <a:prstGeom prst="rect">
            <a:avLst/>
          </a:prstGeom>
          <a:noFill/>
        </p:spPr>
        <p:txBody>
          <a:bodyPr vert="horz" wrap="square" lIns="0" tIns="0" rIns="0" bIns="0" rtlCol="0" anchor="t">
            <a:noAutofit/>
          </a:bodyPr>
          <a:lstStyle/>
          <a:p>
            <a:r>
              <a:rPr lang="en-US" sz="3000" b="1">
                <a:solidFill>
                  <a:srgbClr val="34509A"/>
                </a:solidFill>
                <a:latin typeface="Cambria" panose="02040503050406030204" pitchFamily="18" charset="0"/>
              </a:rPr>
              <a:t>EV</a:t>
            </a:r>
          </a:p>
        </p:txBody>
      </p:sp>
      <p:sp>
        <p:nvSpPr>
          <p:cNvPr id="9" name="TextBox 8">
            <a:extLst>
              <a:ext uri="{FF2B5EF4-FFF2-40B4-BE49-F238E27FC236}">
                <a16:creationId xmlns:a16="http://schemas.microsoft.com/office/drawing/2014/main" id="{659573ED-851E-2B1C-85F0-D6662CEBC6AB}"/>
              </a:ext>
            </a:extLst>
          </p:cNvPr>
          <p:cNvSpPr txBox="1"/>
          <p:nvPr/>
        </p:nvSpPr>
        <p:spPr>
          <a:xfrm>
            <a:off x="3568700" y="1981200"/>
            <a:ext cx="2222500" cy="838200"/>
          </a:xfrm>
          <a:prstGeom prst="rect">
            <a:avLst/>
          </a:prstGeom>
          <a:noFill/>
        </p:spPr>
        <p:txBody>
          <a:bodyPr vert="horz" wrap="square" lIns="0" tIns="0" rIns="0" bIns="0" rtlCol="0" anchor="t">
            <a:noAutofit/>
          </a:bodyPr>
          <a:lstStyle/>
          <a:p>
            <a:r>
              <a:rPr lang="en-US" sz="1400" b="1">
                <a:solidFill>
                  <a:srgbClr val="14213D"/>
                </a:solidFill>
                <a:latin typeface="Calibri" panose="020F0502020204030204" pitchFamily="34" charset="0"/>
              </a:rPr>
              <a:t>Earned Value</a:t>
            </a:r>
          </a:p>
          <a:p>
            <a:r>
              <a:rPr lang="en-US" sz="1400">
                <a:solidFill>
                  <a:srgbClr val="5B6475"/>
                </a:solidFill>
                <a:latin typeface="Calibri" panose="020F0502020204030204" pitchFamily="34" charset="0"/>
              </a:rPr>
              <a:t>Budgeted cost of the work actually completed</a:t>
            </a:r>
          </a:p>
        </p:txBody>
      </p:sp>
      <p:sp>
        <p:nvSpPr>
          <p:cNvPr id="10" name="Rectangle: Rounded Corners 9">
            <a:extLst>
              <a:ext uri="{FF2B5EF4-FFF2-40B4-BE49-F238E27FC236}">
                <a16:creationId xmlns:a16="http://schemas.microsoft.com/office/drawing/2014/main" id="{1EEC8A74-53B8-2D55-D76F-8C2D9094A3D7}"/>
              </a:ext>
            </a:extLst>
          </p:cNvPr>
          <p:cNvSpPr/>
          <p:nvPr/>
        </p:nvSpPr>
        <p:spPr>
          <a:xfrm>
            <a:off x="6223000" y="1371600"/>
            <a:ext cx="2603500" cy="1498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40591A1-1AA4-6AFF-139A-A95B76275DF8}"/>
              </a:ext>
            </a:extLst>
          </p:cNvPr>
          <p:cNvSpPr txBox="1"/>
          <p:nvPr/>
        </p:nvSpPr>
        <p:spPr>
          <a:xfrm>
            <a:off x="6426200" y="1473200"/>
            <a:ext cx="2222500" cy="508000"/>
          </a:xfrm>
          <a:prstGeom prst="rect">
            <a:avLst/>
          </a:prstGeom>
          <a:noFill/>
        </p:spPr>
        <p:txBody>
          <a:bodyPr vert="horz" wrap="square" lIns="0" tIns="0" rIns="0" bIns="0" rtlCol="0" anchor="t">
            <a:noAutofit/>
          </a:bodyPr>
          <a:lstStyle/>
          <a:p>
            <a:r>
              <a:rPr lang="en-US" sz="3000" b="1">
                <a:solidFill>
                  <a:srgbClr val="34509A"/>
                </a:solidFill>
                <a:latin typeface="Cambria" panose="02040503050406030204" pitchFamily="18" charset="0"/>
              </a:rPr>
              <a:t>AC</a:t>
            </a:r>
          </a:p>
        </p:txBody>
      </p:sp>
      <p:sp>
        <p:nvSpPr>
          <p:cNvPr id="12" name="TextBox 11">
            <a:extLst>
              <a:ext uri="{FF2B5EF4-FFF2-40B4-BE49-F238E27FC236}">
                <a16:creationId xmlns:a16="http://schemas.microsoft.com/office/drawing/2014/main" id="{9794F9A8-8393-E3E2-87DC-280B535C4031}"/>
              </a:ext>
            </a:extLst>
          </p:cNvPr>
          <p:cNvSpPr txBox="1"/>
          <p:nvPr/>
        </p:nvSpPr>
        <p:spPr>
          <a:xfrm>
            <a:off x="6426200" y="1981200"/>
            <a:ext cx="2222500" cy="838200"/>
          </a:xfrm>
          <a:prstGeom prst="rect">
            <a:avLst/>
          </a:prstGeom>
          <a:noFill/>
        </p:spPr>
        <p:txBody>
          <a:bodyPr vert="horz" wrap="square" lIns="0" tIns="0" rIns="0" bIns="0" rtlCol="0" anchor="t">
            <a:noAutofit/>
          </a:bodyPr>
          <a:lstStyle/>
          <a:p>
            <a:r>
              <a:rPr lang="en-US" sz="1400" b="1">
                <a:solidFill>
                  <a:srgbClr val="14213D"/>
                </a:solidFill>
                <a:latin typeface="Calibri" panose="020F0502020204030204" pitchFamily="34" charset="0"/>
              </a:rPr>
              <a:t>Actual Cost</a:t>
            </a:r>
          </a:p>
          <a:p>
            <a:r>
              <a:rPr lang="en-US" sz="1400">
                <a:solidFill>
                  <a:srgbClr val="5B6475"/>
                </a:solidFill>
                <a:latin typeface="Calibri" panose="020F0502020204030204" pitchFamily="34" charset="0"/>
              </a:rPr>
              <a:t>What the completed work actually cost</a:t>
            </a:r>
          </a:p>
        </p:txBody>
      </p:sp>
      <p:sp>
        <p:nvSpPr>
          <p:cNvPr id="13" name="Rectangle: Rounded Corners 12">
            <a:extLst>
              <a:ext uri="{FF2B5EF4-FFF2-40B4-BE49-F238E27FC236}">
                <a16:creationId xmlns:a16="http://schemas.microsoft.com/office/drawing/2014/main" id="{9BF56613-64C6-C0F0-6DE4-C18314810F61}"/>
              </a:ext>
            </a:extLst>
          </p:cNvPr>
          <p:cNvSpPr/>
          <p:nvPr/>
        </p:nvSpPr>
        <p:spPr>
          <a:xfrm>
            <a:off x="9080500" y="1371600"/>
            <a:ext cx="2603500" cy="14986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2E12E2B-C026-677D-833C-D0A5D3AF744F}"/>
              </a:ext>
            </a:extLst>
          </p:cNvPr>
          <p:cNvSpPr txBox="1"/>
          <p:nvPr/>
        </p:nvSpPr>
        <p:spPr>
          <a:xfrm>
            <a:off x="9283700" y="1473200"/>
            <a:ext cx="2222500" cy="508000"/>
          </a:xfrm>
          <a:prstGeom prst="rect">
            <a:avLst/>
          </a:prstGeom>
          <a:noFill/>
        </p:spPr>
        <p:txBody>
          <a:bodyPr vert="horz" wrap="square" lIns="0" tIns="0" rIns="0" bIns="0" rtlCol="0" anchor="t">
            <a:noAutofit/>
          </a:bodyPr>
          <a:lstStyle/>
          <a:p>
            <a:r>
              <a:rPr lang="en-US" sz="3000" b="1">
                <a:solidFill>
                  <a:srgbClr val="34509A"/>
                </a:solidFill>
                <a:latin typeface="Cambria" panose="02040503050406030204" pitchFamily="18" charset="0"/>
              </a:rPr>
              <a:t>BAC</a:t>
            </a:r>
          </a:p>
        </p:txBody>
      </p:sp>
      <p:sp>
        <p:nvSpPr>
          <p:cNvPr id="15" name="TextBox 14">
            <a:extLst>
              <a:ext uri="{FF2B5EF4-FFF2-40B4-BE49-F238E27FC236}">
                <a16:creationId xmlns:a16="http://schemas.microsoft.com/office/drawing/2014/main" id="{ABE235C7-42FE-AAC3-916E-E097BF24FFE2}"/>
              </a:ext>
            </a:extLst>
          </p:cNvPr>
          <p:cNvSpPr txBox="1"/>
          <p:nvPr/>
        </p:nvSpPr>
        <p:spPr>
          <a:xfrm>
            <a:off x="9283700" y="1981200"/>
            <a:ext cx="2222500" cy="838200"/>
          </a:xfrm>
          <a:prstGeom prst="rect">
            <a:avLst/>
          </a:prstGeom>
          <a:noFill/>
        </p:spPr>
        <p:txBody>
          <a:bodyPr vert="horz" wrap="square" lIns="0" tIns="0" rIns="0" bIns="0" rtlCol="0" anchor="t">
            <a:noAutofit/>
          </a:bodyPr>
          <a:lstStyle/>
          <a:p>
            <a:r>
              <a:rPr lang="en-US" sz="1400" b="1">
                <a:solidFill>
                  <a:srgbClr val="14213D"/>
                </a:solidFill>
                <a:latin typeface="Calibri" panose="020F0502020204030204" pitchFamily="34" charset="0"/>
              </a:rPr>
              <a:t>Budget at Completion</a:t>
            </a:r>
          </a:p>
          <a:p>
            <a:r>
              <a:rPr lang="en-US" sz="1400">
                <a:solidFill>
                  <a:srgbClr val="5B6475"/>
                </a:solidFill>
                <a:latin typeface="Calibri" panose="020F0502020204030204" pitchFamily="34" charset="0"/>
              </a:rPr>
              <a:t>Total approved budget for all the work</a:t>
            </a:r>
          </a:p>
        </p:txBody>
      </p:sp>
      <p:graphicFrame>
        <p:nvGraphicFramePr>
          <p:cNvPr id="16" name="Table">
            <a:extLst>
              <a:ext uri="{FF2B5EF4-FFF2-40B4-BE49-F238E27FC236}">
                <a16:creationId xmlns:a16="http://schemas.microsoft.com/office/drawing/2014/main" id="{A8FD7B9D-01A3-3A00-75D9-99A1E02EA49C}"/>
              </a:ext>
            </a:extLst>
          </p:cNvPr>
          <p:cNvGraphicFramePr>
            <a:graphicFrameLocks noGrp="1"/>
          </p:cNvGraphicFramePr>
          <p:nvPr>
            <p:extLst>
              <p:ext uri="{D42A27DB-BD31-4B8C-83A1-F6EECF244321}">
                <p14:modId xmlns:p14="http://schemas.microsoft.com/office/powerpoint/2010/main" val="3721789213"/>
              </p:ext>
            </p:extLst>
          </p:nvPr>
        </p:nvGraphicFramePr>
        <p:xfrm>
          <a:off x="508000" y="3124200"/>
          <a:ext cx="11176000" cy="2794000"/>
        </p:xfrm>
        <a:graphic>
          <a:graphicData uri="http://schemas.openxmlformats.org/drawingml/2006/table">
            <a:tbl>
              <a:tblPr firstRow="1" bandRow="1">
                <a:tableStyleId>{2D5ABB26-0587-4C30-8999-92F81FD0307C}</a:tableStyleId>
              </a:tblPr>
              <a:tblGrid>
                <a:gridCol w="3429000">
                  <a:extLst>
                    <a:ext uri="{9D8B030D-6E8A-4147-A177-3AD203B41FA5}">
                      <a16:colId xmlns:a16="http://schemas.microsoft.com/office/drawing/2014/main" val="862565839"/>
                    </a:ext>
                  </a:extLst>
                </a:gridCol>
                <a:gridCol w="1905000">
                  <a:extLst>
                    <a:ext uri="{9D8B030D-6E8A-4147-A177-3AD203B41FA5}">
                      <a16:colId xmlns:a16="http://schemas.microsoft.com/office/drawing/2014/main" val="3494546443"/>
                    </a:ext>
                  </a:extLst>
                </a:gridCol>
                <a:gridCol w="2921000">
                  <a:extLst>
                    <a:ext uri="{9D8B030D-6E8A-4147-A177-3AD203B41FA5}">
                      <a16:colId xmlns:a16="http://schemas.microsoft.com/office/drawing/2014/main" val="3203328121"/>
                    </a:ext>
                  </a:extLst>
                </a:gridCol>
                <a:gridCol w="2921000">
                  <a:extLst>
                    <a:ext uri="{9D8B030D-6E8A-4147-A177-3AD203B41FA5}">
                      <a16:colId xmlns:a16="http://schemas.microsoft.com/office/drawing/2014/main" val="3300423944"/>
                    </a:ext>
                  </a:extLst>
                </a:gridCol>
              </a:tblGrid>
              <a:tr h="558800">
                <a:tc>
                  <a:txBody>
                    <a:bodyPr/>
                    <a:lstStyle/>
                    <a:p>
                      <a:r>
                        <a:rPr lang="en-US" sz="1400" b="1">
                          <a:solidFill>
                            <a:srgbClr val="FFFFFF"/>
                          </a:solidFill>
                          <a:latin typeface="Calibri" panose="020F0502020204030204" pitchFamily="34" charset="0"/>
                        </a:rPr>
                        <a:t>Measure</a:t>
                      </a:r>
                    </a:p>
                  </a:txBody>
                  <a:tcPr marL="127000" marR="101600" marT="63500" marB="63500" anchor="ctr">
                    <a:solidFill>
                      <a:srgbClr val="14213D"/>
                    </a:solidFill>
                  </a:tcPr>
                </a:tc>
                <a:tc>
                  <a:txBody>
                    <a:bodyPr/>
                    <a:lstStyle/>
                    <a:p>
                      <a:r>
                        <a:rPr lang="en-US" sz="1400" b="1">
                          <a:solidFill>
                            <a:srgbClr val="FFFFFF"/>
                          </a:solidFill>
                          <a:latin typeface="Calibri" panose="020F0502020204030204" pitchFamily="34" charset="0"/>
                        </a:rPr>
                        <a:t>Formula</a:t>
                      </a:r>
                    </a:p>
                  </a:txBody>
                  <a:tcPr marL="127000" marR="101600" marT="63500" marB="63500" anchor="ctr">
                    <a:solidFill>
                      <a:srgbClr val="14213D"/>
                    </a:solidFill>
                  </a:tcPr>
                </a:tc>
                <a:tc>
                  <a:txBody>
                    <a:bodyPr/>
                    <a:lstStyle/>
                    <a:p>
                      <a:r>
                        <a:rPr lang="en-US" sz="1400" b="1">
                          <a:solidFill>
                            <a:srgbClr val="FFFFFF"/>
                          </a:solidFill>
                          <a:latin typeface="Calibri" panose="020F0502020204030204" pitchFamily="34" charset="0"/>
                        </a:rPr>
                        <a:t>Good news</a:t>
                      </a:r>
                    </a:p>
                  </a:txBody>
                  <a:tcPr marL="127000" marR="101600" marT="63500" marB="63500" anchor="ctr">
                    <a:solidFill>
                      <a:srgbClr val="14213D"/>
                    </a:solidFill>
                  </a:tcPr>
                </a:tc>
                <a:tc>
                  <a:txBody>
                    <a:bodyPr/>
                    <a:lstStyle/>
                    <a:p>
                      <a:r>
                        <a:rPr lang="en-US" sz="1400" b="1">
                          <a:solidFill>
                            <a:srgbClr val="FFFFFF"/>
                          </a:solidFill>
                          <a:latin typeface="Calibri" panose="020F0502020204030204" pitchFamily="34" charset="0"/>
                        </a:rPr>
                        <a:t>Bad news</a:t>
                      </a:r>
                    </a:p>
                  </a:txBody>
                  <a:tcPr marL="127000" marR="101600" marT="63500" marB="63500" anchor="ctr">
                    <a:solidFill>
                      <a:srgbClr val="14213D"/>
                    </a:solidFill>
                  </a:tcPr>
                </a:tc>
                <a:extLst>
                  <a:ext uri="{0D108BD9-81ED-4DB2-BD59-A6C34878D82A}">
                    <a16:rowId xmlns:a16="http://schemas.microsoft.com/office/drawing/2014/main" val="414513015"/>
                  </a:ext>
                </a:extLst>
              </a:tr>
              <a:tr h="558800">
                <a:tc>
                  <a:txBody>
                    <a:bodyPr/>
                    <a:lstStyle/>
                    <a:p>
                      <a:r>
                        <a:rPr lang="en-US" sz="1400" b="1">
                          <a:solidFill>
                            <a:srgbClr val="14213D"/>
                          </a:solidFill>
                          <a:latin typeface="Calibri" panose="020F0502020204030204" pitchFamily="34" charset="0"/>
                        </a:rPr>
                        <a:t>Cost variance (CV)</a:t>
                      </a:r>
                    </a:p>
                  </a:txBody>
                  <a:tcPr marL="127000" marR="101600" marT="63500" marB="63500" anchor="ctr">
                    <a:solidFill>
                      <a:srgbClr val="FFFFFF"/>
                    </a:solidFill>
                  </a:tcPr>
                </a:tc>
                <a:tc>
                  <a:txBody>
                    <a:bodyPr/>
                    <a:lstStyle/>
                    <a:p>
                      <a:r>
                        <a:rPr lang="en-US" sz="1400" b="1">
                          <a:solidFill>
                            <a:srgbClr val="14213D"/>
                          </a:solidFill>
                          <a:latin typeface="Calibri" panose="020F0502020204030204" pitchFamily="34" charset="0"/>
                        </a:rPr>
                        <a:t>EV − AC</a:t>
                      </a:r>
                    </a:p>
                  </a:txBody>
                  <a:tcPr marL="127000" marR="101600" marT="63500" marB="63500" anchor="ctr">
                    <a:solidFill>
                      <a:srgbClr val="FFFFFF"/>
                    </a:solidFill>
                  </a:tcPr>
                </a:tc>
                <a:tc>
                  <a:txBody>
                    <a:bodyPr/>
                    <a:lstStyle/>
                    <a:p>
                      <a:r>
                        <a:rPr lang="en-US" sz="1400">
                          <a:solidFill>
                            <a:srgbClr val="1F2937"/>
                          </a:solidFill>
                          <a:latin typeface="Calibri" panose="020F0502020204030204" pitchFamily="34" charset="0"/>
                        </a:rPr>
                        <a:t>Positive: under budget</a:t>
                      </a:r>
                    </a:p>
                  </a:txBody>
                  <a:tcPr marL="127000" marR="101600" marT="63500" marB="63500" anchor="ctr">
                    <a:solidFill>
                      <a:srgbClr val="FFFFFF"/>
                    </a:solidFill>
                  </a:tcPr>
                </a:tc>
                <a:tc>
                  <a:txBody>
                    <a:bodyPr/>
                    <a:lstStyle/>
                    <a:p>
                      <a:r>
                        <a:rPr lang="en-US" sz="1400">
                          <a:solidFill>
                            <a:srgbClr val="1F2937"/>
                          </a:solidFill>
                          <a:latin typeface="Calibri" panose="020F0502020204030204" pitchFamily="34" charset="0"/>
                        </a:rPr>
                        <a:t>Negative: over budget</a:t>
                      </a:r>
                    </a:p>
                  </a:txBody>
                  <a:tcPr marL="127000" marR="101600" marT="63500" marB="63500" anchor="ctr">
                    <a:solidFill>
                      <a:srgbClr val="FFFFFF"/>
                    </a:solidFill>
                  </a:tcPr>
                </a:tc>
                <a:extLst>
                  <a:ext uri="{0D108BD9-81ED-4DB2-BD59-A6C34878D82A}">
                    <a16:rowId xmlns:a16="http://schemas.microsoft.com/office/drawing/2014/main" val="3219365994"/>
                  </a:ext>
                </a:extLst>
              </a:tr>
              <a:tr h="558800">
                <a:tc>
                  <a:txBody>
                    <a:bodyPr/>
                    <a:lstStyle/>
                    <a:p>
                      <a:r>
                        <a:rPr lang="en-US" sz="1400" b="1">
                          <a:solidFill>
                            <a:srgbClr val="14213D"/>
                          </a:solidFill>
                          <a:latin typeface="Calibri" panose="020F0502020204030204" pitchFamily="34" charset="0"/>
                        </a:rPr>
                        <a:t>Schedule variance (SV)</a:t>
                      </a:r>
                    </a:p>
                  </a:txBody>
                  <a:tcPr marL="127000" marR="101600" marT="63500" marB="63500" anchor="ctr">
                    <a:solidFill>
                      <a:srgbClr val="F3F5F8"/>
                    </a:solidFill>
                  </a:tcPr>
                </a:tc>
                <a:tc>
                  <a:txBody>
                    <a:bodyPr/>
                    <a:lstStyle/>
                    <a:p>
                      <a:r>
                        <a:rPr lang="en-US" sz="1400" b="1">
                          <a:solidFill>
                            <a:srgbClr val="14213D"/>
                          </a:solidFill>
                          <a:latin typeface="Calibri" panose="020F0502020204030204" pitchFamily="34" charset="0"/>
                        </a:rPr>
                        <a:t>EV − PV</a:t>
                      </a:r>
                    </a:p>
                  </a:txBody>
                  <a:tcPr marL="127000" marR="101600" marT="63500" marB="63500" anchor="ctr">
                    <a:solidFill>
                      <a:srgbClr val="F3F5F8"/>
                    </a:solidFill>
                  </a:tcPr>
                </a:tc>
                <a:tc>
                  <a:txBody>
                    <a:bodyPr/>
                    <a:lstStyle/>
                    <a:p>
                      <a:r>
                        <a:rPr lang="en-US" sz="1400">
                          <a:solidFill>
                            <a:srgbClr val="1F2937"/>
                          </a:solidFill>
                          <a:latin typeface="Calibri" panose="020F0502020204030204" pitchFamily="34" charset="0"/>
                        </a:rPr>
                        <a:t>Positive: ahead of schedule</a:t>
                      </a:r>
                    </a:p>
                  </a:txBody>
                  <a:tcPr marL="127000" marR="101600" marT="63500" marB="63500" anchor="ctr">
                    <a:solidFill>
                      <a:srgbClr val="F3F5F8"/>
                    </a:solidFill>
                  </a:tcPr>
                </a:tc>
                <a:tc>
                  <a:txBody>
                    <a:bodyPr/>
                    <a:lstStyle/>
                    <a:p>
                      <a:r>
                        <a:rPr lang="en-US" sz="1400">
                          <a:solidFill>
                            <a:srgbClr val="1F2937"/>
                          </a:solidFill>
                          <a:latin typeface="Calibri" panose="020F0502020204030204" pitchFamily="34" charset="0"/>
                        </a:rPr>
                        <a:t>Negative: behind schedule</a:t>
                      </a:r>
                    </a:p>
                  </a:txBody>
                  <a:tcPr marL="127000" marR="101600" marT="63500" marB="63500" anchor="ctr">
                    <a:solidFill>
                      <a:srgbClr val="F3F5F8"/>
                    </a:solidFill>
                  </a:tcPr>
                </a:tc>
                <a:extLst>
                  <a:ext uri="{0D108BD9-81ED-4DB2-BD59-A6C34878D82A}">
                    <a16:rowId xmlns:a16="http://schemas.microsoft.com/office/drawing/2014/main" val="605457762"/>
                  </a:ext>
                </a:extLst>
              </a:tr>
              <a:tr h="558800">
                <a:tc>
                  <a:txBody>
                    <a:bodyPr/>
                    <a:lstStyle/>
                    <a:p>
                      <a:r>
                        <a:rPr lang="en-US" sz="1400" b="1">
                          <a:solidFill>
                            <a:srgbClr val="14213D"/>
                          </a:solidFill>
                          <a:latin typeface="Calibri" panose="020F0502020204030204" pitchFamily="34" charset="0"/>
                        </a:rPr>
                        <a:t>Cost performance index (CPI)</a:t>
                      </a:r>
                    </a:p>
                  </a:txBody>
                  <a:tcPr marL="127000" marR="101600" marT="63500" marB="63500" anchor="ctr">
                    <a:solidFill>
                      <a:srgbClr val="FFFFFF"/>
                    </a:solidFill>
                  </a:tcPr>
                </a:tc>
                <a:tc>
                  <a:txBody>
                    <a:bodyPr/>
                    <a:lstStyle/>
                    <a:p>
                      <a:r>
                        <a:rPr lang="en-US" sz="1400" b="1">
                          <a:solidFill>
                            <a:srgbClr val="14213D"/>
                          </a:solidFill>
                          <a:latin typeface="Calibri" panose="020F0502020204030204" pitchFamily="34" charset="0"/>
                        </a:rPr>
                        <a:t>EV / AC</a:t>
                      </a:r>
                    </a:p>
                  </a:txBody>
                  <a:tcPr marL="127000" marR="101600" marT="63500" marB="63500" anchor="ctr">
                    <a:solidFill>
                      <a:srgbClr val="FFFFFF"/>
                    </a:solidFill>
                  </a:tcPr>
                </a:tc>
                <a:tc>
                  <a:txBody>
                    <a:bodyPr/>
                    <a:lstStyle/>
                    <a:p>
                      <a:r>
                        <a:rPr lang="en-US" sz="1400">
                          <a:solidFill>
                            <a:srgbClr val="1F2937"/>
                          </a:solidFill>
                          <a:latin typeface="Calibri" panose="020F0502020204030204" pitchFamily="34" charset="0"/>
                        </a:rPr>
                        <a:t>Above 1: under budget</a:t>
                      </a:r>
                    </a:p>
                  </a:txBody>
                  <a:tcPr marL="127000" marR="101600" marT="63500" marB="63500" anchor="ctr">
                    <a:solidFill>
                      <a:srgbClr val="FFFFFF"/>
                    </a:solidFill>
                  </a:tcPr>
                </a:tc>
                <a:tc>
                  <a:txBody>
                    <a:bodyPr/>
                    <a:lstStyle/>
                    <a:p>
                      <a:r>
                        <a:rPr lang="en-US" sz="1400">
                          <a:solidFill>
                            <a:srgbClr val="1F2937"/>
                          </a:solidFill>
                          <a:latin typeface="Calibri" panose="020F0502020204030204" pitchFamily="34" charset="0"/>
                        </a:rPr>
                        <a:t>Below 1: over budget</a:t>
                      </a:r>
                    </a:p>
                  </a:txBody>
                  <a:tcPr marL="127000" marR="101600" marT="63500" marB="63500" anchor="ctr">
                    <a:solidFill>
                      <a:srgbClr val="FFFFFF"/>
                    </a:solidFill>
                  </a:tcPr>
                </a:tc>
                <a:extLst>
                  <a:ext uri="{0D108BD9-81ED-4DB2-BD59-A6C34878D82A}">
                    <a16:rowId xmlns:a16="http://schemas.microsoft.com/office/drawing/2014/main" val="483269294"/>
                  </a:ext>
                </a:extLst>
              </a:tr>
              <a:tr h="558800">
                <a:tc>
                  <a:txBody>
                    <a:bodyPr/>
                    <a:lstStyle/>
                    <a:p>
                      <a:r>
                        <a:rPr lang="en-US" sz="1400" b="1">
                          <a:solidFill>
                            <a:srgbClr val="14213D"/>
                          </a:solidFill>
                          <a:latin typeface="Calibri" panose="020F0502020204030204" pitchFamily="34" charset="0"/>
                        </a:rPr>
                        <a:t>Schedule performance index (SPI)</a:t>
                      </a:r>
                    </a:p>
                  </a:txBody>
                  <a:tcPr marL="127000" marR="101600" marT="63500" marB="63500" anchor="ctr">
                    <a:solidFill>
                      <a:srgbClr val="F3F5F8"/>
                    </a:solidFill>
                  </a:tcPr>
                </a:tc>
                <a:tc>
                  <a:txBody>
                    <a:bodyPr/>
                    <a:lstStyle/>
                    <a:p>
                      <a:r>
                        <a:rPr lang="en-US" sz="1400" b="1">
                          <a:solidFill>
                            <a:srgbClr val="14213D"/>
                          </a:solidFill>
                          <a:latin typeface="Calibri" panose="020F0502020204030204" pitchFamily="34" charset="0"/>
                        </a:rPr>
                        <a:t>EV / PV</a:t>
                      </a:r>
                    </a:p>
                  </a:txBody>
                  <a:tcPr marL="127000" marR="101600" marT="63500" marB="63500" anchor="ctr">
                    <a:solidFill>
                      <a:srgbClr val="F3F5F8"/>
                    </a:solidFill>
                  </a:tcPr>
                </a:tc>
                <a:tc>
                  <a:txBody>
                    <a:bodyPr/>
                    <a:lstStyle/>
                    <a:p>
                      <a:r>
                        <a:rPr lang="en-US" sz="1400">
                          <a:solidFill>
                            <a:srgbClr val="1F2937"/>
                          </a:solidFill>
                          <a:latin typeface="Calibri" panose="020F0502020204030204" pitchFamily="34" charset="0"/>
                        </a:rPr>
                        <a:t>Above 1: ahead of schedule</a:t>
                      </a:r>
                    </a:p>
                  </a:txBody>
                  <a:tcPr marL="127000" marR="101600" marT="63500" marB="63500" anchor="ctr">
                    <a:solidFill>
                      <a:srgbClr val="F3F5F8"/>
                    </a:solidFill>
                  </a:tcPr>
                </a:tc>
                <a:tc>
                  <a:txBody>
                    <a:bodyPr/>
                    <a:lstStyle/>
                    <a:p>
                      <a:r>
                        <a:rPr lang="en-US" sz="1400">
                          <a:solidFill>
                            <a:srgbClr val="1F2937"/>
                          </a:solidFill>
                          <a:latin typeface="Calibri" panose="020F0502020204030204" pitchFamily="34" charset="0"/>
                        </a:rPr>
                        <a:t>Below 1: behind schedule</a:t>
                      </a:r>
                    </a:p>
                  </a:txBody>
                  <a:tcPr marL="127000" marR="101600" marT="63500" marB="63500" anchor="ctr">
                    <a:solidFill>
                      <a:srgbClr val="F3F5F8"/>
                    </a:solidFill>
                  </a:tcPr>
                </a:tc>
                <a:extLst>
                  <a:ext uri="{0D108BD9-81ED-4DB2-BD59-A6C34878D82A}">
                    <a16:rowId xmlns:a16="http://schemas.microsoft.com/office/drawing/2014/main" val="3555842227"/>
                  </a:ext>
                </a:extLst>
              </a:tr>
            </a:tbl>
          </a:graphicData>
        </a:graphic>
      </p:graphicFrame>
      <p:sp>
        <p:nvSpPr>
          <p:cNvPr id="17" name="Footer">
            <a:extLst>
              <a:ext uri="{FF2B5EF4-FFF2-40B4-BE49-F238E27FC236}">
                <a16:creationId xmlns:a16="http://schemas.microsoft.com/office/drawing/2014/main" id="{E712E883-6971-3E91-F736-F974E9B8290C}"/>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PMBOK® Guide — Sixth Edition, Section 7.4 (Control Costs)</a:t>
            </a:r>
          </a:p>
        </p:txBody>
      </p:sp>
      <p:sp>
        <p:nvSpPr>
          <p:cNvPr id="18" name="SlideNum">
            <a:extLst>
              <a:ext uri="{FF2B5EF4-FFF2-40B4-BE49-F238E27FC236}">
                <a16:creationId xmlns:a16="http://schemas.microsoft.com/office/drawing/2014/main" id="{885B2D43-DA16-2E73-8066-9005105CCC32}"/>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117</a:t>
            </a:r>
          </a:p>
        </p:txBody>
      </p:sp>
      <p:sp>
        <p:nvSpPr>
          <p:cNvPr id="19" name="Rectangle: Rounded Corners 18">
            <a:extLst>
              <a:ext uri="{FF2B5EF4-FFF2-40B4-BE49-F238E27FC236}">
                <a16:creationId xmlns:a16="http://schemas.microsoft.com/office/drawing/2014/main" id="{4E0BA3AE-8F8B-34CE-8987-C14D598B2297}"/>
              </a:ext>
            </a:extLst>
          </p:cNvPr>
          <p:cNvSpPr/>
          <p:nvPr/>
        </p:nvSpPr>
        <p:spPr>
          <a:xfrm>
            <a:off x="508000" y="5994400"/>
            <a:ext cx="11176000" cy="4064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754F2FFF-DC43-B03F-3180-0E1C0CE1F603}"/>
              </a:ext>
            </a:extLst>
          </p:cNvPr>
          <p:cNvSpPr txBox="1"/>
          <p:nvPr/>
        </p:nvSpPr>
        <p:spPr>
          <a:xfrm>
            <a:off x="711200" y="5994400"/>
            <a:ext cx="10769600" cy="406400"/>
          </a:xfrm>
          <a:prstGeom prst="rect">
            <a:avLst/>
          </a:prstGeom>
          <a:noFill/>
        </p:spPr>
        <p:txBody>
          <a:bodyPr vert="horz" wrap="square" lIns="0" tIns="0" rIns="0" bIns="0" rtlCol="0" anchor="ctr">
            <a:noAutofit/>
          </a:bodyPr>
          <a:lstStyle/>
          <a:p>
            <a:r>
              <a:rPr lang="en-US" sz="1300" i="1">
                <a:solidFill>
                  <a:srgbClr val="14213D"/>
                </a:solidFill>
                <a:latin typeface="Calibri" panose="020F0502020204030204" pitchFamily="34" charset="0"/>
              </a:rPr>
              <a:t>Exam cue: CV and SV both positive (CPI and SPI above 1) means the project is under budget and ahead of schedule.</a:t>
            </a:r>
          </a:p>
        </p:txBody>
      </p:sp>
      <p:sp>
        <p:nvSpPr>
          <p:cNvPr id="21"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5335426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B6F035A-189F-C7A5-1760-5E538B74ACE6}"/>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Schedule variance: ahead or behind?</a:t>
            </a:r>
          </a:p>
        </p:txBody>
      </p:sp>
      <p:sp>
        <p:nvSpPr>
          <p:cNvPr id="3" name="Tag">
            <a:extLst>
              <a:ext uri="{FF2B5EF4-FFF2-40B4-BE49-F238E27FC236}">
                <a16:creationId xmlns:a16="http://schemas.microsoft.com/office/drawing/2014/main" id="{0E0132B5-A691-D048-F7DC-B6168222848D}"/>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Supports Process Task 8 · Plan and manage schedule (analyze schedule variation)</a:t>
            </a:r>
          </a:p>
        </p:txBody>
      </p:sp>
      <p:sp>
        <p:nvSpPr>
          <p:cNvPr id="4" name="Rectangle: Rounded Corners 3">
            <a:extLst>
              <a:ext uri="{FF2B5EF4-FFF2-40B4-BE49-F238E27FC236}">
                <a16:creationId xmlns:a16="http://schemas.microsoft.com/office/drawing/2014/main" id="{0CD78567-2F4E-83C1-A220-26DEF8EF2310}"/>
              </a:ext>
            </a:extLst>
          </p:cNvPr>
          <p:cNvSpPr/>
          <p:nvPr/>
        </p:nvSpPr>
        <p:spPr>
          <a:xfrm>
            <a:off x="508000" y="1397000"/>
            <a:ext cx="5334000" cy="4699000"/>
          </a:xfrm>
          <a:prstGeom prst="roundRect">
            <a:avLst>
              <a:gd name="adj" fmla="val 8000"/>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B5C5317-1704-F3FE-40FB-F99BA2C71A34}"/>
              </a:ext>
            </a:extLst>
          </p:cNvPr>
          <p:cNvSpPr txBox="1"/>
          <p:nvPr/>
        </p:nvSpPr>
        <p:spPr>
          <a:xfrm>
            <a:off x="812800" y="1905000"/>
            <a:ext cx="4724400" cy="1905000"/>
          </a:xfrm>
          <a:prstGeom prst="rect">
            <a:avLst/>
          </a:prstGeom>
          <a:noFill/>
        </p:spPr>
        <p:txBody>
          <a:bodyPr vert="horz" wrap="square" lIns="0" tIns="0" rIns="0" bIns="0" rtlCol="0" anchor="ctr">
            <a:noAutofit/>
          </a:bodyPr>
          <a:lstStyle/>
          <a:p>
            <a:r>
              <a:rPr lang="en-US" sz="5400" b="1">
                <a:solidFill>
                  <a:srgbClr val="FFFFFF"/>
                </a:solidFill>
                <a:latin typeface="Cambria" panose="02040503050406030204" pitchFamily="18" charset="0"/>
              </a:rPr>
              <a:t>SV = EV − PV</a:t>
            </a:r>
          </a:p>
        </p:txBody>
      </p:sp>
      <p:sp>
        <p:nvSpPr>
          <p:cNvPr id="6" name="Rectangle 5">
            <a:extLst>
              <a:ext uri="{FF2B5EF4-FFF2-40B4-BE49-F238E27FC236}">
                <a16:creationId xmlns:a16="http://schemas.microsoft.com/office/drawing/2014/main" id="{5F7CB5A1-B46C-6D50-4E1D-CDCB611297D2}"/>
              </a:ext>
            </a:extLst>
          </p:cNvPr>
          <p:cNvSpPr/>
          <p:nvPr/>
        </p:nvSpPr>
        <p:spPr>
          <a:xfrm>
            <a:off x="812800" y="4038600"/>
            <a:ext cx="609600" cy="50800"/>
          </a:xfrm>
          <a:prstGeom prst="rect">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53721F5-F2E6-B15E-E467-5FDCB317B87B}"/>
              </a:ext>
            </a:extLst>
          </p:cNvPr>
          <p:cNvSpPr txBox="1"/>
          <p:nvPr/>
        </p:nvSpPr>
        <p:spPr>
          <a:xfrm>
            <a:off x="812800" y="4267200"/>
            <a:ext cx="4724400" cy="1524000"/>
          </a:xfrm>
          <a:prstGeom prst="rect">
            <a:avLst/>
          </a:prstGeom>
          <a:noFill/>
        </p:spPr>
        <p:txBody>
          <a:bodyPr vert="horz" wrap="square" lIns="0" tIns="0" rIns="0" bIns="0" rtlCol="0" anchor="t">
            <a:noAutofit/>
          </a:bodyPr>
          <a:lstStyle/>
          <a:p>
            <a:r>
              <a:rPr lang="en-US">
                <a:solidFill>
                  <a:srgbClr val="C9D6EA"/>
                </a:solidFill>
                <a:latin typeface="Calibri" panose="020F0502020204030204" pitchFamily="34" charset="0"/>
              </a:rPr>
              <a:t>Value of the work actually done, minus the value of the work planned by now.</a:t>
            </a:r>
          </a:p>
        </p:txBody>
      </p:sp>
      <p:sp>
        <p:nvSpPr>
          <p:cNvPr id="8" name="Rectangle: Rounded Corners 7">
            <a:extLst>
              <a:ext uri="{FF2B5EF4-FFF2-40B4-BE49-F238E27FC236}">
                <a16:creationId xmlns:a16="http://schemas.microsoft.com/office/drawing/2014/main" id="{D0C73DF7-91FA-5A17-42BA-2A21FC200029}"/>
              </a:ext>
            </a:extLst>
          </p:cNvPr>
          <p:cNvSpPr/>
          <p:nvPr/>
        </p:nvSpPr>
        <p:spPr>
          <a:xfrm>
            <a:off x="6096000" y="1397000"/>
            <a:ext cx="5588000" cy="21844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BE72F29-CE57-EB9B-98E6-881289A8FD54}"/>
              </a:ext>
            </a:extLst>
          </p:cNvPr>
          <p:cNvSpPr txBox="1"/>
          <p:nvPr/>
        </p:nvSpPr>
        <p:spPr>
          <a:xfrm>
            <a:off x="6299200" y="1600200"/>
            <a:ext cx="5181600" cy="1778000"/>
          </a:xfrm>
          <a:prstGeom prst="rect">
            <a:avLst/>
          </a:prstGeom>
          <a:noFill/>
        </p:spPr>
        <p:txBody>
          <a:bodyPr vert="horz" wrap="square" lIns="0" tIns="0" rIns="0" bIns="0" rtlCol="0" anchor="t">
            <a:noAutofit/>
          </a:bodyPr>
          <a:lstStyle/>
          <a:p>
            <a:pPr>
              <a:spcAft>
                <a:spcPts val="600"/>
              </a:spcAft>
            </a:pPr>
            <a:r>
              <a:rPr lang="en-US" sz="1900" b="1">
                <a:solidFill>
                  <a:srgbClr val="0F7C80"/>
                </a:solidFill>
                <a:latin typeface="Calibri" panose="020F0502020204030204" pitchFamily="34" charset="0"/>
              </a:rPr>
              <a:t>Positive SV: ahead of schedule</a:t>
            </a:r>
          </a:p>
          <a:p>
            <a:r>
              <a:rPr lang="en-US" sz="1600">
                <a:solidFill>
                  <a:srgbClr val="1F2937"/>
                </a:solidFill>
                <a:latin typeface="Calibri" panose="020F0502020204030204" pitchFamily="34" charset="0"/>
              </a:rPr>
              <a:t>More work has been completed than was planned by the status date.</a:t>
            </a:r>
          </a:p>
        </p:txBody>
      </p:sp>
      <p:sp>
        <p:nvSpPr>
          <p:cNvPr id="10" name="Rectangle: Rounded Corners 9">
            <a:extLst>
              <a:ext uri="{FF2B5EF4-FFF2-40B4-BE49-F238E27FC236}">
                <a16:creationId xmlns:a16="http://schemas.microsoft.com/office/drawing/2014/main" id="{AD3589C3-CEAA-08FE-C5A8-669DFC36E3A6}"/>
              </a:ext>
            </a:extLst>
          </p:cNvPr>
          <p:cNvSpPr/>
          <p:nvPr/>
        </p:nvSpPr>
        <p:spPr>
          <a:xfrm>
            <a:off x="6096000" y="3784600"/>
            <a:ext cx="5588000" cy="2311400"/>
          </a:xfrm>
          <a:prstGeom prst="roundRect">
            <a:avLst>
              <a:gd name="adj" fmla="val 8000"/>
            </a:avLst>
          </a:prstGeom>
          <a:solidFill>
            <a:srgbClr val="F5E8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58760C3-E0D1-1506-4D06-5D476833CCDF}"/>
              </a:ext>
            </a:extLst>
          </p:cNvPr>
          <p:cNvSpPr txBox="1"/>
          <p:nvPr/>
        </p:nvSpPr>
        <p:spPr>
          <a:xfrm>
            <a:off x="6299200" y="3987800"/>
            <a:ext cx="5181600" cy="1905000"/>
          </a:xfrm>
          <a:prstGeom prst="rect">
            <a:avLst/>
          </a:prstGeom>
          <a:noFill/>
        </p:spPr>
        <p:txBody>
          <a:bodyPr vert="horz" wrap="square" lIns="0" tIns="0" rIns="0" bIns="0" rtlCol="0" anchor="t">
            <a:noAutofit/>
          </a:bodyPr>
          <a:lstStyle/>
          <a:p>
            <a:pPr>
              <a:spcAft>
                <a:spcPts val="600"/>
              </a:spcAft>
            </a:pPr>
            <a:r>
              <a:rPr lang="en-US" sz="1900" b="1">
                <a:solidFill>
                  <a:srgbClr val="A84A2E"/>
                </a:solidFill>
                <a:latin typeface="Calibri" panose="020F0502020204030204" pitchFamily="34" charset="0"/>
              </a:rPr>
              <a:t>Negative SV: behind schedule</a:t>
            </a:r>
          </a:p>
          <a:p>
            <a:r>
              <a:rPr lang="en-US" sz="1600">
                <a:solidFill>
                  <a:srgbClr val="1F2937"/>
                </a:solidFill>
                <a:latin typeface="Calibri" panose="020F0502020204030204" pitchFamily="34" charset="0"/>
              </a:rPr>
              <a:t>Less work has been completed than planned. SV = 0 means exactly on plan. At project close SV always returns to 0, because EV = PV = BAC.</a:t>
            </a:r>
          </a:p>
        </p:txBody>
      </p:sp>
      <p:sp>
        <p:nvSpPr>
          <p:cNvPr id="12" name="Footer">
            <a:extLst>
              <a:ext uri="{FF2B5EF4-FFF2-40B4-BE49-F238E27FC236}">
                <a16:creationId xmlns:a16="http://schemas.microsoft.com/office/drawing/2014/main" id="{487AA253-3181-0D98-425C-046E7F28E56C}"/>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PMBOK® Guide — Sixth Edition, Section 7.4 (Control Costs)</a:t>
            </a:r>
          </a:p>
        </p:txBody>
      </p:sp>
      <p:sp>
        <p:nvSpPr>
          <p:cNvPr id="13" name="SlideNum">
            <a:extLst>
              <a:ext uri="{FF2B5EF4-FFF2-40B4-BE49-F238E27FC236}">
                <a16:creationId xmlns:a16="http://schemas.microsoft.com/office/drawing/2014/main" id="{DA725F25-D0B7-2FB7-5CA9-3C9E36C59AB0}"/>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118</a:t>
            </a:r>
          </a:p>
        </p:txBody>
      </p:sp>
      <p:sp>
        <p:nvSpPr>
          <p:cNvPr id="14"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406634308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7DAA0386-E44F-06C7-91FC-7C1671F58CC5}"/>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CPI: how efficiently money turns into work</a:t>
            </a:r>
          </a:p>
        </p:txBody>
      </p:sp>
      <p:sp>
        <p:nvSpPr>
          <p:cNvPr id="3" name="Tag">
            <a:extLst>
              <a:ext uri="{FF2B5EF4-FFF2-40B4-BE49-F238E27FC236}">
                <a16:creationId xmlns:a16="http://schemas.microsoft.com/office/drawing/2014/main" id="{C04B9FAF-CEFA-1C7D-F5C3-2DE27C7C14AB}"/>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Supports Process Task 6 · Plan and manage finance</a:t>
            </a:r>
          </a:p>
        </p:txBody>
      </p:sp>
      <p:sp>
        <p:nvSpPr>
          <p:cNvPr id="4" name="Rectangle: Rounded Corners 3">
            <a:extLst>
              <a:ext uri="{FF2B5EF4-FFF2-40B4-BE49-F238E27FC236}">
                <a16:creationId xmlns:a16="http://schemas.microsoft.com/office/drawing/2014/main" id="{5AD80884-BA4C-FB09-B4D1-4724878181C5}"/>
              </a:ext>
            </a:extLst>
          </p:cNvPr>
          <p:cNvSpPr/>
          <p:nvPr/>
        </p:nvSpPr>
        <p:spPr>
          <a:xfrm>
            <a:off x="508000" y="1397000"/>
            <a:ext cx="5334000" cy="4699000"/>
          </a:xfrm>
          <a:prstGeom prst="roundRect">
            <a:avLst>
              <a:gd name="adj" fmla="val 8000"/>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E655EFA-8E3B-E9D7-B360-2E0073BE2A69}"/>
              </a:ext>
            </a:extLst>
          </p:cNvPr>
          <p:cNvSpPr txBox="1"/>
          <p:nvPr/>
        </p:nvSpPr>
        <p:spPr>
          <a:xfrm>
            <a:off x="812800" y="1905000"/>
            <a:ext cx="4724400" cy="1905000"/>
          </a:xfrm>
          <a:prstGeom prst="rect">
            <a:avLst/>
          </a:prstGeom>
          <a:noFill/>
        </p:spPr>
        <p:txBody>
          <a:bodyPr vert="horz" wrap="square" lIns="0" tIns="0" rIns="0" bIns="0" rtlCol="0" anchor="ctr">
            <a:noAutofit/>
          </a:bodyPr>
          <a:lstStyle/>
          <a:p>
            <a:r>
              <a:rPr lang="en-US" sz="5400" b="1">
                <a:solidFill>
                  <a:srgbClr val="FFFFFF"/>
                </a:solidFill>
                <a:latin typeface="Cambria" panose="02040503050406030204" pitchFamily="18" charset="0"/>
              </a:rPr>
              <a:t>CPI = EV / AC</a:t>
            </a:r>
          </a:p>
        </p:txBody>
      </p:sp>
      <p:sp>
        <p:nvSpPr>
          <p:cNvPr id="6" name="Rectangle 5">
            <a:extLst>
              <a:ext uri="{FF2B5EF4-FFF2-40B4-BE49-F238E27FC236}">
                <a16:creationId xmlns:a16="http://schemas.microsoft.com/office/drawing/2014/main" id="{90079751-92A0-E9D3-02FC-E59290B46758}"/>
              </a:ext>
            </a:extLst>
          </p:cNvPr>
          <p:cNvSpPr/>
          <p:nvPr/>
        </p:nvSpPr>
        <p:spPr>
          <a:xfrm>
            <a:off x="812800" y="4038600"/>
            <a:ext cx="609600" cy="50800"/>
          </a:xfrm>
          <a:prstGeom prst="rect">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B19240E-AE16-A7F3-60AE-526A84F69F42}"/>
              </a:ext>
            </a:extLst>
          </p:cNvPr>
          <p:cNvSpPr txBox="1"/>
          <p:nvPr/>
        </p:nvSpPr>
        <p:spPr>
          <a:xfrm>
            <a:off x="812800" y="4267200"/>
            <a:ext cx="4724400" cy="1524000"/>
          </a:xfrm>
          <a:prstGeom prst="rect">
            <a:avLst/>
          </a:prstGeom>
          <a:noFill/>
        </p:spPr>
        <p:txBody>
          <a:bodyPr vert="horz" wrap="square" lIns="0" tIns="0" rIns="0" bIns="0" rtlCol="0" anchor="t">
            <a:noAutofit/>
          </a:bodyPr>
          <a:lstStyle/>
          <a:p>
            <a:r>
              <a:rPr lang="en-US">
                <a:solidFill>
                  <a:srgbClr val="C9D6EA"/>
                </a:solidFill>
                <a:latin typeface="Calibri" panose="020F0502020204030204" pitchFamily="34" charset="0"/>
              </a:rPr>
              <a:t>Measures the cost efficiency of the work completed so far.</a:t>
            </a:r>
          </a:p>
        </p:txBody>
      </p:sp>
      <p:sp>
        <p:nvSpPr>
          <p:cNvPr id="8" name="Rectangle: Rounded Corners 7">
            <a:extLst>
              <a:ext uri="{FF2B5EF4-FFF2-40B4-BE49-F238E27FC236}">
                <a16:creationId xmlns:a16="http://schemas.microsoft.com/office/drawing/2014/main" id="{347A2B04-521F-CE1B-70EE-E8FF151F2656}"/>
              </a:ext>
            </a:extLst>
          </p:cNvPr>
          <p:cNvSpPr/>
          <p:nvPr/>
        </p:nvSpPr>
        <p:spPr>
          <a:xfrm>
            <a:off x="6096000" y="1397000"/>
            <a:ext cx="5588000" cy="2946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D5165B1-3B46-F911-53A5-77F947BD0A23}"/>
              </a:ext>
            </a:extLst>
          </p:cNvPr>
          <p:cNvSpPr txBox="1"/>
          <p:nvPr/>
        </p:nvSpPr>
        <p:spPr>
          <a:xfrm>
            <a:off x="6350000" y="1625600"/>
            <a:ext cx="5080000" cy="279400"/>
          </a:xfrm>
          <a:prstGeom prst="rect">
            <a:avLst/>
          </a:prstGeom>
          <a:noFill/>
        </p:spPr>
        <p:txBody>
          <a:bodyPr vert="horz" wrap="square" lIns="0" tIns="0" rIns="0" bIns="0" rtlCol="0" anchor="t">
            <a:noAutofit/>
          </a:bodyPr>
          <a:lstStyle/>
          <a:p>
            <a:r>
              <a:rPr lang="en-US" sz="1500" b="1">
                <a:solidFill>
                  <a:srgbClr val="5B6475"/>
                </a:solidFill>
                <a:latin typeface="Calibri" panose="020F0502020204030204" pitchFamily="34" charset="0"/>
              </a:rPr>
              <a:t>Example</a:t>
            </a:r>
          </a:p>
        </p:txBody>
      </p:sp>
      <p:sp>
        <p:nvSpPr>
          <p:cNvPr id="10" name="TextBox 9">
            <a:extLst>
              <a:ext uri="{FF2B5EF4-FFF2-40B4-BE49-F238E27FC236}">
                <a16:creationId xmlns:a16="http://schemas.microsoft.com/office/drawing/2014/main" id="{88DB210C-24DA-EE1E-179E-0BE8AC988BB3}"/>
              </a:ext>
            </a:extLst>
          </p:cNvPr>
          <p:cNvSpPr txBox="1"/>
          <p:nvPr/>
        </p:nvSpPr>
        <p:spPr>
          <a:xfrm>
            <a:off x="6350000" y="1905000"/>
            <a:ext cx="5080000" cy="762000"/>
          </a:xfrm>
          <a:prstGeom prst="rect">
            <a:avLst/>
          </a:prstGeom>
          <a:noFill/>
        </p:spPr>
        <p:txBody>
          <a:bodyPr vert="horz" wrap="square" lIns="0" tIns="0" rIns="0" bIns="0" rtlCol="0" anchor="t">
            <a:noAutofit/>
          </a:bodyPr>
          <a:lstStyle/>
          <a:p>
            <a:r>
              <a:rPr lang="en-US" sz="4000" b="1">
                <a:solidFill>
                  <a:srgbClr val="A84A2E"/>
                </a:solidFill>
                <a:latin typeface="Cambria" panose="02040503050406030204" pitchFamily="18" charset="0"/>
              </a:rPr>
              <a:t>CPI = 0.90</a:t>
            </a:r>
          </a:p>
        </p:txBody>
      </p:sp>
      <p:sp>
        <p:nvSpPr>
          <p:cNvPr id="11" name="TextBox 10">
            <a:extLst>
              <a:ext uri="{FF2B5EF4-FFF2-40B4-BE49-F238E27FC236}">
                <a16:creationId xmlns:a16="http://schemas.microsoft.com/office/drawing/2014/main" id="{037A2A37-5B68-9B84-281C-DBEA1699FB0B}"/>
              </a:ext>
            </a:extLst>
          </p:cNvPr>
          <p:cNvSpPr txBox="1"/>
          <p:nvPr/>
        </p:nvSpPr>
        <p:spPr>
          <a:xfrm>
            <a:off x="6350000" y="2692400"/>
            <a:ext cx="5080000" cy="1524000"/>
          </a:xfrm>
          <a:prstGeom prst="rect">
            <a:avLst/>
          </a:prstGeom>
          <a:noFill/>
        </p:spPr>
        <p:txBody>
          <a:bodyPr vert="horz" wrap="square" lIns="0" tIns="0" rIns="0" bIns="0" rtlCol="0" anchor="t">
            <a:noAutofit/>
          </a:bodyPr>
          <a:lstStyle/>
          <a:p>
            <a:r>
              <a:rPr lang="en-US" sz="1700">
                <a:solidFill>
                  <a:srgbClr val="1F2937"/>
                </a:solidFill>
                <a:latin typeface="Calibri" panose="020F0502020204030204" pitchFamily="34" charset="0"/>
              </a:rPr>
              <a:t>For every $1 spent, the project got $0.90 worth of work. Funds are not being used efficiently.</a:t>
            </a:r>
          </a:p>
        </p:txBody>
      </p:sp>
      <p:sp>
        <p:nvSpPr>
          <p:cNvPr id="12" name="Rectangle 11">
            <a:extLst>
              <a:ext uri="{FF2B5EF4-FFF2-40B4-BE49-F238E27FC236}">
                <a16:creationId xmlns:a16="http://schemas.microsoft.com/office/drawing/2014/main" id="{2C6A0A63-4E36-0EAD-101D-3BA7B136CF7E}"/>
              </a:ext>
            </a:extLst>
          </p:cNvPr>
          <p:cNvSpPr/>
          <p:nvPr/>
        </p:nvSpPr>
        <p:spPr>
          <a:xfrm>
            <a:off x="6096000" y="4572000"/>
            <a:ext cx="1828800" cy="1524000"/>
          </a:xfrm>
          <a:prstGeom prst="rect">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700" b="1">
                <a:solidFill>
                  <a:srgbClr val="FFFFFF"/>
                </a:solidFill>
                <a:latin typeface="Calibri" panose="020F0502020204030204" pitchFamily="34" charset="0"/>
              </a:rPr>
              <a:t>Below 1</a:t>
            </a:r>
          </a:p>
          <a:p>
            <a:pPr algn="ctr"/>
            <a:r>
              <a:rPr lang="en-US" sz="1700" b="1">
                <a:solidFill>
                  <a:srgbClr val="FFFFFF"/>
                </a:solidFill>
                <a:latin typeface="Calibri" panose="020F0502020204030204" pitchFamily="34" charset="0"/>
              </a:rPr>
              <a:t>over budget</a:t>
            </a:r>
          </a:p>
        </p:txBody>
      </p:sp>
      <p:sp>
        <p:nvSpPr>
          <p:cNvPr id="13" name="Rectangle 12">
            <a:extLst>
              <a:ext uri="{FF2B5EF4-FFF2-40B4-BE49-F238E27FC236}">
                <a16:creationId xmlns:a16="http://schemas.microsoft.com/office/drawing/2014/main" id="{EB744E60-64B6-9884-5CDD-628844B60458}"/>
              </a:ext>
            </a:extLst>
          </p:cNvPr>
          <p:cNvSpPr/>
          <p:nvPr/>
        </p:nvSpPr>
        <p:spPr>
          <a:xfrm>
            <a:off x="7975600" y="4572000"/>
            <a:ext cx="1828800" cy="1524000"/>
          </a:xfrm>
          <a:prstGeom prst="rect">
            <a:avLst/>
          </a:prstGeom>
          <a:solidFill>
            <a:srgbClr val="D5DB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700" b="1">
                <a:solidFill>
                  <a:srgbClr val="14213D"/>
                </a:solidFill>
                <a:latin typeface="Calibri" panose="020F0502020204030204" pitchFamily="34" charset="0"/>
              </a:rPr>
              <a:t>Equal to 1</a:t>
            </a:r>
          </a:p>
          <a:p>
            <a:pPr algn="ctr"/>
            <a:r>
              <a:rPr lang="en-US" sz="1700" b="1">
                <a:solidFill>
                  <a:srgbClr val="14213D"/>
                </a:solidFill>
                <a:latin typeface="Calibri" panose="020F0502020204030204" pitchFamily="34" charset="0"/>
              </a:rPr>
              <a:t>on budget</a:t>
            </a:r>
          </a:p>
        </p:txBody>
      </p:sp>
      <p:sp>
        <p:nvSpPr>
          <p:cNvPr id="14" name="Rectangle 13">
            <a:extLst>
              <a:ext uri="{FF2B5EF4-FFF2-40B4-BE49-F238E27FC236}">
                <a16:creationId xmlns:a16="http://schemas.microsoft.com/office/drawing/2014/main" id="{7067D630-D85F-FF5D-8E0E-39F55B929CD6}"/>
              </a:ext>
            </a:extLst>
          </p:cNvPr>
          <p:cNvSpPr/>
          <p:nvPr/>
        </p:nvSpPr>
        <p:spPr>
          <a:xfrm>
            <a:off x="9855200" y="4572000"/>
            <a:ext cx="1828800" cy="1524000"/>
          </a:xfrm>
          <a:prstGeom prst="rect">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700" b="1">
                <a:solidFill>
                  <a:srgbClr val="FFFFFF"/>
                </a:solidFill>
                <a:latin typeface="Calibri" panose="020F0502020204030204" pitchFamily="34" charset="0"/>
              </a:rPr>
              <a:t>Above 1</a:t>
            </a:r>
          </a:p>
          <a:p>
            <a:pPr algn="ctr"/>
            <a:r>
              <a:rPr lang="en-US" sz="1700" b="1">
                <a:solidFill>
                  <a:srgbClr val="FFFFFF"/>
                </a:solidFill>
                <a:latin typeface="Calibri" panose="020F0502020204030204" pitchFamily="34" charset="0"/>
              </a:rPr>
              <a:t>under budget</a:t>
            </a:r>
          </a:p>
        </p:txBody>
      </p:sp>
      <p:sp>
        <p:nvSpPr>
          <p:cNvPr id="15" name="Footer">
            <a:extLst>
              <a:ext uri="{FF2B5EF4-FFF2-40B4-BE49-F238E27FC236}">
                <a16:creationId xmlns:a16="http://schemas.microsoft.com/office/drawing/2014/main" id="{5B25B06E-0C3E-4575-2B93-3D36CB1BE952}"/>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PMBOK® Guide — Sixth Edition, Section 7.4 (Control Costs)</a:t>
            </a:r>
          </a:p>
        </p:txBody>
      </p:sp>
      <p:sp>
        <p:nvSpPr>
          <p:cNvPr id="16" name="SlideNum">
            <a:extLst>
              <a:ext uri="{FF2B5EF4-FFF2-40B4-BE49-F238E27FC236}">
                <a16:creationId xmlns:a16="http://schemas.microsoft.com/office/drawing/2014/main" id="{F59F18F9-A86B-15AC-D4C3-6567BC73C17A}"/>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119</a:t>
            </a:r>
          </a:p>
        </p:txBody>
      </p:sp>
      <p:sp>
        <p:nvSpPr>
          <p:cNvPr id="17"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80025089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2127949-2682-3E40-AF0A-3A1D61CE5AA4}"/>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Forecasting: re-estimate the finish at today’s efficiency</a:t>
            </a:r>
          </a:p>
        </p:txBody>
      </p:sp>
      <p:sp>
        <p:nvSpPr>
          <p:cNvPr id="3" name="Tag">
            <a:extLst>
              <a:ext uri="{FF2B5EF4-FFF2-40B4-BE49-F238E27FC236}">
                <a16:creationId xmlns:a16="http://schemas.microsoft.com/office/drawing/2014/main" id="{00DB8F58-F144-89C2-46E4-DCA1A019227F}"/>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Supports Process Task 6 · Plan and manage finance</a:t>
            </a:r>
          </a:p>
        </p:txBody>
      </p:sp>
      <p:cxnSp>
        <p:nvCxnSpPr>
          <p:cNvPr id="4" name="Straight Connector 3">
            <a:extLst>
              <a:ext uri="{FF2B5EF4-FFF2-40B4-BE49-F238E27FC236}">
                <a16:creationId xmlns:a16="http://schemas.microsoft.com/office/drawing/2014/main" id="{6896E7D7-684F-91D8-ED5F-34FA9D7C9FE0}"/>
              </a:ext>
            </a:extLst>
          </p:cNvPr>
          <p:cNvCxnSpPr/>
          <p:nvPr/>
        </p:nvCxnSpPr>
        <p:spPr>
          <a:xfrm>
            <a:off x="1524000" y="2006600"/>
            <a:ext cx="8128000" cy="0"/>
          </a:xfrm>
          <a:prstGeom prst="line">
            <a:avLst/>
          </a:prstGeom>
          <a:ln w="31750">
            <a:solidFill>
              <a:srgbClr val="34509A"/>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85D80405-A42B-59A6-2B07-DF61B47216BB}"/>
              </a:ext>
            </a:extLst>
          </p:cNvPr>
          <p:cNvSpPr txBox="1"/>
          <p:nvPr/>
        </p:nvSpPr>
        <p:spPr>
          <a:xfrm>
            <a:off x="1524000" y="1574800"/>
            <a:ext cx="8128000" cy="304800"/>
          </a:xfrm>
          <a:prstGeom prst="rect">
            <a:avLst/>
          </a:prstGeom>
          <a:noFill/>
        </p:spPr>
        <p:txBody>
          <a:bodyPr vert="horz" wrap="square" lIns="0" tIns="0" rIns="0" bIns="0" rtlCol="0" anchor="t">
            <a:noAutofit/>
          </a:bodyPr>
          <a:lstStyle/>
          <a:p>
            <a:pPr algn="ctr"/>
            <a:r>
              <a:rPr lang="en-US" sz="1600" b="1">
                <a:solidFill>
                  <a:srgbClr val="34509A"/>
                </a:solidFill>
                <a:latin typeface="Calibri" panose="020F0502020204030204" pitchFamily="34" charset="0"/>
              </a:rPr>
              <a:t>BAC — the budget as planned</a:t>
            </a:r>
          </a:p>
        </p:txBody>
      </p:sp>
      <p:cxnSp>
        <p:nvCxnSpPr>
          <p:cNvPr id="6" name="Straight Connector 5">
            <a:extLst>
              <a:ext uri="{FF2B5EF4-FFF2-40B4-BE49-F238E27FC236}">
                <a16:creationId xmlns:a16="http://schemas.microsoft.com/office/drawing/2014/main" id="{A64963B3-9DCA-4A53-CE81-B9EA1D9DB6BB}"/>
              </a:ext>
            </a:extLst>
          </p:cNvPr>
          <p:cNvCxnSpPr/>
          <p:nvPr/>
        </p:nvCxnSpPr>
        <p:spPr>
          <a:xfrm>
            <a:off x="1524000" y="2997200"/>
            <a:ext cx="9652000" cy="0"/>
          </a:xfrm>
          <a:prstGeom prst="line">
            <a:avLst/>
          </a:prstGeom>
          <a:ln w="31750">
            <a:solidFill>
              <a:srgbClr val="A84A2E"/>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B46D8BA-77E0-3A7A-5F27-54C9B3377656}"/>
              </a:ext>
            </a:extLst>
          </p:cNvPr>
          <p:cNvSpPr txBox="1"/>
          <p:nvPr/>
        </p:nvSpPr>
        <p:spPr>
          <a:xfrm>
            <a:off x="1524000" y="2565400"/>
            <a:ext cx="9652000" cy="304800"/>
          </a:xfrm>
          <a:prstGeom prst="rect">
            <a:avLst/>
          </a:prstGeom>
          <a:noFill/>
        </p:spPr>
        <p:txBody>
          <a:bodyPr vert="horz" wrap="square" lIns="0" tIns="0" rIns="0" bIns="0" rtlCol="0" anchor="t">
            <a:noAutofit/>
          </a:bodyPr>
          <a:lstStyle/>
          <a:p>
            <a:pPr algn="ctr"/>
            <a:r>
              <a:rPr lang="en-US" sz="1600" b="1">
                <a:solidFill>
                  <a:srgbClr val="A84A2E"/>
                </a:solidFill>
                <a:latin typeface="Calibri" panose="020F0502020204030204" pitchFamily="34" charset="0"/>
              </a:rPr>
              <a:t>EAC = BAC / CPI — updated total, based on efficiency so far</a:t>
            </a:r>
          </a:p>
        </p:txBody>
      </p:sp>
      <p:cxnSp>
        <p:nvCxnSpPr>
          <p:cNvPr id="8" name="Straight Connector 7">
            <a:extLst>
              <a:ext uri="{FF2B5EF4-FFF2-40B4-BE49-F238E27FC236}">
                <a16:creationId xmlns:a16="http://schemas.microsoft.com/office/drawing/2014/main" id="{BF9A9ECC-CAEC-2568-61C2-844E0421EE76}"/>
              </a:ext>
            </a:extLst>
          </p:cNvPr>
          <p:cNvCxnSpPr/>
          <p:nvPr/>
        </p:nvCxnSpPr>
        <p:spPr>
          <a:xfrm>
            <a:off x="9652000" y="1905000"/>
            <a:ext cx="0" cy="1270000"/>
          </a:xfrm>
          <a:prstGeom prst="line">
            <a:avLst/>
          </a:prstGeom>
          <a:ln w="15875" cap="rnd">
            <a:solidFill>
              <a:srgbClr val="5B6475"/>
            </a:solidFill>
            <a:prstDash val="dot"/>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A0B04B4-6A40-B225-AD2F-CE1172D70B0A}"/>
              </a:ext>
            </a:extLst>
          </p:cNvPr>
          <p:cNvSpPr txBox="1"/>
          <p:nvPr/>
        </p:nvSpPr>
        <p:spPr>
          <a:xfrm>
            <a:off x="9728200" y="3200400"/>
            <a:ext cx="1955800" cy="254000"/>
          </a:xfrm>
          <a:prstGeom prst="rect">
            <a:avLst/>
          </a:prstGeom>
          <a:noFill/>
        </p:spPr>
        <p:txBody>
          <a:bodyPr vert="horz" wrap="square" lIns="0" tIns="0" rIns="0" bIns="0" rtlCol="0" anchor="t">
            <a:noAutofit/>
          </a:bodyPr>
          <a:lstStyle/>
          <a:p>
            <a:r>
              <a:rPr lang="en-US" sz="1300" b="1">
                <a:solidFill>
                  <a:srgbClr val="A84A2E"/>
                </a:solidFill>
                <a:latin typeface="Calibri" panose="020F0502020204030204" pitchFamily="34" charset="0"/>
              </a:rPr>
              <a:t>VAC = BAC − EAC</a:t>
            </a:r>
          </a:p>
        </p:txBody>
      </p:sp>
      <p:cxnSp>
        <p:nvCxnSpPr>
          <p:cNvPr id="10" name="Straight Connector 9">
            <a:extLst>
              <a:ext uri="{FF2B5EF4-FFF2-40B4-BE49-F238E27FC236}">
                <a16:creationId xmlns:a16="http://schemas.microsoft.com/office/drawing/2014/main" id="{6029F5CE-9665-17F9-9DD0-D41F444F274B}"/>
              </a:ext>
            </a:extLst>
          </p:cNvPr>
          <p:cNvCxnSpPr/>
          <p:nvPr/>
        </p:nvCxnSpPr>
        <p:spPr>
          <a:xfrm>
            <a:off x="1524000" y="3937000"/>
            <a:ext cx="9652000" cy="0"/>
          </a:xfrm>
          <a:prstGeom prst="line">
            <a:avLst/>
          </a:prstGeom>
          <a:ln w="50800">
            <a:solidFill>
              <a:srgbClr val="14213D"/>
            </a:solidFill>
          </a:ln>
        </p:spPr>
        <p:style>
          <a:lnRef idx="2">
            <a:schemeClr val="accent1"/>
          </a:lnRef>
          <a:fillRef idx="0">
            <a:schemeClr val="accent1"/>
          </a:fillRef>
          <a:effectRef idx="1">
            <a:schemeClr val="accent1"/>
          </a:effectRef>
          <a:fontRef idx="minor">
            <a:schemeClr val="tx1"/>
          </a:fontRef>
        </p:style>
      </p:cxnSp>
      <p:sp>
        <p:nvSpPr>
          <p:cNvPr id="11" name="Oval 10">
            <a:extLst>
              <a:ext uri="{FF2B5EF4-FFF2-40B4-BE49-F238E27FC236}">
                <a16:creationId xmlns:a16="http://schemas.microsoft.com/office/drawing/2014/main" id="{2ECABA83-179A-4D3C-6B08-FD7DE67A353C}"/>
              </a:ext>
            </a:extLst>
          </p:cNvPr>
          <p:cNvSpPr/>
          <p:nvPr/>
        </p:nvSpPr>
        <p:spPr>
          <a:xfrm>
            <a:off x="1397000" y="3810000"/>
            <a:ext cx="254000" cy="254000"/>
          </a:xfrm>
          <a:prstGeom prst="ellipse">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D33A8A2-D4A3-D327-CB08-7DAB919B12F5}"/>
              </a:ext>
            </a:extLst>
          </p:cNvPr>
          <p:cNvSpPr/>
          <p:nvPr/>
        </p:nvSpPr>
        <p:spPr>
          <a:xfrm>
            <a:off x="11049000" y="3810000"/>
            <a:ext cx="254000" cy="254000"/>
          </a:xfrm>
          <a:prstGeom prst="ellipse">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F34AAC9-A0AB-6D7F-2081-7971972C4A39}"/>
              </a:ext>
            </a:extLst>
          </p:cNvPr>
          <p:cNvSpPr txBox="1"/>
          <p:nvPr/>
        </p:nvSpPr>
        <p:spPr>
          <a:xfrm>
            <a:off x="508000" y="3810000"/>
            <a:ext cx="812800" cy="254000"/>
          </a:xfrm>
          <a:prstGeom prst="rect">
            <a:avLst/>
          </a:prstGeom>
          <a:noFill/>
        </p:spPr>
        <p:txBody>
          <a:bodyPr vert="horz" wrap="square" lIns="0" tIns="0" rIns="0" bIns="0" rtlCol="0" anchor="t">
            <a:noAutofit/>
          </a:bodyPr>
          <a:lstStyle/>
          <a:p>
            <a:pPr algn="r"/>
            <a:r>
              <a:rPr lang="en-US" sz="1500" b="1">
                <a:solidFill>
                  <a:srgbClr val="14213D"/>
                </a:solidFill>
                <a:latin typeface="Calibri" panose="020F0502020204030204" pitchFamily="34" charset="0"/>
              </a:rPr>
              <a:t>Start</a:t>
            </a:r>
          </a:p>
        </p:txBody>
      </p:sp>
      <p:sp>
        <p:nvSpPr>
          <p:cNvPr id="14" name="TextBox 13">
            <a:extLst>
              <a:ext uri="{FF2B5EF4-FFF2-40B4-BE49-F238E27FC236}">
                <a16:creationId xmlns:a16="http://schemas.microsoft.com/office/drawing/2014/main" id="{4EF99BD3-4311-92C5-62D5-996E32016E6B}"/>
              </a:ext>
            </a:extLst>
          </p:cNvPr>
          <p:cNvSpPr txBox="1"/>
          <p:nvPr/>
        </p:nvSpPr>
        <p:spPr>
          <a:xfrm>
            <a:off x="10795000" y="3479800"/>
            <a:ext cx="762000" cy="254000"/>
          </a:xfrm>
          <a:prstGeom prst="rect">
            <a:avLst/>
          </a:prstGeom>
          <a:noFill/>
        </p:spPr>
        <p:txBody>
          <a:bodyPr vert="horz" wrap="square" lIns="0" tIns="0" rIns="0" bIns="0" rtlCol="0" anchor="t">
            <a:noAutofit/>
          </a:bodyPr>
          <a:lstStyle/>
          <a:p>
            <a:pPr algn="ctr"/>
            <a:r>
              <a:rPr lang="en-US" sz="1500" b="1">
                <a:solidFill>
                  <a:srgbClr val="14213D"/>
                </a:solidFill>
                <a:latin typeface="Calibri" panose="020F0502020204030204" pitchFamily="34" charset="0"/>
              </a:rPr>
              <a:t>End</a:t>
            </a:r>
          </a:p>
        </p:txBody>
      </p:sp>
      <p:sp>
        <p:nvSpPr>
          <p:cNvPr id="15" name="TextBox 14">
            <a:extLst>
              <a:ext uri="{FF2B5EF4-FFF2-40B4-BE49-F238E27FC236}">
                <a16:creationId xmlns:a16="http://schemas.microsoft.com/office/drawing/2014/main" id="{30548423-D62D-9EBD-119F-15CE85B67C01}"/>
              </a:ext>
            </a:extLst>
          </p:cNvPr>
          <p:cNvSpPr txBox="1"/>
          <p:nvPr/>
        </p:nvSpPr>
        <p:spPr>
          <a:xfrm>
            <a:off x="4419600" y="3708400"/>
            <a:ext cx="304800" cy="431800"/>
          </a:xfrm>
          <a:prstGeom prst="rect">
            <a:avLst/>
          </a:prstGeom>
          <a:noFill/>
        </p:spPr>
        <p:txBody>
          <a:bodyPr vert="horz" wrap="square" lIns="0" tIns="0" rIns="0" bIns="0" rtlCol="0" anchor="ctr">
            <a:noAutofit/>
          </a:bodyPr>
          <a:lstStyle/>
          <a:p>
            <a:pPr algn="ctr"/>
            <a:r>
              <a:rPr lang="en-US" sz="2600" b="1">
                <a:solidFill>
                  <a:srgbClr val="14213D"/>
                </a:solidFill>
                <a:latin typeface="Calibri" panose="020F0502020204030204" pitchFamily="34" charset="0"/>
              </a:rPr>
              <a:t>X</a:t>
            </a:r>
          </a:p>
        </p:txBody>
      </p:sp>
      <p:sp>
        <p:nvSpPr>
          <p:cNvPr id="16" name="TextBox 15">
            <a:extLst>
              <a:ext uri="{FF2B5EF4-FFF2-40B4-BE49-F238E27FC236}">
                <a16:creationId xmlns:a16="http://schemas.microsoft.com/office/drawing/2014/main" id="{73D114A8-F702-1B64-D238-40E33ED0D1EB}"/>
              </a:ext>
            </a:extLst>
          </p:cNvPr>
          <p:cNvSpPr txBox="1"/>
          <p:nvPr/>
        </p:nvSpPr>
        <p:spPr>
          <a:xfrm>
            <a:off x="3810000" y="3454400"/>
            <a:ext cx="1524000" cy="228600"/>
          </a:xfrm>
          <a:prstGeom prst="rect">
            <a:avLst/>
          </a:prstGeom>
          <a:noFill/>
        </p:spPr>
        <p:txBody>
          <a:bodyPr vert="horz" wrap="square" lIns="0" tIns="0" rIns="0" bIns="0" rtlCol="0" anchor="t">
            <a:noAutofit/>
          </a:bodyPr>
          <a:lstStyle/>
          <a:p>
            <a:pPr algn="ctr"/>
            <a:r>
              <a:rPr lang="en-US" sz="1200" b="1">
                <a:solidFill>
                  <a:srgbClr val="5B6475"/>
                </a:solidFill>
                <a:latin typeface="Calibri" panose="020F0502020204030204" pitchFamily="34" charset="0"/>
              </a:rPr>
              <a:t>Today (status date)</a:t>
            </a:r>
          </a:p>
        </p:txBody>
      </p:sp>
      <p:cxnSp>
        <p:nvCxnSpPr>
          <p:cNvPr id="17" name="Straight Connector 16">
            <a:extLst>
              <a:ext uri="{FF2B5EF4-FFF2-40B4-BE49-F238E27FC236}">
                <a16:creationId xmlns:a16="http://schemas.microsoft.com/office/drawing/2014/main" id="{DB2C4ED0-C6FF-D69B-C6D7-35186FDBE520}"/>
              </a:ext>
            </a:extLst>
          </p:cNvPr>
          <p:cNvCxnSpPr/>
          <p:nvPr/>
        </p:nvCxnSpPr>
        <p:spPr>
          <a:xfrm>
            <a:off x="1524000" y="4394200"/>
            <a:ext cx="2997200" cy="0"/>
          </a:xfrm>
          <a:prstGeom prst="line">
            <a:avLst/>
          </a:prstGeom>
          <a:ln w="25400">
            <a:solidFill>
              <a:srgbClr val="34509A"/>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507C3D94-857D-739C-0922-53BD7E78F028}"/>
              </a:ext>
            </a:extLst>
          </p:cNvPr>
          <p:cNvSpPr txBox="1"/>
          <p:nvPr/>
        </p:nvSpPr>
        <p:spPr>
          <a:xfrm>
            <a:off x="1524000" y="4495800"/>
            <a:ext cx="2997200" cy="254000"/>
          </a:xfrm>
          <a:prstGeom prst="rect">
            <a:avLst/>
          </a:prstGeom>
          <a:noFill/>
        </p:spPr>
        <p:txBody>
          <a:bodyPr vert="horz" wrap="square" lIns="0" tIns="0" rIns="0" bIns="0" rtlCol="0" anchor="t">
            <a:noAutofit/>
          </a:bodyPr>
          <a:lstStyle/>
          <a:p>
            <a:pPr algn="ctr"/>
            <a:r>
              <a:rPr lang="en-US" sz="1400" b="1">
                <a:solidFill>
                  <a:srgbClr val="34509A"/>
                </a:solidFill>
                <a:latin typeface="Calibri" panose="020F0502020204030204" pitchFamily="34" charset="0"/>
              </a:rPr>
              <a:t>AC — spent to date</a:t>
            </a:r>
          </a:p>
        </p:txBody>
      </p:sp>
      <p:cxnSp>
        <p:nvCxnSpPr>
          <p:cNvPr id="19" name="Straight Connector 18">
            <a:extLst>
              <a:ext uri="{FF2B5EF4-FFF2-40B4-BE49-F238E27FC236}">
                <a16:creationId xmlns:a16="http://schemas.microsoft.com/office/drawing/2014/main" id="{8549DD68-347C-B35F-F422-33C193737D5D}"/>
              </a:ext>
            </a:extLst>
          </p:cNvPr>
          <p:cNvCxnSpPr/>
          <p:nvPr/>
        </p:nvCxnSpPr>
        <p:spPr>
          <a:xfrm>
            <a:off x="4622800" y="4394200"/>
            <a:ext cx="6553200" cy="0"/>
          </a:xfrm>
          <a:prstGeom prst="line">
            <a:avLst/>
          </a:prstGeom>
          <a:ln w="25400">
            <a:solidFill>
              <a:srgbClr val="E3A63B"/>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47E5FD41-312B-7568-CE0A-F3F0FD2A8617}"/>
              </a:ext>
            </a:extLst>
          </p:cNvPr>
          <p:cNvSpPr txBox="1"/>
          <p:nvPr/>
        </p:nvSpPr>
        <p:spPr>
          <a:xfrm>
            <a:off x="4622800" y="4495800"/>
            <a:ext cx="6553200" cy="254000"/>
          </a:xfrm>
          <a:prstGeom prst="rect">
            <a:avLst/>
          </a:prstGeom>
          <a:noFill/>
        </p:spPr>
        <p:txBody>
          <a:bodyPr vert="horz" wrap="square" lIns="0" tIns="0" rIns="0" bIns="0" rtlCol="0" anchor="t">
            <a:noAutofit/>
          </a:bodyPr>
          <a:lstStyle/>
          <a:p>
            <a:pPr algn="ctr"/>
            <a:r>
              <a:rPr lang="en-US" sz="1400" b="1">
                <a:solidFill>
                  <a:srgbClr val="A86F0E"/>
                </a:solidFill>
                <a:latin typeface="Calibri" panose="020F0502020204030204" pitchFamily="34" charset="0"/>
              </a:rPr>
              <a:t>ETC = EAC − AC — still to spend</a:t>
            </a:r>
          </a:p>
        </p:txBody>
      </p:sp>
      <p:sp>
        <p:nvSpPr>
          <p:cNvPr id="21" name="Rectangle: Rounded Corners 20">
            <a:extLst>
              <a:ext uri="{FF2B5EF4-FFF2-40B4-BE49-F238E27FC236}">
                <a16:creationId xmlns:a16="http://schemas.microsoft.com/office/drawing/2014/main" id="{2B0991BC-ADEA-CC2A-08E6-6B6C9F20FE3D}"/>
              </a:ext>
            </a:extLst>
          </p:cNvPr>
          <p:cNvSpPr/>
          <p:nvPr/>
        </p:nvSpPr>
        <p:spPr>
          <a:xfrm>
            <a:off x="508000" y="5054600"/>
            <a:ext cx="11176000" cy="1041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E7C8E25-32DA-9046-C3E4-3E160979CC8E}"/>
              </a:ext>
            </a:extLst>
          </p:cNvPr>
          <p:cNvSpPr txBox="1"/>
          <p:nvPr/>
        </p:nvSpPr>
        <p:spPr>
          <a:xfrm>
            <a:off x="762000" y="5054600"/>
            <a:ext cx="10668000" cy="1041400"/>
          </a:xfrm>
          <a:prstGeom prst="rect">
            <a:avLst/>
          </a:prstGeom>
          <a:noFill/>
        </p:spPr>
        <p:txBody>
          <a:bodyPr vert="horz" wrap="square" lIns="0" tIns="0" rIns="0" bIns="0" rtlCol="0" anchor="ctr">
            <a:noAutofit/>
          </a:bodyPr>
          <a:lstStyle/>
          <a:p>
            <a:r>
              <a:rPr lang="en-US" sz="1600">
                <a:solidFill>
                  <a:srgbClr val="14213D"/>
                </a:solidFill>
                <a:latin typeface="Calibri" panose="020F0502020204030204" pitchFamily="34" charset="0"/>
              </a:rPr>
              <a:t>Example from the worked example: BAC $100,000 and CPI 0.89 give EAC $112,500. With $45,000 spent, ETC is $67,500, and VAC is −$12,500 (over budget).</a:t>
            </a:r>
          </a:p>
        </p:txBody>
      </p:sp>
      <p:sp>
        <p:nvSpPr>
          <p:cNvPr id="23" name="Footer">
            <a:extLst>
              <a:ext uri="{FF2B5EF4-FFF2-40B4-BE49-F238E27FC236}">
                <a16:creationId xmlns:a16="http://schemas.microsoft.com/office/drawing/2014/main" id="{28354C49-45D7-08A6-E851-6C572C38D758}"/>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PMBOK® Guide — Sixth Edition, Section 7.4 (Control Costs)</a:t>
            </a:r>
          </a:p>
        </p:txBody>
      </p:sp>
      <p:sp>
        <p:nvSpPr>
          <p:cNvPr id="24" name="SlideNum">
            <a:extLst>
              <a:ext uri="{FF2B5EF4-FFF2-40B4-BE49-F238E27FC236}">
                <a16:creationId xmlns:a16="http://schemas.microsoft.com/office/drawing/2014/main" id="{838B7191-959B-9EBF-A72A-90960937559F}"/>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120</a:t>
            </a:r>
          </a:p>
        </p:txBody>
      </p:sp>
      <p:sp>
        <p:nvSpPr>
          <p:cNvPr id="25"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84570185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0C74345-4D31-81BB-DA79-E493C7C0659B}"/>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Forecasting with earned value</a:t>
            </a:r>
          </a:p>
        </p:txBody>
      </p:sp>
      <p:sp>
        <p:nvSpPr>
          <p:cNvPr id="3" name="Tag">
            <a:extLst>
              <a:ext uri="{FF2B5EF4-FFF2-40B4-BE49-F238E27FC236}">
                <a16:creationId xmlns:a16="http://schemas.microsoft.com/office/drawing/2014/main" id="{706C83F1-ABBA-B16D-DCAC-B21480DD80B2}"/>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Supports Process Task 6 · Plan and manage finance</a:t>
            </a:r>
          </a:p>
        </p:txBody>
      </p:sp>
      <p:graphicFrame>
        <p:nvGraphicFramePr>
          <p:cNvPr id="4" name="Table">
            <a:extLst>
              <a:ext uri="{FF2B5EF4-FFF2-40B4-BE49-F238E27FC236}">
                <a16:creationId xmlns:a16="http://schemas.microsoft.com/office/drawing/2014/main" id="{CE627DA6-DF87-FD45-0C77-6178D8811DB7}"/>
              </a:ext>
            </a:extLst>
          </p:cNvPr>
          <p:cNvGraphicFramePr>
            <a:graphicFrameLocks noGrp="1"/>
          </p:cNvGraphicFramePr>
          <p:nvPr>
            <p:extLst>
              <p:ext uri="{D42A27DB-BD31-4B8C-83A1-F6EECF244321}">
                <p14:modId xmlns:p14="http://schemas.microsoft.com/office/powerpoint/2010/main" val="658307942"/>
              </p:ext>
            </p:extLst>
          </p:nvPr>
        </p:nvGraphicFramePr>
        <p:xfrm>
          <a:off x="508000" y="1371600"/>
          <a:ext cx="11176000" cy="4287520"/>
        </p:xfrm>
        <a:graphic>
          <a:graphicData uri="http://schemas.openxmlformats.org/drawingml/2006/table">
            <a:tbl>
              <a:tblPr firstRow="1" bandRow="1">
                <a:tableStyleId>{2D5ABB26-0587-4C30-8999-92F81FD0307C}</a:tableStyleId>
              </a:tblPr>
              <a:tblGrid>
                <a:gridCol w="2794000">
                  <a:extLst>
                    <a:ext uri="{9D8B030D-6E8A-4147-A177-3AD203B41FA5}">
                      <a16:colId xmlns:a16="http://schemas.microsoft.com/office/drawing/2014/main" val="2881822135"/>
                    </a:ext>
                  </a:extLst>
                </a:gridCol>
                <a:gridCol w="3683000">
                  <a:extLst>
                    <a:ext uri="{9D8B030D-6E8A-4147-A177-3AD203B41FA5}">
                      <a16:colId xmlns:a16="http://schemas.microsoft.com/office/drawing/2014/main" val="2824971881"/>
                    </a:ext>
                  </a:extLst>
                </a:gridCol>
                <a:gridCol w="4699000">
                  <a:extLst>
                    <a:ext uri="{9D8B030D-6E8A-4147-A177-3AD203B41FA5}">
                      <a16:colId xmlns:a16="http://schemas.microsoft.com/office/drawing/2014/main" val="3965598878"/>
                    </a:ext>
                  </a:extLst>
                </a:gridCol>
              </a:tblGrid>
              <a:tr h="533400">
                <a:tc>
                  <a:txBody>
                    <a:bodyPr/>
                    <a:lstStyle/>
                    <a:p>
                      <a:r>
                        <a:rPr lang="en-US" sz="1400" b="1">
                          <a:solidFill>
                            <a:srgbClr val="FFFFFF"/>
                          </a:solidFill>
                          <a:latin typeface="Calibri" panose="020F0502020204030204" pitchFamily="34" charset="0"/>
                        </a:rPr>
                        <a:t>Measure</a:t>
                      </a:r>
                    </a:p>
                  </a:txBody>
                  <a:tcPr marL="127000" marR="101600" marT="63500" marB="63500" anchor="ctr">
                    <a:solidFill>
                      <a:srgbClr val="14213D"/>
                    </a:solidFill>
                  </a:tcPr>
                </a:tc>
                <a:tc>
                  <a:txBody>
                    <a:bodyPr/>
                    <a:lstStyle/>
                    <a:p>
                      <a:r>
                        <a:rPr lang="en-US" sz="1400" b="1">
                          <a:solidFill>
                            <a:srgbClr val="FFFFFF"/>
                          </a:solidFill>
                          <a:latin typeface="Calibri" panose="020F0502020204030204" pitchFamily="34" charset="0"/>
                        </a:rPr>
                        <a:t>Formula</a:t>
                      </a:r>
                    </a:p>
                  </a:txBody>
                  <a:tcPr marL="127000" marR="101600" marT="63500" marB="63500" anchor="ctr">
                    <a:solidFill>
                      <a:srgbClr val="14213D"/>
                    </a:solidFill>
                  </a:tcPr>
                </a:tc>
                <a:tc>
                  <a:txBody>
                    <a:bodyPr/>
                    <a:lstStyle/>
                    <a:p>
                      <a:r>
                        <a:rPr lang="en-US" sz="1400" b="1">
                          <a:solidFill>
                            <a:srgbClr val="FFFFFF"/>
                          </a:solidFill>
                          <a:latin typeface="Calibri" panose="020F0502020204030204" pitchFamily="34" charset="0"/>
                        </a:rPr>
                        <a:t>Use when</a:t>
                      </a:r>
                    </a:p>
                  </a:txBody>
                  <a:tcPr marL="127000" marR="101600" marT="63500" marB="63500" anchor="ctr">
                    <a:solidFill>
                      <a:srgbClr val="14213D"/>
                    </a:solidFill>
                  </a:tcPr>
                </a:tc>
                <a:extLst>
                  <a:ext uri="{0D108BD9-81ED-4DB2-BD59-A6C34878D82A}">
                    <a16:rowId xmlns:a16="http://schemas.microsoft.com/office/drawing/2014/main" val="759096757"/>
                  </a:ext>
                </a:extLst>
              </a:tr>
              <a:tr h="533400">
                <a:tc>
                  <a:txBody>
                    <a:bodyPr/>
                    <a:lstStyle/>
                    <a:p>
                      <a:r>
                        <a:rPr lang="en-US" sz="1400" b="1">
                          <a:solidFill>
                            <a:srgbClr val="14213D"/>
                          </a:solidFill>
                          <a:latin typeface="Calibri" panose="020F0502020204030204" pitchFamily="34" charset="0"/>
                        </a:rPr>
                        <a:t>EAC (typical)</a:t>
                      </a:r>
                    </a:p>
                  </a:txBody>
                  <a:tcPr marL="127000" marR="101600" marT="63500" marB="63500" anchor="ctr">
                    <a:solidFill>
                      <a:srgbClr val="FFFFFF"/>
                    </a:solidFill>
                  </a:tcPr>
                </a:tc>
                <a:tc>
                  <a:txBody>
                    <a:bodyPr/>
                    <a:lstStyle/>
                    <a:p>
                      <a:r>
                        <a:rPr lang="en-US" sz="1400" b="1">
                          <a:solidFill>
                            <a:srgbClr val="14213D"/>
                          </a:solidFill>
                          <a:latin typeface="Calibri" panose="020F0502020204030204" pitchFamily="34" charset="0"/>
                        </a:rPr>
                        <a:t>BAC / CPI</a:t>
                      </a:r>
                    </a:p>
                  </a:txBody>
                  <a:tcPr marL="127000" marR="101600" marT="63500" marB="63500" anchor="ctr">
                    <a:solidFill>
                      <a:srgbClr val="FFFFFF"/>
                    </a:solidFill>
                  </a:tcPr>
                </a:tc>
                <a:tc>
                  <a:txBody>
                    <a:bodyPr/>
                    <a:lstStyle/>
                    <a:p>
                      <a:r>
                        <a:rPr lang="en-US" sz="1400">
                          <a:solidFill>
                            <a:srgbClr val="1F2937"/>
                          </a:solidFill>
                          <a:latin typeface="Calibri" panose="020F0502020204030204" pitchFamily="34" charset="0"/>
                        </a:rPr>
                        <a:t>Current cost performance is expected to continue</a:t>
                      </a:r>
                    </a:p>
                  </a:txBody>
                  <a:tcPr marL="127000" marR="101600" marT="63500" marB="63500" anchor="ctr">
                    <a:solidFill>
                      <a:srgbClr val="FFFFFF"/>
                    </a:solidFill>
                  </a:tcPr>
                </a:tc>
                <a:extLst>
                  <a:ext uri="{0D108BD9-81ED-4DB2-BD59-A6C34878D82A}">
                    <a16:rowId xmlns:a16="http://schemas.microsoft.com/office/drawing/2014/main" val="1705792696"/>
                  </a:ext>
                </a:extLst>
              </a:tr>
              <a:tr h="533400">
                <a:tc>
                  <a:txBody>
                    <a:bodyPr/>
                    <a:lstStyle/>
                    <a:p>
                      <a:r>
                        <a:rPr lang="en-US" sz="1400" b="1">
                          <a:solidFill>
                            <a:srgbClr val="14213D"/>
                          </a:solidFill>
                          <a:latin typeface="Calibri" panose="020F0502020204030204" pitchFamily="34" charset="0"/>
                        </a:rPr>
                        <a:t>EAC (atypical)</a:t>
                      </a:r>
                    </a:p>
                  </a:txBody>
                  <a:tcPr marL="127000" marR="101600" marT="63500" marB="63500" anchor="ctr">
                    <a:solidFill>
                      <a:srgbClr val="F3F5F8"/>
                    </a:solidFill>
                  </a:tcPr>
                </a:tc>
                <a:tc>
                  <a:txBody>
                    <a:bodyPr/>
                    <a:lstStyle/>
                    <a:p>
                      <a:r>
                        <a:rPr lang="en-US" sz="1400" b="1">
                          <a:solidFill>
                            <a:srgbClr val="14213D"/>
                          </a:solidFill>
                          <a:latin typeface="Calibri" panose="020F0502020204030204" pitchFamily="34" charset="0"/>
                        </a:rPr>
                        <a:t>AC + (BAC − EV)</a:t>
                      </a:r>
                    </a:p>
                  </a:txBody>
                  <a:tcPr marL="127000" marR="101600" marT="63500" marB="63500" anchor="ctr">
                    <a:solidFill>
                      <a:srgbClr val="F3F5F8"/>
                    </a:solidFill>
                  </a:tcPr>
                </a:tc>
                <a:tc>
                  <a:txBody>
                    <a:bodyPr/>
                    <a:lstStyle/>
                    <a:p>
                      <a:r>
                        <a:rPr lang="en-US" sz="1400">
                          <a:solidFill>
                            <a:srgbClr val="1F2937"/>
                          </a:solidFill>
                          <a:latin typeface="Calibri" panose="020F0502020204030204" pitchFamily="34" charset="0"/>
                        </a:rPr>
                        <a:t>Past variance was a one-off; remaining work goes as planned</a:t>
                      </a:r>
                    </a:p>
                  </a:txBody>
                  <a:tcPr marL="127000" marR="101600" marT="63500" marB="63500" anchor="ctr">
                    <a:solidFill>
                      <a:srgbClr val="F3F5F8"/>
                    </a:solidFill>
                  </a:tcPr>
                </a:tc>
                <a:extLst>
                  <a:ext uri="{0D108BD9-81ED-4DB2-BD59-A6C34878D82A}">
                    <a16:rowId xmlns:a16="http://schemas.microsoft.com/office/drawing/2014/main" val="3323930608"/>
                  </a:ext>
                </a:extLst>
              </a:tr>
              <a:tr h="533400">
                <a:tc>
                  <a:txBody>
                    <a:bodyPr/>
                    <a:lstStyle/>
                    <a:p>
                      <a:r>
                        <a:rPr lang="en-US" sz="1400" b="1">
                          <a:solidFill>
                            <a:srgbClr val="14213D"/>
                          </a:solidFill>
                          <a:latin typeface="Calibri" panose="020F0502020204030204" pitchFamily="34" charset="0"/>
                        </a:rPr>
                        <a:t>EAC (cost and schedule)</a:t>
                      </a:r>
                    </a:p>
                  </a:txBody>
                  <a:tcPr marL="127000" marR="101600" marT="63500" marB="63500" anchor="ctr">
                    <a:solidFill>
                      <a:srgbClr val="FFFFFF"/>
                    </a:solidFill>
                  </a:tcPr>
                </a:tc>
                <a:tc>
                  <a:txBody>
                    <a:bodyPr/>
                    <a:lstStyle/>
                    <a:p>
                      <a:r>
                        <a:rPr lang="en-US" sz="1400" b="1">
                          <a:solidFill>
                            <a:srgbClr val="14213D"/>
                          </a:solidFill>
                          <a:latin typeface="Calibri" panose="020F0502020204030204" pitchFamily="34" charset="0"/>
                        </a:rPr>
                        <a:t>AC + [(BAC − EV) / (CPI × SPI)]</a:t>
                      </a:r>
                    </a:p>
                  </a:txBody>
                  <a:tcPr marL="127000" marR="101600" marT="63500" marB="63500" anchor="ctr">
                    <a:solidFill>
                      <a:srgbClr val="FFFFFF"/>
                    </a:solidFill>
                  </a:tcPr>
                </a:tc>
                <a:tc>
                  <a:txBody>
                    <a:bodyPr/>
                    <a:lstStyle/>
                    <a:p>
                      <a:r>
                        <a:rPr lang="en-US" sz="1400">
                          <a:solidFill>
                            <a:srgbClr val="1F2937"/>
                          </a:solidFill>
                          <a:latin typeface="Calibri" panose="020F0502020204030204" pitchFamily="34" charset="0"/>
                        </a:rPr>
                        <a:t>Both cost and schedule performance will affect the remaining work</a:t>
                      </a:r>
                    </a:p>
                  </a:txBody>
                  <a:tcPr marL="127000" marR="101600" marT="63500" marB="63500" anchor="ctr">
                    <a:solidFill>
                      <a:srgbClr val="FFFFFF"/>
                    </a:solidFill>
                  </a:tcPr>
                </a:tc>
                <a:extLst>
                  <a:ext uri="{0D108BD9-81ED-4DB2-BD59-A6C34878D82A}">
                    <a16:rowId xmlns:a16="http://schemas.microsoft.com/office/drawing/2014/main" val="1210253351"/>
                  </a:ext>
                </a:extLst>
              </a:tr>
              <a:tr h="533400">
                <a:tc>
                  <a:txBody>
                    <a:bodyPr/>
                    <a:lstStyle/>
                    <a:p>
                      <a:r>
                        <a:rPr lang="en-US" sz="1400" b="1">
                          <a:solidFill>
                            <a:srgbClr val="14213D"/>
                          </a:solidFill>
                          <a:latin typeface="Calibri" panose="020F0502020204030204" pitchFamily="34" charset="0"/>
                        </a:rPr>
                        <a:t>EAC (new estimate)</a:t>
                      </a:r>
                    </a:p>
                  </a:txBody>
                  <a:tcPr marL="127000" marR="101600" marT="63500" marB="63500" anchor="ctr">
                    <a:solidFill>
                      <a:srgbClr val="F3F5F8"/>
                    </a:solidFill>
                  </a:tcPr>
                </a:tc>
                <a:tc>
                  <a:txBody>
                    <a:bodyPr/>
                    <a:lstStyle/>
                    <a:p>
                      <a:r>
                        <a:rPr lang="en-US" sz="1400" b="1">
                          <a:solidFill>
                            <a:srgbClr val="14213D"/>
                          </a:solidFill>
                          <a:latin typeface="Calibri" panose="020F0502020204030204" pitchFamily="34" charset="0"/>
                        </a:rPr>
                        <a:t>AC + bottom-up ETC</a:t>
                      </a:r>
                    </a:p>
                  </a:txBody>
                  <a:tcPr marL="127000" marR="101600" marT="63500" marB="63500" anchor="ctr">
                    <a:solidFill>
                      <a:srgbClr val="F3F5F8"/>
                    </a:solidFill>
                  </a:tcPr>
                </a:tc>
                <a:tc>
                  <a:txBody>
                    <a:bodyPr/>
                    <a:lstStyle/>
                    <a:p>
                      <a:r>
                        <a:rPr lang="en-US" sz="1400">
                          <a:solidFill>
                            <a:srgbClr val="1F2937"/>
                          </a:solidFill>
                          <a:latin typeface="Calibri" panose="020F0502020204030204" pitchFamily="34" charset="0"/>
                        </a:rPr>
                        <a:t>The original plan is no longer valid</a:t>
                      </a:r>
                    </a:p>
                  </a:txBody>
                  <a:tcPr marL="127000" marR="101600" marT="63500" marB="63500" anchor="ctr">
                    <a:solidFill>
                      <a:srgbClr val="F3F5F8"/>
                    </a:solidFill>
                  </a:tcPr>
                </a:tc>
                <a:extLst>
                  <a:ext uri="{0D108BD9-81ED-4DB2-BD59-A6C34878D82A}">
                    <a16:rowId xmlns:a16="http://schemas.microsoft.com/office/drawing/2014/main" val="297956225"/>
                  </a:ext>
                </a:extLst>
              </a:tr>
              <a:tr h="533400">
                <a:tc>
                  <a:txBody>
                    <a:bodyPr/>
                    <a:lstStyle/>
                    <a:p>
                      <a:r>
                        <a:rPr lang="en-US" sz="1400" b="1">
                          <a:solidFill>
                            <a:srgbClr val="14213D"/>
                          </a:solidFill>
                          <a:latin typeface="Calibri" panose="020F0502020204030204" pitchFamily="34" charset="0"/>
                        </a:rPr>
                        <a:t>ETC</a:t>
                      </a:r>
                    </a:p>
                  </a:txBody>
                  <a:tcPr marL="127000" marR="101600" marT="63500" marB="63500" anchor="ctr">
                    <a:solidFill>
                      <a:srgbClr val="FFFFFF"/>
                    </a:solidFill>
                  </a:tcPr>
                </a:tc>
                <a:tc>
                  <a:txBody>
                    <a:bodyPr/>
                    <a:lstStyle/>
                    <a:p>
                      <a:r>
                        <a:rPr lang="en-US" sz="1400" b="1">
                          <a:solidFill>
                            <a:srgbClr val="14213D"/>
                          </a:solidFill>
                          <a:latin typeface="Calibri" panose="020F0502020204030204" pitchFamily="34" charset="0"/>
                        </a:rPr>
                        <a:t>EAC − AC</a:t>
                      </a:r>
                    </a:p>
                  </a:txBody>
                  <a:tcPr marL="127000" marR="101600" marT="63500" marB="63500" anchor="ctr">
                    <a:solidFill>
                      <a:srgbClr val="FFFFFF"/>
                    </a:solidFill>
                  </a:tcPr>
                </a:tc>
                <a:tc>
                  <a:txBody>
                    <a:bodyPr/>
                    <a:lstStyle/>
                    <a:p>
                      <a:r>
                        <a:rPr lang="en-US" sz="1400">
                          <a:solidFill>
                            <a:srgbClr val="1F2937"/>
                          </a:solidFill>
                          <a:latin typeface="Calibri" panose="020F0502020204030204" pitchFamily="34" charset="0"/>
                        </a:rPr>
                        <a:t>How much more the remaining work will cost</a:t>
                      </a:r>
                    </a:p>
                  </a:txBody>
                  <a:tcPr marL="127000" marR="101600" marT="63500" marB="63500" anchor="ctr">
                    <a:solidFill>
                      <a:srgbClr val="FFFFFF"/>
                    </a:solidFill>
                  </a:tcPr>
                </a:tc>
                <a:extLst>
                  <a:ext uri="{0D108BD9-81ED-4DB2-BD59-A6C34878D82A}">
                    <a16:rowId xmlns:a16="http://schemas.microsoft.com/office/drawing/2014/main" val="3786535537"/>
                  </a:ext>
                </a:extLst>
              </a:tr>
              <a:tr h="533400">
                <a:tc>
                  <a:txBody>
                    <a:bodyPr/>
                    <a:lstStyle/>
                    <a:p>
                      <a:r>
                        <a:rPr lang="en-US" sz="1400" b="1">
                          <a:solidFill>
                            <a:srgbClr val="14213D"/>
                          </a:solidFill>
                          <a:latin typeface="Calibri" panose="020F0502020204030204" pitchFamily="34" charset="0"/>
                        </a:rPr>
                        <a:t>VAC</a:t>
                      </a:r>
                    </a:p>
                  </a:txBody>
                  <a:tcPr marL="127000" marR="101600" marT="63500" marB="63500" anchor="ctr">
                    <a:solidFill>
                      <a:srgbClr val="F3F5F8"/>
                    </a:solidFill>
                  </a:tcPr>
                </a:tc>
                <a:tc>
                  <a:txBody>
                    <a:bodyPr/>
                    <a:lstStyle/>
                    <a:p>
                      <a:r>
                        <a:rPr lang="en-US" sz="1400" b="1">
                          <a:solidFill>
                            <a:srgbClr val="14213D"/>
                          </a:solidFill>
                          <a:latin typeface="Calibri" panose="020F0502020204030204" pitchFamily="34" charset="0"/>
                        </a:rPr>
                        <a:t>BAC − EAC</a:t>
                      </a:r>
                    </a:p>
                  </a:txBody>
                  <a:tcPr marL="127000" marR="101600" marT="63500" marB="63500" anchor="ctr">
                    <a:solidFill>
                      <a:srgbClr val="F3F5F8"/>
                    </a:solidFill>
                  </a:tcPr>
                </a:tc>
                <a:tc>
                  <a:txBody>
                    <a:bodyPr/>
                    <a:lstStyle/>
                    <a:p>
                      <a:r>
                        <a:rPr lang="en-US" sz="1400">
                          <a:solidFill>
                            <a:srgbClr val="1F2937"/>
                          </a:solidFill>
                          <a:latin typeface="Calibri" panose="020F0502020204030204" pitchFamily="34" charset="0"/>
                        </a:rPr>
                        <a:t>Expected budget surplus (positive) or overrun (negative)</a:t>
                      </a:r>
                    </a:p>
                  </a:txBody>
                  <a:tcPr marL="127000" marR="101600" marT="63500" marB="63500" anchor="ctr">
                    <a:solidFill>
                      <a:srgbClr val="F3F5F8"/>
                    </a:solidFill>
                  </a:tcPr>
                </a:tc>
                <a:extLst>
                  <a:ext uri="{0D108BD9-81ED-4DB2-BD59-A6C34878D82A}">
                    <a16:rowId xmlns:a16="http://schemas.microsoft.com/office/drawing/2014/main" val="3169873405"/>
                  </a:ext>
                </a:extLst>
              </a:tr>
              <a:tr h="533400">
                <a:tc>
                  <a:txBody>
                    <a:bodyPr/>
                    <a:lstStyle/>
                    <a:p>
                      <a:r>
                        <a:rPr lang="en-US" sz="1400" b="1">
                          <a:solidFill>
                            <a:srgbClr val="14213D"/>
                          </a:solidFill>
                          <a:latin typeface="Calibri" panose="020F0502020204030204" pitchFamily="34" charset="0"/>
                        </a:rPr>
                        <a:t>TCPI</a:t>
                      </a:r>
                    </a:p>
                  </a:txBody>
                  <a:tcPr marL="127000" marR="101600" marT="63500" marB="63500" anchor="ctr">
                    <a:solidFill>
                      <a:srgbClr val="FFFFFF"/>
                    </a:solidFill>
                  </a:tcPr>
                </a:tc>
                <a:tc>
                  <a:txBody>
                    <a:bodyPr/>
                    <a:lstStyle/>
                    <a:p>
                      <a:r>
                        <a:rPr lang="en-US" sz="1400" b="1">
                          <a:solidFill>
                            <a:srgbClr val="14213D"/>
                          </a:solidFill>
                          <a:latin typeface="Calibri" panose="020F0502020204030204" pitchFamily="34" charset="0"/>
                        </a:rPr>
                        <a:t>(BAC − EV) / (BAC − AC)</a:t>
                      </a:r>
                    </a:p>
                  </a:txBody>
                  <a:tcPr marL="127000" marR="101600" marT="63500" marB="63500" anchor="ctr">
                    <a:solidFill>
                      <a:srgbClr val="FFFFFF"/>
                    </a:solidFill>
                  </a:tcPr>
                </a:tc>
                <a:tc>
                  <a:txBody>
                    <a:bodyPr/>
                    <a:lstStyle/>
                    <a:p>
                      <a:r>
                        <a:rPr lang="en-US" sz="1400">
                          <a:solidFill>
                            <a:srgbClr val="1F2937"/>
                          </a:solidFill>
                          <a:latin typeface="Calibri" panose="020F0502020204030204" pitchFamily="34" charset="0"/>
                        </a:rPr>
                        <a:t>Efficiency needed on remaining work to finish on budget</a:t>
                      </a:r>
                    </a:p>
                  </a:txBody>
                  <a:tcPr marL="127000" marR="101600" marT="63500" marB="63500" anchor="ctr">
                    <a:solidFill>
                      <a:srgbClr val="FFFFFF"/>
                    </a:solidFill>
                  </a:tcPr>
                </a:tc>
                <a:extLst>
                  <a:ext uri="{0D108BD9-81ED-4DB2-BD59-A6C34878D82A}">
                    <a16:rowId xmlns:a16="http://schemas.microsoft.com/office/drawing/2014/main" val="2920404976"/>
                  </a:ext>
                </a:extLst>
              </a:tr>
            </a:tbl>
          </a:graphicData>
        </a:graphic>
      </p:graphicFrame>
      <p:sp>
        <p:nvSpPr>
          <p:cNvPr id="5" name="TextBox 4">
            <a:extLst>
              <a:ext uri="{FF2B5EF4-FFF2-40B4-BE49-F238E27FC236}">
                <a16:creationId xmlns:a16="http://schemas.microsoft.com/office/drawing/2014/main" id="{DC14CD76-0B96-FF17-7E26-2342D4DE64DD}"/>
              </a:ext>
            </a:extLst>
          </p:cNvPr>
          <p:cNvSpPr txBox="1"/>
          <p:nvPr/>
        </p:nvSpPr>
        <p:spPr>
          <a:xfrm>
            <a:off x="508000" y="5791200"/>
            <a:ext cx="11176000" cy="508000"/>
          </a:xfrm>
          <a:prstGeom prst="rect">
            <a:avLst/>
          </a:prstGeom>
          <a:noFill/>
        </p:spPr>
        <p:txBody>
          <a:bodyPr vert="horz" wrap="square" lIns="0" tIns="0" rIns="0" bIns="0" rtlCol="0" anchor="t">
            <a:noAutofit/>
          </a:bodyPr>
          <a:lstStyle/>
          <a:p>
            <a:r>
              <a:rPr lang="en-US" sz="1400" i="1">
                <a:solidFill>
                  <a:srgbClr val="14213D"/>
                </a:solidFill>
                <a:latin typeface="Calibri" panose="020F0502020204030204" pitchFamily="34" charset="0"/>
              </a:rPr>
              <a:t>TCPI above 1 means the remaining work must be done more efficiently than planned. To hit a revised EAC instead, divide by (EAC − AC).</a:t>
            </a:r>
          </a:p>
        </p:txBody>
      </p:sp>
      <p:sp>
        <p:nvSpPr>
          <p:cNvPr id="6" name="Footer">
            <a:extLst>
              <a:ext uri="{FF2B5EF4-FFF2-40B4-BE49-F238E27FC236}">
                <a16:creationId xmlns:a16="http://schemas.microsoft.com/office/drawing/2014/main" id="{613594C9-A076-256C-BA5E-EDECEC96B72C}"/>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PMBOK® Guide — Sixth Edition, Section 7.4 (Control Costs)</a:t>
            </a:r>
          </a:p>
        </p:txBody>
      </p:sp>
      <p:sp>
        <p:nvSpPr>
          <p:cNvPr id="7" name="SlideNum">
            <a:extLst>
              <a:ext uri="{FF2B5EF4-FFF2-40B4-BE49-F238E27FC236}">
                <a16:creationId xmlns:a16="http://schemas.microsoft.com/office/drawing/2014/main" id="{0E5D5809-50A0-D3F2-1E46-6D9BC6387C5A}"/>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121</a:t>
            </a:r>
          </a:p>
        </p:txBody>
      </p:sp>
      <p:sp>
        <p:nvSpPr>
          <p:cNvPr id="8"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51909014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9F40F77C-D146-CC38-E127-A8A2B4AED854}"/>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Earned value worked example</a:t>
            </a:r>
          </a:p>
        </p:txBody>
      </p:sp>
      <p:sp>
        <p:nvSpPr>
          <p:cNvPr id="3" name="Tag">
            <a:extLst>
              <a:ext uri="{FF2B5EF4-FFF2-40B4-BE49-F238E27FC236}">
                <a16:creationId xmlns:a16="http://schemas.microsoft.com/office/drawing/2014/main" id="{A7D12CF0-17DF-0F48-29C3-06D1678B2E47}"/>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Scenario: $100,000 budget, half the schedule elapsed, 40% of the work done, $45,000 spent</a:t>
            </a:r>
          </a:p>
        </p:txBody>
      </p:sp>
      <p:sp>
        <p:nvSpPr>
          <p:cNvPr id="4" name="Rectangle: Rounded Corners 3">
            <a:extLst>
              <a:ext uri="{FF2B5EF4-FFF2-40B4-BE49-F238E27FC236}">
                <a16:creationId xmlns:a16="http://schemas.microsoft.com/office/drawing/2014/main" id="{19A91A97-4EA1-7644-DD3B-8A85CDE48ECD}"/>
              </a:ext>
            </a:extLst>
          </p:cNvPr>
          <p:cNvSpPr/>
          <p:nvPr/>
        </p:nvSpPr>
        <p:spPr>
          <a:xfrm>
            <a:off x="508000" y="1371600"/>
            <a:ext cx="3175000" cy="4013200"/>
          </a:xfrm>
          <a:prstGeom prst="roundRect">
            <a:avLst>
              <a:gd name="adj" fmla="val 8000"/>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AF448CC-2C52-95F4-20BE-ECFFE5F8548F}"/>
              </a:ext>
            </a:extLst>
          </p:cNvPr>
          <p:cNvSpPr txBox="1"/>
          <p:nvPr/>
        </p:nvSpPr>
        <p:spPr>
          <a:xfrm>
            <a:off x="762000" y="1574800"/>
            <a:ext cx="2717800" cy="3683000"/>
          </a:xfrm>
          <a:prstGeom prst="rect">
            <a:avLst/>
          </a:prstGeom>
          <a:noFill/>
        </p:spPr>
        <p:txBody>
          <a:bodyPr vert="horz" wrap="square" lIns="0" tIns="0" rIns="0" bIns="0" rtlCol="0" anchor="t">
            <a:noAutofit/>
          </a:bodyPr>
          <a:lstStyle/>
          <a:p>
            <a:pPr>
              <a:spcAft>
                <a:spcPts val="600"/>
              </a:spcAft>
            </a:pPr>
            <a:r>
              <a:rPr lang="en-US" sz="2000" b="1">
                <a:solidFill>
                  <a:srgbClr val="FFFFFF"/>
                </a:solidFill>
                <a:latin typeface="Calibri" panose="020F0502020204030204" pitchFamily="34" charset="0"/>
              </a:rPr>
              <a:t>Inputs</a:t>
            </a:r>
          </a:p>
          <a:p>
            <a:pPr>
              <a:spcBef>
                <a:spcPts val="1000"/>
              </a:spcBef>
            </a:pPr>
            <a:r>
              <a:rPr lang="en-US" sz="2000" b="1">
                <a:solidFill>
                  <a:srgbClr val="FFFFFF"/>
                </a:solidFill>
                <a:latin typeface="Calibri" panose="020F0502020204030204" pitchFamily="34" charset="0"/>
              </a:rPr>
              <a:t>BAC   $100,000</a:t>
            </a:r>
          </a:p>
          <a:p>
            <a:pPr>
              <a:spcBef>
                <a:spcPts val="1000"/>
              </a:spcBef>
            </a:pPr>
            <a:r>
              <a:rPr lang="en-US" sz="2000" b="1">
                <a:solidFill>
                  <a:srgbClr val="FFFFFF"/>
                </a:solidFill>
                <a:latin typeface="Calibri" panose="020F0502020204030204" pitchFamily="34" charset="0"/>
              </a:rPr>
              <a:t>PV   $50,000</a:t>
            </a:r>
          </a:p>
          <a:p>
            <a:r>
              <a:rPr lang="en-US" sz="1500">
                <a:solidFill>
                  <a:srgbClr val="C9D6EA"/>
                </a:solidFill>
                <a:latin typeface="Calibri" panose="020F0502020204030204" pitchFamily="34" charset="0"/>
              </a:rPr>
              <a:t>50% of the work was planned by now</a:t>
            </a:r>
          </a:p>
          <a:p>
            <a:pPr>
              <a:spcBef>
                <a:spcPts val="1000"/>
              </a:spcBef>
            </a:pPr>
            <a:r>
              <a:rPr lang="en-US" sz="2000" b="1">
                <a:solidFill>
                  <a:srgbClr val="FFFFFF"/>
                </a:solidFill>
                <a:latin typeface="Calibri" panose="020F0502020204030204" pitchFamily="34" charset="0"/>
              </a:rPr>
              <a:t>EV   $40,000</a:t>
            </a:r>
          </a:p>
          <a:p>
            <a:r>
              <a:rPr lang="en-US" sz="1500">
                <a:solidFill>
                  <a:srgbClr val="C9D6EA"/>
                </a:solidFill>
                <a:latin typeface="Calibri" panose="020F0502020204030204" pitchFamily="34" charset="0"/>
              </a:rPr>
              <a:t>40% complete × BAC</a:t>
            </a:r>
          </a:p>
          <a:p>
            <a:pPr>
              <a:spcBef>
                <a:spcPts val="1000"/>
              </a:spcBef>
            </a:pPr>
            <a:r>
              <a:rPr lang="en-US" sz="2000" b="1">
                <a:solidFill>
                  <a:srgbClr val="FFFFFF"/>
                </a:solidFill>
                <a:latin typeface="Calibri" panose="020F0502020204030204" pitchFamily="34" charset="0"/>
              </a:rPr>
              <a:t>AC   $45,000</a:t>
            </a:r>
          </a:p>
          <a:p>
            <a:r>
              <a:rPr lang="en-US" sz="1500">
                <a:solidFill>
                  <a:srgbClr val="C9D6EA"/>
                </a:solidFill>
                <a:latin typeface="Calibri" panose="020F0502020204030204" pitchFamily="34" charset="0"/>
              </a:rPr>
              <a:t>spent so far</a:t>
            </a:r>
          </a:p>
        </p:txBody>
      </p:sp>
      <p:sp>
        <p:nvSpPr>
          <p:cNvPr id="6" name="Rectangle: Rounded Corners 5">
            <a:extLst>
              <a:ext uri="{FF2B5EF4-FFF2-40B4-BE49-F238E27FC236}">
                <a16:creationId xmlns:a16="http://schemas.microsoft.com/office/drawing/2014/main" id="{C878B163-05EA-76FD-05EC-7305A6BE48AF}"/>
              </a:ext>
            </a:extLst>
          </p:cNvPr>
          <p:cNvSpPr/>
          <p:nvPr/>
        </p:nvSpPr>
        <p:spPr>
          <a:xfrm>
            <a:off x="3937000" y="1371600"/>
            <a:ext cx="1841500" cy="1930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BDE49BB-210D-0E2A-E0E5-527E8462CCC6}"/>
              </a:ext>
            </a:extLst>
          </p:cNvPr>
          <p:cNvSpPr txBox="1"/>
          <p:nvPr/>
        </p:nvSpPr>
        <p:spPr>
          <a:xfrm>
            <a:off x="4089400" y="1549400"/>
            <a:ext cx="1536700" cy="1651000"/>
          </a:xfrm>
          <a:prstGeom prst="rect">
            <a:avLst/>
          </a:prstGeom>
          <a:noFill/>
        </p:spPr>
        <p:txBody>
          <a:bodyPr vert="horz" wrap="square" lIns="0" tIns="0" rIns="0" bIns="0" rtlCol="0" anchor="t">
            <a:noAutofit/>
          </a:bodyPr>
          <a:lstStyle/>
          <a:p>
            <a:r>
              <a:rPr lang="da-DK" sz="1400" b="1">
                <a:solidFill>
                  <a:srgbClr val="14213D"/>
                </a:solidFill>
                <a:latin typeface="Calibri" panose="020F0502020204030204" pitchFamily="34" charset="0"/>
              </a:rPr>
              <a:t>CV = EV − AC</a:t>
            </a:r>
          </a:p>
          <a:p>
            <a:pPr>
              <a:spcBef>
                <a:spcPts val="1000"/>
              </a:spcBef>
              <a:spcAft>
                <a:spcPts val="600"/>
              </a:spcAft>
            </a:pPr>
            <a:r>
              <a:rPr lang="da-DK" sz="2600" b="1">
                <a:solidFill>
                  <a:srgbClr val="A84A2E"/>
                </a:solidFill>
                <a:latin typeface="Cambria" panose="02040503050406030204" pitchFamily="18" charset="0"/>
              </a:rPr>
              <a:t>−$5,000</a:t>
            </a:r>
          </a:p>
          <a:p>
            <a:r>
              <a:rPr lang="da-DK" sz="1400">
                <a:solidFill>
                  <a:srgbClr val="5B6475"/>
                </a:solidFill>
                <a:latin typeface="Calibri" panose="020F0502020204030204" pitchFamily="34" charset="0"/>
              </a:rPr>
              <a:t>over budget</a:t>
            </a:r>
            <a:endParaRPr lang="en-US" sz="1400">
              <a:solidFill>
                <a:srgbClr val="5B6475"/>
              </a:solidFill>
              <a:latin typeface="Calibri" panose="020F0502020204030204" pitchFamily="34" charset="0"/>
            </a:endParaRPr>
          </a:p>
        </p:txBody>
      </p:sp>
      <p:sp>
        <p:nvSpPr>
          <p:cNvPr id="8" name="Rectangle: Rounded Corners 7">
            <a:extLst>
              <a:ext uri="{FF2B5EF4-FFF2-40B4-BE49-F238E27FC236}">
                <a16:creationId xmlns:a16="http://schemas.microsoft.com/office/drawing/2014/main" id="{BD8C284E-C20B-C44C-D6B9-8A7694725669}"/>
              </a:ext>
            </a:extLst>
          </p:cNvPr>
          <p:cNvSpPr/>
          <p:nvPr/>
        </p:nvSpPr>
        <p:spPr>
          <a:xfrm>
            <a:off x="5905500" y="1371600"/>
            <a:ext cx="1841500" cy="1930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809B9EF-2D42-2A3D-7823-738C289E9402}"/>
              </a:ext>
            </a:extLst>
          </p:cNvPr>
          <p:cNvSpPr txBox="1"/>
          <p:nvPr/>
        </p:nvSpPr>
        <p:spPr>
          <a:xfrm>
            <a:off x="6057900" y="1549400"/>
            <a:ext cx="1536700" cy="1651000"/>
          </a:xfrm>
          <a:prstGeom prst="rect">
            <a:avLst/>
          </a:prstGeom>
          <a:noFill/>
        </p:spPr>
        <p:txBody>
          <a:bodyPr vert="horz" wrap="square" lIns="0" tIns="0" rIns="0" bIns="0" rtlCol="0" anchor="t">
            <a:noAutofit/>
          </a:bodyPr>
          <a:lstStyle/>
          <a:p>
            <a:r>
              <a:rPr lang="en-US" sz="1400" b="1">
                <a:solidFill>
                  <a:srgbClr val="14213D"/>
                </a:solidFill>
                <a:latin typeface="Calibri" panose="020F0502020204030204" pitchFamily="34" charset="0"/>
              </a:rPr>
              <a:t>SV = EV − PV</a:t>
            </a:r>
          </a:p>
          <a:p>
            <a:pPr>
              <a:spcBef>
                <a:spcPts val="1000"/>
              </a:spcBef>
              <a:spcAft>
                <a:spcPts val="600"/>
              </a:spcAft>
            </a:pPr>
            <a:r>
              <a:rPr lang="en-US" sz="2600" b="1">
                <a:solidFill>
                  <a:srgbClr val="A84A2E"/>
                </a:solidFill>
                <a:latin typeface="Cambria" panose="02040503050406030204" pitchFamily="18" charset="0"/>
              </a:rPr>
              <a:t>−$10,000</a:t>
            </a:r>
          </a:p>
          <a:p>
            <a:r>
              <a:rPr lang="en-US" sz="1400">
                <a:solidFill>
                  <a:srgbClr val="5B6475"/>
                </a:solidFill>
                <a:latin typeface="Calibri" panose="020F0502020204030204" pitchFamily="34" charset="0"/>
              </a:rPr>
              <a:t>behind schedule</a:t>
            </a:r>
          </a:p>
        </p:txBody>
      </p:sp>
      <p:sp>
        <p:nvSpPr>
          <p:cNvPr id="10" name="Rectangle: Rounded Corners 9">
            <a:extLst>
              <a:ext uri="{FF2B5EF4-FFF2-40B4-BE49-F238E27FC236}">
                <a16:creationId xmlns:a16="http://schemas.microsoft.com/office/drawing/2014/main" id="{11AB9A87-573D-FA56-8D89-E9FEE842FF8C}"/>
              </a:ext>
            </a:extLst>
          </p:cNvPr>
          <p:cNvSpPr/>
          <p:nvPr/>
        </p:nvSpPr>
        <p:spPr>
          <a:xfrm>
            <a:off x="7874000" y="1371600"/>
            <a:ext cx="1841500" cy="1930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FFBC98B-422A-9F13-EADF-B7632593A7D6}"/>
              </a:ext>
            </a:extLst>
          </p:cNvPr>
          <p:cNvSpPr txBox="1"/>
          <p:nvPr/>
        </p:nvSpPr>
        <p:spPr>
          <a:xfrm>
            <a:off x="8026400" y="1549400"/>
            <a:ext cx="1536700" cy="1651000"/>
          </a:xfrm>
          <a:prstGeom prst="rect">
            <a:avLst/>
          </a:prstGeom>
          <a:noFill/>
        </p:spPr>
        <p:txBody>
          <a:bodyPr vert="horz" wrap="square" lIns="0" tIns="0" rIns="0" bIns="0" rtlCol="0" anchor="t">
            <a:noAutofit/>
          </a:bodyPr>
          <a:lstStyle/>
          <a:p>
            <a:r>
              <a:rPr lang="en-US" sz="1400" b="1">
                <a:solidFill>
                  <a:srgbClr val="14213D"/>
                </a:solidFill>
                <a:latin typeface="Calibri" panose="020F0502020204030204" pitchFamily="34" charset="0"/>
              </a:rPr>
              <a:t>CPI = EV / AC</a:t>
            </a:r>
          </a:p>
          <a:p>
            <a:pPr>
              <a:spcBef>
                <a:spcPts val="1000"/>
              </a:spcBef>
              <a:spcAft>
                <a:spcPts val="600"/>
              </a:spcAft>
            </a:pPr>
            <a:r>
              <a:rPr lang="en-US" sz="2600" b="1">
                <a:solidFill>
                  <a:srgbClr val="A84A2E"/>
                </a:solidFill>
                <a:latin typeface="Cambria" panose="02040503050406030204" pitchFamily="18" charset="0"/>
              </a:rPr>
              <a:t>0.89</a:t>
            </a:r>
          </a:p>
          <a:p>
            <a:r>
              <a:rPr lang="en-US" sz="1400">
                <a:solidFill>
                  <a:srgbClr val="5B6475"/>
                </a:solidFill>
                <a:latin typeface="Calibri" panose="020F0502020204030204" pitchFamily="34" charset="0"/>
              </a:rPr>
              <a:t>$0.89 of value per $1 spent</a:t>
            </a:r>
          </a:p>
        </p:txBody>
      </p:sp>
      <p:sp>
        <p:nvSpPr>
          <p:cNvPr id="12" name="Rectangle: Rounded Corners 11">
            <a:extLst>
              <a:ext uri="{FF2B5EF4-FFF2-40B4-BE49-F238E27FC236}">
                <a16:creationId xmlns:a16="http://schemas.microsoft.com/office/drawing/2014/main" id="{C9D1CC42-300E-E9AA-51FF-091EC2BF93B6}"/>
              </a:ext>
            </a:extLst>
          </p:cNvPr>
          <p:cNvSpPr/>
          <p:nvPr/>
        </p:nvSpPr>
        <p:spPr>
          <a:xfrm>
            <a:off x="9842500" y="1371600"/>
            <a:ext cx="1841500" cy="1930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AA67C55-2C6F-5B48-408C-18076AA39634}"/>
              </a:ext>
            </a:extLst>
          </p:cNvPr>
          <p:cNvSpPr txBox="1"/>
          <p:nvPr/>
        </p:nvSpPr>
        <p:spPr>
          <a:xfrm>
            <a:off x="9994900" y="1549400"/>
            <a:ext cx="1536700" cy="1651000"/>
          </a:xfrm>
          <a:prstGeom prst="rect">
            <a:avLst/>
          </a:prstGeom>
          <a:noFill/>
        </p:spPr>
        <p:txBody>
          <a:bodyPr vert="horz" wrap="square" lIns="0" tIns="0" rIns="0" bIns="0" rtlCol="0" anchor="t">
            <a:noAutofit/>
          </a:bodyPr>
          <a:lstStyle/>
          <a:p>
            <a:r>
              <a:rPr lang="en-US" sz="1400" b="1">
                <a:solidFill>
                  <a:srgbClr val="14213D"/>
                </a:solidFill>
                <a:latin typeface="Calibri" panose="020F0502020204030204" pitchFamily="34" charset="0"/>
              </a:rPr>
              <a:t>SPI = EV / PV</a:t>
            </a:r>
          </a:p>
          <a:p>
            <a:pPr>
              <a:spcBef>
                <a:spcPts val="1000"/>
              </a:spcBef>
              <a:spcAft>
                <a:spcPts val="600"/>
              </a:spcAft>
            </a:pPr>
            <a:r>
              <a:rPr lang="en-US" sz="2600" b="1">
                <a:solidFill>
                  <a:srgbClr val="A84A2E"/>
                </a:solidFill>
                <a:latin typeface="Cambria" panose="02040503050406030204" pitchFamily="18" charset="0"/>
              </a:rPr>
              <a:t>0.80</a:t>
            </a:r>
          </a:p>
          <a:p>
            <a:r>
              <a:rPr lang="en-US" sz="1400">
                <a:solidFill>
                  <a:srgbClr val="5B6475"/>
                </a:solidFill>
                <a:latin typeface="Calibri" panose="020F0502020204030204" pitchFamily="34" charset="0"/>
              </a:rPr>
              <a:t>working at 80% of planned pace</a:t>
            </a:r>
          </a:p>
        </p:txBody>
      </p:sp>
      <p:sp>
        <p:nvSpPr>
          <p:cNvPr id="14" name="Rectangle: Rounded Corners 13">
            <a:extLst>
              <a:ext uri="{FF2B5EF4-FFF2-40B4-BE49-F238E27FC236}">
                <a16:creationId xmlns:a16="http://schemas.microsoft.com/office/drawing/2014/main" id="{5A8FD5F7-63B5-5433-8418-B732FA109857}"/>
              </a:ext>
            </a:extLst>
          </p:cNvPr>
          <p:cNvSpPr/>
          <p:nvPr/>
        </p:nvSpPr>
        <p:spPr>
          <a:xfrm>
            <a:off x="3937000" y="3454400"/>
            <a:ext cx="1841500" cy="1930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9870C76-CED4-6F4E-2425-509BBF840E25}"/>
              </a:ext>
            </a:extLst>
          </p:cNvPr>
          <p:cNvSpPr txBox="1"/>
          <p:nvPr/>
        </p:nvSpPr>
        <p:spPr>
          <a:xfrm>
            <a:off x="4089400" y="3632200"/>
            <a:ext cx="1536700" cy="1651000"/>
          </a:xfrm>
          <a:prstGeom prst="rect">
            <a:avLst/>
          </a:prstGeom>
          <a:noFill/>
        </p:spPr>
        <p:txBody>
          <a:bodyPr vert="horz" wrap="square" lIns="0" tIns="0" rIns="0" bIns="0" rtlCol="0" anchor="t">
            <a:noAutofit/>
          </a:bodyPr>
          <a:lstStyle/>
          <a:p>
            <a:r>
              <a:rPr lang="en-US" sz="1400" b="1">
                <a:solidFill>
                  <a:srgbClr val="14213D"/>
                </a:solidFill>
                <a:latin typeface="Calibri" panose="020F0502020204030204" pitchFamily="34" charset="0"/>
              </a:rPr>
              <a:t>EAC = BAC / CPI</a:t>
            </a:r>
          </a:p>
          <a:p>
            <a:pPr>
              <a:spcBef>
                <a:spcPts val="1000"/>
              </a:spcBef>
              <a:spcAft>
                <a:spcPts val="600"/>
              </a:spcAft>
            </a:pPr>
            <a:r>
              <a:rPr lang="en-US" sz="2600" b="1">
                <a:solidFill>
                  <a:srgbClr val="14213D"/>
                </a:solidFill>
                <a:latin typeface="Cambria" panose="02040503050406030204" pitchFamily="18" charset="0"/>
              </a:rPr>
              <a:t>$112,500</a:t>
            </a:r>
          </a:p>
          <a:p>
            <a:r>
              <a:rPr lang="en-US" sz="1400">
                <a:solidFill>
                  <a:srgbClr val="5B6475"/>
                </a:solidFill>
                <a:latin typeface="Calibri" panose="020F0502020204030204" pitchFamily="34" charset="0"/>
              </a:rPr>
              <a:t>forecast total cost</a:t>
            </a:r>
          </a:p>
        </p:txBody>
      </p:sp>
      <p:sp>
        <p:nvSpPr>
          <p:cNvPr id="16" name="Rectangle: Rounded Corners 15">
            <a:extLst>
              <a:ext uri="{FF2B5EF4-FFF2-40B4-BE49-F238E27FC236}">
                <a16:creationId xmlns:a16="http://schemas.microsoft.com/office/drawing/2014/main" id="{7EBFC4F6-15D5-EDE6-6AEE-DB0998925C13}"/>
              </a:ext>
            </a:extLst>
          </p:cNvPr>
          <p:cNvSpPr/>
          <p:nvPr/>
        </p:nvSpPr>
        <p:spPr>
          <a:xfrm>
            <a:off x="5905500" y="3454400"/>
            <a:ext cx="1841500" cy="1930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52DAC959-77F9-5D2B-10FE-41F497D01DB4}"/>
              </a:ext>
            </a:extLst>
          </p:cNvPr>
          <p:cNvSpPr txBox="1"/>
          <p:nvPr/>
        </p:nvSpPr>
        <p:spPr>
          <a:xfrm>
            <a:off x="6057900" y="3632200"/>
            <a:ext cx="1536700" cy="1651000"/>
          </a:xfrm>
          <a:prstGeom prst="rect">
            <a:avLst/>
          </a:prstGeom>
          <a:noFill/>
        </p:spPr>
        <p:txBody>
          <a:bodyPr vert="horz" wrap="square" lIns="0" tIns="0" rIns="0" bIns="0" rtlCol="0" anchor="t">
            <a:noAutofit/>
          </a:bodyPr>
          <a:lstStyle/>
          <a:p>
            <a:r>
              <a:rPr lang="en-US" sz="1400" b="1">
                <a:solidFill>
                  <a:srgbClr val="14213D"/>
                </a:solidFill>
                <a:latin typeface="Calibri" panose="020F0502020204030204" pitchFamily="34" charset="0"/>
              </a:rPr>
              <a:t>ETC = EAC − AC</a:t>
            </a:r>
          </a:p>
          <a:p>
            <a:pPr>
              <a:spcBef>
                <a:spcPts val="1000"/>
              </a:spcBef>
              <a:spcAft>
                <a:spcPts val="600"/>
              </a:spcAft>
            </a:pPr>
            <a:r>
              <a:rPr lang="en-US" sz="2600" b="1">
                <a:solidFill>
                  <a:srgbClr val="14213D"/>
                </a:solidFill>
                <a:latin typeface="Cambria" panose="02040503050406030204" pitchFamily="18" charset="0"/>
              </a:rPr>
              <a:t>$67,500</a:t>
            </a:r>
          </a:p>
          <a:p>
            <a:r>
              <a:rPr lang="en-US" sz="1400">
                <a:solidFill>
                  <a:srgbClr val="5B6475"/>
                </a:solidFill>
                <a:latin typeface="Calibri" panose="020F0502020204030204" pitchFamily="34" charset="0"/>
              </a:rPr>
              <a:t>still to spend</a:t>
            </a:r>
          </a:p>
        </p:txBody>
      </p:sp>
      <p:sp>
        <p:nvSpPr>
          <p:cNvPr id="18" name="Rectangle: Rounded Corners 17">
            <a:extLst>
              <a:ext uri="{FF2B5EF4-FFF2-40B4-BE49-F238E27FC236}">
                <a16:creationId xmlns:a16="http://schemas.microsoft.com/office/drawing/2014/main" id="{FDDD73EB-FF16-29E2-1E75-A0F1DDEA3CED}"/>
              </a:ext>
            </a:extLst>
          </p:cNvPr>
          <p:cNvSpPr/>
          <p:nvPr/>
        </p:nvSpPr>
        <p:spPr>
          <a:xfrm>
            <a:off x="7874000" y="3454400"/>
            <a:ext cx="1841500" cy="1930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120F7C36-2B8D-151D-C986-303CC2976FB2}"/>
              </a:ext>
            </a:extLst>
          </p:cNvPr>
          <p:cNvSpPr txBox="1"/>
          <p:nvPr/>
        </p:nvSpPr>
        <p:spPr>
          <a:xfrm>
            <a:off x="8026400" y="3632200"/>
            <a:ext cx="1536700" cy="1651000"/>
          </a:xfrm>
          <a:prstGeom prst="rect">
            <a:avLst/>
          </a:prstGeom>
          <a:noFill/>
        </p:spPr>
        <p:txBody>
          <a:bodyPr vert="horz" wrap="square" lIns="0" tIns="0" rIns="0" bIns="0" rtlCol="0" anchor="t">
            <a:noAutofit/>
          </a:bodyPr>
          <a:lstStyle/>
          <a:p>
            <a:r>
              <a:rPr lang="en-US" sz="1400" b="1">
                <a:solidFill>
                  <a:srgbClr val="14213D"/>
                </a:solidFill>
                <a:latin typeface="Calibri" panose="020F0502020204030204" pitchFamily="34" charset="0"/>
              </a:rPr>
              <a:t>VAC = BAC − EAC</a:t>
            </a:r>
          </a:p>
          <a:p>
            <a:pPr>
              <a:spcBef>
                <a:spcPts val="1000"/>
              </a:spcBef>
              <a:spcAft>
                <a:spcPts val="600"/>
              </a:spcAft>
            </a:pPr>
            <a:r>
              <a:rPr lang="en-US" sz="2600" b="1">
                <a:solidFill>
                  <a:srgbClr val="A84A2E"/>
                </a:solidFill>
                <a:latin typeface="Cambria" panose="02040503050406030204" pitchFamily="18" charset="0"/>
              </a:rPr>
              <a:t>−$12,500</a:t>
            </a:r>
          </a:p>
          <a:p>
            <a:r>
              <a:rPr lang="en-US" sz="1400">
                <a:solidFill>
                  <a:srgbClr val="5B6475"/>
                </a:solidFill>
                <a:latin typeface="Calibri" panose="020F0502020204030204" pitchFamily="34" charset="0"/>
              </a:rPr>
              <a:t>forecast overrun</a:t>
            </a:r>
          </a:p>
        </p:txBody>
      </p:sp>
      <p:sp>
        <p:nvSpPr>
          <p:cNvPr id="20" name="Rectangle: Rounded Corners 19">
            <a:extLst>
              <a:ext uri="{FF2B5EF4-FFF2-40B4-BE49-F238E27FC236}">
                <a16:creationId xmlns:a16="http://schemas.microsoft.com/office/drawing/2014/main" id="{8E9E1543-13FC-8495-680E-AE1BDB06038B}"/>
              </a:ext>
            </a:extLst>
          </p:cNvPr>
          <p:cNvSpPr/>
          <p:nvPr/>
        </p:nvSpPr>
        <p:spPr>
          <a:xfrm>
            <a:off x="9842500" y="3454400"/>
            <a:ext cx="1841500" cy="1930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45E7F9A7-7D3C-7F39-5BAC-A27D75D3C9D0}"/>
              </a:ext>
            </a:extLst>
          </p:cNvPr>
          <p:cNvSpPr txBox="1"/>
          <p:nvPr/>
        </p:nvSpPr>
        <p:spPr>
          <a:xfrm>
            <a:off x="9994900" y="3632200"/>
            <a:ext cx="1536700" cy="1651000"/>
          </a:xfrm>
          <a:prstGeom prst="rect">
            <a:avLst/>
          </a:prstGeom>
          <a:noFill/>
        </p:spPr>
        <p:txBody>
          <a:bodyPr vert="horz" wrap="square" lIns="0" tIns="0" rIns="0" bIns="0" rtlCol="0" anchor="t">
            <a:noAutofit/>
          </a:bodyPr>
          <a:lstStyle/>
          <a:p>
            <a:r>
              <a:rPr lang="en-US" sz="1400" b="1">
                <a:solidFill>
                  <a:srgbClr val="14213D"/>
                </a:solidFill>
                <a:latin typeface="Calibri" panose="020F0502020204030204" pitchFamily="34" charset="0"/>
              </a:rPr>
              <a:t>TCPI</a:t>
            </a:r>
          </a:p>
          <a:p>
            <a:pPr>
              <a:spcBef>
                <a:spcPts val="1000"/>
              </a:spcBef>
              <a:spcAft>
                <a:spcPts val="600"/>
              </a:spcAft>
            </a:pPr>
            <a:r>
              <a:rPr lang="en-US" sz="2600" b="1">
                <a:solidFill>
                  <a:srgbClr val="14213D"/>
                </a:solidFill>
                <a:latin typeface="Cambria" panose="02040503050406030204" pitchFamily="18" charset="0"/>
              </a:rPr>
              <a:t>1.09</a:t>
            </a:r>
          </a:p>
          <a:p>
            <a:r>
              <a:rPr lang="en-US" sz="1400">
                <a:solidFill>
                  <a:srgbClr val="5B6475"/>
                </a:solidFill>
                <a:latin typeface="Calibri" panose="020F0502020204030204" pitchFamily="34" charset="0"/>
              </a:rPr>
              <a:t>efficiency needed to finish on budget</a:t>
            </a:r>
          </a:p>
        </p:txBody>
      </p:sp>
      <p:sp>
        <p:nvSpPr>
          <p:cNvPr id="22" name="Rectangle: Rounded Corners 21">
            <a:extLst>
              <a:ext uri="{FF2B5EF4-FFF2-40B4-BE49-F238E27FC236}">
                <a16:creationId xmlns:a16="http://schemas.microsoft.com/office/drawing/2014/main" id="{D10CC8F5-511D-E422-0029-3BB5E1FCC0E4}"/>
              </a:ext>
            </a:extLst>
          </p:cNvPr>
          <p:cNvSpPr/>
          <p:nvPr/>
        </p:nvSpPr>
        <p:spPr>
          <a:xfrm>
            <a:off x="508000" y="5562600"/>
            <a:ext cx="11176000" cy="660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6B3E0167-23C3-686F-4B4A-EB9A0CBAB42E}"/>
              </a:ext>
            </a:extLst>
          </p:cNvPr>
          <p:cNvSpPr txBox="1"/>
          <p:nvPr/>
        </p:nvSpPr>
        <p:spPr>
          <a:xfrm>
            <a:off x="736600" y="5562600"/>
            <a:ext cx="10718800" cy="660400"/>
          </a:xfrm>
          <a:prstGeom prst="rect">
            <a:avLst/>
          </a:prstGeom>
          <a:noFill/>
        </p:spPr>
        <p:txBody>
          <a:bodyPr vert="horz" wrap="square" lIns="0" tIns="0" rIns="0" bIns="0" rtlCol="0" anchor="ctr">
            <a:noAutofit/>
          </a:bodyPr>
          <a:lstStyle/>
          <a:p>
            <a:r>
              <a:rPr lang="en-US" sz="1500" i="1">
                <a:solidFill>
                  <a:srgbClr val="14213D"/>
                </a:solidFill>
                <a:latin typeface="Calibri" panose="020F0502020204030204" pitchFamily="34" charset="0"/>
              </a:rPr>
              <a:t>Reading it: over budget and behind schedule. At this cost efficiency the project finishes about $12,500 over, unless the remaining work runs 9% more efficiently than planned.</a:t>
            </a:r>
          </a:p>
        </p:txBody>
      </p:sp>
      <p:sp>
        <p:nvSpPr>
          <p:cNvPr id="24" name="Footer">
            <a:extLst>
              <a:ext uri="{FF2B5EF4-FFF2-40B4-BE49-F238E27FC236}">
                <a16:creationId xmlns:a16="http://schemas.microsoft.com/office/drawing/2014/main" id="{1784FCB2-A0E2-C5B7-63B4-6355A6DE8939}"/>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PMBOK® Guide — Sixth Edition, Section 7.4 (Control Costs)</a:t>
            </a:r>
          </a:p>
        </p:txBody>
      </p:sp>
      <p:sp>
        <p:nvSpPr>
          <p:cNvPr id="25" name="SlideNum">
            <a:extLst>
              <a:ext uri="{FF2B5EF4-FFF2-40B4-BE49-F238E27FC236}">
                <a16:creationId xmlns:a16="http://schemas.microsoft.com/office/drawing/2014/main" id="{9637E144-1879-718A-0444-07EA8190AEA0}"/>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122</a:t>
            </a:r>
          </a:p>
        </p:txBody>
      </p:sp>
      <p:sp>
        <p:nvSpPr>
          <p:cNvPr id="26"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73572936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2912999-5EE0-C601-BED4-548B9DC61CC4}"/>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Practice: tiling a four-floor house</a:t>
            </a:r>
          </a:p>
        </p:txBody>
      </p:sp>
      <p:sp>
        <p:nvSpPr>
          <p:cNvPr id="3" name="Tag">
            <a:extLst>
              <a:ext uri="{FF2B5EF4-FFF2-40B4-BE49-F238E27FC236}">
                <a16:creationId xmlns:a16="http://schemas.microsoft.com/office/drawing/2014/main" id="{A001471D-C166-538C-F90D-4970E595F8A2}"/>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Exercise · each floor is budgeted at $1,000 and one week; floors are tiled one after another</a:t>
            </a:r>
          </a:p>
        </p:txBody>
      </p:sp>
      <p:sp>
        <p:nvSpPr>
          <p:cNvPr id="4" name="TextBox 3">
            <a:extLst>
              <a:ext uri="{FF2B5EF4-FFF2-40B4-BE49-F238E27FC236}">
                <a16:creationId xmlns:a16="http://schemas.microsoft.com/office/drawing/2014/main" id="{9C715FE0-AF6B-B123-DD78-7FD2C2F117E1}"/>
              </a:ext>
            </a:extLst>
          </p:cNvPr>
          <p:cNvSpPr txBox="1"/>
          <p:nvPr/>
        </p:nvSpPr>
        <p:spPr>
          <a:xfrm>
            <a:off x="508000" y="1371600"/>
            <a:ext cx="11176000" cy="558800"/>
          </a:xfrm>
          <a:prstGeom prst="rect">
            <a:avLst/>
          </a:prstGeom>
          <a:noFill/>
        </p:spPr>
        <p:txBody>
          <a:bodyPr vert="horz" wrap="square" lIns="0" tIns="0" rIns="0" bIns="0" rtlCol="0" anchor="t">
            <a:noAutofit/>
          </a:bodyPr>
          <a:lstStyle/>
          <a:p>
            <a:r>
              <a:rPr lang="en-US" sz="1600">
                <a:solidFill>
                  <a:srgbClr val="1F2937"/>
                </a:solidFill>
                <a:latin typeface="Calibri" panose="020F0502020204030204" pitchFamily="34" charset="0"/>
              </a:rPr>
              <a:t>This is the status at the end of week 3. Work out PV, EV, and AC, then CV, SV, CPI, SPI, EAC, ETC, VAC, and TCPI.</a:t>
            </a:r>
          </a:p>
        </p:txBody>
      </p:sp>
      <p:graphicFrame>
        <p:nvGraphicFramePr>
          <p:cNvPr id="5" name="Table">
            <a:extLst>
              <a:ext uri="{FF2B5EF4-FFF2-40B4-BE49-F238E27FC236}">
                <a16:creationId xmlns:a16="http://schemas.microsoft.com/office/drawing/2014/main" id="{481DF5EE-4C0C-87C9-2A18-B633AC290146}"/>
              </a:ext>
            </a:extLst>
          </p:cNvPr>
          <p:cNvGraphicFramePr>
            <a:graphicFrameLocks noGrp="1"/>
          </p:cNvGraphicFramePr>
          <p:nvPr>
            <p:extLst>
              <p:ext uri="{D42A27DB-BD31-4B8C-83A1-F6EECF244321}">
                <p14:modId xmlns:p14="http://schemas.microsoft.com/office/powerpoint/2010/main" val="1295945232"/>
              </p:ext>
            </p:extLst>
          </p:nvPr>
        </p:nvGraphicFramePr>
        <p:xfrm>
          <a:off x="508000" y="2032000"/>
          <a:ext cx="11176000" cy="3175000"/>
        </p:xfrm>
        <a:graphic>
          <a:graphicData uri="http://schemas.openxmlformats.org/drawingml/2006/table">
            <a:tbl>
              <a:tblPr firstRow="1" bandRow="1">
                <a:tableStyleId>{2D5ABB26-0587-4C30-8999-92F81FD0307C}</a:tableStyleId>
              </a:tblPr>
              <a:tblGrid>
                <a:gridCol w="1651000">
                  <a:extLst>
                    <a:ext uri="{9D8B030D-6E8A-4147-A177-3AD203B41FA5}">
                      <a16:colId xmlns:a16="http://schemas.microsoft.com/office/drawing/2014/main" val="1435901242"/>
                    </a:ext>
                  </a:extLst>
                </a:gridCol>
                <a:gridCol w="1651000">
                  <a:extLst>
                    <a:ext uri="{9D8B030D-6E8A-4147-A177-3AD203B41FA5}">
                      <a16:colId xmlns:a16="http://schemas.microsoft.com/office/drawing/2014/main" val="491391828"/>
                    </a:ext>
                  </a:extLst>
                </a:gridCol>
                <a:gridCol w="1651000">
                  <a:extLst>
                    <a:ext uri="{9D8B030D-6E8A-4147-A177-3AD203B41FA5}">
                      <a16:colId xmlns:a16="http://schemas.microsoft.com/office/drawing/2014/main" val="6744579"/>
                    </a:ext>
                  </a:extLst>
                </a:gridCol>
                <a:gridCol w="2032000">
                  <a:extLst>
                    <a:ext uri="{9D8B030D-6E8A-4147-A177-3AD203B41FA5}">
                      <a16:colId xmlns:a16="http://schemas.microsoft.com/office/drawing/2014/main" val="2222897312"/>
                    </a:ext>
                  </a:extLst>
                </a:gridCol>
                <a:gridCol w="1651000">
                  <a:extLst>
                    <a:ext uri="{9D8B030D-6E8A-4147-A177-3AD203B41FA5}">
                      <a16:colId xmlns:a16="http://schemas.microsoft.com/office/drawing/2014/main" val="4011170039"/>
                    </a:ext>
                  </a:extLst>
                </a:gridCol>
                <a:gridCol w="2540000">
                  <a:extLst>
                    <a:ext uri="{9D8B030D-6E8A-4147-A177-3AD203B41FA5}">
                      <a16:colId xmlns:a16="http://schemas.microsoft.com/office/drawing/2014/main" val="339285799"/>
                    </a:ext>
                  </a:extLst>
                </a:gridCol>
              </a:tblGrid>
              <a:tr h="635000">
                <a:tc>
                  <a:txBody>
                    <a:bodyPr/>
                    <a:lstStyle/>
                    <a:p>
                      <a:r>
                        <a:rPr lang="en-US" sz="1500" b="1">
                          <a:solidFill>
                            <a:srgbClr val="FFFFFF"/>
                          </a:solidFill>
                          <a:latin typeface="Calibri" panose="020F0502020204030204" pitchFamily="34" charset="0"/>
                        </a:rPr>
                        <a:t>Activity</a:t>
                      </a:r>
                    </a:p>
                  </a:txBody>
                  <a:tcPr marL="127000" marR="101600" marT="63500" marB="63500" anchor="ctr">
                    <a:solidFill>
                      <a:srgbClr val="14213D"/>
                    </a:solidFill>
                  </a:tcPr>
                </a:tc>
                <a:tc>
                  <a:txBody>
                    <a:bodyPr/>
                    <a:lstStyle/>
                    <a:p>
                      <a:r>
                        <a:rPr lang="en-US" sz="1500" b="1">
                          <a:solidFill>
                            <a:srgbClr val="FFFFFF"/>
                          </a:solidFill>
                          <a:latin typeface="Calibri" panose="020F0502020204030204" pitchFamily="34" charset="0"/>
                        </a:rPr>
                        <a:t>Week 1</a:t>
                      </a:r>
                    </a:p>
                  </a:txBody>
                  <a:tcPr marL="127000" marR="101600" marT="63500" marB="63500" anchor="ctr">
                    <a:solidFill>
                      <a:srgbClr val="14213D"/>
                    </a:solidFill>
                  </a:tcPr>
                </a:tc>
                <a:tc>
                  <a:txBody>
                    <a:bodyPr/>
                    <a:lstStyle/>
                    <a:p>
                      <a:r>
                        <a:rPr lang="en-US" sz="1500" b="1">
                          <a:solidFill>
                            <a:srgbClr val="FFFFFF"/>
                          </a:solidFill>
                          <a:latin typeface="Calibri" panose="020F0502020204030204" pitchFamily="34" charset="0"/>
                        </a:rPr>
                        <a:t>Week 2</a:t>
                      </a:r>
                    </a:p>
                  </a:txBody>
                  <a:tcPr marL="127000" marR="101600" marT="63500" marB="63500" anchor="ctr">
                    <a:solidFill>
                      <a:srgbClr val="14213D"/>
                    </a:solidFill>
                  </a:tcPr>
                </a:tc>
                <a:tc>
                  <a:txBody>
                    <a:bodyPr/>
                    <a:lstStyle/>
                    <a:p>
                      <a:r>
                        <a:rPr lang="en-US" sz="1500" b="1">
                          <a:solidFill>
                            <a:srgbClr val="FFFFFF"/>
                          </a:solidFill>
                          <a:latin typeface="Calibri" panose="020F0502020204030204" pitchFamily="34" charset="0"/>
                        </a:rPr>
                        <a:t>Week 3</a:t>
                      </a:r>
                    </a:p>
                  </a:txBody>
                  <a:tcPr marL="127000" marR="101600" marT="63500" marB="63500" anchor="ctr">
                    <a:solidFill>
                      <a:srgbClr val="14213D"/>
                    </a:solidFill>
                  </a:tcPr>
                </a:tc>
                <a:tc>
                  <a:txBody>
                    <a:bodyPr/>
                    <a:lstStyle/>
                    <a:p>
                      <a:r>
                        <a:rPr lang="en-US" sz="1500" b="1">
                          <a:solidFill>
                            <a:srgbClr val="FFFFFF"/>
                          </a:solidFill>
                          <a:latin typeface="Calibri" panose="020F0502020204030204" pitchFamily="34" charset="0"/>
                        </a:rPr>
                        <a:t>Week 4</a:t>
                      </a:r>
                    </a:p>
                  </a:txBody>
                  <a:tcPr marL="127000" marR="101600" marT="63500" marB="63500" anchor="ctr">
                    <a:solidFill>
                      <a:srgbClr val="14213D"/>
                    </a:solidFill>
                  </a:tcPr>
                </a:tc>
                <a:tc>
                  <a:txBody>
                    <a:bodyPr/>
                    <a:lstStyle/>
                    <a:p>
                      <a:r>
                        <a:rPr lang="en-US" sz="1500" b="1">
                          <a:solidFill>
                            <a:srgbClr val="FFFFFF"/>
                          </a:solidFill>
                          <a:latin typeface="Calibri" panose="020F0502020204030204" pitchFamily="34" charset="0"/>
                        </a:rPr>
                        <a:t>Status</a:t>
                      </a:r>
                    </a:p>
                  </a:txBody>
                  <a:tcPr marL="127000" marR="101600" marT="63500" marB="63500" anchor="ctr">
                    <a:solidFill>
                      <a:srgbClr val="14213D"/>
                    </a:solidFill>
                  </a:tcPr>
                </a:tc>
                <a:extLst>
                  <a:ext uri="{0D108BD9-81ED-4DB2-BD59-A6C34878D82A}">
                    <a16:rowId xmlns:a16="http://schemas.microsoft.com/office/drawing/2014/main" val="4251529250"/>
                  </a:ext>
                </a:extLst>
              </a:tr>
              <a:tr h="635000">
                <a:tc>
                  <a:txBody>
                    <a:bodyPr/>
                    <a:lstStyle/>
                    <a:p>
                      <a:r>
                        <a:rPr lang="en-US" sz="1500" b="1">
                          <a:solidFill>
                            <a:srgbClr val="14213D"/>
                          </a:solidFill>
                          <a:latin typeface="Calibri" panose="020F0502020204030204" pitchFamily="34" charset="0"/>
                        </a:rPr>
                        <a:t>Floor 1</a:t>
                      </a:r>
                    </a:p>
                  </a:txBody>
                  <a:tcPr marL="127000" marR="101600" marT="63500" marB="63500" anchor="ctr">
                    <a:solidFill>
                      <a:srgbClr val="FFFFFF"/>
                    </a:solidFill>
                  </a:tcPr>
                </a:tc>
                <a:tc>
                  <a:txBody>
                    <a:bodyPr/>
                    <a:lstStyle/>
                    <a:p>
                      <a:r>
                        <a:rPr lang="en-US" sz="1500" b="0">
                          <a:solidFill>
                            <a:srgbClr val="1F2937"/>
                          </a:solidFill>
                          <a:latin typeface="Calibri" panose="020F0502020204030204" pitchFamily="34" charset="0"/>
                        </a:rPr>
                        <a:t>S → F</a:t>
                      </a:r>
                    </a:p>
                  </a:txBody>
                  <a:tcPr marL="127000" marR="101600" marT="63500" marB="63500" anchor="ctr">
                    <a:solidFill>
                      <a:srgbClr val="FFFFFF"/>
                    </a:solidFill>
                  </a:tcPr>
                </a:tc>
                <a:tc>
                  <a:txBody>
                    <a:bodyPr/>
                    <a:lstStyle/>
                    <a:p>
                      <a:endParaRPr lang="en-US" sz="1500" b="0">
                        <a:solidFill>
                          <a:srgbClr val="1F2937"/>
                        </a:solidFill>
                        <a:latin typeface="Calibri" panose="020F0502020204030204" pitchFamily="34" charset="0"/>
                      </a:endParaRPr>
                    </a:p>
                  </a:txBody>
                  <a:tcPr marL="127000" marR="101600" marT="63500" marB="63500" anchor="ctr">
                    <a:solidFill>
                      <a:srgbClr val="FFFFFF"/>
                    </a:solidFill>
                  </a:tcPr>
                </a:tc>
                <a:tc>
                  <a:txBody>
                    <a:bodyPr/>
                    <a:lstStyle/>
                    <a:p>
                      <a:endParaRPr lang="en-US" sz="1500" b="0">
                        <a:solidFill>
                          <a:srgbClr val="1F2937"/>
                        </a:solidFill>
                        <a:latin typeface="Calibri" panose="020F0502020204030204" pitchFamily="34" charset="0"/>
                      </a:endParaRPr>
                    </a:p>
                  </a:txBody>
                  <a:tcPr marL="127000" marR="101600" marT="63500" marB="63500" anchor="ctr">
                    <a:solidFill>
                      <a:srgbClr val="FFFFFF"/>
                    </a:solidFill>
                  </a:tcPr>
                </a:tc>
                <a:tc>
                  <a:txBody>
                    <a:bodyPr/>
                    <a:lstStyle/>
                    <a:p>
                      <a:endParaRPr lang="en-US" sz="1500" b="0">
                        <a:solidFill>
                          <a:srgbClr val="1F2937"/>
                        </a:solidFill>
                        <a:latin typeface="Calibri" panose="020F0502020204030204" pitchFamily="34" charset="0"/>
                      </a:endParaRPr>
                    </a:p>
                  </a:txBody>
                  <a:tcPr marL="127000" marR="101600" marT="63500" marB="63500" anchor="ctr">
                    <a:solidFill>
                      <a:srgbClr val="FFFFFF"/>
                    </a:solidFill>
                  </a:tcPr>
                </a:tc>
                <a:tc>
                  <a:txBody>
                    <a:bodyPr/>
                    <a:lstStyle/>
                    <a:p>
                      <a:r>
                        <a:rPr lang="en-US" sz="1500">
                          <a:solidFill>
                            <a:srgbClr val="1F2937"/>
                          </a:solidFill>
                          <a:latin typeface="Calibri" panose="020F0502020204030204" pitchFamily="34" charset="0"/>
                        </a:rPr>
                        <a:t>Done, $1,000 spent</a:t>
                      </a:r>
                    </a:p>
                  </a:txBody>
                  <a:tcPr marL="127000" marR="101600" marT="63500" marB="63500" anchor="ctr">
                    <a:solidFill>
                      <a:srgbClr val="FFFFFF"/>
                    </a:solidFill>
                  </a:tcPr>
                </a:tc>
                <a:extLst>
                  <a:ext uri="{0D108BD9-81ED-4DB2-BD59-A6C34878D82A}">
                    <a16:rowId xmlns:a16="http://schemas.microsoft.com/office/drawing/2014/main" val="395141069"/>
                  </a:ext>
                </a:extLst>
              </a:tr>
              <a:tr h="635000">
                <a:tc>
                  <a:txBody>
                    <a:bodyPr/>
                    <a:lstStyle/>
                    <a:p>
                      <a:r>
                        <a:rPr lang="en-US" sz="1500" b="1">
                          <a:solidFill>
                            <a:srgbClr val="14213D"/>
                          </a:solidFill>
                          <a:latin typeface="Calibri" panose="020F0502020204030204" pitchFamily="34" charset="0"/>
                        </a:rPr>
                        <a:t>Floor 2</a:t>
                      </a:r>
                    </a:p>
                  </a:txBody>
                  <a:tcPr marL="127000" marR="101600" marT="63500" marB="63500" anchor="ctr">
                    <a:solidFill>
                      <a:srgbClr val="F3F5F8"/>
                    </a:solidFill>
                  </a:tcPr>
                </a:tc>
                <a:tc>
                  <a:txBody>
                    <a:bodyPr/>
                    <a:lstStyle/>
                    <a:p>
                      <a:endParaRPr lang="en-US" sz="1500" b="0">
                        <a:solidFill>
                          <a:srgbClr val="1F2937"/>
                        </a:solidFill>
                        <a:latin typeface="Calibri" panose="020F0502020204030204" pitchFamily="34" charset="0"/>
                      </a:endParaRPr>
                    </a:p>
                  </a:txBody>
                  <a:tcPr marL="127000" marR="101600" marT="63500" marB="63500" anchor="ctr">
                    <a:solidFill>
                      <a:srgbClr val="F3F5F8"/>
                    </a:solidFill>
                  </a:tcPr>
                </a:tc>
                <a:tc>
                  <a:txBody>
                    <a:bodyPr/>
                    <a:lstStyle/>
                    <a:p>
                      <a:r>
                        <a:rPr lang="en-US" sz="1500" b="0">
                          <a:solidFill>
                            <a:srgbClr val="1F2937"/>
                          </a:solidFill>
                          <a:latin typeface="Calibri" panose="020F0502020204030204" pitchFamily="34" charset="0"/>
                        </a:rPr>
                        <a:t>S → PF</a:t>
                      </a:r>
                    </a:p>
                  </a:txBody>
                  <a:tcPr marL="127000" marR="101600" marT="63500" marB="63500" anchor="ctr">
                    <a:solidFill>
                      <a:srgbClr val="F3F5F8"/>
                    </a:solidFill>
                  </a:tcPr>
                </a:tc>
                <a:tc>
                  <a:txBody>
                    <a:bodyPr/>
                    <a:lstStyle/>
                    <a:p>
                      <a:r>
                        <a:rPr lang="en-US" sz="1500" b="0">
                          <a:solidFill>
                            <a:srgbClr val="1F2937"/>
                          </a:solidFill>
                          <a:latin typeface="Calibri" panose="020F0502020204030204" pitchFamily="34" charset="0"/>
                        </a:rPr>
                        <a:t>→ F</a:t>
                      </a:r>
                    </a:p>
                  </a:txBody>
                  <a:tcPr marL="127000" marR="101600" marT="63500" marB="63500" anchor="ctr">
                    <a:solidFill>
                      <a:srgbClr val="F3F5F8"/>
                    </a:solidFill>
                  </a:tcPr>
                </a:tc>
                <a:tc>
                  <a:txBody>
                    <a:bodyPr/>
                    <a:lstStyle/>
                    <a:p>
                      <a:endParaRPr lang="en-US" sz="1500" b="0">
                        <a:solidFill>
                          <a:srgbClr val="1F2937"/>
                        </a:solidFill>
                        <a:latin typeface="Calibri" panose="020F0502020204030204" pitchFamily="34" charset="0"/>
                      </a:endParaRPr>
                    </a:p>
                  </a:txBody>
                  <a:tcPr marL="127000" marR="101600" marT="63500" marB="63500" anchor="ctr">
                    <a:solidFill>
                      <a:srgbClr val="F3F5F8"/>
                    </a:solidFill>
                  </a:tcPr>
                </a:tc>
                <a:tc>
                  <a:txBody>
                    <a:bodyPr/>
                    <a:lstStyle/>
                    <a:p>
                      <a:r>
                        <a:rPr lang="en-US" sz="1500">
                          <a:solidFill>
                            <a:srgbClr val="1F2937"/>
                          </a:solidFill>
                          <a:latin typeface="Calibri" panose="020F0502020204030204" pitchFamily="34" charset="0"/>
                        </a:rPr>
                        <a:t>Done, $1,200 spent</a:t>
                      </a:r>
                    </a:p>
                  </a:txBody>
                  <a:tcPr marL="127000" marR="101600" marT="63500" marB="63500" anchor="ctr">
                    <a:solidFill>
                      <a:srgbClr val="F3F5F8"/>
                    </a:solidFill>
                  </a:tcPr>
                </a:tc>
                <a:extLst>
                  <a:ext uri="{0D108BD9-81ED-4DB2-BD59-A6C34878D82A}">
                    <a16:rowId xmlns:a16="http://schemas.microsoft.com/office/drawing/2014/main" val="854170816"/>
                  </a:ext>
                </a:extLst>
              </a:tr>
              <a:tr h="635000">
                <a:tc>
                  <a:txBody>
                    <a:bodyPr/>
                    <a:lstStyle/>
                    <a:p>
                      <a:r>
                        <a:rPr lang="en-US" sz="1500" b="1">
                          <a:solidFill>
                            <a:srgbClr val="14213D"/>
                          </a:solidFill>
                          <a:latin typeface="Calibri" panose="020F0502020204030204" pitchFamily="34" charset="0"/>
                        </a:rPr>
                        <a:t>Floor 3</a:t>
                      </a:r>
                    </a:p>
                  </a:txBody>
                  <a:tcPr marL="127000" marR="101600" marT="63500" marB="63500" anchor="ctr">
                    <a:solidFill>
                      <a:srgbClr val="FFFFFF"/>
                    </a:solidFill>
                  </a:tcPr>
                </a:tc>
                <a:tc>
                  <a:txBody>
                    <a:bodyPr/>
                    <a:lstStyle/>
                    <a:p>
                      <a:endParaRPr lang="en-US" sz="1500" b="0">
                        <a:solidFill>
                          <a:srgbClr val="1F2937"/>
                        </a:solidFill>
                        <a:latin typeface="Calibri" panose="020F0502020204030204" pitchFamily="34" charset="0"/>
                      </a:endParaRPr>
                    </a:p>
                  </a:txBody>
                  <a:tcPr marL="127000" marR="101600" marT="63500" marB="63500" anchor="ctr">
                    <a:solidFill>
                      <a:srgbClr val="FFFFFF"/>
                    </a:solidFill>
                  </a:tcPr>
                </a:tc>
                <a:tc>
                  <a:txBody>
                    <a:bodyPr/>
                    <a:lstStyle/>
                    <a:p>
                      <a:endParaRPr lang="en-US" sz="1500" b="0">
                        <a:solidFill>
                          <a:srgbClr val="1F2937"/>
                        </a:solidFill>
                        <a:latin typeface="Calibri" panose="020F0502020204030204" pitchFamily="34" charset="0"/>
                      </a:endParaRPr>
                    </a:p>
                  </a:txBody>
                  <a:tcPr marL="127000" marR="101600" marT="63500" marB="63500" anchor="ctr">
                    <a:solidFill>
                      <a:srgbClr val="FFFFFF"/>
                    </a:solidFill>
                  </a:tcPr>
                </a:tc>
                <a:tc>
                  <a:txBody>
                    <a:bodyPr/>
                    <a:lstStyle/>
                    <a:p>
                      <a:r>
                        <a:rPr lang="en-US" sz="1500" b="0">
                          <a:solidFill>
                            <a:srgbClr val="1F2937"/>
                          </a:solidFill>
                          <a:latin typeface="Calibri" panose="020F0502020204030204" pitchFamily="34" charset="0"/>
                        </a:rPr>
                        <a:t>PS → S → PF</a:t>
                      </a:r>
                    </a:p>
                  </a:txBody>
                  <a:tcPr marL="127000" marR="101600" marT="63500" marB="63500" anchor="ctr">
                    <a:solidFill>
                      <a:srgbClr val="FFFFFF"/>
                    </a:solidFill>
                  </a:tcPr>
                </a:tc>
                <a:tc>
                  <a:txBody>
                    <a:bodyPr/>
                    <a:lstStyle/>
                    <a:p>
                      <a:endParaRPr lang="en-US" sz="1500" b="0">
                        <a:solidFill>
                          <a:srgbClr val="1F2937"/>
                        </a:solidFill>
                        <a:latin typeface="Calibri" panose="020F0502020204030204" pitchFamily="34" charset="0"/>
                      </a:endParaRPr>
                    </a:p>
                  </a:txBody>
                  <a:tcPr marL="127000" marR="101600" marT="63500" marB="63500" anchor="ctr">
                    <a:solidFill>
                      <a:srgbClr val="FFFFFF"/>
                    </a:solidFill>
                  </a:tcPr>
                </a:tc>
                <a:tc>
                  <a:txBody>
                    <a:bodyPr/>
                    <a:lstStyle/>
                    <a:p>
                      <a:r>
                        <a:rPr lang="en-US" sz="1500">
                          <a:solidFill>
                            <a:srgbClr val="1F2937"/>
                          </a:solidFill>
                          <a:latin typeface="Calibri" panose="020F0502020204030204" pitchFamily="34" charset="0"/>
                        </a:rPr>
                        <a:t>50% done, $600 spent</a:t>
                      </a:r>
                    </a:p>
                  </a:txBody>
                  <a:tcPr marL="127000" marR="101600" marT="63500" marB="63500" anchor="ctr">
                    <a:solidFill>
                      <a:srgbClr val="FFFFFF"/>
                    </a:solidFill>
                  </a:tcPr>
                </a:tc>
                <a:extLst>
                  <a:ext uri="{0D108BD9-81ED-4DB2-BD59-A6C34878D82A}">
                    <a16:rowId xmlns:a16="http://schemas.microsoft.com/office/drawing/2014/main" val="249184873"/>
                  </a:ext>
                </a:extLst>
              </a:tr>
              <a:tr h="635000">
                <a:tc>
                  <a:txBody>
                    <a:bodyPr/>
                    <a:lstStyle/>
                    <a:p>
                      <a:r>
                        <a:rPr lang="en-US" sz="1500" b="1">
                          <a:solidFill>
                            <a:srgbClr val="14213D"/>
                          </a:solidFill>
                          <a:latin typeface="Calibri" panose="020F0502020204030204" pitchFamily="34" charset="0"/>
                        </a:rPr>
                        <a:t>Floor 4</a:t>
                      </a:r>
                    </a:p>
                  </a:txBody>
                  <a:tcPr marL="127000" marR="101600" marT="63500" marB="63500" anchor="ctr">
                    <a:solidFill>
                      <a:srgbClr val="F3F5F8"/>
                    </a:solidFill>
                  </a:tcPr>
                </a:tc>
                <a:tc>
                  <a:txBody>
                    <a:bodyPr/>
                    <a:lstStyle/>
                    <a:p>
                      <a:endParaRPr lang="en-US" sz="1500" b="0">
                        <a:solidFill>
                          <a:srgbClr val="1F2937"/>
                        </a:solidFill>
                        <a:latin typeface="Calibri" panose="020F0502020204030204" pitchFamily="34" charset="0"/>
                      </a:endParaRPr>
                    </a:p>
                  </a:txBody>
                  <a:tcPr marL="127000" marR="101600" marT="63500" marB="63500" anchor="ctr">
                    <a:solidFill>
                      <a:srgbClr val="F3F5F8"/>
                    </a:solidFill>
                  </a:tcPr>
                </a:tc>
                <a:tc>
                  <a:txBody>
                    <a:bodyPr/>
                    <a:lstStyle/>
                    <a:p>
                      <a:endParaRPr lang="en-US" sz="1500" b="0">
                        <a:solidFill>
                          <a:srgbClr val="1F2937"/>
                        </a:solidFill>
                        <a:latin typeface="Calibri" panose="020F0502020204030204" pitchFamily="34" charset="0"/>
                      </a:endParaRPr>
                    </a:p>
                  </a:txBody>
                  <a:tcPr marL="127000" marR="101600" marT="63500" marB="63500" anchor="ctr">
                    <a:solidFill>
                      <a:srgbClr val="F3F5F8"/>
                    </a:solidFill>
                  </a:tcPr>
                </a:tc>
                <a:tc>
                  <a:txBody>
                    <a:bodyPr/>
                    <a:lstStyle/>
                    <a:p>
                      <a:endParaRPr lang="en-US" sz="1500" b="0">
                        <a:solidFill>
                          <a:srgbClr val="1F2937"/>
                        </a:solidFill>
                        <a:latin typeface="Calibri" panose="020F0502020204030204" pitchFamily="34" charset="0"/>
                      </a:endParaRPr>
                    </a:p>
                  </a:txBody>
                  <a:tcPr marL="127000" marR="101600" marT="63500" marB="63500" anchor="ctr">
                    <a:solidFill>
                      <a:srgbClr val="F3F5F8"/>
                    </a:solidFill>
                  </a:tcPr>
                </a:tc>
                <a:tc>
                  <a:txBody>
                    <a:bodyPr/>
                    <a:lstStyle/>
                    <a:p>
                      <a:r>
                        <a:rPr lang="en-US" sz="1500" b="0">
                          <a:solidFill>
                            <a:srgbClr val="1F2937"/>
                          </a:solidFill>
                          <a:latin typeface="Calibri" panose="020F0502020204030204" pitchFamily="34" charset="0"/>
                        </a:rPr>
                        <a:t>PS → PF</a:t>
                      </a:r>
                    </a:p>
                  </a:txBody>
                  <a:tcPr marL="127000" marR="101600" marT="63500" marB="63500" anchor="ctr">
                    <a:solidFill>
                      <a:srgbClr val="F3F5F8"/>
                    </a:solidFill>
                  </a:tcPr>
                </a:tc>
                <a:tc>
                  <a:txBody>
                    <a:bodyPr/>
                    <a:lstStyle/>
                    <a:p>
                      <a:r>
                        <a:rPr lang="en-US" sz="1500">
                          <a:solidFill>
                            <a:srgbClr val="1F2937"/>
                          </a:solidFill>
                          <a:latin typeface="Calibri" panose="020F0502020204030204" pitchFamily="34" charset="0"/>
                        </a:rPr>
                        <a:t>Not started</a:t>
                      </a:r>
                    </a:p>
                  </a:txBody>
                  <a:tcPr marL="127000" marR="101600" marT="63500" marB="63500" anchor="ctr">
                    <a:solidFill>
                      <a:srgbClr val="F3F5F8"/>
                    </a:solidFill>
                  </a:tcPr>
                </a:tc>
                <a:extLst>
                  <a:ext uri="{0D108BD9-81ED-4DB2-BD59-A6C34878D82A}">
                    <a16:rowId xmlns:a16="http://schemas.microsoft.com/office/drawing/2014/main" val="3096118574"/>
                  </a:ext>
                </a:extLst>
              </a:tr>
            </a:tbl>
          </a:graphicData>
        </a:graphic>
      </p:graphicFrame>
      <p:cxnSp>
        <p:nvCxnSpPr>
          <p:cNvPr id="6" name="StatusDate">
            <a:extLst>
              <a:ext uri="{FF2B5EF4-FFF2-40B4-BE49-F238E27FC236}">
                <a16:creationId xmlns:a16="http://schemas.microsoft.com/office/drawing/2014/main" id="{16270295-8A4E-7A55-7E35-E6F3210E4F24}"/>
              </a:ext>
            </a:extLst>
          </p:cNvPr>
          <p:cNvCxnSpPr/>
          <p:nvPr/>
        </p:nvCxnSpPr>
        <p:spPr>
          <a:xfrm>
            <a:off x="7493000" y="1905000"/>
            <a:ext cx="0" cy="3454400"/>
          </a:xfrm>
          <a:prstGeom prst="line">
            <a:avLst/>
          </a:prstGeom>
          <a:ln w="44450">
            <a:solidFill>
              <a:srgbClr val="E3A63B"/>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FE02E86-6A1A-8393-982B-98115489DC39}"/>
              </a:ext>
            </a:extLst>
          </p:cNvPr>
          <p:cNvSpPr txBox="1"/>
          <p:nvPr/>
        </p:nvSpPr>
        <p:spPr>
          <a:xfrm>
            <a:off x="6223000" y="5410200"/>
            <a:ext cx="2540000" cy="228600"/>
          </a:xfrm>
          <a:prstGeom prst="rect">
            <a:avLst/>
          </a:prstGeom>
          <a:noFill/>
        </p:spPr>
        <p:txBody>
          <a:bodyPr vert="horz" wrap="square" lIns="0" tIns="0" rIns="0" bIns="0" rtlCol="0" anchor="t">
            <a:noAutofit/>
          </a:bodyPr>
          <a:lstStyle/>
          <a:p>
            <a:pPr algn="ctr"/>
            <a:r>
              <a:rPr lang="en-US" sz="1300" b="1">
                <a:solidFill>
                  <a:srgbClr val="A86F0E"/>
                </a:solidFill>
                <a:latin typeface="Calibri" panose="020F0502020204030204" pitchFamily="34" charset="0"/>
              </a:rPr>
              <a:t>End of week 3 (status date)</a:t>
            </a:r>
          </a:p>
        </p:txBody>
      </p:sp>
      <p:sp>
        <p:nvSpPr>
          <p:cNvPr id="8" name="TextBox 7">
            <a:extLst>
              <a:ext uri="{FF2B5EF4-FFF2-40B4-BE49-F238E27FC236}">
                <a16:creationId xmlns:a16="http://schemas.microsoft.com/office/drawing/2014/main" id="{EF1DF405-2D5A-7A4B-D207-125D190AFD8B}"/>
              </a:ext>
            </a:extLst>
          </p:cNvPr>
          <p:cNvSpPr txBox="1"/>
          <p:nvPr/>
        </p:nvSpPr>
        <p:spPr>
          <a:xfrm>
            <a:off x="508000" y="5791200"/>
            <a:ext cx="11176000" cy="254000"/>
          </a:xfrm>
          <a:prstGeom prst="rect">
            <a:avLst/>
          </a:prstGeom>
          <a:noFill/>
        </p:spPr>
        <p:txBody>
          <a:bodyPr vert="horz" wrap="square" lIns="0" tIns="0" rIns="0" bIns="0" rtlCol="0" anchor="t">
            <a:noAutofit/>
          </a:bodyPr>
          <a:lstStyle/>
          <a:p>
            <a:r>
              <a:rPr lang="en-US" sz="1300" i="1">
                <a:solidFill>
                  <a:srgbClr val="5B6475"/>
                </a:solidFill>
                <a:latin typeface="Calibri" panose="020F0502020204030204" pitchFamily="34" charset="0"/>
              </a:rPr>
              <a:t>S = actual start · F = actual finish · PS = planned start · PF = planned finish</a:t>
            </a:r>
          </a:p>
        </p:txBody>
      </p:sp>
      <p:sp>
        <p:nvSpPr>
          <p:cNvPr id="9" name="Footer">
            <a:extLst>
              <a:ext uri="{FF2B5EF4-FFF2-40B4-BE49-F238E27FC236}">
                <a16:creationId xmlns:a16="http://schemas.microsoft.com/office/drawing/2014/main" id="{71D355C3-1DB1-564F-3954-093E942ECCDF}"/>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adapted from a PMI Learning earned value workshop</a:t>
            </a:r>
          </a:p>
        </p:txBody>
      </p:sp>
      <p:sp>
        <p:nvSpPr>
          <p:cNvPr id="10" name="SlideNum">
            <a:extLst>
              <a:ext uri="{FF2B5EF4-FFF2-40B4-BE49-F238E27FC236}">
                <a16:creationId xmlns:a16="http://schemas.microsoft.com/office/drawing/2014/main" id="{18AC6158-0A51-ADA4-BC9B-04BF6ADCC407}"/>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123</a:t>
            </a:r>
          </a:p>
        </p:txBody>
      </p:sp>
      <p:sp>
        <p:nvSpPr>
          <p:cNvPr id="11"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09052029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70E738BD-7D97-7DFB-B4DA-2DF3CF00CEC1}"/>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Practice solution: end of week 3</a:t>
            </a:r>
          </a:p>
        </p:txBody>
      </p:sp>
      <p:sp>
        <p:nvSpPr>
          <p:cNvPr id="3" name="Tag">
            <a:extLst>
              <a:ext uri="{FF2B5EF4-FFF2-40B4-BE49-F238E27FC236}">
                <a16:creationId xmlns:a16="http://schemas.microsoft.com/office/drawing/2014/main" id="{1C5940E6-EA55-E8FC-2609-63D4F4A1BFD9}"/>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34509A"/>
                </a:solidFill>
                <a:latin typeface="Calibri" panose="020F0502020204030204" pitchFamily="34" charset="0"/>
              </a:rPr>
              <a:t>Exercise · four floors, $1,000 and one week each</a:t>
            </a:r>
          </a:p>
        </p:txBody>
      </p:sp>
      <p:sp>
        <p:nvSpPr>
          <p:cNvPr id="4" name="Rectangle: Rounded Corners 3">
            <a:extLst>
              <a:ext uri="{FF2B5EF4-FFF2-40B4-BE49-F238E27FC236}">
                <a16:creationId xmlns:a16="http://schemas.microsoft.com/office/drawing/2014/main" id="{3EE8502F-F8AD-C1C1-8838-60C7428B7C2E}"/>
              </a:ext>
            </a:extLst>
          </p:cNvPr>
          <p:cNvSpPr/>
          <p:nvPr/>
        </p:nvSpPr>
        <p:spPr>
          <a:xfrm>
            <a:off x="508000" y="1371600"/>
            <a:ext cx="3175000" cy="4013200"/>
          </a:xfrm>
          <a:prstGeom prst="roundRect">
            <a:avLst>
              <a:gd name="adj" fmla="val 8000"/>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6783D3D-DE66-9903-F139-26F872574F03}"/>
              </a:ext>
            </a:extLst>
          </p:cNvPr>
          <p:cNvSpPr txBox="1"/>
          <p:nvPr/>
        </p:nvSpPr>
        <p:spPr>
          <a:xfrm>
            <a:off x="762000" y="1574800"/>
            <a:ext cx="2717800" cy="3683000"/>
          </a:xfrm>
          <a:prstGeom prst="rect">
            <a:avLst/>
          </a:prstGeom>
          <a:noFill/>
        </p:spPr>
        <p:txBody>
          <a:bodyPr vert="horz" wrap="square" lIns="0" tIns="0" rIns="0" bIns="0" rtlCol="0" anchor="t">
            <a:noAutofit/>
          </a:bodyPr>
          <a:lstStyle/>
          <a:p>
            <a:pPr>
              <a:spcAft>
                <a:spcPts val="600"/>
              </a:spcAft>
            </a:pPr>
            <a:r>
              <a:rPr lang="en-US" sz="2000" b="1">
                <a:solidFill>
                  <a:srgbClr val="FFFFFF"/>
                </a:solidFill>
                <a:latin typeface="Calibri" panose="020F0502020204030204" pitchFamily="34" charset="0"/>
              </a:rPr>
              <a:t>Inputs</a:t>
            </a:r>
          </a:p>
          <a:p>
            <a:pPr>
              <a:spcBef>
                <a:spcPts val="1000"/>
              </a:spcBef>
            </a:pPr>
            <a:r>
              <a:rPr lang="en-US" sz="2000" b="1">
                <a:solidFill>
                  <a:srgbClr val="FFFFFF"/>
                </a:solidFill>
                <a:latin typeface="Calibri" panose="020F0502020204030204" pitchFamily="34" charset="0"/>
              </a:rPr>
              <a:t>BAC   $4,000</a:t>
            </a:r>
          </a:p>
          <a:p>
            <a:r>
              <a:rPr lang="en-US" sz="1500">
                <a:solidFill>
                  <a:srgbClr val="C9D6EA"/>
                </a:solidFill>
                <a:latin typeface="Calibri" panose="020F0502020204030204" pitchFamily="34" charset="0"/>
              </a:rPr>
              <a:t>4 floors × $1,000</a:t>
            </a:r>
          </a:p>
          <a:p>
            <a:pPr>
              <a:spcBef>
                <a:spcPts val="1000"/>
              </a:spcBef>
            </a:pPr>
            <a:r>
              <a:rPr lang="en-US" sz="2000" b="1">
                <a:solidFill>
                  <a:srgbClr val="FFFFFF"/>
                </a:solidFill>
                <a:latin typeface="Calibri" panose="020F0502020204030204" pitchFamily="34" charset="0"/>
              </a:rPr>
              <a:t>PV   $3,000</a:t>
            </a:r>
          </a:p>
          <a:p>
            <a:r>
              <a:rPr lang="en-US" sz="1500">
                <a:solidFill>
                  <a:srgbClr val="C9D6EA"/>
                </a:solidFill>
                <a:latin typeface="Calibri" panose="020F0502020204030204" pitchFamily="34" charset="0"/>
              </a:rPr>
              <a:t>floors 1–3 planned by week 3</a:t>
            </a:r>
          </a:p>
          <a:p>
            <a:pPr>
              <a:spcBef>
                <a:spcPts val="1000"/>
              </a:spcBef>
            </a:pPr>
            <a:r>
              <a:rPr lang="en-US" sz="2000" b="1">
                <a:solidFill>
                  <a:srgbClr val="FFFFFF"/>
                </a:solidFill>
                <a:latin typeface="Calibri" panose="020F0502020204030204" pitchFamily="34" charset="0"/>
              </a:rPr>
              <a:t>EV   $2,500</a:t>
            </a:r>
          </a:p>
          <a:p>
            <a:r>
              <a:rPr lang="en-US" sz="1500">
                <a:solidFill>
                  <a:srgbClr val="C9D6EA"/>
                </a:solidFill>
                <a:latin typeface="Calibri" panose="020F0502020204030204" pitchFamily="34" charset="0"/>
              </a:rPr>
              <a:t>$1,000 + $1,000 + 50% of $1,000</a:t>
            </a:r>
          </a:p>
          <a:p>
            <a:pPr>
              <a:spcBef>
                <a:spcPts val="1000"/>
              </a:spcBef>
            </a:pPr>
            <a:r>
              <a:rPr lang="en-US" sz="2000" b="1">
                <a:solidFill>
                  <a:srgbClr val="FFFFFF"/>
                </a:solidFill>
                <a:latin typeface="Calibri" panose="020F0502020204030204" pitchFamily="34" charset="0"/>
              </a:rPr>
              <a:t>AC   $2,800</a:t>
            </a:r>
          </a:p>
          <a:p>
            <a:r>
              <a:rPr lang="en-US" sz="1500">
                <a:solidFill>
                  <a:srgbClr val="C9D6EA"/>
                </a:solidFill>
                <a:latin typeface="Calibri" panose="020F0502020204030204" pitchFamily="34" charset="0"/>
              </a:rPr>
              <a:t>$1,000 + $1,200 + $600</a:t>
            </a:r>
          </a:p>
        </p:txBody>
      </p:sp>
      <p:sp>
        <p:nvSpPr>
          <p:cNvPr id="6" name="Rectangle: Rounded Corners 5">
            <a:extLst>
              <a:ext uri="{FF2B5EF4-FFF2-40B4-BE49-F238E27FC236}">
                <a16:creationId xmlns:a16="http://schemas.microsoft.com/office/drawing/2014/main" id="{F13BA5A6-ACE7-C5A0-1F2A-048324B25EF0}"/>
              </a:ext>
            </a:extLst>
          </p:cNvPr>
          <p:cNvSpPr/>
          <p:nvPr/>
        </p:nvSpPr>
        <p:spPr>
          <a:xfrm>
            <a:off x="3937000" y="1371600"/>
            <a:ext cx="1841500" cy="1930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ABAD7EC-14CD-F947-8722-DF4263136F63}"/>
              </a:ext>
            </a:extLst>
          </p:cNvPr>
          <p:cNvSpPr txBox="1"/>
          <p:nvPr/>
        </p:nvSpPr>
        <p:spPr>
          <a:xfrm>
            <a:off x="4089400" y="1549400"/>
            <a:ext cx="1536700" cy="1651000"/>
          </a:xfrm>
          <a:prstGeom prst="rect">
            <a:avLst/>
          </a:prstGeom>
          <a:noFill/>
        </p:spPr>
        <p:txBody>
          <a:bodyPr vert="horz" wrap="square" lIns="0" tIns="0" rIns="0" bIns="0" rtlCol="0" anchor="t">
            <a:noAutofit/>
          </a:bodyPr>
          <a:lstStyle/>
          <a:p>
            <a:r>
              <a:rPr lang="da-DK" sz="1400" b="1">
                <a:solidFill>
                  <a:srgbClr val="14213D"/>
                </a:solidFill>
                <a:latin typeface="Calibri" panose="020F0502020204030204" pitchFamily="34" charset="0"/>
              </a:rPr>
              <a:t>CV = EV − AC</a:t>
            </a:r>
          </a:p>
          <a:p>
            <a:pPr>
              <a:spcBef>
                <a:spcPts val="1000"/>
              </a:spcBef>
              <a:spcAft>
                <a:spcPts val="600"/>
              </a:spcAft>
            </a:pPr>
            <a:r>
              <a:rPr lang="da-DK" sz="2600" b="1">
                <a:solidFill>
                  <a:srgbClr val="A84A2E"/>
                </a:solidFill>
                <a:latin typeface="Cambria" panose="02040503050406030204" pitchFamily="18" charset="0"/>
              </a:rPr>
              <a:t>−$300</a:t>
            </a:r>
          </a:p>
          <a:p>
            <a:r>
              <a:rPr lang="da-DK" sz="1400">
                <a:solidFill>
                  <a:srgbClr val="5B6475"/>
                </a:solidFill>
                <a:latin typeface="Calibri" panose="020F0502020204030204" pitchFamily="34" charset="0"/>
              </a:rPr>
              <a:t>over budget</a:t>
            </a:r>
            <a:endParaRPr lang="en-US" sz="1400">
              <a:solidFill>
                <a:srgbClr val="5B6475"/>
              </a:solidFill>
              <a:latin typeface="Calibri" panose="020F0502020204030204" pitchFamily="34" charset="0"/>
            </a:endParaRPr>
          </a:p>
        </p:txBody>
      </p:sp>
      <p:sp>
        <p:nvSpPr>
          <p:cNvPr id="8" name="Rectangle: Rounded Corners 7">
            <a:extLst>
              <a:ext uri="{FF2B5EF4-FFF2-40B4-BE49-F238E27FC236}">
                <a16:creationId xmlns:a16="http://schemas.microsoft.com/office/drawing/2014/main" id="{31AF3806-14BF-81C6-75BB-69A746DC9FDB}"/>
              </a:ext>
            </a:extLst>
          </p:cNvPr>
          <p:cNvSpPr/>
          <p:nvPr/>
        </p:nvSpPr>
        <p:spPr>
          <a:xfrm>
            <a:off x="5905500" y="1371600"/>
            <a:ext cx="1841500" cy="1930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B6BC4AD-DEC4-A98A-EEA0-FFFC4E4CBD94}"/>
              </a:ext>
            </a:extLst>
          </p:cNvPr>
          <p:cNvSpPr txBox="1"/>
          <p:nvPr/>
        </p:nvSpPr>
        <p:spPr>
          <a:xfrm>
            <a:off x="6057900" y="1549400"/>
            <a:ext cx="1536700" cy="1651000"/>
          </a:xfrm>
          <a:prstGeom prst="rect">
            <a:avLst/>
          </a:prstGeom>
          <a:noFill/>
        </p:spPr>
        <p:txBody>
          <a:bodyPr vert="horz" wrap="square" lIns="0" tIns="0" rIns="0" bIns="0" rtlCol="0" anchor="t">
            <a:noAutofit/>
          </a:bodyPr>
          <a:lstStyle/>
          <a:p>
            <a:r>
              <a:rPr lang="en-US" sz="1400" b="1">
                <a:solidFill>
                  <a:srgbClr val="14213D"/>
                </a:solidFill>
                <a:latin typeface="Calibri" panose="020F0502020204030204" pitchFamily="34" charset="0"/>
              </a:rPr>
              <a:t>SV = EV − PV</a:t>
            </a:r>
          </a:p>
          <a:p>
            <a:pPr>
              <a:spcBef>
                <a:spcPts val="1000"/>
              </a:spcBef>
              <a:spcAft>
                <a:spcPts val="600"/>
              </a:spcAft>
            </a:pPr>
            <a:r>
              <a:rPr lang="en-US" sz="2600" b="1">
                <a:solidFill>
                  <a:srgbClr val="A84A2E"/>
                </a:solidFill>
                <a:latin typeface="Cambria" panose="02040503050406030204" pitchFamily="18" charset="0"/>
              </a:rPr>
              <a:t>−$500</a:t>
            </a:r>
          </a:p>
          <a:p>
            <a:r>
              <a:rPr lang="en-US" sz="1400">
                <a:solidFill>
                  <a:srgbClr val="5B6475"/>
                </a:solidFill>
                <a:latin typeface="Calibri" panose="020F0502020204030204" pitchFamily="34" charset="0"/>
              </a:rPr>
              <a:t>behind schedule</a:t>
            </a:r>
          </a:p>
        </p:txBody>
      </p:sp>
      <p:sp>
        <p:nvSpPr>
          <p:cNvPr id="10" name="Rectangle: Rounded Corners 9">
            <a:extLst>
              <a:ext uri="{FF2B5EF4-FFF2-40B4-BE49-F238E27FC236}">
                <a16:creationId xmlns:a16="http://schemas.microsoft.com/office/drawing/2014/main" id="{8AAB4E3F-A941-A625-42DE-949BD5978A97}"/>
              </a:ext>
            </a:extLst>
          </p:cNvPr>
          <p:cNvSpPr/>
          <p:nvPr/>
        </p:nvSpPr>
        <p:spPr>
          <a:xfrm>
            <a:off x="7874000" y="1371600"/>
            <a:ext cx="1841500" cy="1930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B236581-AFF0-7C94-32CF-DF416271B3D9}"/>
              </a:ext>
            </a:extLst>
          </p:cNvPr>
          <p:cNvSpPr txBox="1"/>
          <p:nvPr/>
        </p:nvSpPr>
        <p:spPr>
          <a:xfrm>
            <a:off x="8026400" y="1549400"/>
            <a:ext cx="1536700" cy="1651000"/>
          </a:xfrm>
          <a:prstGeom prst="rect">
            <a:avLst/>
          </a:prstGeom>
          <a:noFill/>
        </p:spPr>
        <p:txBody>
          <a:bodyPr vert="horz" wrap="square" lIns="0" tIns="0" rIns="0" bIns="0" rtlCol="0" anchor="t">
            <a:noAutofit/>
          </a:bodyPr>
          <a:lstStyle/>
          <a:p>
            <a:r>
              <a:rPr lang="en-US" sz="1400" b="1">
                <a:solidFill>
                  <a:srgbClr val="14213D"/>
                </a:solidFill>
                <a:latin typeface="Calibri" panose="020F0502020204030204" pitchFamily="34" charset="0"/>
              </a:rPr>
              <a:t>CPI = EV / AC</a:t>
            </a:r>
          </a:p>
          <a:p>
            <a:pPr>
              <a:spcBef>
                <a:spcPts val="1000"/>
              </a:spcBef>
              <a:spcAft>
                <a:spcPts val="600"/>
              </a:spcAft>
            </a:pPr>
            <a:r>
              <a:rPr lang="en-US" sz="2600" b="1">
                <a:solidFill>
                  <a:srgbClr val="A84A2E"/>
                </a:solidFill>
                <a:latin typeface="Cambria" panose="02040503050406030204" pitchFamily="18" charset="0"/>
              </a:rPr>
              <a:t>0.89</a:t>
            </a:r>
          </a:p>
          <a:p>
            <a:r>
              <a:rPr lang="en-US" sz="1400">
                <a:solidFill>
                  <a:srgbClr val="5B6475"/>
                </a:solidFill>
                <a:latin typeface="Calibri" panose="020F0502020204030204" pitchFamily="34" charset="0"/>
              </a:rPr>
              <a:t>$0.89 of work per $1 spent</a:t>
            </a:r>
          </a:p>
        </p:txBody>
      </p:sp>
      <p:sp>
        <p:nvSpPr>
          <p:cNvPr id="12" name="Rectangle: Rounded Corners 11">
            <a:extLst>
              <a:ext uri="{FF2B5EF4-FFF2-40B4-BE49-F238E27FC236}">
                <a16:creationId xmlns:a16="http://schemas.microsoft.com/office/drawing/2014/main" id="{FCB17436-22C4-9661-3094-1D07381F5930}"/>
              </a:ext>
            </a:extLst>
          </p:cNvPr>
          <p:cNvSpPr/>
          <p:nvPr/>
        </p:nvSpPr>
        <p:spPr>
          <a:xfrm>
            <a:off x="9842500" y="1371600"/>
            <a:ext cx="1841500" cy="1930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6F119DB-EB95-7C2A-040F-CB2450DED1BC}"/>
              </a:ext>
            </a:extLst>
          </p:cNvPr>
          <p:cNvSpPr txBox="1"/>
          <p:nvPr/>
        </p:nvSpPr>
        <p:spPr>
          <a:xfrm>
            <a:off x="9994900" y="1549400"/>
            <a:ext cx="1536700" cy="1651000"/>
          </a:xfrm>
          <a:prstGeom prst="rect">
            <a:avLst/>
          </a:prstGeom>
          <a:noFill/>
        </p:spPr>
        <p:txBody>
          <a:bodyPr vert="horz" wrap="square" lIns="0" tIns="0" rIns="0" bIns="0" rtlCol="0" anchor="t">
            <a:noAutofit/>
          </a:bodyPr>
          <a:lstStyle/>
          <a:p>
            <a:r>
              <a:rPr lang="en-US" sz="1400" b="1">
                <a:solidFill>
                  <a:srgbClr val="14213D"/>
                </a:solidFill>
                <a:latin typeface="Calibri" panose="020F0502020204030204" pitchFamily="34" charset="0"/>
              </a:rPr>
              <a:t>SPI = EV / PV</a:t>
            </a:r>
          </a:p>
          <a:p>
            <a:pPr>
              <a:spcBef>
                <a:spcPts val="1000"/>
              </a:spcBef>
              <a:spcAft>
                <a:spcPts val="600"/>
              </a:spcAft>
            </a:pPr>
            <a:r>
              <a:rPr lang="en-US" sz="2600" b="1">
                <a:solidFill>
                  <a:srgbClr val="A84A2E"/>
                </a:solidFill>
                <a:latin typeface="Cambria" panose="02040503050406030204" pitchFamily="18" charset="0"/>
              </a:rPr>
              <a:t>0.83</a:t>
            </a:r>
          </a:p>
          <a:p>
            <a:r>
              <a:rPr lang="en-US" sz="1400">
                <a:solidFill>
                  <a:srgbClr val="5B6475"/>
                </a:solidFill>
                <a:latin typeface="Calibri" panose="020F0502020204030204" pitchFamily="34" charset="0"/>
              </a:rPr>
              <a:t>working at 83% of planned pace</a:t>
            </a:r>
          </a:p>
        </p:txBody>
      </p:sp>
      <p:sp>
        <p:nvSpPr>
          <p:cNvPr id="14" name="Rectangle: Rounded Corners 13">
            <a:extLst>
              <a:ext uri="{FF2B5EF4-FFF2-40B4-BE49-F238E27FC236}">
                <a16:creationId xmlns:a16="http://schemas.microsoft.com/office/drawing/2014/main" id="{775E21AC-8ABE-091F-CC96-5D1FD390C407}"/>
              </a:ext>
            </a:extLst>
          </p:cNvPr>
          <p:cNvSpPr/>
          <p:nvPr/>
        </p:nvSpPr>
        <p:spPr>
          <a:xfrm>
            <a:off x="3937000" y="3454400"/>
            <a:ext cx="1841500" cy="1930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6CD621E-1E21-54DC-9AD0-848EDC39740B}"/>
              </a:ext>
            </a:extLst>
          </p:cNvPr>
          <p:cNvSpPr txBox="1"/>
          <p:nvPr/>
        </p:nvSpPr>
        <p:spPr>
          <a:xfrm>
            <a:off x="4089400" y="3632200"/>
            <a:ext cx="1536700" cy="1651000"/>
          </a:xfrm>
          <a:prstGeom prst="rect">
            <a:avLst/>
          </a:prstGeom>
          <a:noFill/>
        </p:spPr>
        <p:txBody>
          <a:bodyPr vert="horz" wrap="square" lIns="0" tIns="0" rIns="0" bIns="0" rtlCol="0" anchor="t">
            <a:noAutofit/>
          </a:bodyPr>
          <a:lstStyle/>
          <a:p>
            <a:r>
              <a:rPr lang="en-US" sz="1400" b="1">
                <a:solidFill>
                  <a:srgbClr val="14213D"/>
                </a:solidFill>
                <a:latin typeface="Calibri" panose="020F0502020204030204" pitchFamily="34" charset="0"/>
              </a:rPr>
              <a:t>EAC = BAC / CPI</a:t>
            </a:r>
          </a:p>
          <a:p>
            <a:pPr>
              <a:spcBef>
                <a:spcPts val="1000"/>
              </a:spcBef>
              <a:spcAft>
                <a:spcPts val="600"/>
              </a:spcAft>
            </a:pPr>
            <a:r>
              <a:rPr lang="en-US" sz="2600" b="1">
                <a:solidFill>
                  <a:srgbClr val="14213D"/>
                </a:solidFill>
                <a:latin typeface="Cambria" panose="02040503050406030204" pitchFamily="18" charset="0"/>
              </a:rPr>
              <a:t>$4,480</a:t>
            </a:r>
          </a:p>
          <a:p>
            <a:r>
              <a:rPr lang="en-US" sz="1400">
                <a:solidFill>
                  <a:srgbClr val="5B6475"/>
                </a:solidFill>
                <a:latin typeface="Calibri" panose="020F0502020204030204" pitchFamily="34" charset="0"/>
              </a:rPr>
              <a:t>forecast total cost</a:t>
            </a:r>
          </a:p>
        </p:txBody>
      </p:sp>
      <p:sp>
        <p:nvSpPr>
          <p:cNvPr id="16" name="Rectangle: Rounded Corners 15">
            <a:extLst>
              <a:ext uri="{FF2B5EF4-FFF2-40B4-BE49-F238E27FC236}">
                <a16:creationId xmlns:a16="http://schemas.microsoft.com/office/drawing/2014/main" id="{4FB39700-9C0F-C2C4-708D-80428FFDFF6E}"/>
              </a:ext>
            </a:extLst>
          </p:cNvPr>
          <p:cNvSpPr/>
          <p:nvPr/>
        </p:nvSpPr>
        <p:spPr>
          <a:xfrm>
            <a:off x="5905500" y="3454400"/>
            <a:ext cx="1841500" cy="1930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3409D5A-1DDF-B88B-678A-7BA657556C5A}"/>
              </a:ext>
            </a:extLst>
          </p:cNvPr>
          <p:cNvSpPr txBox="1"/>
          <p:nvPr/>
        </p:nvSpPr>
        <p:spPr>
          <a:xfrm>
            <a:off x="6057900" y="3632200"/>
            <a:ext cx="1536700" cy="1651000"/>
          </a:xfrm>
          <a:prstGeom prst="rect">
            <a:avLst/>
          </a:prstGeom>
          <a:noFill/>
        </p:spPr>
        <p:txBody>
          <a:bodyPr vert="horz" wrap="square" lIns="0" tIns="0" rIns="0" bIns="0" rtlCol="0" anchor="t">
            <a:noAutofit/>
          </a:bodyPr>
          <a:lstStyle/>
          <a:p>
            <a:r>
              <a:rPr lang="en-US" sz="1400" b="1">
                <a:solidFill>
                  <a:srgbClr val="14213D"/>
                </a:solidFill>
                <a:latin typeface="Calibri" panose="020F0502020204030204" pitchFamily="34" charset="0"/>
              </a:rPr>
              <a:t>ETC = EAC − AC</a:t>
            </a:r>
          </a:p>
          <a:p>
            <a:pPr>
              <a:spcBef>
                <a:spcPts val="1000"/>
              </a:spcBef>
              <a:spcAft>
                <a:spcPts val="600"/>
              </a:spcAft>
            </a:pPr>
            <a:r>
              <a:rPr lang="en-US" sz="2600" b="1">
                <a:solidFill>
                  <a:srgbClr val="14213D"/>
                </a:solidFill>
                <a:latin typeface="Cambria" panose="02040503050406030204" pitchFamily="18" charset="0"/>
              </a:rPr>
              <a:t>$1,680</a:t>
            </a:r>
          </a:p>
          <a:p>
            <a:r>
              <a:rPr lang="en-US" sz="1400">
                <a:solidFill>
                  <a:srgbClr val="5B6475"/>
                </a:solidFill>
                <a:latin typeface="Calibri" panose="020F0502020204030204" pitchFamily="34" charset="0"/>
              </a:rPr>
              <a:t>still to spend</a:t>
            </a:r>
          </a:p>
        </p:txBody>
      </p:sp>
      <p:sp>
        <p:nvSpPr>
          <p:cNvPr id="18" name="Rectangle: Rounded Corners 17">
            <a:extLst>
              <a:ext uri="{FF2B5EF4-FFF2-40B4-BE49-F238E27FC236}">
                <a16:creationId xmlns:a16="http://schemas.microsoft.com/office/drawing/2014/main" id="{F694B5A7-F86F-A82F-0C78-6A9016971180}"/>
              </a:ext>
            </a:extLst>
          </p:cNvPr>
          <p:cNvSpPr/>
          <p:nvPr/>
        </p:nvSpPr>
        <p:spPr>
          <a:xfrm>
            <a:off x="7874000" y="3454400"/>
            <a:ext cx="1841500" cy="1930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FBBB7AF-20BD-78EF-EE00-0E62D096236A}"/>
              </a:ext>
            </a:extLst>
          </p:cNvPr>
          <p:cNvSpPr txBox="1"/>
          <p:nvPr/>
        </p:nvSpPr>
        <p:spPr>
          <a:xfrm>
            <a:off x="8026400" y="3632200"/>
            <a:ext cx="1536700" cy="1651000"/>
          </a:xfrm>
          <a:prstGeom prst="rect">
            <a:avLst/>
          </a:prstGeom>
          <a:noFill/>
        </p:spPr>
        <p:txBody>
          <a:bodyPr vert="horz" wrap="square" lIns="0" tIns="0" rIns="0" bIns="0" rtlCol="0" anchor="t">
            <a:noAutofit/>
          </a:bodyPr>
          <a:lstStyle/>
          <a:p>
            <a:r>
              <a:rPr lang="en-US" sz="1400" b="1">
                <a:solidFill>
                  <a:srgbClr val="14213D"/>
                </a:solidFill>
                <a:latin typeface="Calibri" panose="020F0502020204030204" pitchFamily="34" charset="0"/>
              </a:rPr>
              <a:t>VAC = BAC − EAC</a:t>
            </a:r>
          </a:p>
          <a:p>
            <a:pPr>
              <a:spcBef>
                <a:spcPts val="1000"/>
              </a:spcBef>
              <a:spcAft>
                <a:spcPts val="600"/>
              </a:spcAft>
            </a:pPr>
            <a:r>
              <a:rPr lang="en-US" sz="2600" b="1">
                <a:solidFill>
                  <a:srgbClr val="A84A2E"/>
                </a:solidFill>
                <a:latin typeface="Cambria" panose="02040503050406030204" pitchFamily="18" charset="0"/>
              </a:rPr>
              <a:t>−$480</a:t>
            </a:r>
          </a:p>
          <a:p>
            <a:r>
              <a:rPr lang="en-US" sz="1400">
                <a:solidFill>
                  <a:srgbClr val="5B6475"/>
                </a:solidFill>
                <a:latin typeface="Calibri" panose="020F0502020204030204" pitchFamily="34" charset="0"/>
              </a:rPr>
              <a:t>forecast overrun</a:t>
            </a:r>
          </a:p>
        </p:txBody>
      </p:sp>
      <p:sp>
        <p:nvSpPr>
          <p:cNvPr id="20" name="Rectangle: Rounded Corners 19">
            <a:extLst>
              <a:ext uri="{FF2B5EF4-FFF2-40B4-BE49-F238E27FC236}">
                <a16:creationId xmlns:a16="http://schemas.microsoft.com/office/drawing/2014/main" id="{4D30C897-CFFC-F531-23A2-7D6394396140}"/>
              </a:ext>
            </a:extLst>
          </p:cNvPr>
          <p:cNvSpPr/>
          <p:nvPr/>
        </p:nvSpPr>
        <p:spPr>
          <a:xfrm>
            <a:off x="9842500" y="3454400"/>
            <a:ext cx="1841500" cy="19304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885770C8-8FA5-9005-7176-0A38172AE4F6}"/>
              </a:ext>
            </a:extLst>
          </p:cNvPr>
          <p:cNvSpPr txBox="1"/>
          <p:nvPr/>
        </p:nvSpPr>
        <p:spPr>
          <a:xfrm>
            <a:off x="9994900" y="3632200"/>
            <a:ext cx="1536700" cy="1651000"/>
          </a:xfrm>
          <a:prstGeom prst="rect">
            <a:avLst/>
          </a:prstGeom>
          <a:noFill/>
        </p:spPr>
        <p:txBody>
          <a:bodyPr vert="horz" wrap="square" lIns="0" tIns="0" rIns="0" bIns="0" rtlCol="0" anchor="t">
            <a:noAutofit/>
          </a:bodyPr>
          <a:lstStyle/>
          <a:p>
            <a:r>
              <a:rPr lang="en-US" sz="1400" b="1">
                <a:solidFill>
                  <a:srgbClr val="14213D"/>
                </a:solidFill>
                <a:latin typeface="Calibri" panose="020F0502020204030204" pitchFamily="34" charset="0"/>
              </a:rPr>
              <a:t>TCPI</a:t>
            </a:r>
          </a:p>
          <a:p>
            <a:pPr>
              <a:spcBef>
                <a:spcPts val="1000"/>
              </a:spcBef>
              <a:spcAft>
                <a:spcPts val="600"/>
              </a:spcAft>
            </a:pPr>
            <a:r>
              <a:rPr lang="en-US" sz="2600" b="1">
                <a:solidFill>
                  <a:srgbClr val="14213D"/>
                </a:solidFill>
                <a:latin typeface="Cambria" panose="02040503050406030204" pitchFamily="18" charset="0"/>
              </a:rPr>
              <a:t>1.25</a:t>
            </a:r>
          </a:p>
          <a:p>
            <a:r>
              <a:rPr lang="en-US" sz="1400">
                <a:solidFill>
                  <a:srgbClr val="5B6475"/>
                </a:solidFill>
                <a:latin typeface="Calibri" panose="020F0502020204030204" pitchFamily="34" charset="0"/>
              </a:rPr>
              <a:t>efficiency needed to finish on budget</a:t>
            </a:r>
          </a:p>
        </p:txBody>
      </p:sp>
      <p:sp>
        <p:nvSpPr>
          <p:cNvPr id="22" name="Rectangle: Rounded Corners 21">
            <a:extLst>
              <a:ext uri="{FF2B5EF4-FFF2-40B4-BE49-F238E27FC236}">
                <a16:creationId xmlns:a16="http://schemas.microsoft.com/office/drawing/2014/main" id="{BFBC292F-E104-CC1D-C3C0-BCA7E0592C17}"/>
              </a:ext>
            </a:extLst>
          </p:cNvPr>
          <p:cNvSpPr/>
          <p:nvPr/>
        </p:nvSpPr>
        <p:spPr>
          <a:xfrm>
            <a:off x="508000" y="5562600"/>
            <a:ext cx="11176000" cy="6604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2343003-37BD-EBC1-F167-33BFD58B4578}"/>
              </a:ext>
            </a:extLst>
          </p:cNvPr>
          <p:cNvSpPr txBox="1"/>
          <p:nvPr/>
        </p:nvSpPr>
        <p:spPr>
          <a:xfrm>
            <a:off x="736600" y="5562600"/>
            <a:ext cx="10718800" cy="660400"/>
          </a:xfrm>
          <a:prstGeom prst="rect">
            <a:avLst/>
          </a:prstGeom>
          <a:noFill/>
        </p:spPr>
        <p:txBody>
          <a:bodyPr vert="horz" wrap="square" lIns="0" tIns="0" rIns="0" bIns="0" rtlCol="0" anchor="ctr">
            <a:noAutofit/>
          </a:bodyPr>
          <a:lstStyle/>
          <a:p>
            <a:r>
              <a:rPr lang="en-US" sz="1500" i="1">
                <a:solidFill>
                  <a:srgbClr val="14213D"/>
                </a:solidFill>
                <a:latin typeface="Calibri" panose="020F0502020204030204" pitchFamily="34" charset="0"/>
              </a:rPr>
              <a:t>Reading it: floor 2 overran by $200 and floor 3 started late. Finishing on the $4,000 budget would need the remaining work to run 25% more efficiently.</a:t>
            </a:r>
          </a:p>
        </p:txBody>
      </p:sp>
      <p:sp>
        <p:nvSpPr>
          <p:cNvPr id="24" name="Footer">
            <a:extLst>
              <a:ext uri="{FF2B5EF4-FFF2-40B4-BE49-F238E27FC236}">
                <a16:creationId xmlns:a16="http://schemas.microsoft.com/office/drawing/2014/main" id="{9FBEA59B-C379-F0FE-E2BC-D5BED4DC8FA8}"/>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7.4 (Control Costs); adapted from a PMI Learning earned value workshop</a:t>
            </a:r>
          </a:p>
        </p:txBody>
      </p:sp>
      <p:sp>
        <p:nvSpPr>
          <p:cNvPr id="25" name="SlideNum">
            <a:extLst>
              <a:ext uri="{FF2B5EF4-FFF2-40B4-BE49-F238E27FC236}">
                <a16:creationId xmlns:a16="http://schemas.microsoft.com/office/drawing/2014/main" id="{EA895314-528F-1AD6-D30D-69D744EF68A6}"/>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124</a:t>
            </a:r>
          </a:p>
        </p:txBody>
      </p:sp>
      <p:sp>
        <p:nvSpPr>
          <p:cNvPr id="26"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34694718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3CCE061-B71A-441C-6B30-90B90971098C}"/>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Key formulas for the exam</a:t>
            </a:r>
          </a:p>
        </p:txBody>
      </p:sp>
      <p:sp>
        <p:nvSpPr>
          <p:cNvPr id="3" name="Tag">
            <a:extLst>
              <a:ext uri="{FF2B5EF4-FFF2-40B4-BE49-F238E27FC236}">
                <a16:creationId xmlns:a16="http://schemas.microsoft.com/office/drawing/2014/main" id="{CC9E4FAB-D1BF-7E3E-7E42-E3CB1D03A48D}"/>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A86F0E"/>
                </a:solidFill>
                <a:latin typeface="Calibri" panose="020F0502020204030204" pitchFamily="34" charset="0"/>
              </a:rPr>
              <a:t>Budget and earned value · One-page review of every formula in this deck</a:t>
            </a:r>
          </a:p>
        </p:txBody>
      </p:sp>
      <p:sp>
        <p:nvSpPr>
          <p:cNvPr id="4" name="Rectangle: Rounded Corners 3">
            <a:extLst>
              <a:ext uri="{FF2B5EF4-FFF2-40B4-BE49-F238E27FC236}">
                <a16:creationId xmlns:a16="http://schemas.microsoft.com/office/drawing/2014/main" id="{D71B69A6-8C0B-F0C5-9AA4-F6D9103F486C}"/>
              </a:ext>
            </a:extLst>
          </p:cNvPr>
          <p:cNvSpPr/>
          <p:nvPr/>
        </p:nvSpPr>
        <p:spPr>
          <a:xfrm>
            <a:off x="508000" y="1320800"/>
            <a:ext cx="5461000" cy="21336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D0F793B-D4DB-F98A-A3EE-3C8ADB0F905D}"/>
              </a:ext>
            </a:extLst>
          </p:cNvPr>
          <p:cNvSpPr txBox="1"/>
          <p:nvPr/>
        </p:nvSpPr>
        <p:spPr>
          <a:xfrm>
            <a:off x="660400" y="1473200"/>
            <a:ext cx="5156200" cy="1828800"/>
          </a:xfrm>
          <a:prstGeom prst="rect">
            <a:avLst/>
          </a:prstGeom>
          <a:noFill/>
        </p:spPr>
        <p:txBody>
          <a:bodyPr vert="horz" wrap="square" lIns="0" tIns="0" rIns="0" bIns="0" rtlCol="0" anchor="t">
            <a:noAutofit/>
          </a:bodyPr>
          <a:lstStyle/>
          <a:p>
            <a:pPr>
              <a:spcAft>
                <a:spcPts val="600"/>
              </a:spcAft>
            </a:pPr>
            <a:r>
              <a:rPr lang="en-US" sz="1500" b="1">
                <a:solidFill>
                  <a:srgbClr val="A86F0E"/>
                </a:solidFill>
                <a:latin typeface="Calibri" panose="020F0502020204030204" pitchFamily="34" charset="0"/>
              </a:rPr>
              <a:t>Earned value: where are we now?</a:t>
            </a:r>
          </a:p>
          <a:p>
            <a:pPr>
              <a:spcAft>
                <a:spcPts val="500"/>
              </a:spcAft>
            </a:pPr>
            <a:r>
              <a:rPr lang="en-US" sz="1300" b="1">
                <a:solidFill>
                  <a:srgbClr val="14213D"/>
                </a:solidFill>
                <a:latin typeface="Calibri" panose="020F0502020204030204" pitchFamily="34" charset="0"/>
              </a:rPr>
              <a:t>CV = EV − AC</a:t>
            </a:r>
            <a:r>
              <a:rPr lang="en-US" sz="1200">
                <a:solidFill>
                  <a:srgbClr val="5B6475"/>
                </a:solidFill>
                <a:latin typeface="Calibri" panose="020F0502020204030204" pitchFamily="34" charset="0"/>
              </a:rPr>
              <a:t>  positive: under budget</a:t>
            </a:r>
          </a:p>
          <a:p>
            <a:pPr>
              <a:spcAft>
                <a:spcPts val="500"/>
              </a:spcAft>
            </a:pPr>
            <a:r>
              <a:rPr lang="en-US" sz="1300" b="1">
                <a:solidFill>
                  <a:srgbClr val="14213D"/>
                </a:solidFill>
                <a:latin typeface="Calibri" panose="020F0502020204030204" pitchFamily="34" charset="0"/>
              </a:rPr>
              <a:t>SV = EV − PV</a:t>
            </a:r>
            <a:r>
              <a:rPr lang="en-US" sz="1200">
                <a:solidFill>
                  <a:srgbClr val="5B6475"/>
                </a:solidFill>
                <a:latin typeface="Calibri" panose="020F0502020204030204" pitchFamily="34" charset="0"/>
              </a:rPr>
              <a:t>  positive: ahead of schedule</a:t>
            </a:r>
          </a:p>
          <a:p>
            <a:pPr>
              <a:spcAft>
                <a:spcPts val="500"/>
              </a:spcAft>
            </a:pPr>
            <a:r>
              <a:rPr lang="en-US" sz="1300" b="1">
                <a:solidFill>
                  <a:srgbClr val="14213D"/>
                </a:solidFill>
                <a:latin typeface="Calibri" panose="020F0502020204030204" pitchFamily="34" charset="0"/>
              </a:rPr>
              <a:t>CPI = EV / AC</a:t>
            </a:r>
            <a:r>
              <a:rPr lang="en-US" sz="1200">
                <a:solidFill>
                  <a:srgbClr val="5B6475"/>
                </a:solidFill>
                <a:latin typeface="Calibri" panose="020F0502020204030204" pitchFamily="34" charset="0"/>
              </a:rPr>
              <a:t>  above 1: under budget</a:t>
            </a:r>
          </a:p>
          <a:p>
            <a:pPr>
              <a:spcAft>
                <a:spcPts val="500"/>
              </a:spcAft>
            </a:pPr>
            <a:r>
              <a:rPr lang="en-US" sz="1300" b="1">
                <a:solidFill>
                  <a:srgbClr val="14213D"/>
                </a:solidFill>
                <a:latin typeface="Calibri" panose="020F0502020204030204" pitchFamily="34" charset="0"/>
              </a:rPr>
              <a:t>SPI = EV / PV</a:t>
            </a:r>
            <a:r>
              <a:rPr lang="en-US" sz="1200">
                <a:solidFill>
                  <a:srgbClr val="5B6475"/>
                </a:solidFill>
                <a:latin typeface="Calibri" panose="020F0502020204030204" pitchFamily="34" charset="0"/>
              </a:rPr>
              <a:t>  above 1: ahead of schedule</a:t>
            </a:r>
          </a:p>
        </p:txBody>
      </p:sp>
      <p:sp>
        <p:nvSpPr>
          <p:cNvPr id="6" name="Rectangle: Rounded Corners 5">
            <a:extLst>
              <a:ext uri="{FF2B5EF4-FFF2-40B4-BE49-F238E27FC236}">
                <a16:creationId xmlns:a16="http://schemas.microsoft.com/office/drawing/2014/main" id="{AAE39CFF-331E-D11A-8388-5638BFC5D723}"/>
              </a:ext>
            </a:extLst>
          </p:cNvPr>
          <p:cNvSpPr/>
          <p:nvPr/>
        </p:nvSpPr>
        <p:spPr>
          <a:xfrm>
            <a:off x="6223000" y="1320800"/>
            <a:ext cx="5461000" cy="21336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EBA552F-3CD9-6F0C-FE39-0AA372FEFA9A}"/>
              </a:ext>
            </a:extLst>
          </p:cNvPr>
          <p:cNvSpPr txBox="1"/>
          <p:nvPr/>
        </p:nvSpPr>
        <p:spPr>
          <a:xfrm>
            <a:off x="6375400" y="1473200"/>
            <a:ext cx="5156200" cy="1828800"/>
          </a:xfrm>
          <a:prstGeom prst="rect">
            <a:avLst/>
          </a:prstGeom>
          <a:noFill/>
        </p:spPr>
        <p:txBody>
          <a:bodyPr vert="horz" wrap="square" lIns="0" tIns="0" rIns="0" bIns="0" rtlCol="0" anchor="t">
            <a:noAutofit/>
          </a:bodyPr>
          <a:lstStyle/>
          <a:p>
            <a:pPr>
              <a:spcAft>
                <a:spcPts val="600"/>
              </a:spcAft>
            </a:pPr>
            <a:r>
              <a:rPr lang="en-US" sz="1500" b="1">
                <a:solidFill>
                  <a:srgbClr val="A86F0E"/>
                </a:solidFill>
                <a:latin typeface="Calibri" panose="020F0502020204030204" pitchFamily="34" charset="0"/>
              </a:rPr>
              <a:t>Forecasting: where will we finish?</a:t>
            </a:r>
          </a:p>
          <a:p>
            <a:pPr>
              <a:spcAft>
                <a:spcPts val="500"/>
              </a:spcAft>
            </a:pPr>
            <a:r>
              <a:rPr lang="en-US" sz="1300" b="1">
                <a:solidFill>
                  <a:srgbClr val="14213D"/>
                </a:solidFill>
                <a:latin typeface="Calibri" panose="020F0502020204030204" pitchFamily="34" charset="0"/>
              </a:rPr>
              <a:t>EAC = BAC / CPI</a:t>
            </a:r>
            <a:r>
              <a:rPr lang="en-US" sz="1200">
                <a:solidFill>
                  <a:srgbClr val="5B6475"/>
                </a:solidFill>
                <a:latin typeface="Calibri" panose="020F0502020204030204" pitchFamily="34" charset="0"/>
              </a:rPr>
              <a:t>  typical: today’s efficiency continues</a:t>
            </a:r>
          </a:p>
          <a:p>
            <a:pPr>
              <a:spcAft>
                <a:spcPts val="500"/>
              </a:spcAft>
            </a:pPr>
            <a:r>
              <a:rPr lang="en-US" sz="1300" b="1">
                <a:solidFill>
                  <a:srgbClr val="14213D"/>
                </a:solidFill>
                <a:latin typeface="Calibri" panose="020F0502020204030204" pitchFamily="34" charset="0"/>
              </a:rPr>
              <a:t>EAC = AC + (BAC − EV)</a:t>
            </a:r>
            <a:r>
              <a:rPr lang="en-US" sz="1200">
                <a:solidFill>
                  <a:srgbClr val="5B6475"/>
                </a:solidFill>
                <a:latin typeface="Calibri" panose="020F0502020204030204" pitchFamily="34" charset="0"/>
              </a:rPr>
              <a:t>  atypical: the variance was a one-off</a:t>
            </a:r>
          </a:p>
          <a:p>
            <a:pPr>
              <a:spcAft>
                <a:spcPts val="500"/>
              </a:spcAft>
            </a:pPr>
            <a:r>
              <a:rPr lang="en-US" sz="1300" b="1">
                <a:solidFill>
                  <a:srgbClr val="14213D"/>
                </a:solidFill>
                <a:latin typeface="Calibri" panose="020F0502020204030204" pitchFamily="34" charset="0"/>
              </a:rPr>
              <a:t>ETC = EAC − AC</a:t>
            </a:r>
            <a:r>
              <a:rPr lang="en-US" sz="1200">
                <a:solidFill>
                  <a:srgbClr val="5B6475"/>
                </a:solidFill>
                <a:latin typeface="Calibri" panose="020F0502020204030204" pitchFamily="34" charset="0"/>
              </a:rPr>
              <a:t>  still to spend</a:t>
            </a:r>
          </a:p>
          <a:p>
            <a:pPr>
              <a:spcAft>
                <a:spcPts val="500"/>
              </a:spcAft>
            </a:pPr>
            <a:r>
              <a:rPr lang="en-US" sz="1300" b="1">
                <a:solidFill>
                  <a:srgbClr val="14213D"/>
                </a:solidFill>
                <a:latin typeface="Calibri" panose="020F0502020204030204" pitchFamily="34" charset="0"/>
              </a:rPr>
              <a:t>VAC = BAC − EAC</a:t>
            </a:r>
            <a:r>
              <a:rPr lang="en-US" sz="1200">
                <a:solidFill>
                  <a:srgbClr val="5B6475"/>
                </a:solidFill>
                <a:latin typeface="Calibri" panose="020F0502020204030204" pitchFamily="34" charset="0"/>
              </a:rPr>
              <a:t>  negative: over budget</a:t>
            </a:r>
          </a:p>
          <a:p>
            <a:pPr>
              <a:spcAft>
                <a:spcPts val="500"/>
              </a:spcAft>
            </a:pPr>
            <a:r>
              <a:rPr lang="en-US" sz="1300" b="1">
                <a:solidFill>
                  <a:srgbClr val="14213D"/>
                </a:solidFill>
                <a:latin typeface="Calibri" panose="020F0502020204030204" pitchFamily="34" charset="0"/>
              </a:rPr>
              <a:t>TCPI = (BAC − EV) / (BAC − AC)</a:t>
            </a:r>
            <a:r>
              <a:rPr lang="en-US" sz="1200">
                <a:solidFill>
                  <a:srgbClr val="5B6475"/>
                </a:solidFill>
                <a:latin typeface="Calibri" panose="020F0502020204030204" pitchFamily="34" charset="0"/>
              </a:rPr>
              <a:t>  efficiency needed to hit BAC</a:t>
            </a:r>
          </a:p>
        </p:txBody>
      </p:sp>
      <p:sp>
        <p:nvSpPr>
          <p:cNvPr id="8" name="Rectangle: Rounded Corners 7">
            <a:extLst>
              <a:ext uri="{FF2B5EF4-FFF2-40B4-BE49-F238E27FC236}">
                <a16:creationId xmlns:a16="http://schemas.microsoft.com/office/drawing/2014/main" id="{49AFAEF0-8575-0095-4706-357815B79F69}"/>
              </a:ext>
            </a:extLst>
          </p:cNvPr>
          <p:cNvSpPr/>
          <p:nvPr/>
        </p:nvSpPr>
        <p:spPr>
          <a:xfrm>
            <a:off x="508000" y="3581400"/>
            <a:ext cx="3556000" cy="1778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368968C-5128-9DF6-9E69-35B35AF7B569}"/>
              </a:ext>
            </a:extLst>
          </p:cNvPr>
          <p:cNvSpPr txBox="1"/>
          <p:nvPr/>
        </p:nvSpPr>
        <p:spPr>
          <a:xfrm>
            <a:off x="660400" y="3733800"/>
            <a:ext cx="3251200" cy="14732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Estimating</a:t>
            </a:r>
          </a:p>
          <a:p>
            <a:pPr>
              <a:spcAft>
                <a:spcPts val="500"/>
              </a:spcAft>
            </a:pPr>
            <a:r>
              <a:rPr lang="en-US" sz="1300" b="1">
                <a:solidFill>
                  <a:srgbClr val="14213D"/>
                </a:solidFill>
                <a:latin typeface="Calibri" panose="020F0502020204030204" pitchFamily="34" charset="0"/>
              </a:rPr>
              <a:t>PERT = (O + 4M + P) / 6</a:t>
            </a:r>
            <a:r>
              <a:rPr lang="en-US" sz="1200">
                <a:solidFill>
                  <a:srgbClr val="5B6475"/>
                </a:solidFill>
                <a:latin typeface="Calibri" panose="020F0502020204030204" pitchFamily="34" charset="0"/>
              </a:rPr>
              <a:t>  weighted average</a:t>
            </a:r>
          </a:p>
          <a:p>
            <a:pPr>
              <a:spcAft>
                <a:spcPts val="500"/>
              </a:spcAft>
            </a:pPr>
            <a:r>
              <a:rPr lang="en-US" sz="1300" b="1">
                <a:solidFill>
                  <a:srgbClr val="14213D"/>
                </a:solidFill>
                <a:latin typeface="Calibri" panose="020F0502020204030204" pitchFamily="34" charset="0"/>
              </a:rPr>
              <a:t>Triangular = (O + M + P) / 3</a:t>
            </a:r>
            <a:r>
              <a:rPr lang="en-US" sz="1200">
                <a:solidFill>
                  <a:srgbClr val="5B6475"/>
                </a:solidFill>
                <a:latin typeface="Calibri" panose="020F0502020204030204" pitchFamily="34" charset="0"/>
              </a:rPr>
              <a:t>  simple average</a:t>
            </a:r>
          </a:p>
          <a:p>
            <a:pPr>
              <a:spcAft>
                <a:spcPts val="500"/>
              </a:spcAft>
            </a:pPr>
            <a:r>
              <a:rPr lang="en-US" sz="1300" b="1">
                <a:solidFill>
                  <a:srgbClr val="14213D"/>
                </a:solidFill>
                <a:latin typeface="Calibri" panose="020F0502020204030204" pitchFamily="34" charset="0"/>
              </a:rPr>
              <a:t>σ = (P − O) / 6</a:t>
            </a:r>
            <a:r>
              <a:rPr lang="en-US" sz="1200">
                <a:solidFill>
                  <a:srgbClr val="5B6475"/>
                </a:solidFill>
                <a:latin typeface="Calibri" panose="020F0502020204030204" pitchFamily="34" charset="0"/>
              </a:rPr>
              <a:t>  PERT spread</a:t>
            </a:r>
          </a:p>
        </p:txBody>
      </p:sp>
      <p:sp>
        <p:nvSpPr>
          <p:cNvPr id="10" name="Rectangle: Rounded Corners 9">
            <a:extLst>
              <a:ext uri="{FF2B5EF4-FFF2-40B4-BE49-F238E27FC236}">
                <a16:creationId xmlns:a16="http://schemas.microsoft.com/office/drawing/2014/main" id="{999ECD6D-BF1C-58FE-C741-8EBA84D7AEDA}"/>
              </a:ext>
            </a:extLst>
          </p:cNvPr>
          <p:cNvSpPr/>
          <p:nvPr/>
        </p:nvSpPr>
        <p:spPr>
          <a:xfrm>
            <a:off x="4318000" y="3581400"/>
            <a:ext cx="3556000" cy="1778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723F8A9-3A60-60C8-FC37-8B8ACDCAAABF}"/>
              </a:ext>
            </a:extLst>
          </p:cNvPr>
          <p:cNvSpPr txBox="1"/>
          <p:nvPr/>
        </p:nvSpPr>
        <p:spPr>
          <a:xfrm>
            <a:off x="4470400" y="3733800"/>
            <a:ext cx="3251200" cy="1473200"/>
          </a:xfrm>
          <a:prstGeom prst="rect">
            <a:avLst/>
          </a:prstGeom>
          <a:noFill/>
        </p:spPr>
        <p:txBody>
          <a:bodyPr vert="horz" wrap="square" lIns="0" tIns="0" rIns="0" bIns="0" rtlCol="0" anchor="t">
            <a:noAutofit/>
          </a:bodyPr>
          <a:lstStyle/>
          <a:p>
            <a:pPr>
              <a:spcAft>
                <a:spcPts val="600"/>
              </a:spcAft>
            </a:pPr>
            <a:r>
              <a:rPr lang="en-US" sz="1500" b="1">
                <a:solidFill>
                  <a:srgbClr val="34509A"/>
                </a:solidFill>
                <a:latin typeface="Calibri" panose="020F0502020204030204" pitchFamily="34" charset="0"/>
              </a:rPr>
              <a:t>Schedule</a:t>
            </a:r>
          </a:p>
          <a:p>
            <a:pPr>
              <a:spcAft>
                <a:spcPts val="500"/>
              </a:spcAft>
            </a:pPr>
            <a:r>
              <a:rPr lang="en-US" sz="1300" b="1">
                <a:solidFill>
                  <a:srgbClr val="14213D"/>
                </a:solidFill>
                <a:latin typeface="Calibri" panose="020F0502020204030204" pitchFamily="34" charset="0"/>
              </a:rPr>
              <a:t>TF = LS − ES = LF − EF</a:t>
            </a:r>
            <a:r>
              <a:rPr lang="en-US" sz="1200">
                <a:solidFill>
                  <a:srgbClr val="5B6475"/>
                </a:solidFill>
                <a:latin typeface="Calibri" panose="020F0502020204030204" pitchFamily="34" charset="0"/>
              </a:rPr>
              <a:t>  total float</a:t>
            </a:r>
          </a:p>
          <a:p>
            <a:pPr>
              <a:spcAft>
                <a:spcPts val="500"/>
              </a:spcAft>
            </a:pPr>
            <a:r>
              <a:rPr lang="en-US" sz="1300" b="1">
                <a:solidFill>
                  <a:srgbClr val="14213D"/>
                </a:solidFill>
                <a:latin typeface="Calibri" panose="020F0502020204030204" pitchFamily="34" charset="0"/>
              </a:rPr>
              <a:t>FF = ES(next) − EF − 1</a:t>
            </a:r>
            <a:r>
              <a:rPr lang="en-US" sz="1200">
                <a:solidFill>
                  <a:srgbClr val="5B6475"/>
                </a:solidFill>
                <a:latin typeface="Calibri" panose="020F0502020204030204" pitchFamily="34" charset="0"/>
              </a:rPr>
              <a:t>  free float (day 1)</a:t>
            </a:r>
          </a:p>
          <a:p>
            <a:pPr>
              <a:spcAft>
                <a:spcPts val="500"/>
              </a:spcAft>
            </a:pPr>
            <a:r>
              <a:rPr lang="en-US" sz="1300" b="1">
                <a:solidFill>
                  <a:srgbClr val="14213D"/>
                </a:solidFill>
                <a:latin typeface="Calibri" panose="020F0502020204030204" pitchFamily="34" charset="0"/>
              </a:rPr>
              <a:t>Sprints = points left / velocity</a:t>
            </a:r>
            <a:r>
              <a:rPr lang="en-US" sz="1200">
                <a:solidFill>
                  <a:srgbClr val="5B6475"/>
                </a:solidFill>
                <a:latin typeface="Calibri" panose="020F0502020204030204" pitchFamily="34" charset="0"/>
              </a:rPr>
              <a:t>  agile forecast</a:t>
            </a:r>
          </a:p>
        </p:txBody>
      </p:sp>
      <p:sp>
        <p:nvSpPr>
          <p:cNvPr id="12" name="Rectangle: Rounded Corners 11">
            <a:extLst>
              <a:ext uri="{FF2B5EF4-FFF2-40B4-BE49-F238E27FC236}">
                <a16:creationId xmlns:a16="http://schemas.microsoft.com/office/drawing/2014/main" id="{797CA098-D0C4-2434-E49D-019AC4840B59}"/>
              </a:ext>
            </a:extLst>
          </p:cNvPr>
          <p:cNvSpPr/>
          <p:nvPr/>
        </p:nvSpPr>
        <p:spPr>
          <a:xfrm>
            <a:off x="8128000" y="3581400"/>
            <a:ext cx="3556000" cy="1778000"/>
          </a:xfrm>
          <a:prstGeom prst="roundRect">
            <a:avLst>
              <a:gd name="adj" fmla="val 8000"/>
            </a:avLst>
          </a:prstGeom>
          <a:solidFill>
            <a:srgbClr val="E3F1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02B0B16-9BA9-F18F-6101-ECB931EBB2FE}"/>
              </a:ext>
            </a:extLst>
          </p:cNvPr>
          <p:cNvSpPr txBox="1"/>
          <p:nvPr/>
        </p:nvSpPr>
        <p:spPr>
          <a:xfrm>
            <a:off x="8280400" y="3733800"/>
            <a:ext cx="3251200" cy="1473200"/>
          </a:xfrm>
          <a:prstGeom prst="rect">
            <a:avLst/>
          </a:prstGeom>
          <a:noFill/>
        </p:spPr>
        <p:txBody>
          <a:bodyPr vert="horz" wrap="square" lIns="0" tIns="0" rIns="0" bIns="0" rtlCol="0" anchor="t">
            <a:noAutofit/>
          </a:bodyPr>
          <a:lstStyle/>
          <a:p>
            <a:pPr>
              <a:spcAft>
                <a:spcPts val="600"/>
              </a:spcAft>
            </a:pPr>
            <a:r>
              <a:rPr lang="en-US" sz="1500" b="1">
                <a:solidFill>
                  <a:srgbClr val="0F7C80"/>
                </a:solidFill>
                <a:latin typeface="Calibri" panose="020F0502020204030204" pitchFamily="34" charset="0"/>
              </a:rPr>
              <a:t>Communication</a:t>
            </a:r>
          </a:p>
          <a:p>
            <a:pPr>
              <a:spcAft>
                <a:spcPts val="500"/>
              </a:spcAft>
            </a:pPr>
            <a:r>
              <a:rPr lang="en-US" sz="1300" b="1">
                <a:solidFill>
                  <a:srgbClr val="14213D"/>
                </a:solidFill>
                <a:latin typeface="Calibri" panose="020F0502020204030204" pitchFamily="34" charset="0"/>
              </a:rPr>
              <a:t>Channels = n(n − 1) / 2</a:t>
            </a:r>
            <a:r>
              <a:rPr lang="en-US" sz="1200">
                <a:solidFill>
                  <a:srgbClr val="5B6475"/>
                </a:solidFill>
                <a:latin typeface="Calibri" panose="020F0502020204030204" pitchFamily="34" charset="0"/>
              </a:rPr>
              <a:t>  n includes the PM</a:t>
            </a:r>
          </a:p>
          <a:p>
            <a:pPr>
              <a:spcAft>
                <a:spcPts val="500"/>
              </a:spcAft>
            </a:pPr>
            <a:r>
              <a:rPr lang="en-US" sz="1300" b="1">
                <a:solidFill>
                  <a:srgbClr val="14213D"/>
                </a:solidFill>
                <a:latin typeface="Calibri" panose="020F0502020204030204" pitchFamily="34" charset="0"/>
              </a:rPr>
              <a:t>10 to 12 people: 66 − 45 = 21</a:t>
            </a:r>
            <a:r>
              <a:rPr lang="en-US" sz="1200">
                <a:solidFill>
                  <a:srgbClr val="5B6475"/>
                </a:solidFill>
                <a:latin typeface="Calibri" panose="020F0502020204030204" pitchFamily="34" charset="0"/>
              </a:rPr>
              <a:t>  more channels</a:t>
            </a:r>
          </a:p>
        </p:txBody>
      </p:sp>
      <p:sp>
        <p:nvSpPr>
          <p:cNvPr id="14" name="Rectangle: Rounded Corners 13">
            <a:extLst>
              <a:ext uri="{FF2B5EF4-FFF2-40B4-BE49-F238E27FC236}">
                <a16:creationId xmlns:a16="http://schemas.microsoft.com/office/drawing/2014/main" id="{06930973-5DD8-C3CA-2492-E936AD5B5A3B}"/>
              </a:ext>
            </a:extLst>
          </p:cNvPr>
          <p:cNvSpPr/>
          <p:nvPr/>
        </p:nvSpPr>
        <p:spPr>
          <a:xfrm>
            <a:off x="508000" y="5486400"/>
            <a:ext cx="11176000" cy="8382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B203477-AE9A-F1A4-6CEB-1DABAE1D2006}"/>
              </a:ext>
            </a:extLst>
          </p:cNvPr>
          <p:cNvSpPr txBox="1"/>
          <p:nvPr/>
        </p:nvSpPr>
        <p:spPr>
          <a:xfrm>
            <a:off x="711200" y="5486400"/>
            <a:ext cx="10769600" cy="838200"/>
          </a:xfrm>
          <a:prstGeom prst="rect">
            <a:avLst/>
          </a:prstGeom>
          <a:noFill/>
        </p:spPr>
        <p:txBody>
          <a:bodyPr vert="horz" wrap="square" lIns="0" tIns="0" rIns="0" bIns="0" rtlCol="0" anchor="ctr">
            <a:noAutofit/>
          </a:bodyPr>
          <a:lstStyle/>
          <a:p>
            <a:r>
              <a:rPr lang="en-US" sz="1400" i="1">
                <a:solidFill>
                  <a:srgbClr val="14213D"/>
                </a:solidFill>
                <a:latin typeface="Calibri" panose="020F0502020204030204" pitchFamily="34" charset="0"/>
              </a:rPr>
              <a:t>Exam cue: every EV variance and index starts with EV; positive or above 1 is good news. Details: channels slide 25, three-point slide 113, float slide 39, earned value slides 117–121.</a:t>
            </a:r>
          </a:p>
        </p:txBody>
      </p:sp>
      <p:sp>
        <p:nvSpPr>
          <p:cNvPr id="16" name="Footer">
            <a:extLst>
              <a:ext uri="{FF2B5EF4-FFF2-40B4-BE49-F238E27FC236}">
                <a16:creationId xmlns:a16="http://schemas.microsoft.com/office/drawing/2014/main" id="{D9563364-7ECD-7809-C0F3-01F0412E51B2}"/>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PMBOK® Guide — Sixth Edition, 6.4–6.5, 7.4, and 10.1; adapted from PMI course material</a:t>
            </a:r>
          </a:p>
        </p:txBody>
      </p:sp>
      <p:sp>
        <p:nvSpPr>
          <p:cNvPr id="17" name="SlideNum">
            <a:extLst>
              <a:ext uri="{FF2B5EF4-FFF2-40B4-BE49-F238E27FC236}">
                <a16:creationId xmlns:a16="http://schemas.microsoft.com/office/drawing/2014/main" id="{8041E56D-1DBE-5899-51EB-7250195838DD}"/>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125</a:t>
            </a:r>
          </a:p>
        </p:txBody>
      </p:sp>
      <p:sp>
        <p:nvSpPr>
          <p:cNvPr id="18"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22842152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BCEADA3-12C1-647A-28BD-A0D06DE8B2E4}"/>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Key timelines, from application to certification</a:t>
            </a:r>
          </a:p>
        </p:txBody>
      </p:sp>
      <p:sp>
        <p:nvSpPr>
          <p:cNvPr id="3" name="Tag">
            <a:extLst>
              <a:ext uri="{FF2B5EF4-FFF2-40B4-BE49-F238E27FC236}">
                <a16:creationId xmlns:a16="http://schemas.microsoft.com/office/drawing/2014/main" id="{1C8C2ED2-ED2F-5309-CA9C-199B87CDBC23}"/>
              </a:ext>
            </a:extLst>
          </p:cNvPr>
          <p:cNvSpPr txBox="1"/>
          <p:nvPr/>
        </p:nvSpPr>
        <p:spPr>
          <a:xfrm>
            <a:off x="508000" y="1066800"/>
            <a:ext cx="11176000" cy="203200"/>
          </a:xfrm>
          <a:prstGeom prst="rect">
            <a:avLst/>
          </a:prstGeom>
          <a:noFill/>
        </p:spPr>
        <p:txBody>
          <a:bodyPr vert="horz" wrap="square" lIns="0" tIns="0" rIns="0" bIns="0" rtlCol="0" anchor="t">
            <a:noAutofit/>
          </a:bodyPr>
          <a:lstStyle/>
          <a:p>
            <a:r>
              <a:rPr lang="en-US" sz="1200" b="1">
                <a:solidFill>
                  <a:srgbClr val="14213D"/>
                </a:solidFill>
                <a:latin typeface="Calibri" panose="020F0502020204030204" pitchFamily="34" charset="0"/>
              </a:rPr>
              <a:t>Your application steps are done; the two that still matter are on the right</a:t>
            </a:r>
          </a:p>
        </p:txBody>
      </p:sp>
      <p:sp>
        <p:nvSpPr>
          <p:cNvPr id="4" name="Rectangle: Rounded Corners 3">
            <a:extLst>
              <a:ext uri="{FF2B5EF4-FFF2-40B4-BE49-F238E27FC236}">
                <a16:creationId xmlns:a16="http://schemas.microsoft.com/office/drawing/2014/main" id="{8020A24F-A1CA-4ED2-334A-14F7C2D8BD06}"/>
              </a:ext>
            </a:extLst>
          </p:cNvPr>
          <p:cNvSpPr/>
          <p:nvPr/>
        </p:nvSpPr>
        <p:spPr>
          <a:xfrm>
            <a:off x="508000" y="1524000"/>
            <a:ext cx="2032000" cy="1524000"/>
          </a:xfrm>
          <a:prstGeom prst="roundRect">
            <a:avLst>
              <a:gd name="adj" fmla="val 8000"/>
            </a:avLst>
          </a:prstGeom>
          <a:solidFill>
            <a:srgbClr val="E8EB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BEF9190-7A2F-4B7B-626C-40C03EB74A5F}"/>
              </a:ext>
            </a:extLst>
          </p:cNvPr>
          <p:cNvSpPr txBox="1"/>
          <p:nvPr/>
        </p:nvSpPr>
        <p:spPr>
          <a:xfrm>
            <a:off x="660400" y="1676400"/>
            <a:ext cx="1727200" cy="1219200"/>
          </a:xfrm>
          <a:prstGeom prst="rect">
            <a:avLst/>
          </a:prstGeom>
          <a:noFill/>
        </p:spPr>
        <p:txBody>
          <a:bodyPr vert="horz" wrap="square" lIns="0" tIns="0" rIns="0" bIns="0" rtlCol="0" anchor="ctr">
            <a:noAutofit/>
          </a:bodyPr>
          <a:lstStyle/>
          <a:p>
            <a:pPr algn="ctr">
              <a:spcAft>
                <a:spcPts val="400"/>
              </a:spcAft>
            </a:pPr>
            <a:r>
              <a:rPr lang="en-US" sz="1600" b="1">
                <a:solidFill>
                  <a:srgbClr val="5B6475"/>
                </a:solidFill>
                <a:latin typeface="Calibri" panose="020F0502020204030204" pitchFamily="34" charset="0"/>
              </a:rPr>
              <a:t>Application submission</a:t>
            </a:r>
          </a:p>
          <a:p>
            <a:pPr algn="ctr"/>
            <a:r>
              <a:rPr lang="en-US" sz="1500">
                <a:solidFill>
                  <a:srgbClr val="5B6475"/>
                </a:solidFill>
                <a:latin typeface="Calibri" panose="020F0502020204030204" pitchFamily="34" charset="0"/>
              </a:rPr>
              <a:t>window open 90 days</a:t>
            </a:r>
          </a:p>
        </p:txBody>
      </p:sp>
      <p:sp>
        <p:nvSpPr>
          <p:cNvPr id="6" name="TextBox 5">
            <a:extLst>
              <a:ext uri="{FF2B5EF4-FFF2-40B4-BE49-F238E27FC236}">
                <a16:creationId xmlns:a16="http://schemas.microsoft.com/office/drawing/2014/main" id="{A50EA9CF-DC61-20E3-7537-F299358A1032}"/>
              </a:ext>
            </a:extLst>
          </p:cNvPr>
          <p:cNvSpPr txBox="1"/>
          <p:nvPr/>
        </p:nvSpPr>
        <p:spPr>
          <a:xfrm>
            <a:off x="660400" y="3124200"/>
            <a:ext cx="1727200" cy="203200"/>
          </a:xfrm>
          <a:prstGeom prst="rect">
            <a:avLst/>
          </a:prstGeom>
          <a:noFill/>
        </p:spPr>
        <p:txBody>
          <a:bodyPr vert="horz" wrap="square" lIns="0" tIns="0" rIns="0" bIns="0" rtlCol="0" anchor="t">
            <a:noAutofit/>
          </a:bodyPr>
          <a:lstStyle/>
          <a:p>
            <a:pPr algn="ctr"/>
            <a:r>
              <a:rPr lang="en-US" sz="1100" b="1">
                <a:solidFill>
                  <a:srgbClr val="5B6475"/>
                </a:solidFill>
                <a:latin typeface="Calibri" panose="020F0502020204030204" pitchFamily="34" charset="0"/>
              </a:rPr>
              <a:t>DONE</a:t>
            </a:r>
          </a:p>
        </p:txBody>
      </p:sp>
      <p:sp>
        <p:nvSpPr>
          <p:cNvPr id="7" name="Arrow: Right 6">
            <a:extLst>
              <a:ext uri="{FF2B5EF4-FFF2-40B4-BE49-F238E27FC236}">
                <a16:creationId xmlns:a16="http://schemas.microsoft.com/office/drawing/2014/main" id="{F13FC84C-7BAD-CE95-9105-77559DFF1CD3}"/>
              </a:ext>
            </a:extLst>
          </p:cNvPr>
          <p:cNvSpPr/>
          <p:nvPr/>
        </p:nvSpPr>
        <p:spPr>
          <a:xfrm>
            <a:off x="2565400" y="2159000"/>
            <a:ext cx="203200" cy="254000"/>
          </a:xfrm>
          <a:prstGeom prst="rightArrow">
            <a:avLst/>
          </a:prstGeom>
          <a:solidFill>
            <a:srgbClr val="C3C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9EA9B1BB-B93A-2265-AB8C-B28F4A441A33}"/>
              </a:ext>
            </a:extLst>
          </p:cNvPr>
          <p:cNvSpPr/>
          <p:nvPr/>
        </p:nvSpPr>
        <p:spPr>
          <a:xfrm>
            <a:off x="2794000" y="1524000"/>
            <a:ext cx="2032000" cy="1524000"/>
          </a:xfrm>
          <a:prstGeom prst="roundRect">
            <a:avLst>
              <a:gd name="adj" fmla="val 8000"/>
            </a:avLst>
          </a:prstGeom>
          <a:solidFill>
            <a:srgbClr val="E8EB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E38787F-F6D2-59A0-66C2-747C3AFCBC0C}"/>
              </a:ext>
            </a:extLst>
          </p:cNvPr>
          <p:cNvSpPr txBox="1"/>
          <p:nvPr/>
        </p:nvSpPr>
        <p:spPr>
          <a:xfrm>
            <a:off x="2946400" y="1676400"/>
            <a:ext cx="1727200" cy="1219200"/>
          </a:xfrm>
          <a:prstGeom prst="rect">
            <a:avLst/>
          </a:prstGeom>
          <a:noFill/>
        </p:spPr>
        <p:txBody>
          <a:bodyPr vert="horz" wrap="square" lIns="0" tIns="0" rIns="0" bIns="0" rtlCol="0" anchor="ctr">
            <a:noAutofit/>
          </a:bodyPr>
          <a:lstStyle/>
          <a:p>
            <a:pPr algn="ctr">
              <a:spcAft>
                <a:spcPts val="400"/>
              </a:spcAft>
            </a:pPr>
            <a:r>
              <a:rPr lang="en-US" sz="1600" b="1">
                <a:solidFill>
                  <a:srgbClr val="5B6475"/>
                </a:solidFill>
                <a:latin typeface="Calibri" panose="020F0502020204030204" pitchFamily="34" charset="0"/>
              </a:rPr>
              <a:t>Completeness review</a:t>
            </a:r>
          </a:p>
          <a:p>
            <a:pPr algn="ctr"/>
            <a:r>
              <a:rPr lang="en-US" sz="1500">
                <a:solidFill>
                  <a:srgbClr val="5B6475"/>
                </a:solidFill>
                <a:latin typeface="Calibri" panose="020F0502020204030204" pitchFamily="34" charset="0"/>
              </a:rPr>
              <a:t>5 business days (online)</a:t>
            </a:r>
          </a:p>
        </p:txBody>
      </p:sp>
      <p:sp>
        <p:nvSpPr>
          <p:cNvPr id="10" name="TextBox 9">
            <a:extLst>
              <a:ext uri="{FF2B5EF4-FFF2-40B4-BE49-F238E27FC236}">
                <a16:creationId xmlns:a16="http://schemas.microsoft.com/office/drawing/2014/main" id="{27C198DC-39BA-B60E-034D-D492A7409A8D}"/>
              </a:ext>
            </a:extLst>
          </p:cNvPr>
          <p:cNvSpPr txBox="1"/>
          <p:nvPr/>
        </p:nvSpPr>
        <p:spPr>
          <a:xfrm>
            <a:off x="2946400" y="3124200"/>
            <a:ext cx="1727200" cy="203200"/>
          </a:xfrm>
          <a:prstGeom prst="rect">
            <a:avLst/>
          </a:prstGeom>
          <a:noFill/>
        </p:spPr>
        <p:txBody>
          <a:bodyPr vert="horz" wrap="square" lIns="0" tIns="0" rIns="0" bIns="0" rtlCol="0" anchor="t">
            <a:noAutofit/>
          </a:bodyPr>
          <a:lstStyle/>
          <a:p>
            <a:pPr algn="ctr"/>
            <a:r>
              <a:rPr lang="en-US" sz="1100" b="1">
                <a:solidFill>
                  <a:srgbClr val="5B6475"/>
                </a:solidFill>
                <a:latin typeface="Calibri" panose="020F0502020204030204" pitchFamily="34" charset="0"/>
              </a:rPr>
              <a:t>DONE</a:t>
            </a:r>
          </a:p>
        </p:txBody>
      </p:sp>
      <p:sp>
        <p:nvSpPr>
          <p:cNvPr id="11" name="Arrow: Right 10">
            <a:extLst>
              <a:ext uri="{FF2B5EF4-FFF2-40B4-BE49-F238E27FC236}">
                <a16:creationId xmlns:a16="http://schemas.microsoft.com/office/drawing/2014/main" id="{55AD039A-F400-C7EA-D224-7899D2E61C01}"/>
              </a:ext>
            </a:extLst>
          </p:cNvPr>
          <p:cNvSpPr/>
          <p:nvPr/>
        </p:nvSpPr>
        <p:spPr>
          <a:xfrm>
            <a:off x="4851400" y="2159000"/>
            <a:ext cx="203200" cy="254000"/>
          </a:xfrm>
          <a:prstGeom prst="rightArrow">
            <a:avLst/>
          </a:prstGeom>
          <a:solidFill>
            <a:srgbClr val="C3C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3925092E-8FF7-A687-6731-E51D47BEC497}"/>
              </a:ext>
            </a:extLst>
          </p:cNvPr>
          <p:cNvSpPr/>
          <p:nvPr/>
        </p:nvSpPr>
        <p:spPr>
          <a:xfrm>
            <a:off x="5080000" y="1524000"/>
            <a:ext cx="2032000" cy="1524000"/>
          </a:xfrm>
          <a:prstGeom prst="roundRect">
            <a:avLst>
              <a:gd name="adj" fmla="val 8000"/>
            </a:avLst>
          </a:prstGeom>
          <a:solidFill>
            <a:srgbClr val="E8EB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1307F51-B1B5-C4D9-C6FD-5DC61F365975}"/>
              </a:ext>
            </a:extLst>
          </p:cNvPr>
          <p:cNvSpPr txBox="1"/>
          <p:nvPr/>
        </p:nvSpPr>
        <p:spPr>
          <a:xfrm>
            <a:off x="5232400" y="1676400"/>
            <a:ext cx="1727200" cy="1219200"/>
          </a:xfrm>
          <a:prstGeom prst="rect">
            <a:avLst/>
          </a:prstGeom>
          <a:noFill/>
        </p:spPr>
        <p:txBody>
          <a:bodyPr vert="horz" wrap="square" lIns="0" tIns="0" rIns="0" bIns="0" rtlCol="0" anchor="ctr">
            <a:noAutofit/>
          </a:bodyPr>
          <a:lstStyle/>
          <a:p>
            <a:pPr algn="ctr">
              <a:spcAft>
                <a:spcPts val="400"/>
              </a:spcAft>
            </a:pPr>
            <a:r>
              <a:rPr lang="en-US" sz="1600" b="1">
                <a:solidFill>
                  <a:srgbClr val="5B6475"/>
                </a:solidFill>
                <a:latin typeface="Calibri" panose="020F0502020204030204" pitchFamily="34" charset="0"/>
              </a:rPr>
              <a:t>Audit</a:t>
            </a:r>
          </a:p>
          <a:p>
            <a:pPr algn="ctr"/>
            <a:r>
              <a:rPr lang="en-US" sz="1500">
                <a:solidFill>
                  <a:srgbClr val="5B6475"/>
                </a:solidFill>
                <a:latin typeface="Calibri" panose="020F0502020204030204" pitchFamily="34" charset="0"/>
              </a:rPr>
              <a:t>if selected: 5 business days</a:t>
            </a:r>
          </a:p>
        </p:txBody>
      </p:sp>
      <p:sp>
        <p:nvSpPr>
          <p:cNvPr id="14" name="TextBox 13">
            <a:extLst>
              <a:ext uri="{FF2B5EF4-FFF2-40B4-BE49-F238E27FC236}">
                <a16:creationId xmlns:a16="http://schemas.microsoft.com/office/drawing/2014/main" id="{C953FB51-EE99-ECFE-CD18-2C3A131D7CA8}"/>
              </a:ext>
            </a:extLst>
          </p:cNvPr>
          <p:cNvSpPr txBox="1"/>
          <p:nvPr/>
        </p:nvSpPr>
        <p:spPr>
          <a:xfrm>
            <a:off x="5232400" y="3124200"/>
            <a:ext cx="1727200" cy="203200"/>
          </a:xfrm>
          <a:prstGeom prst="rect">
            <a:avLst/>
          </a:prstGeom>
          <a:noFill/>
        </p:spPr>
        <p:txBody>
          <a:bodyPr vert="horz" wrap="square" lIns="0" tIns="0" rIns="0" bIns="0" rtlCol="0" anchor="t">
            <a:noAutofit/>
          </a:bodyPr>
          <a:lstStyle/>
          <a:p>
            <a:pPr algn="ctr"/>
            <a:r>
              <a:rPr lang="en-US" sz="1100" b="1">
                <a:solidFill>
                  <a:srgbClr val="5B6475"/>
                </a:solidFill>
                <a:latin typeface="Calibri" panose="020F0502020204030204" pitchFamily="34" charset="0"/>
              </a:rPr>
              <a:t>DONE</a:t>
            </a:r>
          </a:p>
        </p:txBody>
      </p:sp>
      <p:sp>
        <p:nvSpPr>
          <p:cNvPr id="15" name="Arrow: Right 14">
            <a:extLst>
              <a:ext uri="{FF2B5EF4-FFF2-40B4-BE49-F238E27FC236}">
                <a16:creationId xmlns:a16="http://schemas.microsoft.com/office/drawing/2014/main" id="{4064938A-EF7D-E5BC-79A3-7B8D8BF8A6CD}"/>
              </a:ext>
            </a:extLst>
          </p:cNvPr>
          <p:cNvSpPr/>
          <p:nvPr/>
        </p:nvSpPr>
        <p:spPr>
          <a:xfrm>
            <a:off x="7137400" y="2159000"/>
            <a:ext cx="203200" cy="254000"/>
          </a:xfrm>
          <a:prstGeom prst="rightArrow">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B759EDA9-788E-1024-A876-DBF9728CD729}"/>
              </a:ext>
            </a:extLst>
          </p:cNvPr>
          <p:cNvSpPr/>
          <p:nvPr/>
        </p:nvSpPr>
        <p:spPr>
          <a:xfrm>
            <a:off x="7366000" y="1524000"/>
            <a:ext cx="2032000" cy="1524000"/>
          </a:xfrm>
          <a:prstGeom prst="roundRect">
            <a:avLst>
              <a:gd name="adj" fmla="val 8000"/>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3371BE7-7DA2-34C8-16F4-4D9E76A1D8B4}"/>
              </a:ext>
            </a:extLst>
          </p:cNvPr>
          <p:cNvSpPr txBox="1"/>
          <p:nvPr/>
        </p:nvSpPr>
        <p:spPr>
          <a:xfrm>
            <a:off x="7518400" y="1676400"/>
            <a:ext cx="1727200" cy="1219200"/>
          </a:xfrm>
          <a:prstGeom prst="rect">
            <a:avLst/>
          </a:prstGeom>
          <a:noFill/>
        </p:spPr>
        <p:txBody>
          <a:bodyPr vert="horz" wrap="square" lIns="0" tIns="0" rIns="0" bIns="0" rtlCol="0" anchor="ctr">
            <a:noAutofit/>
          </a:bodyPr>
          <a:lstStyle/>
          <a:p>
            <a:pPr algn="ctr">
              <a:spcAft>
                <a:spcPts val="400"/>
              </a:spcAft>
            </a:pPr>
            <a:r>
              <a:rPr lang="en-US" sz="1600" b="1">
                <a:solidFill>
                  <a:srgbClr val="FFFFFF"/>
                </a:solidFill>
                <a:latin typeface="Calibri" panose="020F0502020204030204" pitchFamily="34" charset="0"/>
              </a:rPr>
              <a:t>Exam eligibility</a:t>
            </a:r>
          </a:p>
          <a:p>
            <a:pPr algn="ctr"/>
            <a:r>
              <a:rPr lang="en-US" sz="1500">
                <a:solidFill>
                  <a:srgbClr val="C9D6EA"/>
                </a:solidFill>
                <a:latin typeface="Calibri" panose="020F0502020204030204" pitchFamily="34" charset="0"/>
              </a:rPr>
              <a:t>1 year from application approval</a:t>
            </a:r>
          </a:p>
        </p:txBody>
      </p:sp>
      <p:sp>
        <p:nvSpPr>
          <p:cNvPr id="18" name="Arrow: Right 17">
            <a:extLst>
              <a:ext uri="{FF2B5EF4-FFF2-40B4-BE49-F238E27FC236}">
                <a16:creationId xmlns:a16="http://schemas.microsoft.com/office/drawing/2014/main" id="{C6850260-36E2-95AC-9888-346F000F9BA6}"/>
              </a:ext>
            </a:extLst>
          </p:cNvPr>
          <p:cNvSpPr/>
          <p:nvPr/>
        </p:nvSpPr>
        <p:spPr>
          <a:xfrm>
            <a:off x="9423400" y="2159000"/>
            <a:ext cx="203200" cy="254000"/>
          </a:xfrm>
          <a:prstGeom prst="rightArrow">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5BDE680E-4046-DCEA-CF53-814EBD787062}"/>
              </a:ext>
            </a:extLst>
          </p:cNvPr>
          <p:cNvSpPr/>
          <p:nvPr/>
        </p:nvSpPr>
        <p:spPr>
          <a:xfrm>
            <a:off x="9652000" y="1524000"/>
            <a:ext cx="2032000" cy="1524000"/>
          </a:xfrm>
          <a:prstGeom prst="roundRect">
            <a:avLst>
              <a:gd name="adj" fmla="val 8000"/>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9FE0546-B4F0-8AEE-EB35-CD6E7E42048F}"/>
              </a:ext>
            </a:extLst>
          </p:cNvPr>
          <p:cNvSpPr txBox="1"/>
          <p:nvPr/>
        </p:nvSpPr>
        <p:spPr>
          <a:xfrm>
            <a:off x="9804400" y="1676400"/>
            <a:ext cx="1727200" cy="1219200"/>
          </a:xfrm>
          <a:prstGeom prst="rect">
            <a:avLst/>
          </a:prstGeom>
          <a:noFill/>
        </p:spPr>
        <p:txBody>
          <a:bodyPr vert="horz" wrap="square" lIns="0" tIns="0" rIns="0" bIns="0" rtlCol="0" anchor="ctr">
            <a:noAutofit/>
          </a:bodyPr>
          <a:lstStyle/>
          <a:p>
            <a:pPr algn="ctr">
              <a:spcAft>
                <a:spcPts val="400"/>
              </a:spcAft>
            </a:pPr>
            <a:r>
              <a:rPr lang="en-US" sz="1600" b="1">
                <a:solidFill>
                  <a:srgbClr val="FFFFFF"/>
                </a:solidFill>
                <a:latin typeface="Calibri" panose="020F0502020204030204" pitchFamily="34" charset="0"/>
              </a:rPr>
              <a:t>Certification cycle</a:t>
            </a:r>
          </a:p>
          <a:p>
            <a:pPr algn="ctr"/>
            <a:r>
              <a:rPr lang="en-US" sz="1500">
                <a:solidFill>
                  <a:srgbClr val="C9D6EA"/>
                </a:solidFill>
                <a:latin typeface="Calibri" panose="020F0502020204030204" pitchFamily="34" charset="0"/>
              </a:rPr>
              <a:t>3 calendar years</a:t>
            </a:r>
          </a:p>
        </p:txBody>
      </p:sp>
      <p:sp>
        <p:nvSpPr>
          <p:cNvPr id="21" name="Rectangle: Rounded Corners 20">
            <a:extLst>
              <a:ext uri="{FF2B5EF4-FFF2-40B4-BE49-F238E27FC236}">
                <a16:creationId xmlns:a16="http://schemas.microsoft.com/office/drawing/2014/main" id="{4943AC5E-5191-F257-ECFF-79B80D26F130}"/>
              </a:ext>
            </a:extLst>
          </p:cNvPr>
          <p:cNvSpPr/>
          <p:nvPr/>
        </p:nvSpPr>
        <p:spPr>
          <a:xfrm>
            <a:off x="508000" y="3683000"/>
            <a:ext cx="5461000" cy="1778000"/>
          </a:xfrm>
          <a:prstGeom prst="roundRect">
            <a:avLst>
              <a:gd name="adj" fmla="val 8000"/>
            </a:avLst>
          </a:prstGeom>
          <a:solidFill>
            <a:srgbClr val="FBEBC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5E55CC1E-EB27-653B-F594-66AA6EF7F9F4}"/>
              </a:ext>
            </a:extLst>
          </p:cNvPr>
          <p:cNvSpPr txBox="1"/>
          <p:nvPr/>
        </p:nvSpPr>
        <p:spPr>
          <a:xfrm>
            <a:off x="711200" y="3886200"/>
            <a:ext cx="5054600" cy="1371600"/>
          </a:xfrm>
          <a:prstGeom prst="rect">
            <a:avLst/>
          </a:prstGeom>
          <a:noFill/>
        </p:spPr>
        <p:txBody>
          <a:bodyPr vert="horz" wrap="square" lIns="0" tIns="0" rIns="0" bIns="0" rtlCol="0" anchor="t">
            <a:noAutofit/>
          </a:bodyPr>
          <a:lstStyle/>
          <a:p>
            <a:pPr>
              <a:spcAft>
                <a:spcPts val="600"/>
              </a:spcAft>
            </a:pPr>
            <a:r>
              <a:rPr lang="en-US" b="1">
                <a:solidFill>
                  <a:srgbClr val="A86F0E"/>
                </a:solidFill>
                <a:latin typeface="Calibri" panose="020F0502020204030204" pitchFamily="34" charset="0"/>
              </a:rPr>
              <a:t>Your exam window: 1 year</a:t>
            </a:r>
          </a:p>
          <a:p>
            <a:r>
              <a:rPr lang="en-US" sz="1500">
                <a:solidFill>
                  <a:srgbClr val="1F2937"/>
                </a:solidFill>
                <a:latin typeface="Calibri" panose="020F0502020204030204" pitchFamily="34" charset="0"/>
              </a:rPr>
              <a:t>Eligibility runs one year from the date your application was approved. You can sit the exam up to three times within it (see Retakes).</a:t>
            </a:r>
          </a:p>
        </p:txBody>
      </p:sp>
      <p:sp>
        <p:nvSpPr>
          <p:cNvPr id="23" name="Rectangle: Rounded Corners 22">
            <a:extLst>
              <a:ext uri="{FF2B5EF4-FFF2-40B4-BE49-F238E27FC236}">
                <a16:creationId xmlns:a16="http://schemas.microsoft.com/office/drawing/2014/main" id="{CAE23B3B-0FE8-5552-4A1A-6DBA399B9F45}"/>
              </a:ext>
            </a:extLst>
          </p:cNvPr>
          <p:cNvSpPr/>
          <p:nvPr/>
        </p:nvSpPr>
        <p:spPr>
          <a:xfrm>
            <a:off x="6223000" y="3683000"/>
            <a:ext cx="5461000" cy="17780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6883A134-BC51-B490-10DE-4090884BBB32}"/>
              </a:ext>
            </a:extLst>
          </p:cNvPr>
          <p:cNvSpPr txBox="1"/>
          <p:nvPr/>
        </p:nvSpPr>
        <p:spPr>
          <a:xfrm>
            <a:off x="6426200" y="3886200"/>
            <a:ext cx="5054600" cy="1371600"/>
          </a:xfrm>
          <a:prstGeom prst="rect">
            <a:avLst/>
          </a:prstGeom>
          <a:noFill/>
        </p:spPr>
        <p:txBody>
          <a:bodyPr vert="horz" wrap="square" lIns="0" tIns="0" rIns="0" bIns="0" rtlCol="0" anchor="t">
            <a:noAutofit/>
          </a:bodyPr>
          <a:lstStyle/>
          <a:p>
            <a:pPr>
              <a:spcAft>
                <a:spcPts val="600"/>
              </a:spcAft>
            </a:pPr>
            <a:r>
              <a:rPr lang="en-US" b="1">
                <a:solidFill>
                  <a:srgbClr val="34509A"/>
                </a:solidFill>
                <a:latin typeface="Calibri" panose="020F0502020204030204" pitchFamily="34" charset="0"/>
              </a:rPr>
              <a:t>After you pass: a 3-year cycle</a:t>
            </a:r>
          </a:p>
          <a:p>
            <a:r>
              <a:rPr lang="en-US" sz="1500">
                <a:solidFill>
                  <a:srgbClr val="1F2937"/>
                </a:solidFill>
                <a:latin typeface="Calibri" panose="020F0502020204030204" pitchFamily="34" charset="0"/>
              </a:rPr>
              <a:t>The PMP® certification runs on a three-year cycle. Keep it active by earning 60 professional development units (PDUs) per cycle.</a:t>
            </a:r>
          </a:p>
        </p:txBody>
      </p:sp>
      <p:sp>
        <p:nvSpPr>
          <p:cNvPr id="25" name="Footer">
            <a:extLst>
              <a:ext uri="{FF2B5EF4-FFF2-40B4-BE49-F238E27FC236}">
                <a16:creationId xmlns:a16="http://schemas.microsoft.com/office/drawing/2014/main" id="{1A5E36A7-41E6-2D06-3701-1CAE4CF3C40A}"/>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PMP® Certification Handbook (exam process)</a:t>
            </a:r>
          </a:p>
        </p:txBody>
      </p:sp>
      <p:sp>
        <p:nvSpPr>
          <p:cNvPr id="26" name="SlideNum">
            <a:extLst>
              <a:ext uri="{FF2B5EF4-FFF2-40B4-BE49-F238E27FC236}">
                <a16:creationId xmlns:a16="http://schemas.microsoft.com/office/drawing/2014/main" id="{EECBBD32-2894-A6E2-FB6F-BC5B706A666F}"/>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126</a:t>
            </a:r>
          </a:p>
        </p:txBody>
      </p:sp>
      <p:sp>
        <p:nvSpPr>
          <p:cNvPr id="27"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176556609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0BDF822-C6D0-36A6-9D94-68595CF18AAC}"/>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180 questions, 240 minutes, three sections</a:t>
            </a:r>
          </a:p>
        </p:txBody>
      </p:sp>
      <p:sp>
        <p:nvSpPr>
          <p:cNvPr id="3" name="Rectangle 2">
            <a:extLst>
              <a:ext uri="{FF2B5EF4-FFF2-40B4-BE49-F238E27FC236}">
                <a16:creationId xmlns:a16="http://schemas.microsoft.com/office/drawing/2014/main" id="{03B8685A-9F0A-8647-D1E8-FD68ED18113C}"/>
              </a:ext>
            </a:extLst>
          </p:cNvPr>
          <p:cNvSpPr/>
          <p:nvPr/>
        </p:nvSpPr>
        <p:spPr>
          <a:xfrm>
            <a:off x="508000" y="1422400"/>
            <a:ext cx="3081867" cy="965200"/>
          </a:xfrm>
          <a:prstGeom prst="rect">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700" b="1">
                <a:solidFill>
                  <a:srgbClr val="FFFFFF"/>
                </a:solidFill>
                <a:latin typeface="Calibri" panose="020F0502020204030204" pitchFamily="34" charset="0"/>
              </a:rPr>
              <a:t>Case-study section</a:t>
            </a:r>
          </a:p>
        </p:txBody>
      </p:sp>
      <p:sp>
        <p:nvSpPr>
          <p:cNvPr id="4" name="Rectangle 3">
            <a:extLst>
              <a:ext uri="{FF2B5EF4-FFF2-40B4-BE49-F238E27FC236}">
                <a16:creationId xmlns:a16="http://schemas.microsoft.com/office/drawing/2014/main" id="{28CC3E7B-2960-F68E-C4B3-C7DDC86C1988}"/>
              </a:ext>
            </a:extLst>
          </p:cNvPr>
          <p:cNvSpPr/>
          <p:nvPr/>
        </p:nvSpPr>
        <p:spPr>
          <a:xfrm>
            <a:off x="3615267" y="1422400"/>
            <a:ext cx="914400" cy="965200"/>
          </a:xfrm>
          <a:prstGeom prst="rect">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300" b="1">
                <a:solidFill>
                  <a:srgbClr val="14213D"/>
                </a:solidFill>
                <a:latin typeface="Calibri" panose="020F0502020204030204" pitchFamily="34" charset="0"/>
              </a:rPr>
              <a:t>10-min</a:t>
            </a:r>
          </a:p>
          <a:p>
            <a:pPr algn="ctr"/>
            <a:r>
              <a:rPr lang="en-US" sz="1300" b="1">
                <a:solidFill>
                  <a:srgbClr val="14213D"/>
                </a:solidFill>
                <a:latin typeface="Calibri" panose="020F0502020204030204" pitchFamily="34" charset="0"/>
              </a:rPr>
              <a:t>break</a:t>
            </a:r>
          </a:p>
        </p:txBody>
      </p:sp>
      <p:sp>
        <p:nvSpPr>
          <p:cNvPr id="5" name="Rectangle 4">
            <a:extLst>
              <a:ext uri="{FF2B5EF4-FFF2-40B4-BE49-F238E27FC236}">
                <a16:creationId xmlns:a16="http://schemas.microsoft.com/office/drawing/2014/main" id="{1D1573AC-0A99-C41A-26C5-01DA4232330A}"/>
              </a:ext>
            </a:extLst>
          </p:cNvPr>
          <p:cNvSpPr/>
          <p:nvPr/>
        </p:nvSpPr>
        <p:spPr>
          <a:xfrm>
            <a:off x="4555067" y="1422400"/>
            <a:ext cx="3081866" cy="965200"/>
          </a:xfrm>
          <a:prstGeom prst="rect">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700" b="1">
                <a:solidFill>
                  <a:srgbClr val="FFFFFF"/>
                </a:solidFill>
                <a:latin typeface="Calibri" panose="020F0502020204030204" pitchFamily="34" charset="0"/>
              </a:rPr>
              <a:t>Independent questions, part 1</a:t>
            </a:r>
          </a:p>
        </p:txBody>
      </p:sp>
      <p:sp>
        <p:nvSpPr>
          <p:cNvPr id="6" name="Rectangle 5">
            <a:extLst>
              <a:ext uri="{FF2B5EF4-FFF2-40B4-BE49-F238E27FC236}">
                <a16:creationId xmlns:a16="http://schemas.microsoft.com/office/drawing/2014/main" id="{4C9FC12D-B576-210B-28B9-B92B730D6742}"/>
              </a:ext>
            </a:extLst>
          </p:cNvPr>
          <p:cNvSpPr/>
          <p:nvPr/>
        </p:nvSpPr>
        <p:spPr>
          <a:xfrm>
            <a:off x="7662333" y="1422400"/>
            <a:ext cx="914400" cy="965200"/>
          </a:xfrm>
          <a:prstGeom prst="rect">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300" b="1">
                <a:solidFill>
                  <a:srgbClr val="14213D"/>
                </a:solidFill>
                <a:latin typeface="Calibri" panose="020F0502020204030204" pitchFamily="34" charset="0"/>
              </a:rPr>
              <a:t>10-min</a:t>
            </a:r>
          </a:p>
          <a:p>
            <a:pPr algn="ctr"/>
            <a:r>
              <a:rPr lang="en-US" sz="1300" b="1">
                <a:solidFill>
                  <a:srgbClr val="14213D"/>
                </a:solidFill>
                <a:latin typeface="Calibri" panose="020F0502020204030204" pitchFamily="34" charset="0"/>
              </a:rPr>
              <a:t>break</a:t>
            </a:r>
          </a:p>
        </p:txBody>
      </p:sp>
      <p:sp>
        <p:nvSpPr>
          <p:cNvPr id="7" name="Rectangle 6">
            <a:extLst>
              <a:ext uri="{FF2B5EF4-FFF2-40B4-BE49-F238E27FC236}">
                <a16:creationId xmlns:a16="http://schemas.microsoft.com/office/drawing/2014/main" id="{F35B3502-3872-1F76-FE6C-43B7EA2A6948}"/>
              </a:ext>
            </a:extLst>
          </p:cNvPr>
          <p:cNvSpPr/>
          <p:nvPr/>
        </p:nvSpPr>
        <p:spPr>
          <a:xfrm>
            <a:off x="8602133" y="1422400"/>
            <a:ext cx="3081867" cy="965200"/>
          </a:xfrm>
          <a:prstGeom prst="rect">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25400" rIns="25400" bIns="25400" rtlCol="0" anchor="ctr"/>
          <a:lstStyle/>
          <a:p>
            <a:pPr algn="ctr"/>
            <a:r>
              <a:rPr lang="en-US" sz="1700" b="1">
                <a:solidFill>
                  <a:srgbClr val="FFFFFF"/>
                </a:solidFill>
                <a:latin typeface="Calibri" panose="020F0502020204030204" pitchFamily="34" charset="0"/>
              </a:rPr>
              <a:t>Independent questions, part 2</a:t>
            </a:r>
          </a:p>
        </p:txBody>
      </p:sp>
      <p:sp>
        <p:nvSpPr>
          <p:cNvPr id="8" name="TextBox 7">
            <a:extLst>
              <a:ext uri="{FF2B5EF4-FFF2-40B4-BE49-F238E27FC236}">
                <a16:creationId xmlns:a16="http://schemas.microsoft.com/office/drawing/2014/main" id="{B2DAD167-760D-811A-B6BC-E086467E15E2}"/>
              </a:ext>
            </a:extLst>
          </p:cNvPr>
          <p:cNvSpPr txBox="1"/>
          <p:nvPr/>
        </p:nvSpPr>
        <p:spPr>
          <a:xfrm>
            <a:off x="508000" y="2514600"/>
            <a:ext cx="11176000" cy="279400"/>
          </a:xfrm>
          <a:prstGeom prst="rect">
            <a:avLst/>
          </a:prstGeom>
          <a:noFill/>
        </p:spPr>
        <p:txBody>
          <a:bodyPr vert="horz" wrap="square" lIns="0" tIns="0" rIns="0" bIns="0" rtlCol="0" anchor="t">
            <a:noAutofit/>
          </a:bodyPr>
          <a:lstStyle/>
          <a:p>
            <a:r>
              <a:rPr lang="en-US" sz="1500" i="1">
                <a:solidFill>
                  <a:srgbClr val="1F2937"/>
                </a:solidFill>
                <a:latin typeface="Calibri" panose="020F0502020204030204" pitchFamily="34" charset="0"/>
              </a:rPr>
              <a:t>Review all answers before each break: once a break starts, you cannot return to the previous section.</a:t>
            </a:r>
          </a:p>
        </p:txBody>
      </p:sp>
      <p:sp>
        <p:nvSpPr>
          <p:cNvPr id="9" name="Rectangle: Rounded Corners 8">
            <a:extLst>
              <a:ext uri="{FF2B5EF4-FFF2-40B4-BE49-F238E27FC236}">
                <a16:creationId xmlns:a16="http://schemas.microsoft.com/office/drawing/2014/main" id="{0A72A663-C085-E48A-70B1-0D4705B16024}"/>
              </a:ext>
            </a:extLst>
          </p:cNvPr>
          <p:cNvSpPr/>
          <p:nvPr/>
        </p:nvSpPr>
        <p:spPr>
          <a:xfrm>
            <a:off x="508000" y="3098800"/>
            <a:ext cx="3556000" cy="24892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BEF2DF7-EF0B-4EEA-9DDD-36C856867B75}"/>
              </a:ext>
            </a:extLst>
          </p:cNvPr>
          <p:cNvSpPr txBox="1"/>
          <p:nvPr/>
        </p:nvSpPr>
        <p:spPr>
          <a:xfrm>
            <a:off x="736600" y="3302000"/>
            <a:ext cx="3098800" cy="711200"/>
          </a:xfrm>
          <a:prstGeom prst="rect">
            <a:avLst/>
          </a:prstGeom>
          <a:noFill/>
        </p:spPr>
        <p:txBody>
          <a:bodyPr vert="horz" wrap="square" lIns="0" tIns="0" rIns="0" bIns="0" rtlCol="0" anchor="t">
            <a:noAutofit/>
          </a:bodyPr>
          <a:lstStyle/>
          <a:p>
            <a:r>
              <a:rPr lang="en-US" sz="4000" b="1">
                <a:solidFill>
                  <a:srgbClr val="14213D"/>
                </a:solidFill>
                <a:latin typeface="Cambria" panose="02040503050406030204" pitchFamily="18" charset="0"/>
              </a:rPr>
              <a:t>170 + 10</a:t>
            </a:r>
          </a:p>
        </p:txBody>
      </p:sp>
      <p:sp>
        <p:nvSpPr>
          <p:cNvPr id="11" name="TextBox 10">
            <a:extLst>
              <a:ext uri="{FF2B5EF4-FFF2-40B4-BE49-F238E27FC236}">
                <a16:creationId xmlns:a16="http://schemas.microsoft.com/office/drawing/2014/main" id="{DE36C41A-A48A-2D6B-3213-2068EF2F31ED}"/>
              </a:ext>
            </a:extLst>
          </p:cNvPr>
          <p:cNvSpPr txBox="1"/>
          <p:nvPr/>
        </p:nvSpPr>
        <p:spPr>
          <a:xfrm>
            <a:off x="736600" y="4038600"/>
            <a:ext cx="3098800" cy="279400"/>
          </a:xfrm>
          <a:prstGeom prst="rect">
            <a:avLst/>
          </a:prstGeom>
          <a:noFill/>
        </p:spPr>
        <p:txBody>
          <a:bodyPr vert="horz" wrap="square" lIns="0" tIns="0" rIns="0" bIns="0" rtlCol="0" anchor="t">
            <a:noAutofit/>
          </a:bodyPr>
          <a:lstStyle/>
          <a:p>
            <a:r>
              <a:rPr lang="en-US" sz="1500" b="1">
                <a:solidFill>
                  <a:srgbClr val="1F2937"/>
                </a:solidFill>
                <a:latin typeface="Calibri" panose="020F0502020204030204" pitchFamily="34" charset="0"/>
              </a:rPr>
              <a:t>scored + pretest questions</a:t>
            </a:r>
          </a:p>
        </p:txBody>
      </p:sp>
      <p:sp>
        <p:nvSpPr>
          <p:cNvPr id="12" name="TextBox 11">
            <a:extLst>
              <a:ext uri="{FF2B5EF4-FFF2-40B4-BE49-F238E27FC236}">
                <a16:creationId xmlns:a16="http://schemas.microsoft.com/office/drawing/2014/main" id="{ADC3A8DD-03E9-629A-D223-8E2841BB3107}"/>
              </a:ext>
            </a:extLst>
          </p:cNvPr>
          <p:cNvSpPr txBox="1"/>
          <p:nvPr/>
        </p:nvSpPr>
        <p:spPr>
          <a:xfrm>
            <a:off x="736600" y="4394200"/>
            <a:ext cx="3098800" cy="1092200"/>
          </a:xfrm>
          <a:prstGeom prst="rect">
            <a:avLst/>
          </a:prstGeom>
          <a:noFill/>
        </p:spPr>
        <p:txBody>
          <a:bodyPr vert="horz" wrap="square" lIns="0" tIns="0" rIns="0" bIns="0" rtlCol="0" anchor="t">
            <a:noAutofit/>
          </a:bodyPr>
          <a:lstStyle/>
          <a:p>
            <a:r>
              <a:rPr lang="en-US" sz="1400">
                <a:solidFill>
                  <a:srgbClr val="5B6475"/>
                </a:solidFill>
                <a:latin typeface="Calibri" panose="020F0502020204030204" pitchFamily="34" charset="0"/>
              </a:rPr>
              <a:t>Pretest items are unscored, randomly placed, and used to validate future questions.</a:t>
            </a:r>
          </a:p>
        </p:txBody>
      </p:sp>
      <p:sp>
        <p:nvSpPr>
          <p:cNvPr id="13" name="Rectangle: Rounded Corners 12">
            <a:extLst>
              <a:ext uri="{FF2B5EF4-FFF2-40B4-BE49-F238E27FC236}">
                <a16:creationId xmlns:a16="http://schemas.microsoft.com/office/drawing/2014/main" id="{40FD2107-01A4-952D-B62D-F69A1BAC1BBA}"/>
              </a:ext>
            </a:extLst>
          </p:cNvPr>
          <p:cNvSpPr/>
          <p:nvPr/>
        </p:nvSpPr>
        <p:spPr>
          <a:xfrm>
            <a:off x="4318000" y="3098800"/>
            <a:ext cx="3556000" cy="24892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270C2E1-C7B7-9F86-BB39-683673E96FFA}"/>
              </a:ext>
            </a:extLst>
          </p:cNvPr>
          <p:cNvSpPr txBox="1"/>
          <p:nvPr/>
        </p:nvSpPr>
        <p:spPr>
          <a:xfrm>
            <a:off x="4546600" y="3302000"/>
            <a:ext cx="3098800" cy="711200"/>
          </a:xfrm>
          <a:prstGeom prst="rect">
            <a:avLst/>
          </a:prstGeom>
          <a:noFill/>
        </p:spPr>
        <p:txBody>
          <a:bodyPr vert="horz" wrap="square" lIns="0" tIns="0" rIns="0" bIns="0" rtlCol="0" anchor="t">
            <a:noAutofit/>
          </a:bodyPr>
          <a:lstStyle/>
          <a:p>
            <a:r>
              <a:rPr lang="en-US" sz="4000" b="1">
                <a:solidFill>
                  <a:srgbClr val="14213D"/>
                </a:solidFill>
                <a:latin typeface="Cambria" panose="02040503050406030204" pitchFamily="18" charset="0"/>
              </a:rPr>
              <a:t>240 min</a:t>
            </a:r>
          </a:p>
        </p:txBody>
      </p:sp>
      <p:sp>
        <p:nvSpPr>
          <p:cNvPr id="15" name="TextBox 14">
            <a:extLst>
              <a:ext uri="{FF2B5EF4-FFF2-40B4-BE49-F238E27FC236}">
                <a16:creationId xmlns:a16="http://schemas.microsoft.com/office/drawing/2014/main" id="{2ACEC6FC-0D91-F58D-2610-CB05FC0DB1BC}"/>
              </a:ext>
            </a:extLst>
          </p:cNvPr>
          <p:cNvSpPr txBox="1"/>
          <p:nvPr/>
        </p:nvSpPr>
        <p:spPr>
          <a:xfrm>
            <a:off x="4546600" y="4038600"/>
            <a:ext cx="3098800" cy="279400"/>
          </a:xfrm>
          <a:prstGeom prst="rect">
            <a:avLst/>
          </a:prstGeom>
          <a:noFill/>
        </p:spPr>
        <p:txBody>
          <a:bodyPr vert="horz" wrap="square" lIns="0" tIns="0" rIns="0" bIns="0" rtlCol="0" anchor="t">
            <a:noAutofit/>
          </a:bodyPr>
          <a:lstStyle/>
          <a:p>
            <a:r>
              <a:rPr lang="en-US" sz="1500" b="1">
                <a:solidFill>
                  <a:srgbClr val="1F2937"/>
                </a:solidFill>
                <a:latin typeface="Calibri" panose="020F0502020204030204" pitchFamily="34" charset="0"/>
              </a:rPr>
              <a:t>for all 180 questions</a:t>
            </a:r>
          </a:p>
        </p:txBody>
      </p:sp>
      <p:sp>
        <p:nvSpPr>
          <p:cNvPr id="16" name="TextBox 15">
            <a:extLst>
              <a:ext uri="{FF2B5EF4-FFF2-40B4-BE49-F238E27FC236}">
                <a16:creationId xmlns:a16="http://schemas.microsoft.com/office/drawing/2014/main" id="{8AAC2862-85E1-8160-F21D-98013BE6F3B9}"/>
              </a:ext>
            </a:extLst>
          </p:cNvPr>
          <p:cNvSpPr txBox="1"/>
          <p:nvPr/>
        </p:nvSpPr>
        <p:spPr>
          <a:xfrm>
            <a:off x="4546600" y="4394200"/>
            <a:ext cx="3098800" cy="1092200"/>
          </a:xfrm>
          <a:prstGeom prst="rect">
            <a:avLst/>
          </a:prstGeom>
          <a:noFill/>
        </p:spPr>
        <p:txBody>
          <a:bodyPr vert="horz" wrap="square" lIns="0" tIns="0" rIns="0" bIns="0" rtlCol="0" anchor="t">
            <a:noAutofit/>
          </a:bodyPr>
          <a:lstStyle/>
          <a:p>
            <a:r>
              <a:rPr lang="en-US" sz="1400">
                <a:solidFill>
                  <a:srgbClr val="5B6475"/>
                </a:solidFill>
                <a:latin typeface="Calibri" panose="020F0502020204030204" pitchFamily="34" charset="0"/>
              </a:rPr>
              <a:t>The time is for the center-based exam; after each break you keep the remaining time. You may finish early.</a:t>
            </a:r>
          </a:p>
        </p:txBody>
      </p:sp>
      <p:sp>
        <p:nvSpPr>
          <p:cNvPr id="17" name="Rectangle: Rounded Corners 16">
            <a:extLst>
              <a:ext uri="{FF2B5EF4-FFF2-40B4-BE49-F238E27FC236}">
                <a16:creationId xmlns:a16="http://schemas.microsoft.com/office/drawing/2014/main" id="{8EC24863-8F9A-F211-B0B4-6E6F75D3910E}"/>
              </a:ext>
            </a:extLst>
          </p:cNvPr>
          <p:cNvSpPr/>
          <p:nvPr/>
        </p:nvSpPr>
        <p:spPr>
          <a:xfrm>
            <a:off x="8128000" y="3098800"/>
            <a:ext cx="3556000" cy="24892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691A6EC-79AB-D467-A0B2-4FDEBBCB1457}"/>
              </a:ext>
            </a:extLst>
          </p:cNvPr>
          <p:cNvSpPr txBox="1"/>
          <p:nvPr/>
        </p:nvSpPr>
        <p:spPr>
          <a:xfrm>
            <a:off x="8356600" y="3302000"/>
            <a:ext cx="3098800" cy="711200"/>
          </a:xfrm>
          <a:prstGeom prst="rect">
            <a:avLst/>
          </a:prstGeom>
          <a:noFill/>
        </p:spPr>
        <p:txBody>
          <a:bodyPr vert="horz" wrap="square" lIns="0" tIns="0" rIns="0" bIns="0" rtlCol="0" anchor="t">
            <a:noAutofit/>
          </a:bodyPr>
          <a:lstStyle/>
          <a:p>
            <a:r>
              <a:rPr lang="en-US" sz="4000" b="1">
                <a:solidFill>
                  <a:srgbClr val="14213D"/>
                </a:solidFill>
                <a:latin typeface="Cambria" panose="02040503050406030204" pitchFamily="18" charset="0"/>
              </a:rPr>
              <a:t>5–15 min</a:t>
            </a:r>
          </a:p>
        </p:txBody>
      </p:sp>
      <p:sp>
        <p:nvSpPr>
          <p:cNvPr id="19" name="TextBox 18">
            <a:extLst>
              <a:ext uri="{FF2B5EF4-FFF2-40B4-BE49-F238E27FC236}">
                <a16:creationId xmlns:a16="http://schemas.microsoft.com/office/drawing/2014/main" id="{DFE6EC62-ABE6-C2BB-2E90-176A6ABB704E}"/>
              </a:ext>
            </a:extLst>
          </p:cNvPr>
          <p:cNvSpPr txBox="1"/>
          <p:nvPr/>
        </p:nvSpPr>
        <p:spPr>
          <a:xfrm>
            <a:off x="8356600" y="4038600"/>
            <a:ext cx="3098800" cy="279400"/>
          </a:xfrm>
          <a:prstGeom prst="rect">
            <a:avLst/>
          </a:prstGeom>
          <a:noFill/>
        </p:spPr>
        <p:txBody>
          <a:bodyPr vert="horz" wrap="square" lIns="0" tIns="0" rIns="0" bIns="0" rtlCol="0" anchor="t">
            <a:noAutofit/>
          </a:bodyPr>
          <a:lstStyle/>
          <a:p>
            <a:r>
              <a:rPr lang="en-US" sz="1500" b="1">
                <a:solidFill>
                  <a:srgbClr val="1F2937"/>
                </a:solidFill>
                <a:latin typeface="Calibri" panose="020F0502020204030204" pitchFamily="34" charset="0"/>
              </a:rPr>
              <a:t>optional tutorial and survey</a:t>
            </a:r>
          </a:p>
        </p:txBody>
      </p:sp>
      <p:sp>
        <p:nvSpPr>
          <p:cNvPr id="20" name="TextBox 19">
            <a:extLst>
              <a:ext uri="{FF2B5EF4-FFF2-40B4-BE49-F238E27FC236}">
                <a16:creationId xmlns:a16="http://schemas.microsoft.com/office/drawing/2014/main" id="{55579D51-034F-72F3-0F39-ADB455FD47D3}"/>
              </a:ext>
            </a:extLst>
          </p:cNvPr>
          <p:cNvSpPr txBox="1"/>
          <p:nvPr/>
        </p:nvSpPr>
        <p:spPr>
          <a:xfrm>
            <a:off x="8356600" y="4394200"/>
            <a:ext cx="3098800" cy="1092200"/>
          </a:xfrm>
          <a:prstGeom prst="rect">
            <a:avLst/>
          </a:prstGeom>
          <a:noFill/>
        </p:spPr>
        <p:txBody>
          <a:bodyPr vert="horz" wrap="square" lIns="0" tIns="0" rIns="0" bIns="0" rtlCol="0" anchor="t">
            <a:noAutofit/>
          </a:bodyPr>
          <a:lstStyle/>
          <a:p>
            <a:r>
              <a:rPr lang="en-US" sz="1400">
                <a:solidFill>
                  <a:srgbClr val="5B6475"/>
                </a:solidFill>
                <a:latin typeface="Calibri" panose="020F0502020204030204" pitchFamily="34" charset="0"/>
              </a:rPr>
              <a:t>A tutorial before and a survey after; neither counts against the 240 minutes.</a:t>
            </a:r>
          </a:p>
        </p:txBody>
      </p:sp>
      <p:sp>
        <p:nvSpPr>
          <p:cNvPr id="21" name="Footer">
            <a:extLst>
              <a:ext uri="{FF2B5EF4-FFF2-40B4-BE49-F238E27FC236}">
                <a16:creationId xmlns:a16="http://schemas.microsoft.com/office/drawing/2014/main" id="{8AB77890-FAD0-2B75-1919-BB1BAA1923BC}"/>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Sources: PMI, PMP® Examination Content Outline (July 2026); PMI, PMP® Certification Handbook</a:t>
            </a:r>
          </a:p>
        </p:txBody>
      </p:sp>
      <p:sp>
        <p:nvSpPr>
          <p:cNvPr id="22" name="SlideNum">
            <a:extLst>
              <a:ext uri="{FF2B5EF4-FFF2-40B4-BE49-F238E27FC236}">
                <a16:creationId xmlns:a16="http://schemas.microsoft.com/office/drawing/2014/main" id="{E2E21C20-5BE4-50AA-00EF-69EC29FA80ED}"/>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127</a:t>
            </a:r>
          </a:p>
        </p:txBody>
      </p:sp>
      <p:sp>
        <p:nvSpPr>
          <p:cNvPr id="23"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61553003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FDDD91FD-6958-11D8-E02A-D58F54257076}"/>
              </a:ext>
            </a:extLst>
          </p:cNvPr>
          <p:cNvSpPr txBox="1"/>
          <p:nvPr/>
        </p:nvSpPr>
        <p:spPr>
          <a:xfrm>
            <a:off x="508000" y="381000"/>
            <a:ext cx="11176000" cy="685800"/>
          </a:xfrm>
          <a:prstGeom prst="rect">
            <a:avLst/>
          </a:prstGeom>
          <a:noFill/>
        </p:spPr>
        <p:txBody>
          <a:bodyPr vert="horz" wrap="square" lIns="0" tIns="0" rIns="0" bIns="0" rtlCol="0" anchor="ctr">
            <a:noAutofit/>
          </a:bodyPr>
          <a:lstStyle/>
          <a:p>
            <a:r>
              <a:rPr lang="en-US" sz="3400" b="1">
                <a:solidFill>
                  <a:srgbClr val="14213D"/>
                </a:solidFill>
                <a:latin typeface="Cambria" panose="02040503050406030204" pitchFamily="18" charset="0"/>
              </a:rPr>
              <a:t>Retakes: up to three attempts per eligibility year</a:t>
            </a:r>
          </a:p>
        </p:txBody>
      </p:sp>
      <p:sp>
        <p:nvSpPr>
          <p:cNvPr id="3" name="Rectangle: Rounded Corners 2">
            <a:extLst>
              <a:ext uri="{FF2B5EF4-FFF2-40B4-BE49-F238E27FC236}">
                <a16:creationId xmlns:a16="http://schemas.microsoft.com/office/drawing/2014/main" id="{ADBF6FCA-6940-77FD-2E79-6F02325CF229}"/>
              </a:ext>
            </a:extLst>
          </p:cNvPr>
          <p:cNvSpPr/>
          <p:nvPr/>
        </p:nvSpPr>
        <p:spPr>
          <a:xfrm>
            <a:off x="508000" y="1473200"/>
            <a:ext cx="3429000" cy="2921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67A8E18C-DA02-3EC8-4F17-478DBBCF571B}"/>
              </a:ext>
            </a:extLst>
          </p:cNvPr>
          <p:cNvSpPr/>
          <p:nvPr/>
        </p:nvSpPr>
        <p:spPr>
          <a:xfrm>
            <a:off x="762000" y="1701800"/>
            <a:ext cx="609600" cy="609600"/>
          </a:xfrm>
          <a:prstGeom prst="ellipse">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2000" b="1">
                <a:solidFill>
                  <a:srgbClr val="FFFFFF"/>
                </a:solidFill>
                <a:latin typeface="Calibri" panose="020F0502020204030204" pitchFamily="34" charset="0"/>
              </a:rPr>
              <a:t>1</a:t>
            </a:r>
          </a:p>
        </p:txBody>
      </p:sp>
      <p:sp>
        <p:nvSpPr>
          <p:cNvPr id="5" name="TextBox 4">
            <a:extLst>
              <a:ext uri="{FF2B5EF4-FFF2-40B4-BE49-F238E27FC236}">
                <a16:creationId xmlns:a16="http://schemas.microsoft.com/office/drawing/2014/main" id="{EAF26F11-BFAA-6314-5C0E-DFD779078AB4}"/>
              </a:ext>
            </a:extLst>
          </p:cNvPr>
          <p:cNvSpPr txBox="1"/>
          <p:nvPr/>
        </p:nvSpPr>
        <p:spPr>
          <a:xfrm>
            <a:off x="762000" y="2514600"/>
            <a:ext cx="2921000" cy="1778000"/>
          </a:xfrm>
          <a:prstGeom prst="rect">
            <a:avLst/>
          </a:prstGeom>
          <a:noFill/>
        </p:spPr>
        <p:txBody>
          <a:bodyPr vert="horz" wrap="square" lIns="0" tIns="0" rIns="0" bIns="0" rtlCol="0" anchor="t">
            <a:noAutofit/>
          </a:bodyPr>
          <a:lstStyle/>
          <a:p>
            <a:pPr>
              <a:spcAft>
                <a:spcPts val="600"/>
              </a:spcAft>
            </a:pPr>
            <a:r>
              <a:rPr lang="en-US" sz="1900" b="1">
                <a:solidFill>
                  <a:srgbClr val="14213D"/>
                </a:solidFill>
                <a:latin typeface="Calibri" panose="020F0502020204030204" pitchFamily="34" charset="0"/>
              </a:rPr>
              <a:t>Up to 3 attempts</a:t>
            </a:r>
          </a:p>
          <a:p>
            <a:r>
              <a:rPr lang="en-US" sz="1500">
                <a:solidFill>
                  <a:srgbClr val="1F2937"/>
                </a:solidFill>
                <a:latin typeface="Calibri" panose="020F0502020204030204" pitchFamily="34" charset="0"/>
              </a:rPr>
              <a:t>You can take the exam up to three times within your one-year eligibility period.</a:t>
            </a:r>
          </a:p>
        </p:txBody>
      </p:sp>
      <p:sp>
        <p:nvSpPr>
          <p:cNvPr id="6" name="Arrow: Right 5">
            <a:extLst>
              <a:ext uri="{FF2B5EF4-FFF2-40B4-BE49-F238E27FC236}">
                <a16:creationId xmlns:a16="http://schemas.microsoft.com/office/drawing/2014/main" id="{01B20702-5860-A7D5-8BFE-5AB23CAEEF8F}"/>
              </a:ext>
            </a:extLst>
          </p:cNvPr>
          <p:cNvSpPr/>
          <p:nvPr/>
        </p:nvSpPr>
        <p:spPr>
          <a:xfrm>
            <a:off x="3987800" y="2794000"/>
            <a:ext cx="279400" cy="304800"/>
          </a:xfrm>
          <a:prstGeom prst="rightArrow">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B7918CA5-D7EA-E543-FC4A-D9FB1A101551}"/>
              </a:ext>
            </a:extLst>
          </p:cNvPr>
          <p:cNvSpPr/>
          <p:nvPr/>
        </p:nvSpPr>
        <p:spPr>
          <a:xfrm>
            <a:off x="4318000" y="1473200"/>
            <a:ext cx="3429000" cy="2921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02F8CBE-95EB-40B4-CD6F-E9060293AFAA}"/>
              </a:ext>
            </a:extLst>
          </p:cNvPr>
          <p:cNvSpPr/>
          <p:nvPr/>
        </p:nvSpPr>
        <p:spPr>
          <a:xfrm>
            <a:off x="4572000" y="1701800"/>
            <a:ext cx="609600" cy="609600"/>
          </a:xfrm>
          <a:prstGeom prst="ellipse">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2000" b="1">
                <a:solidFill>
                  <a:srgbClr val="FFFFFF"/>
                </a:solidFill>
                <a:latin typeface="Calibri" panose="020F0502020204030204" pitchFamily="34" charset="0"/>
              </a:rPr>
              <a:t>2</a:t>
            </a:r>
          </a:p>
        </p:txBody>
      </p:sp>
      <p:sp>
        <p:nvSpPr>
          <p:cNvPr id="9" name="TextBox 8">
            <a:extLst>
              <a:ext uri="{FF2B5EF4-FFF2-40B4-BE49-F238E27FC236}">
                <a16:creationId xmlns:a16="http://schemas.microsoft.com/office/drawing/2014/main" id="{993A738D-6C39-95A9-1D1D-02C4B49D3827}"/>
              </a:ext>
            </a:extLst>
          </p:cNvPr>
          <p:cNvSpPr txBox="1"/>
          <p:nvPr/>
        </p:nvSpPr>
        <p:spPr>
          <a:xfrm>
            <a:off x="4572000" y="2514600"/>
            <a:ext cx="2921000" cy="1778000"/>
          </a:xfrm>
          <a:prstGeom prst="rect">
            <a:avLst/>
          </a:prstGeom>
          <a:noFill/>
        </p:spPr>
        <p:txBody>
          <a:bodyPr vert="horz" wrap="square" lIns="0" tIns="0" rIns="0" bIns="0" rtlCol="0" anchor="t">
            <a:noAutofit/>
          </a:bodyPr>
          <a:lstStyle/>
          <a:p>
            <a:pPr>
              <a:spcAft>
                <a:spcPts val="600"/>
              </a:spcAft>
            </a:pPr>
            <a:r>
              <a:rPr lang="en-US" sz="1900" b="1">
                <a:solidFill>
                  <a:srgbClr val="14213D"/>
                </a:solidFill>
                <a:latin typeface="Calibri" panose="020F0502020204030204" pitchFamily="34" charset="0"/>
              </a:rPr>
              <a:t>Then wait one year</a:t>
            </a:r>
          </a:p>
          <a:p>
            <a:r>
              <a:rPr lang="en-US" sz="1500">
                <a:solidFill>
                  <a:srgbClr val="1F2937"/>
                </a:solidFill>
                <a:latin typeface="Calibri" panose="020F0502020204030204" pitchFamily="34" charset="0"/>
              </a:rPr>
              <a:t>After three attempts, wait one year from your last exam date before reapplying for the PMP.</a:t>
            </a:r>
          </a:p>
        </p:txBody>
      </p:sp>
      <p:sp>
        <p:nvSpPr>
          <p:cNvPr id="10" name="Arrow: Right 9">
            <a:extLst>
              <a:ext uri="{FF2B5EF4-FFF2-40B4-BE49-F238E27FC236}">
                <a16:creationId xmlns:a16="http://schemas.microsoft.com/office/drawing/2014/main" id="{6542BF93-FA7F-D953-799C-E3F9248EB54A}"/>
              </a:ext>
            </a:extLst>
          </p:cNvPr>
          <p:cNvSpPr/>
          <p:nvPr/>
        </p:nvSpPr>
        <p:spPr>
          <a:xfrm>
            <a:off x="7797800" y="2794000"/>
            <a:ext cx="279400" cy="304800"/>
          </a:xfrm>
          <a:prstGeom prst="rightArrow">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A144651F-EBD6-1AEB-B655-F31919AECE52}"/>
              </a:ext>
            </a:extLst>
          </p:cNvPr>
          <p:cNvSpPr/>
          <p:nvPr/>
        </p:nvSpPr>
        <p:spPr>
          <a:xfrm>
            <a:off x="8128000" y="1473200"/>
            <a:ext cx="3429000" cy="2921000"/>
          </a:xfrm>
          <a:prstGeom prst="roundRect">
            <a:avLst>
              <a:gd name="adj" fmla="val 8000"/>
            </a:avLst>
          </a:prstGeom>
          <a:solidFill>
            <a:srgbClr val="F3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5FCA44F-784A-F66F-8727-C0B46ED66375}"/>
              </a:ext>
            </a:extLst>
          </p:cNvPr>
          <p:cNvSpPr/>
          <p:nvPr/>
        </p:nvSpPr>
        <p:spPr>
          <a:xfrm>
            <a:off x="8382000" y="1701800"/>
            <a:ext cx="609600" cy="609600"/>
          </a:xfrm>
          <a:prstGeom prst="ellipse">
            <a:avLst/>
          </a:prstGeom>
          <a:solidFill>
            <a:srgbClr val="1421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2000" b="1">
                <a:solidFill>
                  <a:srgbClr val="FFFFFF"/>
                </a:solidFill>
                <a:latin typeface="Calibri" panose="020F0502020204030204" pitchFamily="34" charset="0"/>
              </a:rPr>
              <a:t>3</a:t>
            </a:r>
          </a:p>
        </p:txBody>
      </p:sp>
      <p:sp>
        <p:nvSpPr>
          <p:cNvPr id="13" name="TextBox 12">
            <a:extLst>
              <a:ext uri="{FF2B5EF4-FFF2-40B4-BE49-F238E27FC236}">
                <a16:creationId xmlns:a16="http://schemas.microsoft.com/office/drawing/2014/main" id="{01CC7FAF-42C3-458A-5830-F6EF841746E1}"/>
              </a:ext>
            </a:extLst>
          </p:cNvPr>
          <p:cNvSpPr txBox="1"/>
          <p:nvPr/>
        </p:nvSpPr>
        <p:spPr>
          <a:xfrm>
            <a:off x="8382000" y="2514600"/>
            <a:ext cx="2921000" cy="1778000"/>
          </a:xfrm>
          <a:prstGeom prst="rect">
            <a:avLst/>
          </a:prstGeom>
          <a:noFill/>
        </p:spPr>
        <p:txBody>
          <a:bodyPr vert="horz" wrap="square" lIns="0" tIns="0" rIns="0" bIns="0" rtlCol="0" anchor="t">
            <a:noAutofit/>
          </a:bodyPr>
          <a:lstStyle/>
          <a:p>
            <a:pPr>
              <a:spcAft>
                <a:spcPts val="600"/>
              </a:spcAft>
            </a:pPr>
            <a:r>
              <a:rPr lang="en-US" sz="1900" b="1">
                <a:solidFill>
                  <a:srgbClr val="14213D"/>
                </a:solidFill>
                <a:latin typeface="Calibri" panose="020F0502020204030204" pitchFamily="34" charset="0"/>
              </a:rPr>
              <a:t>Reapply if time runs out</a:t>
            </a:r>
          </a:p>
          <a:p>
            <a:r>
              <a:rPr lang="en-US" sz="1500">
                <a:solidFill>
                  <a:srgbClr val="1F2937"/>
                </a:solidFill>
                <a:latin typeface="Calibri" panose="020F0502020204030204" pitchFamily="34" charset="0"/>
              </a:rPr>
              <a:t>If your eligibility year ends without a pass, you must reapply for the certification.</a:t>
            </a:r>
          </a:p>
        </p:txBody>
      </p:sp>
      <p:sp>
        <p:nvSpPr>
          <p:cNvPr id="14" name="Rectangle: Rounded Corners 13">
            <a:extLst>
              <a:ext uri="{FF2B5EF4-FFF2-40B4-BE49-F238E27FC236}">
                <a16:creationId xmlns:a16="http://schemas.microsoft.com/office/drawing/2014/main" id="{FE840938-829E-2D35-A5E4-8F1F88A6B6B0}"/>
              </a:ext>
            </a:extLst>
          </p:cNvPr>
          <p:cNvSpPr/>
          <p:nvPr/>
        </p:nvSpPr>
        <p:spPr>
          <a:xfrm>
            <a:off x="508000" y="4699000"/>
            <a:ext cx="11176000" cy="1219200"/>
          </a:xfrm>
          <a:prstGeom prst="roundRect">
            <a:avLst>
              <a:gd name="adj" fmla="val 8000"/>
            </a:avLst>
          </a:prstGeom>
          <a:solidFill>
            <a:srgbClr val="E6EA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FBBF09A-819F-39EB-6304-92CCC8609E04}"/>
              </a:ext>
            </a:extLst>
          </p:cNvPr>
          <p:cNvSpPr txBox="1"/>
          <p:nvPr/>
        </p:nvSpPr>
        <p:spPr>
          <a:xfrm>
            <a:off x="711200" y="4902200"/>
            <a:ext cx="10769600" cy="812800"/>
          </a:xfrm>
          <a:prstGeom prst="rect">
            <a:avLst/>
          </a:prstGeom>
          <a:noFill/>
        </p:spPr>
        <p:txBody>
          <a:bodyPr vert="horz" wrap="square" lIns="0" tIns="0" rIns="0" bIns="0" rtlCol="0" anchor="t">
            <a:noAutofit/>
          </a:bodyPr>
          <a:lstStyle/>
          <a:p>
            <a:pPr>
              <a:spcAft>
                <a:spcPts val="600"/>
              </a:spcAft>
            </a:pPr>
            <a:r>
              <a:rPr lang="en-US" sz="1600" b="1">
                <a:solidFill>
                  <a:srgbClr val="14213D"/>
                </a:solidFill>
                <a:latin typeface="Calibri" panose="020F0502020204030204" pitchFamily="34" charset="0"/>
              </a:rPr>
              <a:t>Why the waiting period?</a:t>
            </a:r>
          </a:p>
          <a:p>
            <a:r>
              <a:rPr lang="en-US" sz="1400">
                <a:solidFill>
                  <a:srgbClr val="1F2937"/>
                </a:solidFill>
                <a:latin typeface="Calibri" panose="020F0502020204030204" pitchFamily="34" charset="0"/>
              </a:rPr>
              <a:t>It protects exam security and limits overexposure to exam questions. During the waiting year you can still apply for any other PMI certification.</a:t>
            </a:r>
          </a:p>
        </p:txBody>
      </p:sp>
      <p:sp>
        <p:nvSpPr>
          <p:cNvPr id="16" name="Footer">
            <a:extLst>
              <a:ext uri="{FF2B5EF4-FFF2-40B4-BE49-F238E27FC236}">
                <a16:creationId xmlns:a16="http://schemas.microsoft.com/office/drawing/2014/main" id="{E5CD13B8-E0EF-B83C-6E0F-C7F3965FDC24}"/>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5B6475"/>
                </a:solidFill>
                <a:latin typeface="Calibri" panose="020F0502020204030204" pitchFamily="34" charset="0"/>
              </a:rPr>
              <a:t>Source: PMI, PMP® Certification Handbook</a:t>
            </a:r>
          </a:p>
        </p:txBody>
      </p:sp>
      <p:sp>
        <p:nvSpPr>
          <p:cNvPr id="17" name="SlideNum">
            <a:extLst>
              <a:ext uri="{FF2B5EF4-FFF2-40B4-BE49-F238E27FC236}">
                <a16:creationId xmlns:a16="http://schemas.microsoft.com/office/drawing/2014/main" id="{39015448-07C2-39BE-193F-407666903272}"/>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5B6475"/>
                </a:solidFill>
                <a:latin typeface="Calibri" panose="020F0502020204030204" pitchFamily="34" charset="0"/>
              </a:rPr>
              <a:t>128</a:t>
            </a:r>
          </a:p>
        </p:txBody>
      </p:sp>
      <p:sp>
        <p:nvSpPr>
          <p:cNvPr id="18"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98750364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6F44E9-F5F4-7586-7CB2-1C071DADF37B}"/>
              </a:ext>
            </a:extLst>
          </p:cNvPr>
          <p:cNvSpPr txBox="1"/>
          <p:nvPr/>
        </p:nvSpPr>
        <p:spPr>
          <a:xfrm>
            <a:off x="508000" y="508000"/>
            <a:ext cx="11176000" cy="762000"/>
          </a:xfrm>
          <a:prstGeom prst="rect">
            <a:avLst/>
          </a:prstGeom>
          <a:noFill/>
        </p:spPr>
        <p:txBody>
          <a:bodyPr vert="horz" wrap="square" lIns="0" tIns="0" rIns="0" bIns="0" rtlCol="0" anchor="ctr">
            <a:noAutofit/>
          </a:bodyPr>
          <a:lstStyle/>
          <a:p>
            <a:r>
              <a:rPr lang="en-US" sz="3800" b="1">
                <a:solidFill>
                  <a:srgbClr val="FFFFFF"/>
                </a:solidFill>
                <a:latin typeface="Cambria" panose="02040503050406030204" pitchFamily="18" charset="0"/>
              </a:rPr>
              <a:t>Key takeaways</a:t>
            </a:r>
          </a:p>
        </p:txBody>
      </p:sp>
      <p:sp>
        <p:nvSpPr>
          <p:cNvPr id="3" name="Rectangle: Rounded Corners 2">
            <a:extLst>
              <a:ext uri="{FF2B5EF4-FFF2-40B4-BE49-F238E27FC236}">
                <a16:creationId xmlns:a16="http://schemas.microsoft.com/office/drawing/2014/main" id="{D8C4F1A1-1B0D-A64C-6965-8189605A57C8}"/>
              </a:ext>
            </a:extLst>
          </p:cNvPr>
          <p:cNvSpPr/>
          <p:nvPr/>
        </p:nvSpPr>
        <p:spPr>
          <a:xfrm>
            <a:off x="508000" y="1905000"/>
            <a:ext cx="5461000" cy="1778000"/>
          </a:xfrm>
          <a:prstGeom prst="roundRect">
            <a:avLst>
              <a:gd name="adj" fmla="val 8000"/>
            </a:avLst>
          </a:prstGeom>
          <a:solidFill>
            <a:srgbClr val="1E2E5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1F99FF55-638E-F6F3-5F3F-B6455362DF8D}"/>
              </a:ext>
            </a:extLst>
          </p:cNvPr>
          <p:cNvSpPr/>
          <p:nvPr/>
        </p:nvSpPr>
        <p:spPr>
          <a:xfrm>
            <a:off x="762000" y="2184400"/>
            <a:ext cx="508000" cy="508000"/>
          </a:xfrm>
          <a:prstGeom prst="ellipse">
            <a:avLst/>
          </a:prstGeom>
          <a:solidFill>
            <a:srgbClr val="34509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600" b="1">
                <a:solidFill>
                  <a:srgbClr val="FFFFFF"/>
                </a:solidFill>
                <a:latin typeface="Calibri" panose="020F0502020204030204" pitchFamily="34" charset="0"/>
              </a:rPr>
              <a:t>1</a:t>
            </a:r>
          </a:p>
        </p:txBody>
      </p:sp>
      <p:sp>
        <p:nvSpPr>
          <p:cNvPr id="5" name="TextBox 4">
            <a:extLst>
              <a:ext uri="{FF2B5EF4-FFF2-40B4-BE49-F238E27FC236}">
                <a16:creationId xmlns:a16="http://schemas.microsoft.com/office/drawing/2014/main" id="{2E95363E-F764-C7A8-218B-3EF6B4C75AA5}"/>
              </a:ext>
            </a:extLst>
          </p:cNvPr>
          <p:cNvSpPr txBox="1"/>
          <p:nvPr/>
        </p:nvSpPr>
        <p:spPr>
          <a:xfrm>
            <a:off x="1473200" y="2159000"/>
            <a:ext cx="4241800" cy="1270000"/>
          </a:xfrm>
          <a:prstGeom prst="rect">
            <a:avLst/>
          </a:prstGeom>
          <a:noFill/>
        </p:spPr>
        <p:txBody>
          <a:bodyPr vert="horz" wrap="square" lIns="0" tIns="0" rIns="0" bIns="0" rtlCol="0" anchor="t">
            <a:noAutofit/>
          </a:bodyPr>
          <a:lstStyle/>
          <a:p>
            <a:r>
              <a:rPr lang="en-US" sz="2000">
                <a:solidFill>
                  <a:srgbClr val="FFFFFF"/>
                </a:solidFill>
                <a:latin typeface="Calibri" panose="020F0502020204030204" pitchFamily="34" charset="0"/>
              </a:rPr>
              <a:t>Process (41%) is the largest domain; People is 33% and Business Environment 26%.</a:t>
            </a:r>
          </a:p>
        </p:txBody>
      </p:sp>
      <p:sp>
        <p:nvSpPr>
          <p:cNvPr id="6" name="Rectangle: Rounded Corners 5">
            <a:extLst>
              <a:ext uri="{FF2B5EF4-FFF2-40B4-BE49-F238E27FC236}">
                <a16:creationId xmlns:a16="http://schemas.microsoft.com/office/drawing/2014/main" id="{3EF3C009-46D7-91AC-444E-E076FBFC1A38}"/>
              </a:ext>
            </a:extLst>
          </p:cNvPr>
          <p:cNvSpPr/>
          <p:nvPr/>
        </p:nvSpPr>
        <p:spPr>
          <a:xfrm>
            <a:off x="6223000" y="1905000"/>
            <a:ext cx="5461000" cy="1778000"/>
          </a:xfrm>
          <a:prstGeom prst="roundRect">
            <a:avLst>
              <a:gd name="adj" fmla="val 8000"/>
            </a:avLst>
          </a:prstGeom>
          <a:solidFill>
            <a:srgbClr val="1E2E5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2B76C468-AC12-DD5B-056C-5CA4855067E1}"/>
              </a:ext>
            </a:extLst>
          </p:cNvPr>
          <p:cNvSpPr/>
          <p:nvPr/>
        </p:nvSpPr>
        <p:spPr>
          <a:xfrm>
            <a:off x="6477000" y="2184400"/>
            <a:ext cx="508000" cy="508000"/>
          </a:xfrm>
          <a:prstGeom prst="ellipse">
            <a:avLst/>
          </a:prstGeom>
          <a:solidFill>
            <a:srgbClr val="E3A6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600" b="1">
                <a:solidFill>
                  <a:srgbClr val="14213D"/>
                </a:solidFill>
                <a:latin typeface="Calibri" panose="020F0502020204030204" pitchFamily="34" charset="0"/>
              </a:rPr>
              <a:t>2</a:t>
            </a:r>
          </a:p>
        </p:txBody>
      </p:sp>
      <p:sp>
        <p:nvSpPr>
          <p:cNvPr id="8" name="TextBox 7">
            <a:extLst>
              <a:ext uri="{FF2B5EF4-FFF2-40B4-BE49-F238E27FC236}">
                <a16:creationId xmlns:a16="http://schemas.microsoft.com/office/drawing/2014/main" id="{2E872B52-A906-3A9F-99B6-384F9A2250C8}"/>
              </a:ext>
            </a:extLst>
          </p:cNvPr>
          <p:cNvSpPr txBox="1"/>
          <p:nvPr/>
        </p:nvSpPr>
        <p:spPr>
          <a:xfrm>
            <a:off x="7188200" y="2159000"/>
            <a:ext cx="4241800" cy="1270000"/>
          </a:xfrm>
          <a:prstGeom prst="rect">
            <a:avLst/>
          </a:prstGeom>
          <a:noFill/>
        </p:spPr>
        <p:txBody>
          <a:bodyPr vert="horz" wrap="square" lIns="0" tIns="0" rIns="0" bIns="0" rtlCol="0" anchor="t">
            <a:noAutofit/>
          </a:bodyPr>
          <a:lstStyle/>
          <a:p>
            <a:r>
              <a:rPr lang="en-US" sz="2000">
                <a:solidFill>
                  <a:srgbClr val="FFFFFF"/>
                </a:solidFill>
                <a:latin typeface="Calibri" panose="020F0502020204030204" pitchFamily="34" charset="0"/>
              </a:rPr>
              <a:t>Expect about 40% predictive and 60% agile or hybrid questions, mixed through every domain.</a:t>
            </a:r>
          </a:p>
        </p:txBody>
      </p:sp>
      <p:sp>
        <p:nvSpPr>
          <p:cNvPr id="9" name="Rectangle: Rounded Corners 8">
            <a:extLst>
              <a:ext uri="{FF2B5EF4-FFF2-40B4-BE49-F238E27FC236}">
                <a16:creationId xmlns:a16="http://schemas.microsoft.com/office/drawing/2014/main" id="{7B0CD98A-3285-E121-4E4E-D3DF1D9B5E6D}"/>
              </a:ext>
            </a:extLst>
          </p:cNvPr>
          <p:cNvSpPr/>
          <p:nvPr/>
        </p:nvSpPr>
        <p:spPr>
          <a:xfrm>
            <a:off x="508000" y="3937000"/>
            <a:ext cx="5461000" cy="1778000"/>
          </a:xfrm>
          <a:prstGeom prst="roundRect">
            <a:avLst>
              <a:gd name="adj" fmla="val 8000"/>
            </a:avLst>
          </a:prstGeom>
          <a:solidFill>
            <a:srgbClr val="1E2E5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66BAB2F-E1CD-DF95-5FE0-EAF2D660C26F}"/>
              </a:ext>
            </a:extLst>
          </p:cNvPr>
          <p:cNvSpPr/>
          <p:nvPr/>
        </p:nvSpPr>
        <p:spPr>
          <a:xfrm>
            <a:off x="762000" y="4216400"/>
            <a:ext cx="508000" cy="508000"/>
          </a:xfrm>
          <a:prstGeom prst="ellipse">
            <a:avLst/>
          </a:prstGeom>
          <a:solidFill>
            <a:srgbClr val="0F7C8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600" b="1">
                <a:solidFill>
                  <a:srgbClr val="FFFFFF"/>
                </a:solidFill>
                <a:latin typeface="Calibri" panose="020F0502020204030204" pitchFamily="34" charset="0"/>
              </a:rPr>
              <a:t>3</a:t>
            </a:r>
          </a:p>
        </p:txBody>
      </p:sp>
      <p:sp>
        <p:nvSpPr>
          <p:cNvPr id="11" name="TextBox 10">
            <a:extLst>
              <a:ext uri="{FF2B5EF4-FFF2-40B4-BE49-F238E27FC236}">
                <a16:creationId xmlns:a16="http://schemas.microsoft.com/office/drawing/2014/main" id="{0CA98953-AFF3-C73B-0E9D-AB22BE8FE23F}"/>
              </a:ext>
            </a:extLst>
          </p:cNvPr>
          <p:cNvSpPr txBox="1"/>
          <p:nvPr/>
        </p:nvSpPr>
        <p:spPr>
          <a:xfrm>
            <a:off x="1473200" y="4191000"/>
            <a:ext cx="4241800" cy="1270000"/>
          </a:xfrm>
          <a:prstGeom prst="rect">
            <a:avLst/>
          </a:prstGeom>
          <a:noFill/>
        </p:spPr>
        <p:txBody>
          <a:bodyPr vert="horz" wrap="square" lIns="0" tIns="0" rIns="0" bIns="0" rtlCol="0" anchor="t">
            <a:noAutofit/>
          </a:bodyPr>
          <a:lstStyle/>
          <a:p>
            <a:r>
              <a:rPr lang="en-US" sz="2000">
                <a:solidFill>
                  <a:srgbClr val="FFFFFF"/>
                </a:solidFill>
                <a:latin typeface="Calibri" panose="020F0502020204030204" pitchFamily="34" charset="0"/>
              </a:rPr>
              <a:t>26 tasks define what is tested. Enablers are examples of the work, not a checklist.</a:t>
            </a:r>
          </a:p>
        </p:txBody>
      </p:sp>
      <p:sp>
        <p:nvSpPr>
          <p:cNvPr id="12" name="Rectangle: Rounded Corners 11">
            <a:extLst>
              <a:ext uri="{FF2B5EF4-FFF2-40B4-BE49-F238E27FC236}">
                <a16:creationId xmlns:a16="http://schemas.microsoft.com/office/drawing/2014/main" id="{6F592324-3C93-A000-A8D5-7AA9C3F87B47}"/>
              </a:ext>
            </a:extLst>
          </p:cNvPr>
          <p:cNvSpPr/>
          <p:nvPr/>
        </p:nvSpPr>
        <p:spPr>
          <a:xfrm>
            <a:off x="6223000" y="3937000"/>
            <a:ext cx="5461000" cy="1778000"/>
          </a:xfrm>
          <a:prstGeom prst="roundRect">
            <a:avLst>
              <a:gd name="adj" fmla="val 8000"/>
            </a:avLst>
          </a:prstGeom>
          <a:solidFill>
            <a:srgbClr val="1E2E5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5C3AD0C-F6A4-BA77-33CE-E7A00F256311}"/>
              </a:ext>
            </a:extLst>
          </p:cNvPr>
          <p:cNvSpPr/>
          <p:nvPr/>
        </p:nvSpPr>
        <p:spPr>
          <a:xfrm>
            <a:off x="6477000" y="4216400"/>
            <a:ext cx="508000" cy="508000"/>
          </a:xfrm>
          <a:prstGeom prst="ellipse">
            <a:avLst/>
          </a:prstGeom>
          <a:solidFill>
            <a:srgbClr val="A84A2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25400" rIns="0" bIns="25400" rtlCol="0" anchor="ctr"/>
          <a:lstStyle/>
          <a:p>
            <a:pPr algn="ctr"/>
            <a:r>
              <a:rPr lang="en-US" sz="1600" b="1">
                <a:solidFill>
                  <a:srgbClr val="FFFFFF"/>
                </a:solidFill>
                <a:latin typeface="Calibri" panose="020F0502020204030204" pitchFamily="34" charset="0"/>
              </a:rPr>
              <a:t>4</a:t>
            </a:r>
          </a:p>
        </p:txBody>
      </p:sp>
      <p:sp>
        <p:nvSpPr>
          <p:cNvPr id="14" name="TextBox 13">
            <a:extLst>
              <a:ext uri="{FF2B5EF4-FFF2-40B4-BE49-F238E27FC236}">
                <a16:creationId xmlns:a16="http://schemas.microsoft.com/office/drawing/2014/main" id="{7FEFB741-FD9A-172F-F1B8-B156A358957C}"/>
              </a:ext>
            </a:extLst>
          </p:cNvPr>
          <p:cNvSpPr txBox="1"/>
          <p:nvPr/>
        </p:nvSpPr>
        <p:spPr>
          <a:xfrm>
            <a:off x="7188200" y="4191000"/>
            <a:ext cx="4241800" cy="1270000"/>
          </a:xfrm>
          <a:prstGeom prst="rect">
            <a:avLst/>
          </a:prstGeom>
          <a:noFill/>
        </p:spPr>
        <p:txBody>
          <a:bodyPr vert="horz" wrap="square" lIns="0" tIns="0" rIns="0" bIns="0" rtlCol="0" anchor="t">
            <a:noAutofit/>
          </a:bodyPr>
          <a:lstStyle/>
          <a:p>
            <a:r>
              <a:rPr lang="en-US" sz="2000">
                <a:solidFill>
                  <a:srgbClr val="FFFFFF"/>
                </a:solidFill>
                <a:latin typeface="Calibri" panose="020F0502020204030204" pitchFamily="34" charset="0"/>
              </a:rPr>
              <a:t>Earned value: every variance and index starts with EV. Negative or below 1 means over budget or behind schedule.</a:t>
            </a:r>
          </a:p>
        </p:txBody>
      </p:sp>
      <p:sp>
        <p:nvSpPr>
          <p:cNvPr id="15" name="Footer">
            <a:extLst>
              <a:ext uri="{FF2B5EF4-FFF2-40B4-BE49-F238E27FC236}">
                <a16:creationId xmlns:a16="http://schemas.microsoft.com/office/drawing/2014/main" id="{D8ADCC06-91A6-567F-CF53-822DD423B9BB}"/>
              </a:ext>
            </a:extLst>
          </p:cNvPr>
          <p:cNvSpPr txBox="1"/>
          <p:nvPr/>
        </p:nvSpPr>
        <p:spPr>
          <a:xfrm>
            <a:off x="508000" y="6477000"/>
            <a:ext cx="10033000" cy="203200"/>
          </a:xfrm>
          <a:prstGeom prst="rect">
            <a:avLst/>
          </a:prstGeom>
          <a:noFill/>
        </p:spPr>
        <p:txBody>
          <a:bodyPr vert="horz" wrap="square" lIns="0" tIns="0" rIns="0" bIns="0" rtlCol="0" anchor="t">
            <a:noAutofit/>
          </a:bodyPr>
          <a:lstStyle/>
          <a:p>
            <a:r>
              <a:rPr lang="en-US" sz="1000">
                <a:solidFill>
                  <a:srgbClr val="C9D6EA"/>
                </a:solidFill>
                <a:latin typeface="Calibri" panose="020F0502020204030204" pitchFamily="34" charset="0"/>
              </a:rPr>
              <a:t>Source: PMI, PMP® Examination Content Outline (July 2026)</a:t>
            </a:r>
          </a:p>
        </p:txBody>
      </p:sp>
      <p:sp>
        <p:nvSpPr>
          <p:cNvPr id="16" name="SlideNum">
            <a:extLst>
              <a:ext uri="{FF2B5EF4-FFF2-40B4-BE49-F238E27FC236}">
                <a16:creationId xmlns:a16="http://schemas.microsoft.com/office/drawing/2014/main" id="{5E4CB283-1347-7D3F-7EF3-1BF6D88BD315}"/>
              </a:ext>
            </a:extLst>
          </p:cNvPr>
          <p:cNvSpPr txBox="1"/>
          <p:nvPr/>
        </p:nvSpPr>
        <p:spPr>
          <a:xfrm>
            <a:off x="10668000" y="6477000"/>
            <a:ext cx="1016000" cy="203200"/>
          </a:xfrm>
          <a:prstGeom prst="rect">
            <a:avLst/>
          </a:prstGeom>
          <a:noFill/>
        </p:spPr>
        <p:txBody>
          <a:bodyPr vert="horz" wrap="square" lIns="0" tIns="0" rIns="0" bIns="0" rtlCol="0" anchor="t">
            <a:noAutofit/>
          </a:bodyPr>
          <a:lstStyle/>
          <a:p>
            <a:pPr algn="r"/>
            <a:r>
              <a:rPr lang="en-US" sz="1000">
                <a:solidFill>
                  <a:srgbClr val="C9D6EA"/>
                </a:solidFill>
                <a:latin typeface="Calibri" panose="020F0502020204030204" pitchFamily="34" charset="0"/>
              </a:rPr>
              <a:t>129</a:t>
            </a:r>
          </a:p>
        </p:txBody>
      </p:sp>
      <p:sp>
        <p:nvSpPr>
          <p:cNvPr id="17" name="Copyright"/>
          <p:cNvSpPr txBox="1"/>
          <p:nvPr/>
        </p:nvSpPr>
        <p:spPr>
          <a:xfrm>
            <a:off x="508000" y="6690000"/>
            <a:ext cx="11176000" cy="140000"/>
          </a:xfrm>
          <a:prstGeom prst="rect">
            <a:avLst/>
          </a:prstGeom>
          <a:noFill/>
        </p:spPr>
        <p:txBody>
          <a:bodyPr wrap="square" lIns="0" rIns="0" tIns="0" bIns="0">
            <a:spAutoFit/>
          </a:bodyPr>
          <a:lstStyle/>
          <a:p>
            <a:r>
              <a:rPr sz="700">
                <a:solidFill>
                  <a:srgbClr val="5B6475"/>
                </a:solidFill>
                <a:latin typeface="Calibri"/>
              </a:rPr>
              <a:t>© 2026 jmtibbetts (LinuxNinja). All rights reserved. With credit to ariel.r.marin@gmail.com.</a:t>
            </a:r>
          </a:p>
        </p:txBody>
      </p:sp>
    </p:spTree>
    <p:extLst>
      <p:ext uri="{BB962C8B-B14F-4D97-AF65-F5344CB8AC3E}">
        <p14:creationId xmlns:p14="http://schemas.microsoft.com/office/powerpoint/2010/main" val="389887150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4213D"/>
      </a:dk2>
      <a:lt2>
        <a:srgbClr val="F3F5F8"/>
      </a:lt2>
      <a:accent1>
        <a:srgbClr val="0F7C80"/>
      </a:accent1>
      <a:accent2>
        <a:srgbClr val="34509A"/>
      </a:accent2>
      <a:accent3>
        <a:srgbClr val="A84A2E"/>
      </a:accent3>
      <a:accent4>
        <a:srgbClr val="E3A63B"/>
      </a:accent4>
      <a:accent5>
        <a:srgbClr val="5B6475"/>
      </a:accent5>
      <a:accent6>
        <a:srgbClr val="7A8CA8"/>
      </a:accent6>
      <a:hlink>
        <a:srgbClr val="467886"/>
      </a:hlink>
      <a:folHlink>
        <a:srgbClr val="96607D"/>
      </a:folHlink>
    </a:clrScheme>
    <a:fontScheme name="Office">
      <a:majorFont>
        <a:latin typeface="Cambria"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32412</Words>
  <Application>Microsoft Office PowerPoint</Application>
  <PresentationFormat>Widescreen</PresentationFormat>
  <Paragraphs>3447</Paragraphs>
  <Slides>129</Slides>
  <Notes>129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129</vt:i4>
      </vt:variant>
    </vt:vector>
  </HeadingPairs>
  <TitlesOfParts>
    <vt:vector size="134"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Marin, Ariel</dc:creator>
  <cp:lastModifiedBy>Marin, Ariel</cp:lastModifiedBy>
  <cp:revision>100</cp:revision>
  <dcterms:created xsi:type="dcterms:W3CDTF">2026-10-10T16:13:04Z</dcterms:created>
  <dcterms:modified xsi:type="dcterms:W3CDTF">2026-10-11T19:06:16Z</dcterms:modified>
  <dc:description>Copyright © 2026 jmtibbetts (LinuxNinja). All rights reserved. With credit to ariel.r.marin@gmail.com.</dc:description>
  <cp:keywords>PMP; project management; study deck</cp:keywords>
</cp:coreProperties>
</file>